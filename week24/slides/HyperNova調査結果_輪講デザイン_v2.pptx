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a75160dd34485c" /><Relationship Type="http://schemas.openxmlformats.org/officeDocument/2006/relationships/extended-properties" Target="/docProps/app.xml" Id="R00a39cc87bcb4b90" /><Relationship Type="http://schemas.openxmlformats.org/officeDocument/2006/relationships/officeDocument" Target="/ppt/presentation.xml" Id="Rf21474a7cbd346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98378b4a3040cc"/>
  </p:sldMasterIdLst>
  <p:notesMasterIdLst>
    <p:notesMasterId xmlns:r="http://schemas.openxmlformats.org/officeDocument/2006/relationships" r:id="Rf6f4b70cbd604348"/>
  </p:notesMasterIdLst>
  <p:sldIdLst>
    <p:sldId xmlns:r="http://schemas.openxmlformats.org/officeDocument/2006/relationships" id="256" r:id="Ra7f9dae4b2f34dc1"/>
    <p:sldId xmlns:r="http://schemas.openxmlformats.org/officeDocument/2006/relationships" id="257" r:id="R60aaec75c0e34f00"/>
    <p:sldId xmlns:r="http://schemas.openxmlformats.org/officeDocument/2006/relationships" id="258" r:id="R48d6b514d7be4879"/>
    <p:sldId xmlns:r="http://schemas.openxmlformats.org/officeDocument/2006/relationships" id="259" r:id="Rf8218124bf964443"/>
    <p:sldId xmlns:r="http://schemas.openxmlformats.org/officeDocument/2006/relationships" id="260" r:id="Recffbda12dcc43e8"/>
    <p:sldId xmlns:r="http://schemas.openxmlformats.org/officeDocument/2006/relationships" id="261" r:id="Ra44cd3bca6634fde"/>
    <p:sldId xmlns:r="http://schemas.openxmlformats.org/officeDocument/2006/relationships" id="262" r:id="Rd5622f8d6be14336"/>
    <p:sldId xmlns:r="http://schemas.openxmlformats.org/officeDocument/2006/relationships" id="263" r:id="R66fb03cb2ff848e4"/>
    <p:sldId xmlns:r="http://schemas.openxmlformats.org/officeDocument/2006/relationships" id="264" r:id="R9edcccc4168642f5"/>
    <p:sldId xmlns:r="http://schemas.openxmlformats.org/officeDocument/2006/relationships" id="265" r:id="Rbf3104bf72d444a7"/>
    <p:sldId xmlns:r="http://schemas.openxmlformats.org/officeDocument/2006/relationships" id="266" r:id="R667e44d6673b4764"/>
    <p:sldId xmlns:r="http://schemas.openxmlformats.org/officeDocument/2006/relationships" id="267" r:id="Rf17ea5d9b7a347c2"/>
    <p:sldId xmlns:r="http://schemas.openxmlformats.org/officeDocument/2006/relationships" id="268" r:id="R808bc717c68f48f8"/>
    <p:sldId xmlns:r="http://schemas.openxmlformats.org/officeDocument/2006/relationships" id="269" r:id="R1255f465e06144e4"/>
  </p:sldIdLst>
  <p:sldSz cx="9144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7b2619c11f45e8" /><Relationship Type="http://schemas.openxmlformats.org/officeDocument/2006/relationships/slideMaster" Target="/ppt/slideMasters/slideMaster1.xml" Id="R0f98378b4a3040cc" /><Relationship Type="http://schemas.openxmlformats.org/officeDocument/2006/relationships/notesMaster" Target="/ppt/notesMasters/notesMaster1.xml" Id="Rf6f4b70cbd604348" /><Relationship Type="http://schemas.openxmlformats.org/officeDocument/2006/relationships/presProps" Target="/ppt/presProps.xml" Id="R26024960d3fb436c" /><Relationship Type="http://schemas.openxmlformats.org/officeDocument/2006/relationships/viewProps" Target="/ppt/viewProps.xml" Id="Rfe72fbb5febb47b8" /><Relationship Type="http://schemas.openxmlformats.org/officeDocument/2006/relationships/tableStyles" Target="/ppt/tableStyles.xml" Id="R7ba76a4a8ec64e72" /><Relationship Type="http://schemas.openxmlformats.org/officeDocument/2006/relationships/slide" Target="/ppt/slides/slide1.xml" Id="Ra7f9dae4b2f34dc1" /><Relationship Type="http://schemas.openxmlformats.org/officeDocument/2006/relationships/slide" Target="/ppt/slides/slide2.xml" Id="R60aaec75c0e34f00" /><Relationship Type="http://schemas.openxmlformats.org/officeDocument/2006/relationships/slide" Target="/ppt/slides/slide3.xml" Id="R48d6b514d7be4879" /><Relationship Type="http://schemas.openxmlformats.org/officeDocument/2006/relationships/slide" Target="/ppt/slides/slide4.xml" Id="Rf8218124bf964443" /><Relationship Type="http://schemas.openxmlformats.org/officeDocument/2006/relationships/slide" Target="/ppt/slides/slide5.xml" Id="Recffbda12dcc43e8" /><Relationship Type="http://schemas.openxmlformats.org/officeDocument/2006/relationships/slide" Target="/ppt/slides/slide6.xml" Id="Ra44cd3bca6634fde" /><Relationship Type="http://schemas.openxmlformats.org/officeDocument/2006/relationships/slide" Target="/ppt/slides/slide7.xml" Id="Rd5622f8d6be14336" /><Relationship Type="http://schemas.openxmlformats.org/officeDocument/2006/relationships/slide" Target="/ppt/slides/slide8.xml" Id="R66fb03cb2ff848e4" /><Relationship Type="http://schemas.openxmlformats.org/officeDocument/2006/relationships/slide" Target="/ppt/slides/slide9.xml" Id="R9edcccc4168642f5" /><Relationship Type="http://schemas.openxmlformats.org/officeDocument/2006/relationships/slide" Target="/ppt/slides/slide10.xml" Id="Rbf3104bf72d444a7" /><Relationship Type="http://schemas.openxmlformats.org/officeDocument/2006/relationships/slide" Target="/ppt/slides/slide11.xml" Id="R667e44d6673b4764" /><Relationship Type="http://schemas.openxmlformats.org/officeDocument/2006/relationships/slide" Target="/ppt/slides/slide12.xml" Id="Rf17ea5d9b7a347c2" /><Relationship Type="http://schemas.openxmlformats.org/officeDocument/2006/relationships/slide" Target="/ppt/slides/slide13.xml" Id="R808bc717c68f48f8" /><Relationship Type="http://schemas.openxmlformats.org/officeDocument/2006/relationships/slide" Target="/ppt/slides/slide14.xml" Id="R1255f465e06144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63a30aba924c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2c23d6b41647a4" /><Relationship Type="http://schemas.openxmlformats.org/officeDocument/2006/relationships/notesMaster" Target="/ppt/notesMasters/notesMaster1.xml" Id="R8cbbb92ad4ab4e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ca3204673b432e" /><Relationship Type="http://schemas.openxmlformats.org/officeDocument/2006/relationships/notesMaster" Target="/ppt/notesMasters/notesMaster1.xml" Id="R6fd26510e0f24d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cfb191d76045fe" /><Relationship Type="http://schemas.openxmlformats.org/officeDocument/2006/relationships/notesMaster" Target="/ppt/notesMasters/notesMaster1.xml" Id="Rdd76eecd8aaa47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d9780945c24547" /><Relationship Type="http://schemas.openxmlformats.org/officeDocument/2006/relationships/notesMaster" Target="/ppt/notesMasters/notesMaster1.xml" Id="R58812afe84b340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cd1f6c288d4dcf" /><Relationship Type="http://schemas.openxmlformats.org/officeDocument/2006/relationships/notesMaster" Target="/ppt/notesMasters/notesMaster1.xml" Id="R2b4b925cdb7e44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2dd62ff4f54302" /><Relationship Type="http://schemas.openxmlformats.org/officeDocument/2006/relationships/notesMaster" Target="/ppt/notesMasters/notesMaster1.xml" Id="R81aa39de822c4f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dc7b7ae92a4a89" /><Relationship Type="http://schemas.openxmlformats.org/officeDocument/2006/relationships/notesMaster" Target="/ppt/notesMasters/notesMaster1.xml" Id="R57df4a50a40a45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4f114fa6914c28" /><Relationship Type="http://schemas.openxmlformats.org/officeDocument/2006/relationships/notesMaster" Target="/ppt/notesMasters/notesMaster1.xml" Id="R2dd58548218e4f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9400402e1240f5" /><Relationship Type="http://schemas.openxmlformats.org/officeDocument/2006/relationships/notesMaster" Target="/ppt/notesMasters/notesMaster1.xml" Id="Re9b774ef0ee748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e913815ea34b37" /><Relationship Type="http://schemas.openxmlformats.org/officeDocument/2006/relationships/notesMaster" Target="/ppt/notesMasters/notesMaster1.xml" Id="R33cc48e1c0e44b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84c88d08324a1f" /><Relationship Type="http://schemas.openxmlformats.org/officeDocument/2006/relationships/notesMaster" Target="/ppt/notesMasters/notesMaster1.xml" Id="R6ad76426188243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9543c277f248d5" /><Relationship Type="http://schemas.openxmlformats.org/officeDocument/2006/relationships/notesMaster" Target="/ppt/notesMasters/notesMaster1.xml" Id="R4779f0e943af49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f93b849ede43e8" /><Relationship Type="http://schemas.openxmlformats.org/officeDocument/2006/relationships/notesMaster" Target="/ppt/notesMasters/notesMaster1.xml" Id="R3ef1c96a873448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0e91bbcf444920" /><Relationship Type="http://schemas.openxmlformats.org/officeDocument/2006/relationships/notesMaster" Target="/ppt/notesMasters/notesMaster1.xml" Id="R922df29e67d442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Week23の調査と実行、Week24の概念整理とPi測定をまとめる。今回の資料作成で重い証明実験を再実行していない。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week23/10_HyperNova実行と最新Sonobe安全性と秘密引継ぎ.md; week24/01_HyperNova_概念とPR246_実装対応.md; week24/03_ユークリッド距離_各方式のPi実装.md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概念説明と実行証拠を区別し、最後に用途を限定した採用判断を示す。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week24/01_HyperNova_概念とPR246_実装対応.md; week23/05_PCD_BC比較と技術選定ADR.md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単一Prover IVC、跨Proverのprivacy-preserving handoff、外部提出の最終ZKは別々の要件。検証成功だけでprivacyが成立したとはしない。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week23/11_HyperNova_IVCとブラインド状態引継ぎの検証.md; week24/01_HyperNova_概念とPR246_実装対応.md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概念はIACR公開概要と固定ソースの対応表に基づく説明。論文全文の定義・安全性定理を全て照合したとはしない。公開概要はCCS、multi-folding、NovaBlindFold、CycleFoldを説明する。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https://eprint.iacr.org/2023/573; week24/01_HyperNova_概念とPR246_実装対応.md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HyperNova head 9c4e61f8d1a5be87c00f28838a0ef657a3cf479f。core ff/ec等0.6.0へ固定し旧forkのjoint_scalar_mul_beをscalar_mul_leの和へ移植。2ファイルの研究patchでrelation、opening、SumCheck、transcriptの検査は削除していない。macros helper0.5は公式依存によるもの。main7f042351は対照実験の別ツリーでありHyperNova branchの実行と混同しない。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week23/10_HyperNova実行と最新Sonobe安全性と秘密引継ぎ.md; week23/manifests/hypernova-current-and-secret.json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 variants×2 hiding設定×6(M,N)条件×10round=240。test件数38とfold round数240は異なる。小規模代数回路の検査であり観測回路・独立A/B/Cの成立ではない。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week23/logs/hypernova-execution.json; week23/10_HyperNova実行と最新Sonobe安全性と秘密引継ぎ.md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上流2アダプタは各20step、追加toyは公開state session/RID/bucket/policy/count。記載時間は追加toyの単回prove+verifyで、中央値や性能倍率ではない。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week23/logs/hypernova-handoff-probe.json; week23/11_HyperNova_IVCとブラインド状態引継ぎの検証.md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固定CycleFold Proofはprimary RW/RU, incoming IW/IU, secondary RW/RUのtuple。追加HyperNova probeのincoming witnessで7個の合成canaryが各stepに残ることを確認。値そのものは本資料へ掲載しない。内部Proofがwitnessを含むこと自体を、公開ZK APIの脆弱性発見とは表現しない。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week24/01_HyperNova_概念とPR246_実装対応.md; week23/11_HyperNova_IVCとブラインド状態引継ぎの検証.md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random fold後の元canary完全一致は0、relationとNIMFS verifyは成功。しかしIVCのhash bindingとaugmented circuit assignmentの整合を満たさず継続経路は失敗。proveがproofを返すことと最終verify成功は別。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week23/logs/hypernova-handoff-probe.json; week23/11_HyperNova_IVCとブラインド状態引継ぎの検証.md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2→1 NIMFSの部品。cm_out=cm0+rho cm1を非ネイティブ群演算で拘束。改竄5件＋元digest保持session変更1件を拒否。Mac M2/16GiB、swap used7692.5MiBが7500MiB上限を超え、exit-15。proof/publicは生成されずnative verify未実行。元IVC履歴binderの完成ではない。後続ADRにより追加開発・prove再試行は停止しており、この資料作成で再開しない。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week23/12_HyperNova_Folding_binderの回路実装と検証.md; week23/logs/hypernova-binder-prove-resource.json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Piの公開ログから値を再確認。生成・検証は各7stepの標本中央値。setup8544.626084ms、unit32.633419682s、kernelpeak156119040bytes=148.88671875MiB。子上限512MiB。cgroup OOM/oom_killとSwap使用0。過去の電源フラグ0x50000は残り、現在下位4bitは0。時系列の形だけでスケーリング則や1Hz適合性を主張しない。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week24/03_ユークリッド距離_各方式のPi実装.md; week24/logs/pi-euclidean/euclidean-hypernova-v1/benchmark.jsonl; week24/logs/pi-euclidean/euclidean-hypernova-v1/resource.json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2026-10-13の固定PRソース監査は94ファイル照合・全Rust90ファイル検索。名称0件やimpl text match0件はその調査結果であり、将来版・理論全体の不存在証明ではない。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week24/01_HyperNova_概念とPR246_実装対応.md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2026-10-12にユーザー承認したADRを維持。main7f042351/HyperNova9c4e61f8+patchの秘密非共有継続用途に不採用。binderのresource stopは補足制約であり中心理由を原理的不可能性にしない。秘密非共有の成立例は別方式のGo/gnark固定3段一般再帰PoCだが、本番適合性や動的参加の保証は未確認。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week23/05_PCD_BC比較と技術選定ADR.md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この資料の目的は過去の実行結果と採用判断の説明。新規の重い証明生成や跨Prover binder開発の再開ではない。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week23/05_PCD_BC比較と技術選定ADR.md; week23/10_HyperNova実行と最新Sonobe安全性と秘密引継ぎ.md; week24/03_ユークリッド距離_各方式のPi実装.md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6bde43b604f0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0afa87b7f40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1c0ac158142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575f8871f244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7d13e34be54a9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a6ccca498c4cc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a387db2fe74a9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c1f5b1afa4da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10b7fcc4664d8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e5de383b5c4ed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5cd40f9079409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C46153-EB7E-4910-97BF-E76AC3ADE3C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FC17E00-F265-46A8-9851-E9A95D39322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0FAC74D-EDCC-4924-8B21-7B8DB16C88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5EA22A-FAC4-47F6-88B6-3500108517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9C3C22-B5F2-4E24-B2E6-13880E1E3B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454315-B7BA-4E80-AE6E-2ED1FBE2B5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5CF3C9-18A1-4C4D-88FD-C0840C32921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0C01FF-701F-43E9-9E80-2F9B3F6CB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5B15533-3E78-4E68-ABAB-F325D07671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A3A410-194B-4F82-80DE-CFEAC9C18A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B9FA18-82C9-4A10-87F1-3A4E16C535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D95ABB7-C236-4B41-A168-F14892536D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3ADE476-7F4B-41A2-AD1C-12B1F0BEE8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7F951-C340-4AD9-8A7D-162DB478D6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0B06161-D02F-4556-9C05-D3C55028E9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22B0B3-80F5-449B-8318-FBE08F7EAE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9612F61-1238-45B6-80D1-7DCFD63201C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E34109B-A769-4193-B4A7-97F0C68E0EC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C3222C8-0928-4C8D-8CA1-239DAC4204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EFB4124-2F3F-4DD2-A659-5D3D4EA09A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9EC3CEB-AA22-4855-818C-7BDF730C0D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6A9280-6D31-42C3-851D-64F8859989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3E59B62-8534-4B17-B8D3-74727CD031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8D5A015-80C2-4CB6-94EB-7DCAF80F795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F0117B7-E14E-4216-9600-532AABCB054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BDCF5F3-D227-4193-A94E-8DCD7150E43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093FDF5-6437-4874-B2D2-9A1C2F2905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8541C5D-5088-4706-92AD-EA4A017327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F6FA050-DB75-4010-82F8-5CAC3C3530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373EED-AB1A-4A82-8E24-7A578F03AA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01CD47C-B4CD-4F25-82C1-F2EDB28A7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4E26E80-D9AA-45AB-BB58-D61950E9D1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37AC2C5-887A-4F7D-B103-0C482FE35F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B1199A6-808D-4776-AB0A-5A61855CB4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7123375-1ABF-4AE7-BBDC-2026302206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95F061B-8681-40A6-9FE3-06086BCB2E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7C6E8D-9258-4F8C-9E2C-1CBDAC9A2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4630ED2-2479-404D-BFC9-4A1C65F43F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8EC5056-3755-42C2-A6CC-7C6873D54A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39D58AE-4328-4360-A0D8-83ECBA388D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9CDE9B2-7437-4B1C-A309-032DCE11AC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941257-46E1-4DFE-8472-3CB58ADAF9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5EAFC0-EFBB-41EA-9D83-EB0A91A7A6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EBFD36C-64F2-48BB-BBA7-D6AC36315C9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81328C2-D036-4978-8E68-7A2205695B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05B35CD-4388-4383-84DC-2B9BC43C68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C7C66E1-5E49-4FC9-BA65-C66083091E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206BAC3-4BBF-4D93-B902-3DC02FD0FE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A184B2-550F-464D-AFF6-A3D111BADF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9021CA-3ADF-4774-9A1D-7C1D5E3ED9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0D35138-51DF-4B2A-AD0F-37ECFA7628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DA76B9E-A4CF-4EFF-8238-FE19702FBD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5003AE4-A258-4D9E-BAF6-A9C3885F05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D868084-7A01-4074-BD10-A74419A93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E274FFB-E276-49F3-8D14-A1041B15CA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C962205-03A5-4361-8BE5-227B5E9F3E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237F46-997B-4015-9EA8-042F351590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4EE698-7A81-4AD8-AB8E-EE6994D797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eeaed6e0f044c3" /><Relationship Type="http://schemas.openxmlformats.org/officeDocument/2006/relationships/slideLayout" Target="/ppt/slideLayouts/slideLayout1.xml" Id="R06b08832e7cc48e5" /><Relationship Type="http://schemas.openxmlformats.org/officeDocument/2006/relationships/slideLayout" Target="/ppt/slideLayouts/slideLayout2.xml" Id="R491ad2b760b54b78" /><Relationship Type="http://schemas.openxmlformats.org/officeDocument/2006/relationships/slideLayout" Target="/ppt/slideLayouts/slideLayout3.xml" Id="R9a178d1a31bc43a0" /><Relationship Type="http://schemas.openxmlformats.org/officeDocument/2006/relationships/slideLayout" Target="/ppt/slideLayouts/slideLayout4.xml" Id="R2a5b1ff32ef04223" /><Relationship Type="http://schemas.openxmlformats.org/officeDocument/2006/relationships/slideLayout" Target="/ppt/slideLayouts/slideLayout5.xml" Id="R9d12747290c54867" /><Relationship Type="http://schemas.openxmlformats.org/officeDocument/2006/relationships/slideLayout" Target="/ppt/slideLayouts/slideLayout6.xml" Id="R2d94012a37fc4724" /><Relationship Type="http://schemas.openxmlformats.org/officeDocument/2006/relationships/slideLayout" Target="/ppt/slideLayouts/slideLayout7.xml" Id="Rc4bb90e251aa434e" /><Relationship Type="http://schemas.openxmlformats.org/officeDocument/2006/relationships/slideLayout" Target="/ppt/slideLayouts/slideLayout8.xml" Id="Rbf6113cefdf74225" /><Relationship Type="http://schemas.openxmlformats.org/officeDocument/2006/relationships/slideLayout" Target="/ppt/slideLayouts/slideLayout9.xml" Id="R026c3888ccb54d3f" /><Relationship Type="http://schemas.openxmlformats.org/officeDocument/2006/relationships/slideLayout" Target="/ppt/slideLayouts/slideLayout10.xml" Id="Rd5865a71db1a4157" /><Relationship Type="http://schemas.openxmlformats.org/officeDocument/2006/relationships/slideLayout" Target="/ppt/slideLayouts/slideLayout11.xml" Id="Rd9e826f73db64b9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9C90CDA-E52A-4C6F-BAEC-58000A2A2F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B2CFF11-DA4F-4C8A-9DD0-3546FC2A3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1BF070A-BB00-4A57-BC6C-A0EEC863D05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FEEAB0-3200-47DF-A9C4-6FCF79CE730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84D004-A0E6-4021-8876-6908193600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b08832e7cc48e5"/>
    <p:sldLayoutId xmlns:r="http://schemas.openxmlformats.org/officeDocument/2006/relationships" id="2147483650" r:id="R491ad2b760b54b78"/>
    <p:sldLayoutId xmlns:r="http://schemas.openxmlformats.org/officeDocument/2006/relationships" id="2147483651" r:id="R9a178d1a31bc43a0"/>
    <p:sldLayoutId xmlns:r="http://schemas.openxmlformats.org/officeDocument/2006/relationships" id="2147483652" r:id="R2a5b1ff32ef04223"/>
    <p:sldLayoutId xmlns:r="http://schemas.openxmlformats.org/officeDocument/2006/relationships" id="2147483653" r:id="R9d12747290c54867"/>
    <p:sldLayoutId xmlns:r="http://schemas.openxmlformats.org/officeDocument/2006/relationships" id="2147483654" r:id="R2d94012a37fc4724"/>
    <p:sldLayoutId xmlns:r="http://schemas.openxmlformats.org/officeDocument/2006/relationships" id="2147483655" r:id="Rc4bb90e251aa434e"/>
    <p:sldLayoutId xmlns:r="http://schemas.openxmlformats.org/officeDocument/2006/relationships" id="2147483656" r:id="Rbf6113cefdf74225"/>
    <p:sldLayoutId xmlns:r="http://schemas.openxmlformats.org/officeDocument/2006/relationships" id="2147483657" r:id="R026c3888ccb54d3f"/>
    <p:sldLayoutId xmlns:r="http://schemas.openxmlformats.org/officeDocument/2006/relationships" id="2147483658" r:id="Rd5865a71db1a4157"/>
    <p:sldLayoutId xmlns:r="http://schemas.openxmlformats.org/officeDocument/2006/relationships" id="2147483659" r:id="Rd9e826f73db64b97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f72b9806ec4541" /><Relationship Type="http://schemas.openxmlformats.org/officeDocument/2006/relationships/notesSlide" Target="/ppt/notesSlides/notesSlide1.xml" Id="R344b4eb6e8db46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74329d709d4a54" /><Relationship Type="http://schemas.openxmlformats.org/officeDocument/2006/relationships/notesSlide" Target="/ppt/notesSlides/notesSlide2.xml" Id="Rca2baf5f03424f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d6e6c24a5a423a" /><Relationship Type="http://schemas.openxmlformats.org/officeDocument/2006/relationships/notesSlide" Target="/ppt/notesSlides/notesSlide3.xml" Id="R876b3b07271442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6d7a96c4ac474b" /><Relationship Type="http://schemas.openxmlformats.org/officeDocument/2006/relationships/notesSlide" Target="/ppt/notesSlides/notesSlide4.xml" Id="R6a6b05c2fc2648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2ff963e8ba43ff" /><Relationship Type="http://schemas.openxmlformats.org/officeDocument/2006/relationships/notesSlide" Target="/ppt/notesSlides/notesSlide5.xml" Id="Rad22524f129b4a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24b64e0b7341be" /><Relationship Type="http://schemas.openxmlformats.org/officeDocument/2006/relationships/notesSlide" Target="/ppt/notesSlides/notesSlide6.xml" Id="R31a85f1b0f4345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88e77628d44115" /><Relationship Type="http://schemas.openxmlformats.org/officeDocument/2006/relationships/notesSlide" Target="/ppt/notesSlides/notesSlide7.xml" Id="Red0a7938448d47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7666e0cf3348ac" /><Relationship Type="http://schemas.openxmlformats.org/officeDocument/2006/relationships/notesSlide" Target="/ppt/notesSlides/notesSlide8.xml" Id="Rfc38f04d2dc049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7aaaeee1db4d78" /><Relationship Type="http://schemas.openxmlformats.org/officeDocument/2006/relationships/notesSlide" Target="/ppt/notesSlides/notesSlide9.xml" Id="Rf1d29b4eef1a42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9cbdeb4ae4442e" /><Relationship Type="http://schemas.openxmlformats.org/officeDocument/2006/relationships/notesSlide" Target="/ppt/notesSlides/notesSlide10.xml" Id="R19fc11b0f2d14b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74940203e44a71" /><Relationship Type="http://schemas.openxmlformats.org/officeDocument/2006/relationships/chart" Target="/ppt/slides/charts/chart1.xml" Id="R11671f5f022d460b" /><Relationship Type="http://schemas.openxmlformats.org/officeDocument/2006/relationships/notesSlide" Target="/ppt/notesSlides/notesSlide11.xml" Id="R5f9e2b18d45c41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e8860ef62a444e" /><Relationship Type="http://schemas.openxmlformats.org/officeDocument/2006/relationships/notesSlide" Target="/ppt/notesSlides/notesSlide12.xml" Id="R95c59a2bb4e04c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f947a96c40145d8" /><Relationship Type="http://schemas.openxmlformats.org/officeDocument/2006/relationships/notesSlide" Target="/ppt/notesSlides/notesSlide13.xml" Id="R315c509564314c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1c16ea2afc4bf7" /><Relationship Type="http://schemas.openxmlformats.org/officeDocument/2006/relationships/notesSlide" Target="/ppt/notesSlides/notesSlide14.xml" Id="R30a204053950482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生成</c:v>
          </c:tx>
          <c:spPr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5"/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cat>
          <c:val>
            <c:numRef>
              <c:f>'Chart Data'!$B$2:$B$8</c:f>
              <c:numCache>
                <c:formatCode>0.0</c:formatCode>
                <c:ptCount val="7"/>
                <c:pt idx="0">
                  <c:v>0.5997</c:v>
                </c:pt>
                <c:pt idx="1">
                  <c:v>1.6558</c:v>
                </c:pt>
                <c:pt idx="2">
                  <c:v>1.7671</c:v>
                </c:pt>
                <c:pt idx="3">
                  <c:v>1.7679</c:v>
                </c:pt>
                <c:pt idx="4">
                  <c:v>1.7767</c:v>
                </c:pt>
                <c:pt idx="5">
                  <c:v>1.7866</c:v>
                </c:pt>
                <c:pt idx="6">
                  <c:v>1.7862</c:v>
                </c:pt>
              </c:numCache>
            </c:numRef>
          </c:val>
          <c:smooth val="0"/>
        </c:ser>
        <c:ser>
          <c:idx val="1"/>
          <c:order val="1"/>
          <c:tx>
            <c:v>検証</c:v>
          </c:tx>
          <c:spPr>
            <a:ln xmlns:a="http://schemas.openxmlformats.org/drawingml/2006/main" w="19050">
              <a:solidFill>
                <a:srgbClr val="6B7A88"/>
              </a:solidFill>
            </a:ln>
          </c:spPr>
          <c:marker>
            <c:symbol val="square"/>
            <c:size val="5"/>
          </c:marker>
          <c:cat>
            <c:numRef>
              <c:f>'Chart Data'!$C$2:$C$8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cat>
          <c:val>
            <c:numRef>
              <c:f>'Chart Data'!$D$2:$D$8</c:f>
              <c:numCache>
                <c:formatCode>0.0</c:formatCode>
                <c:ptCount val="7"/>
                <c:pt idx="0">
                  <c:v>1.0411</c:v>
                </c:pt>
                <c:pt idx="1">
                  <c:v>1.6792</c:v>
                </c:pt>
                <c:pt idx="2">
                  <c:v>1.8696</c:v>
                </c:pt>
                <c:pt idx="3">
                  <c:v>1.9852</c:v>
                </c:pt>
                <c:pt idx="4">
                  <c:v>2.052</c:v>
                </c:pt>
                <c:pt idx="5">
                  <c:v>2.0947</c:v>
                </c:pt>
                <c:pt idx="6">
                  <c:v>2.1106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Kaku Gothic ProN W3"/>
                    <a:ea typeface="Hiragino Kaku Gothic ProN W3"/>
                    <a:cs typeface="Hiragino Kaku Gothic ProN W3"/>
                  </a:rPr>
                  <a:t>step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4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Kaku Gothic ProN W3"/>
                    <a:ea typeface="Hiragino Kaku Gothic ProN W3"/>
                    <a:cs typeface="Hiragino Kaku Gothic ProN W3"/>
                  </a:rPr>
                  <a:t>秒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DAB965B-FC3D-4518-BE23-89CF4FEB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77" y="2000250"/>
            <a:ext cx="7953375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4000" b="1" spc="5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HyperNova</a:t>
            </a:r>
          </a:p>
          <a:p xmlns:a="http://schemas.openxmlformats.org/drawingml/2006/main">
            <a:pPr algn="l">
              <a:buNone/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4000" b="1" spc="5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調査・実行結果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3DD00F1-5D41-4EF0-8A47-AE868F2F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2988000"/>
            <a:ext cx="792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B9A55E2-8B0B-4325-94A1-B6E4B929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3671999"/>
            <a:ext cx="7992000" cy="1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A8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2765471-16E7-4B3E-A198-2216E9A9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3888000"/>
            <a:ext cx="792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 algn="l">
              <a:buNone/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0" spc="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Folding・IVC・秘密非共有継続の確認範囲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0" spc="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Sonobeの固定版に基づく調査報告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0" spc="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2026年10月18日</a:t>
            </a:r>
          </a:p>
        </p:txBody>
      </p:sp>
    </p:spTree>
    <p:extLst>
      <p:ext uri="{BB962C8B-B14F-4D97-AF65-F5344CB8AC3E}">
        <p14:creationId xmlns:p14="http://schemas.microsoft.com/office/powerpoint/2010/main" val="14198836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49EB83-8218-4E16-A13E-14F65E13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7A16EC7-A3E1-41A6-BE4D-19008138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目次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5CA0364-CEEF-4637-B97A-654A147C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3E06C98-D59E-4914-9CDE-CA395746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動作確認と秘匿要件を分け、採用判断に至った根拠を示す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70D8F-21BE-4611-B1CB-3F247E60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2867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調査の目的と概念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必要な保証／HyperNovaの構成／調査した版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実装と実行結果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依存修正／Folding／単一ProverのIVC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秘密非共有継続の検証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Witnessを含む生状態／ブラインド化／binder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利用範囲と採用判断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Piでの実行／確認済み機能／今回の判断</a:t>
            </a:r>
          </a:p>
        </p:txBody>
      </p:sp>
    </p:spTree>
    <p:extLst>
      <p:ext uri="{BB962C8B-B14F-4D97-AF65-F5344CB8AC3E}">
        <p14:creationId xmlns:p14="http://schemas.microsoft.com/office/powerpoint/2010/main" val="556294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49EB83-8218-4E16-A13E-14F65E13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7A16EC7-A3E1-41A6-BE4D-19008138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今回確認したい保証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5CA0364-CEEF-4637-B97A-654A147C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3E06C98-D59E-4914-9CDE-CA395746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計算を継続できることと、秘密を渡さず継続できることは別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88649-3791-4AD4-8B84-163FEC51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2867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単一Proverでの継続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同じ端末が内部状態とWitnessを持ち、次のstepを計算する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時系列の計算を累積する用途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異なるProverへの継続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A → B → Cの独立した観測者へ、検証可能な状態を引き継ぐ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前の観測者の元Witnessは渡さない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外部への提出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公開値と証明から検証し、秘密assignmentを外へ出さない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内部用の生IVC状態を、そのまま公開証明として扱わない</a:t>
            </a:r>
          </a:p>
        </p:txBody>
      </p:sp>
    </p:spTree>
    <p:extLst>
      <p:ext uri="{BB962C8B-B14F-4D97-AF65-F5344CB8AC3E}">
        <p14:creationId xmlns:p14="http://schemas.microsoft.com/office/powerpoint/2010/main" val="556294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49EB83-8218-4E16-A13E-14F65E13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7A16EC7-A3E1-41A6-BE4D-19008138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HyperNovaの構成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5CA0364-CEEF-4637-B97A-654A147C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3E06C98-D59E-4914-9CDE-CA395746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制約関係をfoldし、繰り返し計算の検証へつなげる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A59DC-9C6E-4596-B250-640EA96967AE}"/>
              </a:ext>
            </a:extLst>
          </p:cNvPr>
          <p:cNvGraphicFramePr/>
          <p:nvPr/>
        </p:nvGraphicFramePr>
        <p:xfrm>
          <a:off xmlns:a="http://schemas.openxmlformats.org/drawingml/2006/main" x="400050" y="1438275"/>
          <a:ext xmlns:a="http://schemas.openxmlformats.org/drawingml/2006/main" cx="83439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486400"/>
              </a:tblGrid>
              <a:tr h="452438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要素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役割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52438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CCS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計算の制約を表す形式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NIMFS / Multi-Folding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複数の関係を1つの累積関係へまとめる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52438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SumCheck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fold内の多項式の主張を検査する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IVC / CycleFold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stepの継続と、群演算の検査を構成する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52438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Blinding / NovaBlindFold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秘匿化に関する論文上の構成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4DEB0-6907-4B78-A16D-1C73D26D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828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論文と実装の区別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論文はCCS・multi-folding・秘匿化などの構成を示す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その全体が調査したライブラリに実装済みとは限らない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論文概要の確認と、定義・定理の全文照合は分けて記録する</a:t>
            </a:r>
          </a:p>
        </p:txBody>
      </p:sp>
    </p:spTree>
    <p:extLst>
      <p:ext uri="{BB962C8B-B14F-4D97-AF65-F5344CB8AC3E}">
        <p14:creationId xmlns:p14="http://schemas.microsoft.com/office/powerpoint/2010/main" val="556294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49EB83-8218-4E16-A13E-14F65E13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7A16EC7-A3E1-41A6-BE4D-19008138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調査した実装と版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5CA0364-CEEF-4637-B97A-654A147C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3E06C98-D59E-4914-9CDE-CA395746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調査結果は固定版と互換patchの範囲で判断する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B8418-118C-49F7-A99F-798D7B56CEE4}"/>
              </a:ext>
            </a:extLst>
          </p:cNvPr>
          <p:cNvGraphicFramePr/>
          <p:nvPr/>
        </p:nvGraphicFramePr>
        <p:xfrm>
          <a:off xmlns:a="http://schemas.openxmlformats.org/drawingml/2006/main" x="400050" y="1438275"/>
          <a:ext xmlns:a="http://schemas.openxmlformats.org/drawingml/2006/main" cx="83439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5629275"/>
              </a:tblGrid>
              <a:tr h="43815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対象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固定情報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3815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HyperNova branch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revamp/hypernova : 9c4e61f8…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対照となるSonobe main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7f042351…（Week23の調査対象）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3815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依存修正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core arkworksを0.6.0へ統一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API互換修正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PedersenのMSM演算を現行APIへ移植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A7C01-F534-40D8-B46A-B517F2BE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38575"/>
            <a:ext cx="828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元の失敗を残して修正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0.5／0.6系の依存不整合によるビルド失敗を修正した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元ツリー・失敗ログ・互換patch・lockを保存した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確認の範囲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修正版のFoldingとIVCを実行した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上流の無修正版や、将来の全バージョンへの結論ではない</a:t>
            </a:r>
          </a:p>
        </p:txBody>
      </p:sp>
    </p:spTree>
    <p:extLst>
      <p:ext uri="{BB962C8B-B14F-4D97-AF65-F5344CB8AC3E}">
        <p14:creationId xmlns:p14="http://schemas.microsoft.com/office/powerpoint/2010/main" val="556294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49EB83-8218-4E16-A13E-14F65E13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7A16EC7-A3E1-41A6-BE4D-19008138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Foldingの実行結果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5CA0364-CEEF-4637-B97A-654A147C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3E06C98-D59E-4914-9CDE-CA395746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依存修正後、240roundのFoldingと関連38テストが成功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D45CB-FCA9-4FE2-804A-91337D592C92}"/>
              </a:ext>
            </a:extLst>
          </p:cNvPr>
          <p:cNvGraphicFramePr/>
          <p:nvPr/>
        </p:nvGraphicFramePr>
        <p:xfrm>
          <a:off xmlns:a="http://schemas.openxmlformats.org/drawingml/2006/main" x="400050" y="1438275"/>
          <a:ext xmlns:a="http://schemas.openxmlformats.org/drawingml/2006/main" cx="8343900" cy="2657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5629275"/>
              </a:tblGrid>
              <a:tr h="44291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検査条件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確認した結果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4291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variant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HyperNova / HyperNova2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commitment設定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Pedersen H=true / false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4291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入力数 (M,N)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(1,1), (1,3), (3,1), (3,3), (0,5), (5,0)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各条件の反復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10round、合計240round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42913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関連テスト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sonobe-fs 3件＋primitives 35件、全成功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E183E-A671-4AC3-B83B-B52256FF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5775"/>
            <a:ext cx="8286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成功した経路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prove → decide_running → verifyの一致を確認した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失敗・ignoreは0件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この結果から言える範囲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Foldingが動くことを確認した結果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跨Proverの秘密非共有継続や、外部提出の最終ZKとは別</a:t>
            </a:r>
          </a:p>
        </p:txBody>
      </p:sp>
    </p:spTree>
    <p:extLst>
      <p:ext uri="{BB962C8B-B14F-4D97-AF65-F5344CB8AC3E}">
        <p14:creationId xmlns:p14="http://schemas.microsoft.com/office/powerpoint/2010/main" val="556294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49EB83-8218-4E16-A13E-14F65E13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7A16EC7-A3E1-41A6-BE4D-19008138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単一ProverのIVC実行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5CA0364-CEEF-4637-B97A-654A147C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3E06C98-D59E-4914-9CDE-CA395746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通常のIVCは実行でき、公開stateの改変も拒否された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93B07-63CE-4866-8334-B1B1EB1B4DD3}"/>
              </a:ext>
            </a:extLst>
          </p:cNvPr>
          <p:cNvGraphicFramePr/>
          <p:nvPr/>
        </p:nvGraphicFramePr>
        <p:xfrm>
          <a:off xmlns:a="http://schemas.openxmlformats.org/drawingml/2006/main" x="400050" y="1438275"/>
          <a:ext xmlns:a="http://schemas.openxmlformats.org/drawingml/2006/main" cx="83439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5105400"/>
              </a:tblGrid>
              <a:tr h="4191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実行内容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結果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191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HyperNovaNovaIVC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20step成功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HyperNovaOvaIVC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20step成功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191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追加toy回路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3stepのprove / verifyに成功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公開stateの改変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session・RID・bucket・policy・countの5項目を拒否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5172F-8AAD-4A59-A66F-EF98CD91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8286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実行条件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上流テストと追加probeは単一プロセスの実験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追加probe：鍵生成1.288秒、3stepは226／443／464 ms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確認できたこと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stateを保持する同じProverが、次の計算へ進める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独立観測者間の秘密非共有を示す結果ではない</a:t>
            </a:r>
          </a:p>
        </p:txBody>
      </p:sp>
    </p:spTree>
    <p:extLst>
      <p:ext uri="{BB962C8B-B14F-4D97-AF65-F5344CB8AC3E}">
        <p14:creationId xmlns:p14="http://schemas.microsoft.com/office/powerpoint/2010/main" val="556294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49EB83-8218-4E16-A13E-14F65E13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7A16EC7-A3E1-41A6-BE4D-19008138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生IVC状態とWitness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5CA0364-CEEF-4637-B97A-654A147C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3E06C98-D59E-4914-9CDE-CA395746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内部用のProofをそのまま渡すと、Witnessも相手に渡る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95819-648D-4D07-8D27-B8A105DF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2867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APIで受け渡すもの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調査したIVC::Proofは、instanceだけでなくWitnessを含む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primary・incoming・CycleFold側の状態を保持する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秘匿化と混同しやすい点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commitmentをhidingにしても、同梱されたwは隠れない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decide_runningはWitnessを引数に取る関係検査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その名前だけで、秘密を隠す最終SNARKとは判断しない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外部提出の境界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生IVC状態を公開用のZK証明として送らない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内部状態の継続と、Witnessを隠した外部検証を分ける</a:t>
            </a:r>
          </a:p>
        </p:txBody>
      </p:sp>
    </p:spTree>
    <p:extLst>
      <p:ext uri="{BB962C8B-B14F-4D97-AF65-F5344CB8AC3E}">
        <p14:creationId xmlns:p14="http://schemas.microsoft.com/office/powerpoint/2010/main" val="556294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49EB83-8218-4E16-A13E-14F65E13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7A16EC7-A3E1-41A6-BE4D-19008138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ブラインド化と継続の試験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5CA0364-CEEF-4637-B97A-654A147C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3E06C98-D59E-4914-9CDE-CA395746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random foldは成功したが、その出力への単純差替えでは継続できない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28D62-C40E-4997-B668-58967752D90E}"/>
              </a:ext>
            </a:extLst>
          </p:cNvPr>
          <p:cNvGraphicFramePr/>
          <p:nvPr/>
        </p:nvGraphicFramePr>
        <p:xfrm>
          <a:off xmlns:a="http://schemas.openxmlformats.org/drawingml/2006/main" x="400050" y="1438275"/>
          <a:ext xmlns:a="http://schemas.openxmlformats.org/drawingml/2006/main" cx="83439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43375"/>
                <a:gridCol w="4200525"/>
              </a:tblGrid>
              <a:tr h="3810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試験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結果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3810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元の3step IVC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verify成功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random LCCCSとのfold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関係検査・NIMFS verify成功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3810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running pairを差替え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full IVC verify失敗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差替え後に次のprove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戻り値は得たが、最終verify失敗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3810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公開hashだけを変更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relation不充足で拒否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incoming Witnessをzero化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full IVC verify失敗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FD081-5760-459A-B3FB-B4B7EE4F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76725"/>
            <a:ext cx="828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拒否された理由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既存のincomingは、変更前の累積stateにhashで拘束される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hashだけを変えても、元Witnessは変更後の制約を満たさない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確認の限界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canaryの一致が消えたことだけではZK性を示せない</a:t>
            </a:r>
          </a:p>
        </p:txBody>
      </p:sp>
    </p:spTree>
    <p:extLst>
      <p:ext uri="{BB962C8B-B14F-4D97-AF65-F5344CB8AC3E}">
        <p14:creationId xmlns:p14="http://schemas.microsoft.com/office/powerpoint/2010/main" val="556294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49EB83-8218-4E16-A13E-14F65E13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7A16EC7-A3E1-41A6-BE4D-19008138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追加binderの実験結果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5CA0364-CEEF-4637-B97A-654A147C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3E06C98-D59E-4914-9CDE-CA395746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回路の部品検査は進んだが、最終proofの生成・検証は未完了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4F9B1-6A37-4E97-A95A-6D95D6227D1B}"/>
              </a:ext>
            </a:extLst>
          </p:cNvPr>
          <p:cNvGraphicFramePr/>
          <p:nvPr/>
        </p:nvGraphicFramePr>
        <p:xfrm>
          <a:off xmlns:a="http://schemas.openxmlformats.org/drawingml/2006/main" x="400050" y="1438275"/>
          <a:ext xmlns:a="http://schemas.openxmlformats.org/drawingml/2006/main" cx="83439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4962525"/>
              </a:tblGrid>
              <a:tr h="3810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工程・資源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結果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3810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binder制約数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2,498,769制約（toy CCS自体は4制約）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正常回路の充足性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成功：21.382秒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3810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改竄検査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6件を拒否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Groth16 setup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成功：67.548秒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3810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実行開始から停止まで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278.623秒、最大RSS 約3.15 GiB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Groth16 prove / verify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swap上限により停止、未検証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1AB60-4543-4372-AD22-AD8AC252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76725"/>
            <a:ext cx="828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部品として確認した範囲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SumCheck／scalar foldingにcommitmentの群演算検査を追加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元のIVC履歴全体とのbindingは未実装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停止理由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swap使用量が設定上限を超え、guardがSIGTERMで停止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この停止を証明の原理的不可能性や検証拒否とは扱わない</a:t>
            </a:r>
          </a:p>
        </p:txBody>
      </p:sp>
    </p:spTree>
    <p:extLst>
      <p:ext uri="{BB962C8B-B14F-4D97-AF65-F5344CB8AC3E}">
        <p14:creationId xmlns:p14="http://schemas.microsoft.com/office/powerpoint/2010/main" val="5562941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49EB83-8218-4E16-A13E-14F65E13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7A16EC7-A3E1-41A6-BE4D-19008138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Pi上での単一Prover IVC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5CA0364-CEEF-4637-B97A-654A147C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3E06C98-D59E-4914-9CDE-CA395746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HyperNova / CycleFoldで7stepを完走、最終ZKは含まない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6408B-4704-4C09-BA71-D269D2FD1193}"/>
              </a:ext>
            </a:extLst>
          </p:cNvPr>
          <p:cNvGraphicFramePr/>
          <p:nvPr/>
        </p:nvGraphicFramePr>
        <p:xfrm>
          <a:off xmlns:a="http://schemas.openxmlformats.org/drawingml/2006/main" x="400050" y="1438275"/>
          <a:ext xmlns:a="http://schemas.openxmlformats.org/drawingml/2006/main" cx="40005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1571625"/>
              </a:tblGrid>
              <a:tr h="4286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測定項目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結果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286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正常なstep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7 / 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生成中央値（1step）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1.768 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286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検証中央値（1step）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1.985 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鍵生成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8.545 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286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全unitの実行時間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32.633 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cgroup最大メモリ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148.887 MiB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B9EFCAA7-460E-4A59-909B-A34FA4217E78}"/>
              </a:ext>
            </a:extLst>
          </p:cNvPr>
          <p:cNvGraphicFramePr/>
          <p:nvPr/>
        </p:nvGraphicFramePr>
        <p:xfrm>
          <a:off xmlns:a="http://schemas.openxmlformats.org/drawingml/2006/main" x="4543425" y="1476375"/>
          <a:ext xmlns:a="http://schemas.openxmlformats.org/drawingml/2006/main" cx="4200525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671f5f022d460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A4794-16F2-4169-AD83-0984DCA9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52950"/>
            <a:ext cx="4181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7入力を順に1回ずつ実行した系列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540B4-3452-4751-851A-7EC00340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82867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測定条件と限界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Pi 4B / 4GB、1 CPU affinity・1スレッド、163制約の回路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単一Proverのraw IVC。7stepであり、n=21の比較とは別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長期動作や1Hz追従、外部提出ZKの成立を示す結果ではない</a:t>
            </a:r>
          </a:p>
        </p:txBody>
      </p:sp>
    </p:spTree>
    <p:extLst>
      <p:ext uri="{BB962C8B-B14F-4D97-AF65-F5344CB8AC3E}">
        <p14:creationId xmlns:p14="http://schemas.microsoft.com/office/powerpoint/2010/main" val="556294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49EB83-8218-4E16-A13E-14F65E13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7A16EC7-A3E1-41A6-BE4D-19008138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確認済み機能と未達の保証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5CA0364-CEEF-4637-B97A-654A147C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3E06C98-D59E-4914-9CDE-CA395746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Folding・内部IVCの成功を、最終ZKや秘密引継ぎの完成へ広げない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DEB6E-BBD5-4305-9631-91980293BF3E}"/>
              </a:ext>
            </a:extLst>
          </p:cNvPr>
          <p:cNvGraphicFramePr/>
          <p:nvPr/>
        </p:nvGraphicFramePr>
        <p:xfrm>
          <a:off xmlns:a="http://schemas.openxmlformats.org/drawingml/2006/main" x="400050" y="1438275"/>
          <a:ext xmlns:a="http://schemas.openxmlformats.org/drawingml/2006/main" cx="83439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57550"/>
                <a:gridCol w="1085850"/>
                <a:gridCol w="4000500"/>
              </a:tblGrid>
              <a:tr h="442232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状態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確認範囲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42232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native Folding / verify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成功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固定branch＋互換patch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2232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単一Prover IVC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成功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Macのtoy / Piの7step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42232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random fold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成功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関係検査とNIMFS verify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2232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外部提出用の最終ZK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未実証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具体的な終端実装を確認できず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42232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跨Prover秘密非共有継続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未成立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差替え・継続試験は拒否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2232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最終proofのEVM検証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未実証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実proofによる経路は未完了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F66DF-EFF7-4AA2-A0DE-314401A6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4400"/>
            <a:ext cx="8286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APIの名称と保証を分ける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固定ソースのIVC DeciderはWIP trait。具体的implを確認できず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NovaBlindFoldという名称のAPIは当該固定ツリーで見つからず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名称がないことだけで、同等構成の不可能性とは結論しない</a:t>
            </a:r>
          </a:p>
        </p:txBody>
      </p:sp>
    </p:spTree>
    <p:extLst>
      <p:ext uri="{BB962C8B-B14F-4D97-AF65-F5344CB8AC3E}">
        <p14:creationId xmlns:p14="http://schemas.microsoft.com/office/powerpoint/2010/main" val="5562941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49EB83-8218-4E16-A13E-14F65E13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7A16EC7-A3E1-41A6-BE4D-19008138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今回の採用判断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5CA0364-CEEF-4637-B97A-654A147C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3E06C98-D59E-4914-9CDE-CA395746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調査したSonobe / HyperNovaは、秘密非共有継続の用途に不採用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29C99-5FC4-4003-98A9-D1DCD7F7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2867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不採用とした用途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独立観測者A → B → Cへ、元Witnessを渡さず継続する経路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既存APIだけでは要件を満たさず、追加の暗号回路が必要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判断の根拠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生状態はWitnessを含み、random foldの単純差替えも失敗する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元IVC履歴binderと次段検証回路は未完成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方針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追加binder開発と、そのprove再試行は停止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単一端末内のIVC評価と、この不採用判断は区別する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HyperNovaの理論全般が不可能という結論ではない</a:t>
            </a:r>
          </a:p>
        </p:txBody>
      </p:sp>
    </p:spTree>
    <p:extLst>
      <p:ext uri="{BB962C8B-B14F-4D97-AF65-F5344CB8AC3E}">
        <p14:creationId xmlns:p14="http://schemas.microsoft.com/office/powerpoint/2010/main" val="5562941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49EB83-8218-4E16-A13E-14F65E13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7A16EC7-A3E1-41A6-BE4D-19008138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調査結果のまとめ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5CA0364-CEEF-4637-B97A-654A147C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3E06C98-D59E-4914-9CDE-CA395746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動いた範囲と、今回の用途で不足した保証を切り分けた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A7BEE-246E-4CE8-862D-9D2373DF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2867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実行できた範囲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依存修正後のFolding、単一ProverのIVC、Piでの7step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コード・固定hash・成功と失敗のログを保存した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未達だった保証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元Witnessを渡さず、別Proverへ検証済み状態を継続すること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外部提出用の最終ZKと、そのEVM検証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今後の扱い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今回の秘密非共有継続には採用せず、他方式の評価へ進む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端末内IVCは、終端ZKの課題と分けて研究上の結果として扱う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追加binderの開発は停止し、既存の実行記録を保存する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32E8A-E539-4928-9902-55A8CBCD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24575"/>
            <a:ext cx="8343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合成入力による研究PoC。センサの真値、DRIP信頼連鎖、航空機・観測者hardware認証は保証しない</a:t>
            </a:r>
          </a:p>
        </p:txBody>
      </p:sp>
    </p:spTree>
    <p:extLst>
      <p:ext uri="{BB962C8B-B14F-4D97-AF65-F5344CB8AC3E}">
        <p14:creationId xmlns:p14="http://schemas.microsoft.com/office/powerpoint/2010/main" val="5562941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2026-10-18T06:57:45.8130000Z</dcterms:created>
  <dcterms:modified xsi:type="dcterms:W3CDTF">2026-10-18T06:57:45.8130000Z</dcterms:modified>
</coreProperties>
</file>