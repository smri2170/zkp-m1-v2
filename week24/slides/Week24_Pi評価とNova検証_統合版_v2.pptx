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4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5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6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f2011728644fc9" /><Relationship Type="http://schemas.openxmlformats.org/officeDocument/2006/relationships/extended-properties" Target="/docProps/app.xml" Id="Reeb657f8bbc04192" /><Relationship Type="http://schemas.openxmlformats.org/officeDocument/2006/relationships/officeDocument" Target="/ppt/presentation.xml" Id="Ra196914465d540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ce485496ea4b91"/>
  </p:sldMasterIdLst>
  <p:notesMasterIdLst>
    <p:notesMasterId xmlns:r="http://schemas.openxmlformats.org/officeDocument/2006/relationships" r:id="Rf68746320a174c03"/>
  </p:notesMasterIdLst>
  <p:sldIdLst>
    <p:sldId xmlns:r="http://schemas.openxmlformats.org/officeDocument/2006/relationships" id="256" r:id="Rb52016ae75ce4324"/>
    <p:sldId xmlns:r="http://schemas.openxmlformats.org/officeDocument/2006/relationships" id="257" r:id="R7b1a6092a9bd4114"/>
    <p:sldId xmlns:r="http://schemas.openxmlformats.org/officeDocument/2006/relationships" id="258" r:id="R45a0939699254ca0"/>
    <p:sldId xmlns:r="http://schemas.openxmlformats.org/officeDocument/2006/relationships" id="259" r:id="R74a8972ad9e04c61"/>
    <p:sldId xmlns:r="http://schemas.openxmlformats.org/officeDocument/2006/relationships" id="260" r:id="R1a7e8689ef614e48"/>
    <p:sldId xmlns:r="http://schemas.openxmlformats.org/officeDocument/2006/relationships" id="261" r:id="Rbd940365dff64b74"/>
    <p:sldId xmlns:r="http://schemas.openxmlformats.org/officeDocument/2006/relationships" id="262" r:id="R1307dc62df934490"/>
    <p:sldId xmlns:r="http://schemas.openxmlformats.org/officeDocument/2006/relationships" id="263" r:id="Rab5be3513c5a41b8"/>
    <p:sldId xmlns:r="http://schemas.openxmlformats.org/officeDocument/2006/relationships" id="264" r:id="R2a591d229ca64925"/>
    <p:sldId xmlns:r="http://schemas.openxmlformats.org/officeDocument/2006/relationships" id="265" r:id="R71fbd7acf94547bd"/>
    <p:sldId xmlns:r="http://schemas.openxmlformats.org/officeDocument/2006/relationships" id="266" r:id="R715d3bb7bcff4e19"/>
    <p:sldId xmlns:r="http://schemas.openxmlformats.org/officeDocument/2006/relationships" id="267" r:id="R2f989797364a4a74"/>
    <p:sldId xmlns:r="http://schemas.openxmlformats.org/officeDocument/2006/relationships" id="268" r:id="Ref64aad6c4524ea6"/>
    <p:sldId xmlns:r="http://schemas.openxmlformats.org/officeDocument/2006/relationships" id="269" r:id="R3bc939684ae64360"/>
    <p:sldId xmlns:r="http://schemas.openxmlformats.org/officeDocument/2006/relationships" id="270" r:id="Rbf6b1fc4ecda4e70"/>
    <p:sldId xmlns:r="http://schemas.openxmlformats.org/officeDocument/2006/relationships" id="271" r:id="Rcf02cadda31d40de"/>
    <p:sldId xmlns:r="http://schemas.openxmlformats.org/officeDocument/2006/relationships" id="272" r:id="R6e7eb473f6eb4a24"/>
    <p:sldId xmlns:r="http://schemas.openxmlformats.org/officeDocument/2006/relationships" id="273" r:id="Ra8f57f0082104b54"/>
    <p:sldId xmlns:r="http://schemas.openxmlformats.org/officeDocument/2006/relationships" id="274" r:id="R34ed619017ba4e4d"/>
    <p:sldId xmlns:r="http://schemas.openxmlformats.org/officeDocument/2006/relationships" id="275" r:id="R02f57c882d5f4f12"/>
    <p:sldId xmlns:r="http://schemas.openxmlformats.org/officeDocument/2006/relationships" id="276" r:id="R136e7983dd8046ff"/>
    <p:sldId xmlns:r="http://schemas.openxmlformats.org/officeDocument/2006/relationships" id="277" r:id="Rb953e1f8f10a4a80"/>
  </p:sldIdLst>
  <p:sldSz cx="9144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bc515768cf46ba" /><Relationship Type="http://schemas.openxmlformats.org/officeDocument/2006/relationships/slideMaster" Target="/ppt/slideMasters/slideMaster1.xml" Id="R24ce485496ea4b91" /><Relationship Type="http://schemas.openxmlformats.org/officeDocument/2006/relationships/notesMaster" Target="/ppt/notesMasters/notesMaster1.xml" Id="Rf68746320a174c03" /><Relationship Type="http://schemas.openxmlformats.org/officeDocument/2006/relationships/presProps" Target="/ppt/presProps.xml" Id="R6bc52ef4c3594b23" /><Relationship Type="http://schemas.openxmlformats.org/officeDocument/2006/relationships/viewProps" Target="/ppt/viewProps.xml" Id="Rdf3281183a6d4fa4" /><Relationship Type="http://schemas.openxmlformats.org/officeDocument/2006/relationships/tableStyles" Target="/ppt/tableStyles.xml" Id="R2ca656ecccc54218" /><Relationship Type="http://schemas.openxmlformats.org/officeDocument/2006/relationships/slide" Target="/ppt/slides/slide1.xml" Id="Rb52016ae75ce4324" /><Relationship Type="http://schemas.openxmlformats.org/officeDocument/2006/relationships/slide" Target="/ppt/slides/slide2.xml" Id="R7b1a6092a9bd4114" /><Relationship Type="http://schemas.openxmlformats.org/officeDocument/2006/relationships/slide" Target="/ppt/slides/slide3.xml" Id="R45a0939699254ca0" /><Relationship Type="http://schemas.openxmlformats.org/officeDocument/2006/relationships/slide" Target="/ppt/slides/slide4.xml" Id="R74a8972ad9e04c61" /><Relationship Type="http://schemas.openxmlformats.org/officeDocument/2006/relationships/slide" Target="/ppt/slides/slide5.xml" Id="R1a7e8689ef614e48" /><Relationship Type="http://schemas.openxmlformats.org/officeDocument/2006/relationships/slide" Target="/ppt/slides/slide6.xml" Id="Rbd940365dff64b74" /><Relationship Type="http://schemas.openxmlformats.org/officeDocument/2006/relationships/slide" Target="/ppt/slides/slide7.xml" Id="R1307dc62df934490" /><Relationship Type="http://schemas.openxmlformats.org/officeDocument/2006/relationships/slide" Target="/ppt/slides/slide8.xml" Id="Rab5be3513c5a41b8" /><Relationship Type="http://schemas.openxmlformats.org/officeDocument/2006/relationships/slide" Target="/ppt/slides/slide9.xml" Id="R2a591d229ca64925" /><Relationship Type="http://schemas.openxmlformats.org/officeDocument/2006/relationships/slide" Target="/ppt/slides/slide10.xml" Id="R71fbd7acf94547bd" /><Relationship Type="http://schemas.openxmlformats.org/officeDocument/2006/relationships/slide" Target="/ppt/slides/slide11.xml" Id="R715d3bb7bcff4e19" /><Relationship Type="http://schemas.openxmlformats.org/officeDocument/2006/relationships/slide" Target="/ppt/slides/slide12.xml" Id="R2f989797364a4a74" /><Relationship Type="http://schemas.openxmlformats.org/officeDocument/2006/relationships/slide" Target="/ppt/slides/slide13.xml" Id="Ref64aad6c4524ea6" /><Relationship Type="http://schemas.openxmlformats.org/officeDocument/2006/relationships/slide" Target="/ppt/slides/slide14.xml" Id="R3bc939684ae64360" /><Relationship Type="http://schemas.openxmlformats.org/officeDocument/2006/relationships/slide" Target="/ppt/slides/slide15.xml" Id="Rbf6b1fc4ecda4e70" /><Relationship Type="http://schemas.openxmlformats.org/officeDocument/2006/relationships/slide" Target="/ppt/slides/slide16.xml" Id="Rcf02cadda31d40de" /><Relationship Type="http://schemas.openxmlformats.org/officeDocument/2006/relationships/slide" Target="/ppt/slides/slide17.xml" Id="R6e7eb473f6eb4a24" /><Relationship Type="http://schemas.openxmlformats.org/officeDocument/2006/relationships/slide" Target="/ppt/slides/slide18.xml" Id="Ra8f57f0082104b54" /><Relationship Type="http://schemas.openxmlformats.org/officeDocument/2006/relationships/slide" Target="/ppt/slides/slide19.xml" Id="R34ed619017ba4e4d" /><Relationship Type="http://schemas.openxmlformats.org/officeDocument/2006/relationships/slide" Target="/ppt/slides/slide20.xml" Id="R02f57c882d5f4f12" /><Relationship Type="http://schemas.openxmlformats.org/officeDocument/2006/relationships/slide" Target="/ppt/slides/slide21.xml" Id="R136e7983dd8046ff" /><Relationship Type="http://schemas.openxmlformats.org/officeDocument/2006/relationships/slide" Target="/ppt/slides/slide22.xml" Id="Rb953e1f8f10a4a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0f0fa5790c48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2f0638ad7f4c31" /><Relationship Type="http://schemas.openxmlformats.org/officeDocument/2006/relationships/notesMaster" Target="/ppt/notesMasters/notesMaster1.xml" Id="R7e2ff474c8f74e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78c48f640448da" /><Relationship Type="http://schemas.openxmlformats.org/officeDocument/2006/relationships/notesMaster" Target="/ppt/notesMasters/notesMaster1.xml" Id="Rb4793ce46f034c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2c1fff744e4036" /><Relationship Type="http://schemas.openxmlformats.org/officeDocument/2006/relationships/notesMaster" Target="/ppt/notesMasters/notesMaster1.xml" Id="Rc41a169c6e9a4a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6ab40b02ad4ad2" /><Relationship Type="http://schemas.openxmlformats.org/officeDocument/2006/relationships/notesMaster" Target="/ppt/notesMasters/notesMaster1.xml" Id="Ra945f65a9e7a47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8aaf58db1d4a06" /><Relationship Type="http://schemas.openxmlformats.org/officeDocument/2006/relationships/notesMaster" Target="/ppt/notesMasters/notesMaster1.xml" Id="Rc4869aaeed414a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35953fc6b74acb" /><Relationship Type="http://schemas.openxmlformats.org/officeDocument/2006/relationships/notesMaster" Target="/ppt/notesMasters/notesMaster1.xml" Id="Rd35bd33c7be842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004600262b4c0e" /><Relationship Type="http://schemas.openxmlformats.org/officeDocument/2006/relationships/notesMaster" Target="/ppt/notesMasters/notesMaster1.xml" Id="R4e451acd587843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de59072d244ab1" /><Relationship Type="http://schemas.openxmlformats.org/officeDocument/2006/relationships/notesMaster" Target="/ppt/notesMasters/notesMaster1.xml" Id="R059f5d071f5e42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2786545d7b40e7" /><Relationship Type="http://schemas.openxmlformats.org/officeDocument/2006/relationships/notesMaster" Target="/ppt/notesMasters/notesMaster1.xml" Id="R8a70e48c7dd649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96deecdce24c28" /><Relationship Type="http://schemas.openxmlformats.org/officeDocument/2006/relationships/notesMaster" Target="/ppt/notesMasters/notesMaster1.xml" Id="R680048679c3141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ac6081160e496d" /><Relationship Type="http://schemas.openxmlformats.org/officeDocument/2006/relationships/notesMaster" Target="/ppt/notesMasters/notesMaster1.xml" Id="Rc4c4b4b5bbdd48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fd501d6170443f" /><Relationship Type="http://schemas.openxmlformats.org/officeDocument/2006/relationships/notesMaster" Target="/ppt/notesMasters/notesMaster1.xml" Id="R6f561597251743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f6f27893884925" /><Relationship Type="http://schemas.openxmlformats.org/officeDocument/2006/relationships/notesMaster" Target="/ppt/notesMasters/notesMaster1.xml" Id="R72e1516dd9cf4d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fb6c149f4b14d33" /><Relationship Type="http://schemas.openxmlformats.org/officeDocument/2006/relationships/notesMaster" Target="/ppt/notesMasters/notesMaster1.xml" Id="Redc87b29460e4b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5820263a6b489b" /><Relationship Type="http://schemas.openxmlformats.org/officeDocument/2006/relationships/notesMaster" Target="/ppt/notesMasters/notesMaster1.xml" Id="R5bddd99f6a2a424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70e65860454dbf" /><Relationship Type="http://schemas.openxmlformats.org/officeDocument/2006/relationships/notesMaster" Target="/ppt/notesMasters/notesMaster1.xml" Id="R05b9f3e2568f44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ff9f6c9967d4346" /><Relationship Type="http://schemas.openxmlformats.org/officeDocument/2006/relationships/notesMaster" Target="/ppt/notesMasters/notesMaster1.xml" Id="R6347308a39304f6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b337c0ae3cc4b8c" /><Relationship Type="http://schemas.openxmlformats.org/officeDocument/2006/relationships/notesMaster" Target="/ppt/notesMasters/notesMaster1.xml" Id="R571b865628034f6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06857c1d8ff4bc6" /><Relationship Type="http://schemas.openxmlformats.org/officeDocument/2006/relationships/notesMaster" Target="/ppt/notesMasters/notesMaster1.xml" Id="Red54c4f87f664eb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4c36d8c79bc4de9" /><Relationship Type="http://schemas.openxmlformats.org/officeDocument/2006/relationships/notesMaster" Target="/ppt/notesMasters/notesMaster1.xml" Id="R2d584f4aaa374ce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579664770854a71" /><Relationship Type="http://schemas.openxmlformats.org/officeDocument/2006/relationships/notesMaster" Target="/ppt/notesMasters/notesMaster1.xml" Id="R89a79cd7df64445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fb33abad1cf44bd" /><Relationship Type="http://schemas.openxmlformats.org/officeDocument/2006/relationships/notesMaster" Target="/ppt/notesMasters/notesMaster1.xml" Id="R2ee6786146db41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研究PoCの合成ユークリッド計算について、Pi上での実測を報告する。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week24/figures/balanced-nine-overview/comparison.json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性能と秘密の扱いを一つの発表で説明する。Novaの過去のセキュリティ検査はWeek23の記録であり、Week24の新規測定と区別する。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week24/03_ユークリッド距離_各方式のPi実装.md; week23/logs/sonobe-current-security.json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単純なライブラリの順位づけではなく、実行性と資源量を確認する。センサの正直性や航空機認証の実証ではない。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week24/figures/balanced-nine-overview/comparison.json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CircomのEuclidean回路は座標16bit、d2 33bit、r 17bitと上下限を制約化。観測やセンサの正しさを証明するものではない。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experiments/pi4-euclidean/circom/euclidean.circom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構成数はライブラリ数と異なる。同じライブラリの複数backendやproverを別構成として数える。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.cache/week24/sequential-jobs/circom-1017c/comparison-status.json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記述統計として扱い、独立な繰り返しや信頼区間とは主張しない。構成間の細かい時間境界の差は残る。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experiments/unified-distance-bench/protocol.py; week24/figures/balanced-nine-overview/comparison.json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子High192/Max256MiB/Swap0、親High1200/Max1536MiB/Swap0、OS空き1GiB以上、SSH oom_score_adj=-900。Circom両runのcgroup OOM/oom_kill=0。接続断や再起動原因は未確定。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.cache/week24/sequential-jobs/circom-1017c/guard-restoration.json; .cache/week24/sequential-jobs/circom-1017c/data/summary.json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9構成は別々のジョブから得た実測。工程時間はstatus.jsonのmeasurement step elapsed_s、本体時間はresource elapsed_s。合計1877.452秒は完走工程の単純合計。人が実装した作業時間や失敗・再接続の全時間は測定していない。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week24/slides/実験所要時間.csv; .cache/week24/sequential-jobs/seq-1016b/status.json; .cache/week24/sequential-jobs/circom-1017c/status.json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平均フロー秒を表示。誤差棒はこの図には表示せず、統計データのSD・中央値はCSV/JSONに保存。異なる保証や測定範囲を含むため一般的な優劣とはしない。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week24/figures/balanced-nine-overview/comparison.json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全実行のcgroup値でOS全体の使用量ではない。RapidSnark平均25.3/最大28.2MiB、snarkjs平均85.7/最大106.4MiB。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week24/figures/balanced-nine-overview/comparison.json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proof本文・鍵は埋め込まない。サイズのみ保存。JSON書式やnative encoding差を含む。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week24/figures/balanced-nine-overview/comparison.json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16.608548833/0.427582176=約38.84倍。Pi snarkjsは0.7.5、Mac正当性テストは0.7.6。両構成とも共通native RapidSnark verifierを使用。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experiments/circom-prover-comparison/README.md; week24/figures/balanced-nine-overview/comparison.json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元データから生成した散布図。今回の合成計算での値であり本番性能を一般化しない。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week24/figures/balanced-nine-overview/comparison.json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理論の概要はIACR 2021/370の公開abstractを確認。foldingは2関係を1関係へ縮約しIVCへつなぐ。生RecursiveSNARK/IVCProofと最終圧縮・ランダム化証明のAPIを区別する。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https://eprint.iacr.org/2021/370; week23/02_Nova系実装とAPI対応調査.md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benchmark relation valid7 invalid6、claimed_state_rejections3×7、all_verifiedtrue、final_zkfalse、raw_ivc_contains_witnesstrue。setup8610.061128ms、unit38.168350018sec、peak196173824bytes。CPU quota25%の後続21件実験と混ぜない。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week24/03_ユークリッド距離_各方式のPi実装.md; week24/logs/pi-euclidean/euclidean-nova-v2/benchmark.jsonl; week24/logs/pi-euclidean/euclidean-nova-v2/resource.json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正常採用run v2のcase_id0..6を順に線で結ぶ。生成median1900.210576ms、検証median2946.230978ms。長期スケーリング則や定常レイテンシを推定しない。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week24/logs/pi-euclidean/euclidean-nova-v2/benchmark.jsonl; week24/figures/nova-validation-v2/pi-steps.csv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memory.jsonlのcgroup_current_bytesを使用し、kernel peakはresource.jsonから別の破線として表示。Nova v2のみで、失敗v1を混ぜない。親High1200/Max1536MiB、子High384/Max512MiB、Swap0。OOM/oom_killイベント増分0。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week24/logs/pi-euclidean/euclidean-nova-v2/memory.jsonl; week24/logs/pi-euclidean/euclidean-nova-v2/resource.json; week24/figures/nova-validation-v2/sources.json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-12時点で固定したmain7f042351e73d38f99c05167ba41f1e282178b067。NovaNovaIVCで6独立プロセスの正常経路と22改竄×3段×2設定=132件拒否。省略6件を132に加算して同じ検査種類とは扱わない。信頼区間や確率推定の図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week23/logs/sonobe-current-security.json; week23/10_HyperNova実行と最新Sonobe安全性と秘密引継ぎ.md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固定main各runの当該stageのauditからowner_stageが同じcanaryのみを集計し、incoming_w_indicesが非空の数を算出。両H各3段で7件。canaryの値そのものや秘密assignmentは資料へ埋め込まない。serialized witnessの直接可視性と暗号学的なcommitmentの破壊を区別する。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week23/logs/sonobe-current-security.json; week24/figures/nova-validation-v2/security.csv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旧Sonobe H=trueのRandomizedIVCProof::new/verifyを実行。canary完全一致0は直接一致検査であり暗号学的安全性の証明ではない。from_ivc_proofはIVCProofを要求し、RandomizedIVCProofからの復元APIは調査範囲内で未確認。Microsoft CompressedSNARKとは別の実装・実験。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week23/logs/witness-zk-final.jsonl; week23/02_Nova系実装とAPI対応調査.md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性能の優劣と、秘密非共有の採否は別の判断。Week23の停止判断を維持し、重いbinder実験は再開していない。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week23/05_PCD_BC比較と技術選定ADR.md; week24/03_ユークリッド距離_各方式のPi実装.md; week24/figures/balanced-nine-overview/comparison.json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ユーザー指定の27時間を作業内容ごとに配分した概算。人の実測工数やジョブログから算出した総時間とは主張しない。Week23調査は除外しWeek24資料化を含む。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week24/19_作業時間の概算.md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ea9c4cf2674b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1f20f260b48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6926bc42a341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46c2c3b8e41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1b3c5b75e4e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da09d2413496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bdbf4a4010400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60b0ad2b4473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a90b6ae4154ff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df033c538a4fb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f938875859493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88BDA1-0D4F-4353-A591-080379D274B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108066C-4751-4517-BE00-9C38B819CE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6EA513D-DD6A-4402-8BB4-01B01A7663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168878C-8D8B-4D44-9CD1-DCCF718958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E512B9-E7C5-4730-8665-FFB97C874A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2E2893-E89A-4AF9-A862-BF97209FB0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FD760A-D81B-4C49-817B-162E21FBCA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6473D8-26FC-46B4-8A0A-A162890280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341183-4157-4828-932F-A6A7C0ADBD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4B0AF2-46F5-49C5-BAD3-4DA6D3E596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F6424E-5225-46EA-B653-337E31AA32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53C3069-766F-465B-A919-254C2F1966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84AFE4-C442-4850-A362-81E5C0AC3F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443B254-3510-463F-A3A1-CA30ED764E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6621FE-D1CF-4B6B-8F21-9580E279BA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79629A-5621-42C4-B36A-8456F517B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74AFA0-3EC8-4663-9D36-EBFED896AB2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5FBA48B-044B-44FE-839E-A6DCD79F453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137CC98-D3C8-4392-866D-BC40AB643A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D1D0A2D-3CDC-4DB9-8EC3-31F11CF792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A039D48-9D26-40B4-A57B-518D70B45E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026DCC-ACA5-456A-9406-E5B9C0A32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6FA6B5C-601E-450B-A7D2-98C6AABB5A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7AEF8D8-45DF-4CDD-A6F8-240463BFE83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38D63D2-42AE-42BA-9366-A1286F4C3C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F93D570-77AE-4C6B-ABA1-BBA9482B0D7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5550BD0-DD36-4905-B080-3680A917AB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075E58B-B699-46BE-8C07-43F03399D3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C7CCFA0-AEA9-4BB3-9028-DCCE9A0F6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873E72E-0E95-431E-8EA7-CE2ED9FBD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B8D83D4-3E1E-40D5-B053-9B68A87C01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20C42A7-DAEF-4A98-9AEB-5860F63FA4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66AB883-439B-46DB-BB34-51FE288EEE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2A62BD9-207C-4725-ABA5-3764DC7602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A5879A7-AC7A-4CCC-9E27-FE8C5D11A2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A529E45-0964-4944-80CC-B7A315D3E8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AD15A8-C4AB-4BE8-AA06-DFF475A88D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6235E7-27BF-4A20-809B-BF6E1D33A5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4D9CE0B-1CB3-4FDA-9609-F0C9C62B2F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9C4EF97-E39F-44EB-B4DB-DB1637B2D7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AD887CA-A6D4-4BBB-8B9D-4BB24AF198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AE9BE5D-C294-4878-9ECE-530869FC6E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B9F83A-CE63-4259-8E01-433E31CBEA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37CA3EB-1809-4C1E-AA4B-567DBB97F7F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5FA9648-9DA7-4E66-923E-8F13806E89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69619EB-A18C-40E7-8C72-CDFA866664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33659B7-A410-411C-A4A6-36306BB28B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A1658C0-9AE1-4D99-990B-88F817FF02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8F7706-2F9B-47D7-9679-BE75A4E6B2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32C8475-987A-425F-B6F7-15BFF46B1B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694F19-05AA-449A-A9C1-0C66FDE3FE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CF64A32-A3CE-42D2-8A1B-992D27260F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514CC-D5F2-4484-B8CE-032C50EB84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35C6BA6-13E9-43B4-8D7B-3C69151139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29D5300-98FD-4D23-9C6F-6B0343F09B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A30943F-F90F-4582-9027-41808D7E38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EE13CEE-1CF6-4CD3-91ED-863B150BA7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5A9591-B242-4150-ABD4-6DD965B061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76a4840c464145" /><Relationship Type="http://schemas.openxmlformats.org/officeDocument/2006/relationships/slideLayout" Target="/ppt/slideLayouts/slideLayout1.xml" Id="R41cf344f52b240fb" /><Relationship Type="http://schemas.openxmlformats.org/officeDocument/2006/relationships/slideLayout" Target="/ppt/slideLayouts/slideLayout2.xml" Id="R50469ea8a9df40bf" /><Relationship Type="http://schemas.openxmlformats.org/officeDocument/2006/relationships/slideLayout" Target="/ppt/slideLayouts/slideLayout3.xml" Id="Ra3698af3fc8f4257" /><Relationship Type="http://schemas.openxmlformats.org/officeDocument/2006/relationships/slideLayout" Target="/ppt/slideLayouts/slideLayout4.xml" Id="R566fd0b86cda47a5" /><Relationship Type="http://schemas.openxmlformats.org/officeDocument/2006/relationships/slideLayout" Target="/ppt/slideLayouts/slideLayout5.xml" Id="Rbc244f5315b94c1c" /><Relationship Type="http://schemas.openxmlformats.org/officeDocument/2006/relationships/slideLayout" Target="/ppt/slideLayouts/slideLayout6.xml" Id="R7befeec62f294d17" /><Relationship Type="http://schemas.openxmlformats.org/officeDocument/2006/relationships/slideLayout" Target="/ppt/slideLayouts/slideLayout7.xml" Id="Rfef37c9642554952" /><Relationship Type="http://schemas.openxmlformats.org/officeDocument/2006/relationships/slideLayout" Target="/ppt/slideLayouts/slideLayout8.xml" Id="Ra50c517e4d1d4da1" /><Relationship Type="http://schemas.openxmlformats.org/officeDocument/2006/relationships/slideLayout" Target="/ppt/slideLayouts/slideLayout9.xml" Id="R41f86e929ee8429a" /><Relationship Type="http://schemas.openxmlformats.org/officeDocument/2006/relationships/slideLayout" Target="/ppt/slideLayouts/slideLayout10.xml" Id="R1cfa991228844d9a" /><Relationship Type="http://schemas.openxmlformats.org/officeDocument/2006/relationships/slideLayout" Target="/ppt/slideLayouts/slideLayout11.xml" Id="Rcb52c053a63449f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FBECBCF-7B97-4335-9954-0935DC01AD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2173E2-8950-4C5C-8451-D0C4723528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25F4CE-0FD3-4185-B026-403C3758114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277A081-A8A3-4786-87EE-3FE1EC48670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0A6E483-8509-413C-8AAA-1446C6526D8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cf344f52b240fb"/>
    <p:sldLayoutId xmlns:r="http://schemas.openxmlformats.org/officeDocument/2006/relationships" id="2147483650" r:id="R50469ea8a9df40bf"/>
    <p:sldLayoutId xmlns:r="http://schemas.openxmlformats.org/officeDocument/2006/relationships" id="2147483651" r:id="Ra3698af3fc8f4257"/>
    <p:sldLayoutId xmlns:r="http://schemas.openxmlformats.org/officeDocument/2006/relationships" id="2147483652" r:id="R566fd0b86cda47a5"/>
    <p:sldLayoutId xmlns:r="http://schemas.openxmlformats.org/officeDocument/2006/relationships" id="2147483653" r:id="Rbc244f5315b94c1c"/>
    <p:sldLayoutId xmlns:r="http://schemas.openxmlformats.org/officeDocument/2006/relationships" id="2147483654" r:id="R7befeec62f294d17"/>
    <p:sldLayoutId xmlns:r="http://schemas.openxmlformats.org/officeDocument/2006/relationships" id="2147483655" r:id="Rfef37c9642554952"/>
    <p:sldLayoutId xmlns:r="http://schemas.openxmlformats.org/officeDocument/2006/relationships" id="2147483656" r:id="Ra50c517e4d1d4da1"/>
    <p:sldLayoutId xmlns:r="http://schemas.openxmlformats.org/officeDocument/2006/relationships" id="2147483657" r:id="R41f86e929ee8429a"/>
    <p:sldLayoutId xmlns:r="http://schemas.openxmlformats.org/officeDocument/2006/relationships" id="2147483658" r:id="R1cfa991228844d9a"/>
    <p:sldLayoutId xmlns:r="http://schemas.openxmlformats.org/officeDocument/2006/relationships" id="2147483659" r:id="Rcb52c053a63449f7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f2930c877f4249" /><Relationship Type="http://schemas.openxmlformats.org/officeDocument/2006/relationships/notesSlide" Target="/ppt/notesSlides/notesSlide1.xml" Id="Rb7d77796a02a44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345fe9f0754caa" /><Relationship Type="http://schemas.openxmlformats.org/officeDocument/2006/relationships/notesSlide" Target="/ppt/notesSlides/notesSlide2.xml" Id="R92ee97f4422544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114fdfa3d24a44" /><Relationship Type="http://schemas.openxmlformats.org/officeDocument/2006/relationships/notesSlide" Target="/ppt/notesSlides/notesSlide3.xml" Id="Ra8835388531b44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8d7c9658d5427b" /><Relationship Type="http://schemas.openxmlformats.org/officeDocument/2006/relationships/notesSlide" Target="/ppt/notesSlides/notesSlide4.xml" Id="R706b9c23007840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815ebe24724889" /><Relationship Type="http://schemas.openxmlformats.org/officeDocument/2006/relationships/notesSlide" Target="/ppt/notesSlides/notesSlide5.xml" Id="R44e10cb8a00246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aa0c8f76a543d2" /><Relationship Type="http://schemas.openxmlformats.org/officeDocument/2006/relationships/notesSlide" Target="/ppt/notesSlides/notesSlide6.xml" Id="R66ce50c27d2a4b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2696cd9313422e" /><Relationship Type="http://schemas.openxmlformats.org/officeDocument/2006/relationships/notesSlide" Target="/ppt/notesSlides/notesSlide7.xml" Id="Ra2e1186dded44f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3a05d65c3b4eba" /><Relationship Type="http://schemas.openxmlformats.org/officeDocument/2006/relationships/notesSlide" Target="/ppt/notesSlides/notesSlide8.xml" Id="R78c8250dcdb042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2a30695de3463a" /><Relationship Type="http://schemas.openxmlformats.org/officeDocument/2006/relationships/chart" Target="/ppt/slides/charts/chart1.xml" Id="Rd291361e2edd464b" /><Relationship Type="http://schemas.openxmlformats.org/officeDocument/2006/relationships/notesSlide" Target="/ppt/notesSlides/notesSlide9.xml" Id="R27b760c5b99542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b0d467c5144ff3" /><Relationship Type="http://schemas.openxmlformats.org/officeDocument/2006/relationships/chart" Target="/ppt/slides/charts/chart2.xml" Id="Rfb0d3ec184874a73" /><Relationship Type="http://schemas.openxmlformats.org/officeDocument/2006/relationships/notesSlide" Target="/ppt/notesSlides/notesSlide10.xml" Id="Rec3e3dade9cd4a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29001bd1c646b4" /><Relationship Type="http://schemas.openxmlformats.org/officeDocument/2006/relationships/chart" Target="/ppt/slides/charts/chart3.xml" Id="R699ac1561c524260" /><Relationship Type="http://schemas.openxmlformats.org/officeDocument/2006/relationships/notesSlide" Target="/ppt/notesSlides/notesSlide11.xml" Id="R40fd3071e80745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3995446ff144e3" /><Relationship Type="http://schemas.openxmlformats.org/officeDocument/2006/relationships/notesSlide" Target="/ppt/notesSlides/notesSlide12.xml" Id="Rba81fa6222cd4a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acc3fad8bfa4440" /><Relationship Type="http://schemas.openxmlformats.org/officeDocument/2006/relationships/image" Target="/ppt/media/image.png" Id="Rbd1895f608ae4afa" /><Relationship Type="http://schemas.openxmlformats.org/officeDocument/2006/relationships/notesSlide" Target="/ppt/notesSlides/notesSlide13.xml" Id="R16adfd5b41254d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e05cf6d1194c31" /><Relationship Type="http://schemas.openxmlformats.org/officeDocument/2006/relationships/notesSlide" Target="/ppt/notesSlides/notesSlide14.xml" Id="R4a8b83ea445f49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f9cebff19647ce" /><Relationship Type="http://schemas.openxmlformats.org/officeDocument/2006/relationships/notesSlide" Target="/ppt/notesSlides/notesSlide15.xml" Id="Rb0e01e4fec46487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b5ce8f6c134a77" /><Relationship Type="http://schemas.openxmlformats.org/officeDocument/2006/relationships/chart" Target="/ppt/slides/charts/chart4.xml" Id="R719b3b8d45e54d38" /><Relationship Type="http://schemas.openxmlformats.org/officeDocument/2006/relationships/notesSlide" Target="/ppt/notesSlides/notesSlide16.xml" Id="R1075149520a444c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09d3d8fcfb4ca7" /><Relationship Type="http://schemas.openxmlformats.org/officeDocument/2006/relationships/image" Target="/ppt/media/image2.png" Id="R5dc39e87ef954e90" /><Relationship Type="http://schemas.openxmlformats.org/officeDocument/2006/relationships/notesSlide" Target="/ppt/notesSlides/notesSlide17.xml" Id="R6fd49de46f7842f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3f2650f8b64b26" /><Relationship Type="http://schemas.openxmlformats.org/officeDocument/2006/relationships/chart" Target="/ppt/slides/charts/chart5.xml" Id="R17d163ce3f0343a6" /><Relationship Type="http://schemas.openxmlformats.org/officeDocument/2006/relationships/notesSlide" Target="/ppt/notesSlides/notesSlide18.xml" Id="R81e04caa173f471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d9009bd05b44ea" /><Relationship Type="http://schemas.openxmlformats.org/officeDocument/2006/relationships/chart" Target="/ppt/slides/charts/chart6.xml" Id="Rb9c20d993e8a4879" /><Relationship Type="http://schemas.openxmlformats.org/officeDocument/2006/relationships/notesSlide" Target="/ppt/notesSlides/notesSlide19.xml" Id="R574be12be312470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dd1699d2664828" /><Relationship Type="http://schemas.openxmlformats.org/officeDocument/2006/relationships/notesSlide" Target="/ppt/notesSlides/notesSlide20.xml" Id="R412d066431424e3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db6bd79c4b49b8" /><Relationship Type="http://schemas.openxmlformats.org/officeDocument/2006/relationships/notesSlide" Target="/ppt/notesSlides/notesSlide21.xml" Id="R6113cf86b7e8461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eab6c0bd684d78" /><Relationship Type="http://schemas.openxmlformats.org/officeDocument/2006/relationships/notesSlide" Target="/ppt/notesSlides/notesSlide22.xml" Id="Raf0e754e162e46e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平均時間</c:v>
          </c:tx>
          <c:spPr>
            <a:solidFill xmlns:a="http://schemas.openxmlformats.org/drawingml/2006/main">
              <a:srgbClr val="2F64A1"/>
            </a:solidFill>
          </c:spPr>
          <c:invertIfNegative val="0"/>
          <c:cat>
            <c:strRef>
              <c:f>'Chart Data'!$A$2:$A$10</c:f>
              <c:strCache>
                <c:ptCount val="9"/>
                <c:pt idx="0">
                  <c:v>Circom / snarkjs</c:v>
                </c:pt>
                <c:pt idx="1">
                  <c:v>Halo2 / IPA</c:v>
                </c:pt>
                <c:pt idx="2">
                  <c:v>Halo2 / KZG</c:v>
                </c:pt>
                <c:pt idx="3">
                  <c:v>Spartan</c:v>
                </c:pt>
                <c:pt idx="4">
                  <c:v>gnark / PLONK</c:v>
                </c:pt>
                <c:pt idx="5">
                  <c:v>Bulletproofs</c:v>
                </c:pt>
                <c:pt idx="6">
                  <c:v>Circom / Rapid</c:v>
                </c:pt>
                <c:pt idx="7">
                  <c:v>gnark / G16</c:v>
                </c:pt>
                <c:pt idx="8">
                  <c:v>arkworks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16.6085</c:v>
                </c:pt>
                <c:pt idx="1">
                  <c:v>11.2933</c:v>
                </c:pt>
                <c:pt idx="2">
                  <c:v>4.2896</c:v>
                </c:pt>
                <c:pt idx="3">
                  <c:v>4.1009</c:v>
                </c:pt>
                <c:pt idx="4">
                  <c:v>2.9472</c:v>
                </c:pt>
                <c:pt idx="5">
                  <c:v>2.5016</c:v>
                </c:pt>
                <c:pt idx="6">
                  <c:v>0.4276</c:v>
                </c:pt>
                <c:pt idx="7">
                  <c:v>0.2453</c:v>
                </c:pt>
                <c:pt idx="8">
                  <c:v>0.1867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4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Kaku Gothic ProN W3"/>
                    <a:ea typeface="Hiragino Kaku Gothic ProN W3"/>
                    <a:cs typeface="Hiragino Kaku Gothic ProN W3"/>
                  </a:rPr>
                  <a:t>秒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最大</c:v>
          </c:tx>
          <c:spPr>
            <a:solidFill xmlns:a="http://schemas.openxmlformats.org/drawingml/2006/main">
              <a:srgbClr val="2F64A1"/>
            </a:solidFill>
          </c:spPr>
          <c:invertIfNegative val="0"/>
          <c:cat>
            <c:strRef>
              <c:f>'Chart Data'!$A$2:$A$10</c:f>
              <c:strCache>
                <c:ptCount val="9"/>
                <c:pt idx="0">
                  <c:v>Circom / snarkjs</c:v>
                </c:pt>
                <c:pt idx="1">
                  <c:v>Halo2 / IPA</c:v>
                </c:pt>
                <c:pt idx="2">
                  <c:v>Halo2 / KZG</c:v>
                </c:pt>
                <c:pt idx="3">
                  <c:v>Spartan</c:v>
                </c:pt>
                <c:pt idx="4">
                  <c:v>gnark / PLONK</c:v>
                </c:pt>
                <c:pt idx="5">
                  <c:v>Bulletproofs</c:v>
                </c:pt>
                <c:pt idx="6">
                  <c:v>Circom / Rapid</c:v>
                </c:pt>
                <c:pt idx="7">
                  <c:v>gnark / G16</c:v>
                </c:pt>
                <c:pt idx="8">
                  <c:v>arkworks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106.4063</c:v>
                </c:pt>
                <c:pt idx="1">
                  <c:v>13.582</c:v>
                </c:pt>
                <c:pt idx="2">
                  <c:v>10.3633</c:v>
                </c:pt>
                <c:pt idx="3">
                  <c:v>10.6523</c:v>
                </c:pt>
                <c:pt idx="4">
                  <c:v>14.8633</c:v>
                </c:pt>
                <c:pt idx="5">
                  <c:v>9.3672</c:v>
                </c:pt>
                <c:pt idx="6">
                  <c:v>28.2031</c:v>
                </c:pt>
                <c:pt idx="7">
                  <c:v>13.8047</c:v>
                </c:pt>
                <c:pt idx="8">
                  <c:v>8.2969</c:v>
                </c:pt>
              </c:numCache>
            </c:numRef>
          </c:val>
        </c:ser>
        <c:ser>
          <c:idx val="1"/>
          <c:order val="1"/>
          <c:tx>
            <c:v>平均</c:v>
          </c:tx>
          <c:spPr>
            <a:solidFill xmlns:a="http://schemas.openxmlformats.org/drawingml/2006/main">
              <a:srgbClr val="B5CDE2"/>
            </a:solidFill>
          </c:spPr>
          <c:invertIfNegative val="0"/>
          <c:cat>
            <c:strRef>
              <c:f>'Chart Data'!$C$2:$C$10</c:f>
              <c:strCache>
                <c:ptCount val="9"/>
                <c:pt idx="0">
                  <c:v>Circom / snarkjs</c:v>
                </c:pt>
                <c:pt idx="1">
                  <c:v>Halo2 / IPA</c:v>
                </c:pt>
                <c:pt idx="2">
                  <c:v>Halo2 / KZG</c:v>
                </c:pt>
                <c:pt idx="3">
                  <c:v>Spartan</c:v>
                </c:pt>
                <c:pt idx="4">
                  <c:v>gnark / PLONK</c:v>
                </c:pt>
                <c:pt idx="5">
                  <c:v>Bulletproofs</c:v>
                </c:pt>
                <c:pt idx="6">
                  <c:v>Circom / Rapid</c:v>
                </c:pt>
                <c:pt idx="7">
                  <c:v>gnark / G16</c:v>
                </c:pt>
                <c:pt idx="8">
                  <c:v>arkworks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85.7062</c:v>
                </c:pt>
                <c:pt idx="1">
                  <c:v>10.6465</c:v>
                </c:pt>
                <c:pt idx="2">
                  <c:v>9.0189</c:v>
                </c:pt>
                <c:pt idx="3">
                  <c:v>9.0938</c:v>
                </c:pt>
                <c:pt idx="4">
                  <c:v>13.975</c:v>
                </c:pt>
                <c:pt idx="5">
                  <c:v>8.2612</c:v>
                </c:pt>
                <c:pt idx="6">
                  <c:v>25.2517</c:v>
                </c:pt>
                <c:pt idx="7">
                  <c:v>11.8201</c:v>
                </c:pt>
                <c:pt idx="8">
                  <c:v>7.7211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4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Kaku Gothic ProN W3"/>
                    <a:ea typeface="Hiragino Kaku Gothic ProN W3"/>
                    <a:cs typeface="Hiragino Kaku Gothic ProN W3"/>
                  </a:rPr>
                  <a:t>MiB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平均保存サイズ</c:v>
          </c:tx>
          <c:spPr>
            <a:solidFill xmlns:a="http://schemas.openxmlformats.org/drawingml/2006/main">
              <a:srgbClr val="2F64A1"/>
            </a:solidFill>
          </c:spPr>
          <c:invertIfNegative val="0"/>
          <c:cat>
            <c:strRef>
              <c:f>'Chart Data'!$A$2:$A$10</c:f>
              <c:strCache>
                <c:ptCount val="9"/>
                <c:pt idx="0">
                  <c:v>Circom / snarkjs</c:v>
                </c:pt>
                <c:pt idx="1">
                  <c:v>Halo2 / IPA</c:v>
                </c:pt>
                <c:pt idx="2">
                  <c:v>Halo2 / KZG</c:v>
                </c:pt>
                <c:pt idx="3">
                  <c:v>Spartan</c:v>
                </c:pt>
                <c:pt idx="4">
                  <c:v>gnark / PLONK</c:v>
                </c:pt>
                <c:pt idx="5">
                  <c:v>Bulletproofs</c:v>
                </c:pt>
                <c:pt idx="6">
                  <c:v>Circom / Rapid</c:v>
                </c:pt>
                <c:pt idx="7">
                  <c:v>gnark / G16</c:v>
                </c:pt>
                <c:pt idx="8">
                  <c:v>arkworks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805.2381</c:v>
                </c:pt>
                <c:pt idx="1">
                  <c:v>2080</c:v>
                </c:pt>
                <c:pt idx="2">
                  <c:v>1312</c:v>
                </c:pt>
                <c:pt idx="3">
                  <c:v>29952</c:v>
                </c:pt>
                <c:pt idx="4">
                  <c:v>520</c:v>
                </c:pt>
                <c:pt idx="5">
                  <c:v>929</c:v>
                </c:pt>
                <c:pt idx="6">
                  <c:v>707.619</c:v>
                </c:pt>
                <c:pt idx="7">
                  <c:v>164</c:v>
                </c:pt>
                <c:pt idx="8">
                  <c:v>128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4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Kaku Gothic ProN W3"/>
                    <a:ea typeface="Hiragino Kaku Gothic ProN W3"/>
                    <a:cs typeface="Hiragino Kaku Gothic ProN W3"/>
                  </a:rPr>
                  <a:t>bytes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生成</c:v>
          </c:tx>
          <c:spPr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5"/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0.4727</c:v>
                </c:pt>
                <c:pt idx="1">
                  <c:v>1.0376</c:v>
                </c:pt>
                <c:pt idx="2">
                  <c:v>1.6972</c:v>
                </c:pt>
                <c:pt idx="3">
                  <c:v>1.9002</c:v>
                </c:pt>
                <c:pt idx="4">
                  <c:v>2.0547</c:v>
                </c:pt>
                <c:pt idx="5">
                  <c:v>2.1043</c:v>
                </c:pt>
                <c:pt idx="6">
                  <c:v>2.138</c:v>
                </c:pt>
              </c:numCache>
            </c:numRef>
          </c:val>
          <c:smooth val="0"/>
        </c:ser>
        <c:ser>
          <c:idx val="1"/>
          <c:order val="1"/>
          <c:tx>
            <c:v>検証</c:v>
          </c:tx>
          <c:spPr>
            <a:ln xmlns:a="http://schemas.openxmlformats.org/drawingml/2006/main" w="19050">
              <a:solidFill>
                <a:srgbClr val="6B7A88"/>
              </a:solidFill>
            </a:ln>
          </c:spPr>
          <c:marker>
            <c:symbol val="square"/>
            <c:size val="5"/>
          </c:marker>
          <c:cat>
            <c:numRef>
              <c:f>'Chart Data'!$C$2:$C$8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cat>
          <c:val>
            <c:numRef>
              <c:f>'Chart Data'!$D$2:$D$8</c:f>
              <c:numCache>
                <c:formatCode>0.0</c:formatCode>
                <c:ptCount val="7"/>
                <c:pt idx="0">
                  <c:v>0.9498</c:v>
                </c:pt>
                <c:pt idx="1">
                  <c:v>1.531</c:v>
                </c:pt>
                <c:pt idx="2">
                  <c:v>2.4305</c:v>
                </c:pt>
                <c:pt idx="3">
                  <c:v>2.9462</c:v>
                </c:pt>
                <c:pt idx="4">
                  <c:v>3.2717</c:v>
                </c:pt>
                <c:pt idx="5">
                  <c:v>3.4164</c:v>
                </c:pt>
                <c:pt idx="6">
                  <c:v>3.4908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4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Kaku Gothic ProN W3"/>
                    <a:ea typeface="Hiragino Kaku Gothic ProN W3"/>
                    <a:cs typeface="Hiragino Kaku Gothic ProN W3"/>
                  </a:rPr>
                  <a:t>秒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H=false</c:v>
          </c:tx>
          <c:spPr>
            <a:solidFill xmlns:a="http://schemas.openxmlformats.org/drawingml/2006/main">
              <a:srgbClr val="A8BAC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22</c:v>
                </c:pt>
                <c:pt idx="1">
                  <c:v>22</c:v>
                </c:pt>
                <c:pt idx="2">
                  <c:v>22</c:v>
                </c:pt>
              </c:numCache>
            </c:numRef>
          </c:val>
        </c:ser>
        <c:ser>
          <c:idx val="1"/>
          <c:order val="1"/>
          <c:tx>
            <c:v>H=true</c:v>
          </c:tx>
          <c:spPr>
            <a:solidFill xmlns:a="http://schemas.openxmlformats.org/drawingml/2006/main">
              <a:srgbClr val="2F64A1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22</c:v>
                </c:pt>
                <c:pt idx="1">
                  <c:v>22</c:v>
                </c:pt>
                <c:pt idx="2">
                  <c:v>22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4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Kaku Gothic ProN W3"/>
                    <a:ea typeface="Hiragino Kaku Gothic ProN W3"/>
                    <a:cs typeface="Hiragino Kaku Gothic ProN W3"/>
                  </a:rPr>
                  <a:t>拒否数（各22件）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H=false</c:v>
          </c:tx>
          <c:spPr>
            <a:solidFill xmlns:a="http://schemas.openxmlformats.org/drawingml/2006/main">
              <a:srgbClr val="A8BAC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</c:v>
                </c:pt>
                <c:pt idx="1">
                  <c:v>7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v>H=true</c:v>
          </c:tx>
          <c:spPr>
            <a:solidFill xmlns:a="http://schemas.openxmlformats.org/drawingml/2006/main">
              <a:srgbClr val="E02B2B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7</c:v>
                </c:pt>
                <c:pt idx="1">
                  <c:v>7</c:v>
                </c:pt>
                <c:pt idx="2">
                  <c:v>7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4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Kaku Gothic ProN W3"/>
                    <a:ea typeface="Hiragino Kaku Gothic ProN W3"/>
                    <a:cs typeface="Hiragino Kaku Gothic ProN W3"/>
                  </a:rPr>
                  <a:t>検出数（当該入力7個）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FB4EFAA-6449-48A3-8CE3-1EADD677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77" y="2000250"/>
            <a:ext cx="7953375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4000" b="1" spc="5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Week24</a:t>
            </a:r>
          </a:p>
          <a:p xmlns:a="http://schemas.openxmlformats.org/drawingml/2006/main">
            <a:pPr algn="l">
              <a:buNone/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4000" b="1" spc="5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Pi評価とNova検証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4A611C6-AAE8-4EDA-BAA2-1F02372B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2988000"/>
            <a:ext cx="792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CE6CE0F-A6C2-4765-A35F-910F057E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3671999"/>
            <a:ext cx="7992000" cy="1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A8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EE8947D-4FE3-4B9C-9597-E44740EB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3888000"/>
            <a:ext cx="79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 algn="l">
              <a:buNone/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0" spc="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フレームワークの性能比較と累積証明の検証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0" spc="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処理時間・メモリ・Witnessの扱い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0" spc="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2026年10月18日</a:t>
            </a:r>
          </a:p>
        </p:txBody>
      </p:sp>
    </p:spTree>
    <p:extLst>
      <p:ext uri="{BB962C8B-B14F-4D97-AF65-F5344CB8AC3E}">
        <p14:creationId xmlns:p14="http://schemas.microsoft.com/office/powerpoint/2010/main" val="543881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F2F7D3-20C6-47CE-ACDC-00A585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EC1F9-7003-435C-AAEB-043F2A3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目次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69A8A3-6E47-4893-B1FA-1FE09CE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AA10CB-FC68-4F1D-95B4-8504805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Piでの性能評価に続けて、Novaの継続処理と秘密の扱いを示す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C5409-6C5D-4B6A-B58C-E8441987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2867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共通の評価方法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距離回路・評価対象・測定条件・実行環境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9構成の性能比較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実験所要時間／処理時間・メモリ・証明サイズ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Circomの比較と追加評価の候補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Novaの検証結果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Piの7step・メモリ推移／別途実施した改竄・Witness転送検査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結論とWeek24の作業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用途ごとの判断・次の評価・作業時間の概算</a:t>
            </a:r>
          </a:p>
        </p:txBody>
      </p:sp>
    </p:spTree>
    <p:extLst>
      <p:ext uri="{BB962C8B-B14F-4D97-AF65-F5344CB8AC3E}">
        <p14:creationId xmlns:p14="http://schemas.microsoft.com/office/powerpoint/2010/main" val="13076891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F2F7D3-20C6-47CE-ACDC-00A585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EC1F9-7003-435C-AAEB-043F2A3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今回確認したいこと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69A8A3-6E47-4893-B1FA-1FE09CE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AA10CB-FC68-4F1D-95B4-8504805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小型端末での実行可否と、計算コストの違いを調べる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D36EF-178F-4350-ACA9-585CD0D5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2867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実行できるか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Pi上で証明生成から検証まで完走するか確認する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ビルド成功と、実際の証明生成・検証成功は区別する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どの程度の資源を使うか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処理時間・メモリ使用量・証明サイズ</a:t>
            </a: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を記録する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平均だけでなく、ばらつきや最大メモリも確認する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次の実装へ進むための材料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同じ合成計算を複数構成で動かし、追加評価の候補を整理する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今回の比較だけで採用を確定しない</a:t>
            </a:r>
          </a:p>
        </p:txBody>
      </p:sp>
    </p:spTree>
    <p:extLst>
      <p:ext uri="{BB962C8B-B14F-4D97-AF65-F5344CB8AC3E}">
        <p14:creationId xmlns:p14="http://schemas.microsoft.com/office/powerpoint/2010/main" val="13076891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F2F7D3-20C6-47CE-ACDC-00A585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EC1F9-7003-435C-AAEB-043F2A3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評価する計算と処理フロー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69A8A3-6E47-4893-B1FA-1FE09CE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AA10CB-FC68-4F1D-95B4-8504805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座標をWitnessに持ち、距離の計算が制約を満たすか検証する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6393D-870C-44FD-9353-83B82474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4191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入力と公開値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非公開入力：2点の合成座標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各座標は16 bitの範囲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公開値：距離の二乗 d²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整数平方根 r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公開値自体には情報が残る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処理の順序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入力をもとにWitnessを生成する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証明生成の後、公開値と証明を検証する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B389F-FF1C-439E-95AA-36FA517C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3620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t>■ 回路で確認する関係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A7D84-4C0B-42E7-9C90-B9EB4D05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9775"/>
            <a:ext cx="3762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d² = (x₁ − x₂)²</a:t>
            </a:r>
          </a:p>
          <a:p xmlns:a="http://schemas.openxmlformats.org/drawingml/2006/main">
            <a: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      + (y₁ − y₂)²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B4A32-234D-48A4-86C7-1F7E8589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3762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r² ≤ d² &lt; (r + 1)²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0E707-4B57-4A4A-88C6-8A546136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76700"/>
            <a:ext cx="3762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座標の範囲と距離の関係を制約で確認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A557D-11E6-476F-A348-A1FB2DF2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処理フロー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入力 → Witness生成 → 証明生成 → 検証</a:t>
            </a:r>
          </a:p>
        </p:txBody>
      </p:sp>
    </p:spTree>
    <p:extLst>
      <p:ext uri="{BB962C8B-B14F-4D97-AF65-F5344CB8AC3E}">
        <p14:creationId xmlns:p14="http://schemas.microsoft.com/office/powerpoint/2010/main" val="13076891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F2F7D3-20C6-47CE-ACDC-00A585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EC1F9-7003-435C-AAEB-043F2A3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評価対象と実行状況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69A8A3-6E47-4893-B1FA-1FE09CE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AA10CB-FC68-4F1D-95B4-8504805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完走した9構成を集計し、途中の実行は成功に含めない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B43B9-51F7-4B1B-9017-542B0A84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t>■ 今回の完走データ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C44AB-38F7-447E-8338-85314721D92A}"/>
              </a:ext>
            </a:extLst>
          </p:cNvPr>
          <p:cNvGraphicFramePr/>
          <p:nvPr/>
        </p:nvGraphicFramePr>
        <p:xfrm>
          <a:off xmlns:a="http://schemas.openxmlformats.org/drawingml/2006/main" x="400050" y="1733550"/>
          <a:ext xmlns:a="http://schemas.openxmlformats.org/drawingml/2006/main" cx="68580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3333750"/>
                <a:gridCol w="1762125"/>
              </a:tblGrid>
              <a:tr h="387804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構成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方式・実装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測定件数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387804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gnark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Groth16 / PLONK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各21件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804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arkworks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Groth16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21件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387804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Halo2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IPA / KZG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各21件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804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Spartan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Spartan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21件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387804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Bulletproofs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Bulletproofs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21件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804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Circom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RapidSnark / snarkjs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各21件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28B02-4B36-41C9-AD7D-D85FDF74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38675"/>
            <a:ext cx="8286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集計の扱い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9構成 × 21件 = 189件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Plonky3の前回実行は途中で接続断。完走として集計しない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Novaは7stepのIVC実験として、後半で別に示す</a:t>
            </a:r>
          </a:p>
        </p:txBody>
      </p:sp>
    </p:spTree>
    <p:extLst>
      <p:ext uri="{BB962C8B-B14F-4D97-AF65-F5344CB8AC3E}">
        <p14:creationId xmlns:p14="http://schemas.microsoft.com/office/powerpoint/2010/main" val="13076891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F2F7D3-20C6-47CE-ACDC-00A585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EC1F9-7003-435C-AAEB-043F2A3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比較条件と測定方法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69A8A3-6E47-4893-B1FA-1FE09CE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AA10CB-FC68-4F1D-95B4-8504805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7入力を各3回測定し、ウォームアップは集計から除外する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56818-50FF-4BE4-8EF9-F7A096022BC2}"/>
              </a:ext>
            </a:extLst>
          </p:cNvPr>
          <p:cNvGraphicFramePr/>
          <p:nvPr/>
        </p:nvGraphicFramePr>
        <p:xfrm>
          <a:off xmlns:a="http://schemas.openxmlformats.org/drawingml/2006/main" x="400050" y="1438275"/>
          <a:ext xmlns:a="http://schemas.openxmlformats.org/drawingml/2006/main" cx="8343900" cy="2028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6010275"/>
              </a:tblGrid>
              <a:tr h="40576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設定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0576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実行機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Raspberry Pi 4B / RAM 4GB / ARM64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CPU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quota 25%・1スレッド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0576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測定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7入力 × 3回 = 21件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ウォームアップ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7入力を各1回（集計対象外）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95AB5-C9D2-45C8-8C4D-D1403CAB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28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時間とメモリの範囲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時間：各実装が記録する生成・検証フロー（setup除外）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メモリ：準備・ウォームアップ・負例検査を含む全実行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反復の意味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同じ鍵・プロセス内での反復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独立した21回のcold start実験ではない</a:t>
            </a:r>
          </a:p>
        </p:txBody>
      </p:sp>
    </p:spTree>
    <p:extLst>
      <p:ext uri="{BB962C8B-B14F-4D97-AF65-F5344CB8AC3E}">
        <p14:creationId xmlns:p14="http://schemas.microsoft.com/office/powerpoint/2010/main" val="13076891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F2F7D3-20C6-47CE-ACDC-00A585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EC1F9-7003-435C-AAEB-043F2A3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計測を継続するための実行環境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69A8A3-6E47-4893-B1FA-1FE09CE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AA10CB-FC68-4F1D-95B4-8504805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メモリ保護と順次実行を組み合わせ、途中状態も保存する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AA435-E741-4DCB-B0D8-02E856A5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2867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メモリ不足への対策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9構成の測定は上限256 MiB、Swap使用は禁止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親sliceの上限とOS用の空きメモリを事前確認する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SSHを保護し、実験用sliceの外でwatchdogを動かす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順次実行と保存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1方式ずつ実行し、CSV・JSON・ログを更新する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通信断後は重複実行を避け、残った結果を回収する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原因の扱い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SSH切断だけではOOMと判断しない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追加したCircom 2構成はOOM・Swap使用なしで完走した</a:t>
            </a:r>
          </a:p>
        </p:txBody>
      </p:sp>
    </p:spTree>
    <p:extLst>
      <p:ext uri="{BB962C8B-B14F-4D97-AF65-F5344CB8AC3E}">
        <p14:creationId xmlns:p14="http://schemas.microsoft.com/office/powerpoint/2010/main" val="13076891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F2F7D3-20C6-47CE-ACDC-00A585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EC1F9-7003-435C-AAEB-043F2A3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実験にかかった時間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69A8A3-6E47-4893-B1FA-1FE09CE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AA10CB-FC68-4F1D-95B4-8504805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記録された実験工程の時間を示す（実装に要した作業時間とは別）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E5FB8-3F80-4ADA-B6EB-646D89BC3195}"/>
              </a:ext>
            </a:extLst>
          </p:cNvPr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83439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714500"/>
                <a:gridCol w="1714500"/>
                <a:gridCol w="1962150"/>
              </a:tblGrid>
              <a:tr h="34766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構成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実験工程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実行本体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工程の時間換算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34766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arkworks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1分10秒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0分08秒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0.0194 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Bulletproofs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2分38秒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1分35秒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0.0438 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34766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gnark / G16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1分12秒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0分10秒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0.0201 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gnark / PLONK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2分23秒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1分21秒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0.0397 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34766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Halo2 / IPA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6分49秒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5分46秒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0.1135 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Halo2 / KZG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3分20秒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2分18秒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0.0556 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34766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Spartan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3分03秒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2分00秒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0.0508 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Circom / Rapid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1分25秒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0分22秒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0.0236 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34766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Circom / snarkjs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9分18秒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8分16秒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0.1550 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0A90D-3553-4A0D-A4E0-E76A5B37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82867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時間の範囲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実験工程：事前検査とSSH操作を含む、計測ステップの経過時間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実行本体：準備・ウォームアップ・負例検査を含むunit全体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完走9構成の工程合計は約31分17秒（0.522時間）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初回の環境構築・実装・再接続対応などの時間は含めない</a:t>
            </a:r>
          </a:p>
        </p:txBody>
      </p:sp>
    </p:spTree>
    <p:extLst>
      <p:ext uri="{BB962C8B-B14F-4D97-AF65-F5344CB8AC3E}">
        <p14:creationId xmlns:p14="http://schemas.microsoft.com/office/powerpoint/2010/main" val="13076891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F2F7D3-20C6-47CE-ACDC-00A585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EC1F9-7003-435C-AAEB-043F2A3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処理時間の比較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69A8A3-6E47-4893-B1FA-1FE09CE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AA10CB-FC68-4F1D-95B4-8504805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今回の計算では、構成によって平均フロー時間に差がある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CAA0D-BD43-4458-A0C3-FFE788BB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24098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図の読み方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棒：平均フロー時間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単位：秒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反復条件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各構成 n=21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7入力を各3回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比較の注意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Witness処理やCLI起動の範囲に差がある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ばらつき・中央値はCSVにも保存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FA353C7B-87A1-45AB-8AE2-6A3A4E857CC2}"/>
              </a:ext>
            </a:extLst>
          </p:cNvPr>
          <p:cNvGraphicFramePr/>
          <p:nvPr/>
        </p:nvGraphicFramePr>
        <p:xfrm>
          <a:off xmlns:a="http://schemas.openxmlformats.org/drawingml/2006/main" x="2895600" y="1381125"/>
          <a:ext xmlns:a="http://schemas.openxmlformats.org/drawingml/2006/main" cx="5867400" cy="4057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91361e2edd464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92F18-8DAF-4182-B0EA-3BB5446B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562600"/>
            <a:ext cx="551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記録済みフローの平均（setup除外）</a:t>
            </a:r>
          </a:p>
        </p:txBody>
      </p:sp>
    </p:spTree>
    <p:extLst>
      <p:ext uri="{BB962C8B-B14F-4D97-AF65-F5344CB8AC3E}">
        <p14:creationId xmlns:p14="http://schemas.microsoft.com/office/powerpoint/2010/main" val="130768911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F2F7D3-20C6-47CE-ACDC-00A585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EC1F9-7003-435C-AAEB-043F2A3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メモリ使用量の比較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69A8A3-6E47-4893-B1FA-1FE09CE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AA10CB-FC68-4F1D-95B4-8504805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平均値と最大値を分けて、実行全体のメモリを確認する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86149-BFB0-4DF8-95EE-853209A9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24098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図の読み方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青：最大メモリ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薄い青：平均メモリ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単位：MiB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測定範囲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cgroup全体を対象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準備・負例検査なども含む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注意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各証明の平均RSSではない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117D7251-B894-40D6-AB07-470114421835}"/>
              </a:ext>
            </a:extLst>
          </p:cNvPr>
          <p:cNvGraphicFramePr/>
          <p:nvPr/>
        </p:nvGraphicFramePr>
        <p:xfrm>
          <a:off xmlns:a="http://schemas.openxmlformats.org/drawingml/2006/main" x="2895600" y="1381125"/>
          <a:ext xmlns:a="http://schemas.openxmlformats.org/drawingml/2006/main" cx="5867400" cy="4057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0d3ec184874a73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19670-9703-43F6-8F8A-19375DDD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562600"/>
            <a:ext cx="551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全実行の時間平均とカーネル最大値</a:t>
            </a:r>
          </a:p>
        </p:txBody>
      </p:sp>
    </p:spTree>
    <p:extLst>
      <p:ext uri="{BB962C8B-B14F-4D97-AF65-F5344CB8AC3E}">
        <p14:creationId xmlns:p14="http://schemas.microsoft.com/office/powerpoint/2010/main" val="13076891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F2F7D3-20C6-47CE-ACDC-00A585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EC1F9-7003-435C-AAEB-043F2A3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証明サイズの比較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69A8A3-6E47-4893-B1FA-1FE09CE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AA10CB-FC68-4F1D-95B4-8504805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実装固有の保存サイズを比較し、表現形式の差を区別する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20438-A105-4E33-B7ED-FE4897D4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24098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図の読み方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棒：平均保存サイズ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単位：bytes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含むもの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シリアライズされた証明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CircomはJSON表現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注意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保存形式が同じとは限らない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鍵・setupのサイズは含まない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8AC1D638-EB8A-445E-B565-1167B3837FBE}"/>
              </a:ext>
            </a:extLst>
          </p:cNvPr>
          <p:cNvGraphicFramePr/>
          <p:nvPr/>
        </p:nvGraphicFramePr>
        <p:xfrm>
          <a:off xmlns:a="http://schemas.openxmlformats.org/drawingml/2006/main" x="2895600" y="1381125"/>
          <a:ext xmlns:a="http://schemas.openxmlformats.org/drawingml/2006/main" cx="5867400" cy="4057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9ac1561c524260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3E13E-F2BE-4E66-A426-F394AF6E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562600"/>
            <a:ext cx="551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実装固有の証明データ保存バイト数</a:t>
            </a:r>
          </a:p>
        </p:txBody>
      </p:sp>
    </p:spTree>
    <p:extLst>
      <p:ext uri="{BB962C8B-B14F-4D97-AF65-F5344CB8AC3E}">
        <p14:creationId xmlns:p14="http://schemas.microsoft.com/office/powerpoint/2010/main" val="130768911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1A4B684-154C-480E-BDB8-EF8827A5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9195B16-CA21-4813-890A-E603F161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Circomの証明生成方式を比較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C567F6A-DC04-4E32-B525-3956B910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B6DE55-B298-4CEA-942F-F76A2D3C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共通の回路・鍵・入力・verifierで2つのproverを測定する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F02E3-6D7C-4E42-9331-AA40C2CA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t>■ 結果（各 n=21）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0FD5A-D495-48CA-B03E-FBC30C9CEF69}"/>
              </a:ext>
            </a:extLst>
          </p:cNvPr>
          <p:cNvGraphicFramePr/>
          <p:nvPr/>
        </p:nvGraphicFramePr>
        <p:xfrm>
          <a:off xmlns:a="http://schemas.openxmlformats.org/drawingml/2006/main" x="400050" y="1733550"/>
          <a:ext xmlns:a="http://schemas.openxmlformats.org/drawingml/2006/main" cx="8343900" cy="1685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9900"/>
                <a:gridCol w="2667000"/>
                <a:gridCol w="2667000"/>
              </a:tblGrid>
              <a:tr h="421481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RapidSnark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snarkjs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21481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平均フロー時間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2F64A1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0.428 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16.609 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1481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最大メモリ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2F64A1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28.2 MiB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106.4 MiB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21481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平均証明サイズ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707.6 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805.2 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BB564-6D7A-4014-8CF4-DD6C60AE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28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比較条件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同じ回路・鍵・入力を使い、検証は共通のnative verifierで行う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今回の平均フロー時間はRapidSnarkが約1/39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snarkjsはsingleThread APIを使用する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読み方の注意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時間の比はprover単体ではなくフロー全体の比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証明サイズの差にはJSONの書式差が含まれる</a:t>
            </a:r>
          </a:p>
        </p:txBody>
      </p:sp>
    </p:spTree>
    <p:extLst>
      <p:ext uri="{BB962C8B-B14F-4D97-AF65-F5344CB8AC3E}">
        <p14:creationId xmlns:p14="http://schemas.microsoft.com/office/powerpoint/2010/main" val="163440569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F2F7D3-20C6-47CE-ACDC-00A585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EC1F9-7003-435C-AAEB-043F2A3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速度とメモリを合わせて考える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69A8A3-6E47-4893-B1FA-1FE09CE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AA10CB-FC68-4F1D-95B4-8504805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時間とメモリの関係を見て、追加評価の候補を整理する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7CDC9-775A-4BC0-B0F9-0DA38ED89E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895f608ae4afa"/>
          <a:stretch xmlns:a="http://schemas.openxmlformats.org/drawingml/2006/main"/>
        </p:blipFill>
        <p:spPr>
          <a:xfrm xmlns:a="http://schemas.openxmlformats.org/drawingml/2006/main">
            <a:off x="1243013" y="1238250"/>
            <a:ext cx="6657975" cy="4438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69BA4-2534-47E8-A0E8-2E131456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834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軸は対数。左下ほど短時間・省メモリ。測定範囲や暗号方式は同一ではない</a:t>
            </a:r>
          </a:p>
        </p:txBody>
      </p:sp>
    </p:spTree>
    <p:extLst>
      <p:ext uri="{BB962C8B-B14F-4D97-AF65-F5344CB8AC3E}">
        <p14:creationId xmlns:p14="http://schemas.microsoft.com/office/powerpoint/2010/main" val="130768911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F2F7D3-20C6-47CE-ACDC-00A585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EC1F9-7003-435C-AAEB-043F2A3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Novaによる計算の累積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69A8A3-6E47-4893-B1FA-1FE09CE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AA10CB-FC68-4F1D-95B4-8504805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stepの計算を累積することと、転送物の秘匿性は別に確認する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A42C1-B55D-4FDD-8484-BF4E85E1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2867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FoldingとIVC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Foldingは、2つの関係の検査を1つの累積関係へまとめる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IVCでは、状態を更新する計算をstepごとに繰り返す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内部で使う状態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次のstepを生成するため、Witnessを持つ生状態を保持する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以下のPi評価は単一Prover。9構成のn=21とは条件が異なる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外部向けの検証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最終証明を検証できることと、その証明から次のstepを作れることは別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検証成功だけでは、元Witness非共有の継続を意味しない</a:t>
            </a:r>
          </a:p>
        </p:txBody>
      </p:sp>
    </p:spTree>
    <p:extLst>
      <p:ext uri="{BB962C8B-B14F-4D97-AF65-F5344CB8AC3E}">
        <p14:creationId xmlns:p14="http://schemas.microsoft.com/office/powerpoint/2010/main" val="130768911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F2F7D3-20C6-47CE-ACDC-00A585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EC1F9-7003-435C-AAEB-043F2A3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Pi上でのNova / CycleFold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69A8A3-6E47-4893-B1FA-1FE09CE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AA10CB-FC68-4F1D-95B4-8504805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ユークリッド距離の7stepを完走し、公開stateの改変も拒否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6D183-25FD-44A9-86EB-E028572F0726}"/>
              </a:ext>
            </a:extLst>
          </p:cNvPr>
          <p:cNvGraphicFramePr/>
          <p:nvPr/>
        </p:nvGraphicFramePr>
        <p:xfrm>
          <a:off xmlns:a="http://schemas.openxmlformats.org/drawingml/2006/main" x="400050" y="1438275"/>
          <a:ext xmlns:a="http://schemas.openxmlformats.org/drawingml/2006/main" cx="83439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48125"/>
                <a:gridCol w="4295775"/>
              </a:tblGrid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測定項目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結果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正常step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7 / 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公開stateの改変拒否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3項目 × 7step = 21件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生成中央値 / 検証中央値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1.900 秒 / 2.946 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鍵生成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8.610 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全unitの実行時間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38.168 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cgroup最大メモリ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187.086 MiB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D1EF7-561D-433A-8795-264F9223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828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条件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Pi 4B / 4GB、1 CPU affinity・1スレッド、163制約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7入力を順に各1回。CPU quota 25%の9構成とは別条件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含まない保証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外部提出用の最終ZK・EVM検証は含まない</a:t>
            </a:r>
          </a:p>
        </p:txBody>
      </p:sp>
    </p:spTree>
    <p:extLst>
      <p:ext uri="{BB962C8B-B14F-4D97-AF65-F5344CB8AC3E}">
        <p14:creationId xmlns:p14="http://schemas.microsoft.com/office/powerpoint/2010/main" val="130768911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F2F7D3-20C6-47CE-ACDC-00A585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EC1F9-7003-435C-AAEB-043F2A3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stepごとの生成・検証時間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69A8A3-6E47-4893-B1FA-1FE09CE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AA10CB-FC68-4F1D-95B4-8504805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7入力を順に処理したときの実測値を示す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909F09FB-B793-41FD-B467-03AB072BF4B4}"/>
              </a:ext>
            </a:extLst>
          </p:cNvPr>
          <p:cNvGraphicFramePr/>
          <p:nvPr/>
        </p:nvGraphicFramePr>
        <p:xfrm>
          <a:off xmlns:a="http://schemas.openxmlformats.org/drawingml/2006/main" x="400050" y="1400175"/>
          <a:ext xmlns:a="http://schemas.openxmlformats.org/drawingml/2006/main" cx="83439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9b3b8d45e54d3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62B1C-2089-4F4C-9141-AA14747E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834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横軸：step。7入力は異なり、独立反復の平均ではない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B0AF0-9B7F-4B41-8E63-2B9D1335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62575"/>
            <a:ext cx="8286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読み方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初期処理を含む系列で、stepごとに入力も変わる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この短い系列から、長期の増加率や1Hz適合性は決めない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単一Proverのraw IVC更新・検証を計測した</a:t>
            </a:r>
          </a:p>
        </p:txBody>
      </p:sp>
    </p:spTree>
    <p:extLst>
      <p:ext uri="{BB962C8B-B14F-4D97-AF65-F5344CB8AC3E}">
        <p14:creationId xmlns:p14="http://schemas.microsoft.com/office/powerpoint/2010/main" val="130768911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F2F7D3-20C6-47CE-ACDC-00A585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EC1F9-7003-435C-AAEB-043F2A3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実行全体のメモリ推移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69A8A3-6E47-4893-B1FA-1FE09CE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AA10CB-FC68-4F1D-95B4-8504805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完走runでは、OOM・Swap使用なしで計測を終えた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E59AD-DBB7-45B7-B32E-DC50BAA4BD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39e87ef954e90"/>
          <a:stretch xmlns:a="http://schemas.openxmlformats.org/drawingml/2006/main"/>
        </p:blipFill>
        <p:spPr>
          <a:xfrm xmlns:a="http://schemas.openxmlformats.org/drawingml/2006/main">
            <a:off x="730250" y="1285875"/>
            <a:ext cx="7683500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DB294-4F8C-47EC-90D3-C431C2C2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828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計測範囲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Novaは上限512 MiB・Swap禁止。実測最大187.086 MiB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10 ms間隔のsampleとkernel peakを区別する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短いstartup込みの系列から、メモリリークの有無は判断しない</a:t>
            </a:r>
          </a:p>
        </p:txBody>
      </p:sp>
    </p:spTree>
    <p:extLst>
      <p:ext uri="{BB962C8B-B14F-4D97-AF65-F5344CB8AC3E}">
        <p14:creationId xmlns:p14="http://schemas.microsoft.com/office/powerpoint/2010/main" val="130768911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F2F7D3-20C6-47CE-ACDC-00A585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EC1F9-7003-435C-AAEB-043F2A3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改竄拒否の追加検査（Week23）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69A8A3-6E47-4893-B1FA-1FE09CE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AA10CB-FC68-4F1D-95B4-8504805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固定Sonobe mainで、132件の改竄をすべて拒否した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E532E-90E5-4EB7-BEF1-CE1B6FBA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24098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図の読み方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A・B・Cの各段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各設定で22種類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追加検査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incoming Witnessの省略6件も拒否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確認範囲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固定main 7f042351…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小規模な合成回路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DAA2673E-3C2F-49C2-A593-AA228BF60DC0}"/>
              </a:ext>
            </a:extLst>
          </p:cNvPr>
          <p:cNvGraphicFramePr/>
          <p:nvPr/>
        </p:nvGraphicFramePr>
        <p:xfrm>
          <a:off xmlns:a="http://schemas.openxmlformats.org/drawingml/2006/main" x="2895600" y="1419225"/>
          <a:ext xmlns:a="http://schemas.openxmlformats.org/drawingml/2006/main" cx="5867400" cy="3781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d163ce3f0343a6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22A94-A02F-4730-A503-406DBB26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381625"/>
            <a:ext cx="5514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22種類 × 3段 × 両H。Hはcommitmentのhiding設定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7F577-03C7-4D83-8D3D-42D22242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828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旧版との相違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旧版で受理されたincoming commitment改竄も拒否した</a:t>
            </a:r>
          </a:p>
        </p:txBody>
      </p:sp>
    </p:spTree>
    <p:extLst>
      <p:ext uri="{BB962C8B-B14F-4D97-AF65-F5344CB8AC3E}">
        <p14:creationId xmlns:p14="http://schemas.microsoft.com/office/powerpoint/2010/main" val="130768911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F2F7D3-20C6-47CE-ACDC-00A585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EC1F9-7003-435C-AAEB-043F2A3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Witness転送の検査（Week23）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69A8A3-6E47-4893-B1FA-1FE09CE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AA10CB-FC68-4F1D-95B4-8504805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H=trueでも、各段の当該入力7個がincoming Witnessに残る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327EC-5F38-4D47-9B72-8DEBCAF4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24098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図の読み方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各段で使った合成の識別用入力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各条件で7個を検出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判定の意味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転送した生状態の配列を読む検査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暗号を解読した実験ではない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CF10D489-0B8C-406B-A80E-3C491A38F1E9}"/>
              </a:ext>
            </a:extLst>
          </p:cNvPr>
          <p:cNvGraphicFramePr/>
          <p:nvPr/>
        </p:nvGraphicFramePr>
        <p:xfrm>
          <a:off xmlns:a="http://schemas.openxmlformats.org/drawingml/2006/main" x="2895600" y="1419225"/>
          <a:ext xmlns:a="http://schemas.openxmlformats.org/drawingml/2006/main" cx="5867400" cy="3781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c20d993e8a4879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5350E-8403-4374-BD7C-36DEAE94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381625"/>
            <a:ext cx="551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Hはcommitmentのhiding設定。検出対象は各段の当該入力のみ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0B618-C70F-4F05-BF0F-2CDB3DB4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828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正当性と秘匿性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改竄を拒否しても、生状態の転送だけでは元Witness非共有にならない</a:t>
            </a:r>
          </a:p>
        </p:txBody>
      </p:sp>
    </p:spTree>
    <p:extLst>
      <p:ext uri="{BB962C8B-B14F-4D97-AF65-F5344CB8AC3E}">
        <p14:creationId xmlns:p14="http://schemas.microsoft.com/office/powerpoint/2010/main" val="130768911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F2F7D3-20C6-47CE-ACDC-00A585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EC1F9-7003-435C-AAEB-043F2A3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最終証明と継続状態（Week23）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69A8A3-6E47-4893-B1FA-1FE09CE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AA10CB-FC68-4F1D-95B4-8504805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旧版の最終proofは生成・検証に成功。継続には別のAPIを使う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AD6E3-B5C0-4C4A-A92D-7D1E27446522}"/>
              </a:ext>
            </a:extLst>
          </p:cNvPr>
          <p:cNvGraphicFramePr/>
          <p:nvPr/>
        </p:nvGraphicFramePr>
        <p:xfrm>
          <a:off xmlns:a="http://schemas.openxmlformats.org/drawingml/2006/main" x="400050" y="1438275"/>
          <a:ext xmlns:a="http://schemas.openxmlformats.org/drawingml/2006/main" cx="83439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4343400"/>
              </a:tblGrid>
              <a:tr h="44767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確認内容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結果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4767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旧版RandomizedIVCProofの生成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成功：917.168 ms（単回）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同proofのverify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成功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4767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W_i_prime内のcanary直接一致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0件（この検査だけでZK性は証明しない）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生IVC状態への変換・秘密非共有継続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調査範囲内で成立経路を確認できず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98823-3B48-4B51-9A3F-DA34E5B2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8286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正確な整理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Nova全般でZK証明を作れない、という結論ではない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調査した生状態の転送はWitnessを含む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今回の要件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別Proverが元Witnessなしで検証・継続する経路は未成立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最終証明の成功と、分散した継続の成功を分けて報告する</a:t>
            </a:r>
          </a:p>
        </p:txBody>
      </p:sp>
    </p:spTree>
    <p:extLst>
      <p:ext uri="{BB962C8B-B14F-4D97-AF65-F5344CB8AC3E}">
        <p14:creationId xmlns:p14="http://schemas.microsoft.com/office/powerpoint/2010/main" val="130768911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F2F7D3-20C6-47CE-ACDC-00A585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EC1F9-7003-435C-AAEB-043F2A3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今回の結論と次の評価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69A8A3-6E47-4893-B1FA-1FE09CE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AA10CB-FC68-4F1D-95B4-8504805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Piでの実行性と、別Proverへの秘密非共有の要件を分けて判断する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5FB20-1391-4753-ACF1-62EEC548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2867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Piでの性能評価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9構成が各21件を完走。時間・メモリ・サイズを記録した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測定範囲を揃え、独立した起動による反復で再確認する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Novaの単一端末内IVC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Piで7stepを完走。長期動作と最終ZKは追加評価が必要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別Proverへの継続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調査したSonobeの生状態転送は、秘密非共有の用途に採用しない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Nova全般や他実装の不可能性には一般化しない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051ED-C792-4FE9-914A-A645D019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24575"/>
            <a:ext cx="8343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研究PoC。DRIP信頼連鎖・センサの正直性・観測者hardwareの真正性は保証しない</a:t>
            </a:r>
          </a:p>
        </p:txBody>
      </p:sp>
    </p:spTree>
    <p:extLst>
      <p:ext uri="{BB962C8B-B14F-4D97-AF65-F5344CB8AC3E}">
        <p14:creationId xmlns:p14="http://schemas.microsoft.com/office/powerpoint/2010/main" val="130768911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F2F7D3-20C6-47CE-ACDC-00A5855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EC1F9-7003-435C-AAEB-043F2A3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Week24の作業時間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69A8A3-6E47-4893-B1FA-1FE09CE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AA10CB-FC68-4F1D-95B4-8504805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合計約27時間。実測のタイムログを伴わない、事後的な概算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DD825-1D8D-46E9-8154-0BE087BC9C58}"/>
              </a:ext>
            </a:extLst>
          </p:cNvPr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83439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1676400"/>
              </a:tblGrid>
              <a:tr h="41275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作業内容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概算時間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1275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Pi環境構築・メモリ保護・SSH対策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4時間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距離回路の各方式への実装・動作確認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8時間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1275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測定条件の整理・未動作の原因調査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3時間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順次実行・CSV／JSON保存・結果回収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4時間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1275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比較測定・結果確認・統計整理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3時間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比較版・個別版のグラフ作成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2時間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1275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MD・Issue整理・発表資料作成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3時間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27時間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F60FC-D637-4400-AC68-CE33F3BF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95900"/>
            <a:ext cx="8286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集計範囲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Week24の実装・Pi評価・結果の資料化を含む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Week23のNova／HyperNova調査・実装は含めない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9構成の実験工程31分17秒とは、時間の意味が異なる</a:t>
            </a:r>
          </a:p>
        </p:txBody>
      </p:sp>
    </p:spTree>
    <p:extLst>
      <p:ext uri="{BB962C8B-B14F-4D97-AF65-F5344CB8AC3E}">
        <p14:creationId xmlns:p14="http://schemas.microsoft.com/office/powerpoint/2010/main" val="130768911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2026-10-18T13:52:37.5090000Z</dcterms:created>
  <dcterms:modified xsi:type="dcterms:W3CDTF">2026-10-18T13:52:37.5090000Z</dcterms:modified>
</coreProperties>
</file>