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737" r:id="rId2"/>
    <p:sldId id="258" r:id="rId3"/>
    <p:sldId id="257" r:id="rId4"/>
    <p:sldId id="748" r:id="rId5"/>
    <p:sldId id="263" r:id="rId6"/>
    <p:sldId id="265" r:id="rId7"/>
    <p:sldId id="266" r:id="rId8"/>
    <p:sldId id="744" r:id="rId9"/>
    <p:sldId id="745" r:id="rId10"/>
    <p:sldId id="269" r:id="rId11"/>
    <p:sldId id="270" r:id="rId12"/>
    <p:sldId id="746" r:id="rId13"/>
    <p:sldId id="277" r:id="rId14"/>
    <p:sldId id="278" r:id="rId15"/>
    <p:sldId id="279" r:id="rId16"/>
    <p:sldId id="280" r:id="rId17"/>
    <p:sldId id="281" r:id="rId18"/>
    <p:sldId id="747" r:id="rId19"/>
    <p:sldId id="780" r:id="rId20"/>
    <p:sldId id="738" r:id="rId21"/>
    <p:sldId id="739" r:id="rId22"/>
    <p:sldId id="282" r:id="rId23"/>
    <p:sldId id="283" r:id="rId24"/>
  </p:sldIdLst>
  <p:sldSz cx="9144000" cy="6858000" type="screen4x3"/>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45" autoAdjust="0"/>
    <p:restoredTop sz="95636" autoAdjust="0"/>
  </p:normalViewPr>
  <p:slideViewPr>
    <p:cSldViewPr snapToGrid="0" snapToObjects="1">
      <p:cViewPr varScale="1">
        <p:scale>
          <a:sx n="110" d="100"/>
          <a:sy n="110" d="100"/>
        </p:scale>
        <p:origin x="1746" y="114"/>
      </p:cViewPr>
      <p:guideLst/>
    </p:cSldViewPr>
  </p:slideViewPr>
  <p:notesTextViewPr>
    <p:cViewPr>
      <p:scale>
        <a:sx n="1" d="1"/>
        <a:sy n="1" d="1"/>
      </p:scale>
      <p:origin x="0" y="0"/>
    </p:cViewPr>
  </p:notesTextViewPr>
  <p:notesViewPr>
    <p:cSldViewPr snapToGrid="0" snapToObjects="1">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生成・更新の平均</c:v>
          </c:tx>
          <c:spPr>
            <a:solidFill>
              <a:srgbClr val="2F64A1"/>
            </a:solidFill>
          </c:spPr>
          <c:invertIfNegative val="0"/>
          <c:dLbls>
            <c:numFmt formatCode="0.000" sourceLinked="0"/>
            <c:spPr>
              <a:noFill/>
              <a:ln>
                <a:noFill/>
              </a:ln>
              <a:effectLst/>
            </c:spPr>
            <c:txPr>
              <a:bodyPr anchorCtr="1"/>
              <a:lstStyle/>
              <a:p>
                <a:pPr>
                  <a:defRPr sz="1350">
                    <a:solidFill>
                      <a:srgbClr val="282629"/>
                    </a:solidFill>
                    <a:latin typeface="Hiragino Kaku Gothic ProN W3"/>
                    <a:ea typeface="Hiragino Kaku Gothic ProN W3"/>
                    <a:cs typeface="Hiragino Kaku Gothic ProN W3"/>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Nova</c:v>
                </c:pt>
                <c:pt idx="1">
                  <c:v>HyperNova</c:v>
                </c:pt>
              </c:strCache>
            </c:strRef>
          </c:cat>
          <c:val>
            <c:numRef>
              <c:f>'Chart Data'!$B$2:$B$3</c:f>
              <c:numCache>
                <c:formatCode>0.0</c:formatCode>
                <c:ptCount val="2"/>
                <c:pt idx="0">
                  <c:v>1.6293</c:v>
                </c:pt>
                <c:pt idx="1">
                  <c:v>1.5913999999999999</c:v>
                </c:pt>
              </c:numCache>
            </c:numRef>
          </c:val>
          <c:extLst>
            <c:ext xmlns:c16="http://schemas.microsoft.com/office/drawing/2014/chart" uri="{C3380CC4-5D6E-409C-BE32-E72D297353CC}">
              <c16:uniqueId val="{00000000-53F5-9C4A-85C9-A3EFBE05BEBF}"/>
            </c:ext>
          </c:extLst>
        </c:ser>
        <c:ser>
          <c:idx val="1"/>
          <c:order val="1"/>
          <c:tx>
            <c:v>raw IVC検証の平均</c:v>
          </c:tx>
          <c:spPr>
            <a:solidFill>
              <a:srgbClr val="8DA6BF"/>
            </a:solidFill>
          </c:spPr>
          <c:invertIfNegative val="0"/>
          <c:dLbls>
            <c:numFmt formatCode="0.000" sourceLinked="0"/>
            <c:spPr>
              <a:noFill/>
              <a:ln>
                <a:noFill/>
              </a:ln>
              <a:effectLst/>
            </c:spPr>
            <c:txPr>
              <a:bodyPr anchorCtr="1"/>
              <a:lstStyle/>
              <a:p>
                <a:pPr>
                  <a:defRPr sz="1350">
                    <a:solidFill>
                      <a:srgbClr val="282629"/>
                    </a:solidFill>
                    <a:latin typeface="Hiragino Kaku Gothic ProN W3"/>
                    <a:ea typeface="Hiragino Kaku Gothic ProN W3"/>
                    <a:cs typeface="Hiragino Kaku Gothic ProN W3"/>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Nova</c:v>
                </c:pt>
                <c:pt idx="1">
                  <c:v>HyperNova</c:v>
                </c:pt>
              </c:strCache>
            </c:strRef>
          </c:cat>
          <c:val>
            <c:numRef>
              <c:f>'Chart Data'!$D$2:$D$3</c:f>
              <c:numCache>
                <c:formatCode>0.0</c:formatCode>
                <c:ptCount val="2"/>
                <c:pt idx="0">
                  <c:v>2.5766</c:v>
                </c:pt>
                <c:pt idx="1">
                  <c:v>1.8331999999999999</c:v>
                </c:pt>
              </c:numCache>
            </c:numRef>
          </c:val>
          <c:extLst>
            <c:ext xmlns:c16="http://schemas.microsoft.com/office/drawing/2014/chart" uri="{C3380CC4-5D6E-409C-BE32-E72D297353CC}">
              <c16:uniqueId val="{00000001-53F5-9C4A-85C9-A3EFBE05BEBF}"/>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Hiragino Kaku Gothic ProN W3"/>
                <a:ea typeface="Hiragino Kaku Gothic ProN W3"/>
                <a:cs typeface="Hiragino Kaku Gothic ProN W3"/>
              </a:defRPr>
            </a:pPr>
            <a:endParaRPr lang="ja-JP"/>
          </a:p>
        </c:txPr>
        <c:crossAx val="48672768"/>
        <c:crosses val="autoZero"/>
        <c:auto val="1"/>
        <c:lblAlgn val="ctr"/>
        <c:lblOffset val="100"/>
        <c:noMultiLvlLbl val="1"/>
      </c:catAx>
      <c:valAx>
        <c:axId val="48672768"/>
        <c:scaling>
          <c:orientation val="minMax"/>
          <c:max val="3.5"/>
          <c:min val="0"/>
        </c:scaling>
        <c:delete val="0"/>
        <c:axPos val="l"/>
        <c:majorGridlines>
          <c:spPr>
            <a:ln w="6668">
              <a:solidFill>
                <a:srgbClr val="E4E9ED"/>
              </a:solidFill>
            </a:ln>
          </c:spPr>
        </c:majorGridlines>
        <c:title>
          <c:tx>
            <c:rich>
              <a:bodyPr/>
              <a:lstStyle/>
              <a:p>
                <a:r>
                  <a:rPr lang="ja-JP" altLang="en-US">
                    <a:latin typeface="Hiragino Kaku Gothic ProN W3"/>
                    <a:ea typeface="Hiragino Kaku Gothic ProN W3"/>
                    <a:cs typeface="Hiragino Kaku Gothic ProN W3"/>
                  </a:rPr>
                  <a:t>秒</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Hiragino Kaku Gothic ProN W3"/>
                <a:ea typeface="Hiragino Kaku Gothic ProN W3"/>
                <a:cs typeface="Hiragino Kaku Gothic ProN W3"/>
              </a:defRPr>
            </a:pPr>
            <a:endParaRPr lang="ja-JP"/>
          </a:p>
        </c:txPr>
        <c:crossAx val="48650112"/>
        <c:crosses val="autoZero"/>
        <c:crossBetween val="between"/>
      </c:valAx>
    </c:plotArea>
    <c:legend>
      <c:legendPos val="b"/>
      <c:overlay val="0"/>
      <c:txPr>
        <a:bodyPr anchorCtr="1"/>
        <a:lstStyle/>
        <a:p>
          <a:pPr>
            <a:defRPr sz="1275">
              <a:latin typeface="Hiragino Kaku Gothic ProN W3"/>
              <a:ea typeface="Hiragino Kaku Gothic ProN W3"/>
              <a:cs typeface="Hiragino Kaku Gothic ProN W3"/>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lineChart>
        <c:grouping val="standard"/>
        <c:varyColors val="0"/>
        <c:ser>
          <c:idx val="0"/>
          <c:order val="0"/>
          <c:tx>
            <c:v>Nova</c:v>
          </c:tx>
          <c:spPr>
            <a:ln w="19050">
              <a:solidFill>
                <a:srgbClr val="2F64A1"/>
              </a:solidFill>
            </a:ln>
          </c:spPr>
          <c:marker>
            <c:symbol val="circle"/>
            <c:size val="5"/>
          </c:marke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0.0</c:formatCode>
                <c:ptCount val="7"/>
                <c:pt idx="0">
                  <c:v>1.4225000000000001</c:v>
                </c:pt>
                <c:pt idx="1">
                  <c:v>2.5686</c:v>
                </c:pt>
                <c:pt idx="2">
                  <c:v>4.1276999999999999</c:v>
                </c:pt>
                <c:pt idx="3">
                  <c:v>4.8464</c:v>
                </c:pt>
                <c:pt idx="4">
                  <c:v>5.3263999999999996</c:v>
                </c:pt>
                <c:pt idx="5">
                  <c:v>5.5206999999999997</c:v>
                </c:pt>
                <c:pt idx="6">
                  <c:v>5.6288</c:v>
                </c:pt>
              </c:numCache>
            </c:numRef>
          </c:val>
          <c:smooth val="0"/>
          <c:extLst>
            <c:ext xmlns:c16="http://schemas.microsoft.com/office/drawing/2014/chart" uri="{C3380CC4-5D6E-409C-BE32-E72D297353CC}">
              <c16:uniqueId val="{00000000-E492-FD42-A381-B22600607443}"/>
            </c:ext>
          </c:extLst>
        </c:ser>
        <c:ser>
          <c:idx val="1"/>
          <c:order val="1"/>
          <c:tx>
            <c:v>HyperNova</c:v>
          </c:tx>
          <c:spPr>
            <a:ln w="19050">
              <a:solidFill>
                <a:srgbClr val="8DA6BF"/>
              </a:solidFill>
            </a:ln>
          </c:spPr>
          <c:marker>
            <c:symbol val="square"/>
            <c:size val="5"/>
          </c:marker>
          <c:cat>
            <c:numRef>
              <c:f>'Chart Data'!$C$2:$C$8</c:f>
              <c:numCache>
                <c:formatCode>General</c:formatCode>
                <c:ptCount val="7"/>
                <c:pt idx="0">
                  <c:v>1</c:v>
                </c:pt>
                <c:pt idx="1">
                  <c:v>2</c:v>
                </c:pt>
                <c:pt idx="2">
                  <c:v>3</c:v>
                </c:pt>
                <c:pt idx="3">
                  <c:v>4</c:v>
                </c:pt>
                <c:pt idx="4">
                  <c:v>5</c:v>
                </c:pt>
                <c:pt idx="5">
                  <c:v>6</c:v>
                </c:pt>
                <c:pt idx="6">
                  <c:v>7</c:v>
                </c:pt>
              </c:numCache>
            </c:numRef>
          </c:cat>
          <c:val>
            <c:numRef>
              <c:f>'Chart Data'!$D$2:$D$8</c:f>
              <c:numCache>
                <c:formatCode>0.0</c:formatCode>
                <c:ptCount val="7"/>
                <c:pt idx="0">
                  <c:v>1.6408</c:v>
                </c:pt>
                <c:pt idx="1">
                  <c:v>3.335</c:v>
                </c:pt>
                <c:pt idx="2">
                  <c:v>3.6366999999999998</c:v>
                </c:pt>
                <c:pt idx="3">
                  <c:v>3.7532000000000001</c:v>
                </c:pt>
                <c:pt idx="4">
                  <c:v>3.8287</c:v>
                </c:pt>
                <c:pt idx="5">
                  <c:v>3.8813</c:v>
                </c:pt>
                <c:pt idx="6">
                  <c:v>3.8967999999999998</c:v>
                </c:pt>
              </c:numCache>
            </c:numRef>
          </c:val>
          <c:smooth val="0"/>
          <c:extLst>
            <c:ext xmlns:c16="http://schemas.microsoft.com/office/drawing/2014/chart" uri="{C3380CC4-5D6E-409C-BE32-E72D297353CC}">
              <c16:uniqueId val="{00000001-E492-FD42-A381-B2260060744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Hiragino Kaku Gothic ProN W3"/>
                <a:ea typeface="Hiragino Kaku Gothic ProN W3"/>
                <a:cs typeface="Hiragino Kaku Gothic ProN W3"/>
              </a:defRPr>
            </a:pPr>
            <a:endParaRPr lang="ja-JP"/>
          </a:p>
        </c:txPr>
        <c:crossAx val="48672768"/>
        <c:crosses val="autoZero"/>
        <c:auto val="1"/>
        <c:lblAlgn val="ctr"/>
        <c:lblOffset val="100"/>
        <c:noMultiLvlLbl val="1"/>
      </c:catAx>
      <c:valAx>
        <c:axId val="48672768"/>
        <c:scaling>
          <c:orientation val="minMax"/>
          <c:max val="6"/>
          <c:min val="0"/>
        </c:scaling>
        <c:delete val="0"/>
        <c:axPos val="l"/>
        <c:majorGridlines>
          <c:spPr>
            <a:ln w="6668">
              <a:solidFill>
                <a:srgbClr val="E4E9ED"/>
              </a:solidFill>
            </a:ln>
          </c:spPr>
        </c:majorGridlines>
        <c:title>
          <c:tx>
            <c:rich>
              <a:bodyPr/>
              <a:lstStyle/>
              <a:p>
                <a:r>
                  <a:rPr lang="ja-JP" altLang="en-US">
                    <a:latin typeface="Hiragino Kaku Gothic ProN W3"/>
                    <a:ea typeface="Hiragino Kaku Gothic ProN W3"/>
                    <a:cs typeface="Hiragino Kaku Gothic ProN W3"/>
                  </a:rPr>
                  <a:t>秒</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Hiragino Kaku Gothic ProN W3"/>
                <a:ea typeface="Hiragino Kaku Gothic ProN W3"/>
                <a:cs typeface="Hiragino Kaku Gothic ProN W3"/>
              </a:defRPr>
            </a:pPr>
            <a:endParaRPr lang="ja-JP"/>
          </a:p>
        </c:txPr>
        <c:crossAx val="48650112"/>
        <c:crosses val="autoZero"/>
        <c:crossBetween val="between"/>
      </c:valAx>
    </c:plotArea>
    <c:legend>
      <c:legendPos val="b"/>
      <c:overlay val="0"/>
      <c:txPr>
        <a:bodyPr anchorCtr="1"/>
        <a:lstStyle/>
        <a:p>
          <a:pPr>
            <a:defRPr sz="1275">
              <a:latin typeface="Hiragino Kaku Gothic ProN W3"/>
              <a:ea typeface="Hiragino Kaku Gothic ProN W3"/>
              <a:cs typeface="Hiragino Kaku Gothic ProN W3"/>
            </a:defRPr>
          </a:pPr>
          <a:endParaRPr lang="ja-JP"/>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最大メモリ</c:v>
          </c:tx>
          <c:spPr>
            <a:solidFill>
              <a:srgbClr val="2F64A1"/>
            </a:solidFill>
          </c:spPr>
          <c:invertIfNegative val="0"/>
          <c:dLbls>
            <c:numFmt formatCode="0.0" sourceLinked="0"/>
            <c:spPr>
              <a:noFill/>
              <a:ln>
                <a:noFill/>
              </a:ln>
              <a:effectLst/>
            </c:spPr>
            <c:txPr>
              <a:bodyPr anchorCtr="1"/>
              <a:lstStyle/>
              <a:p>
                <a:pPr>
                  <a:defRPr sz="1350">
                    <a:solidFill>
                      <a:srgbClr val="282629"/>
                    </a:solidFill>
                    <a:latin typeface="Hiragino Kaku Gothic ProN W3"/>
                    <a:ea typeface="Hiragino Kaku Gothic ProN W3"/>
                    <a:cs typeface="Hiragino Kaku Gothic ProN W3"/>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Nova</c:v>
                </c:pt>
                <c:pt idx="1">
                  <c:v>HyperNova</c:v>
                </c:pt>
              </c:strCache>
            </c:strRef>
          </c:cat>
          <c:val>
            <c:numRef>
              <c:f>'Chart Data'!$B$2:$B$3</c:f>
              <c:numCache>
                <c:formatCode>0.0</c:formatCode>
                <c:ptCount val="2"/>
                <c:pt idx="0">
                  <c:v>187.08590000000001</c:v>
                </c:pt>
                <c:pt idx="1">
                  <c:v>148.88669999999999</c:v>
                </c:pt>
              </c:numCache>
            </c:numRef>
          </c:val>
          <c:extLst>
            <c:ext xmlns:c16="http://schemas.microsoft.com/office/drawing/2014/chart" uri="{C3380CC4-5D6E-409C-BE32-E72D297353CC}">
              <c16:uniqueId val="{00000000-0B8A-3342-B627-AD9088340146}"/>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Hiragino Kaku Gothic ProN W3"/>
                <a:ea typeface="Hiragino Kaku Gothic ProN W3"/>
                <a:cs typeface="Hiragino Kaku Gothic ProN W3"/>
              </a:defRPr>
            </a:pPr>
            <a:endParaRPr lang="ja-JP"/>
          </a:p>
        </c:txPr>
        <c:crossAx val="48672768"/>
        <c:crosses val="autoZero"/>
        <c:auto val="1"/>
        <c:lblAlgn val="ctr"/>
        <c:lblOffset val="100"/>
        <c:noMultiLvlLbl val="1"/>
      </c:catAx>
      <c:valAx>
        <c:axId val="48672768"/>
        <c:scaling>
          <c:orientation val="minMax"/>
          <c:max val="220"/>
          <c:min val="0"/>
        </c:scaling>
        <c:delete val="0"/>
        <c:axPos val="l"/>
        <c:majorGridlines>
          <c:spPr>
            <a:ln w="6668">
              <a:solidFill>
                <a:srgbClr val="E4E9ED"/>
              </a:solidFill>
            </a:ln>
          </c:spPr>
        </c:majorGridlines>
        <c:title>
          <c:tx>
            <c:rich>
              <a:bodyPr/>
              <a:lstStyle/>
              <a:p>
                <a:r>
                  <a:rPr lang="en">
                    <a:latin typeface="Hiragino Kaku Gothic ProN W3"/>
                    <a:ea typeface="Hiragino Kaku Gothic ProN W3"/>
                    <a:cs typeface="Hiragino Kaku Gothic ProN W3"/>
                  </a:rPr>
                  <a:t>MiB</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Hiragino Kaku Gothic ProN W3"/>
                <a:ea typeface="Hiragino Kaku Gothic ProN W3"/>
                <a:cs typeface="Hiragino Kaku Gothic ProN W3"/>
              </a:defRPr>
            </a:pPr>
            <a:endParaRPr lang="ja-JP"/>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203EB-F0BC-349B-08DA-4A209B2348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757F3B-9AA4-937F-2A4B-875337140C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6A469E-64D5-35A9-345E-9FE76C40090F}"/>
              </a:ext>
            </a:extLst>
          </p:cNvPr>
          <p:cNvSpPr>
            <a:spLocks noGrp="1"/>
          </p:cNvSpPr>
          <p:nvPr>
            <p:ph type="body" idx="1"/>
          </p:nvPr>
        </p:nvSpPr>
        <p:spPr/>
        <p:txBody>
          <a:bodyPr/>
          <a:lstStyle/>
          <a:p>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1137CC17-5B7C-939A-0485-9F274D223D00}"/>
              </a:ext>
            </a:extLst>
          </p:cNvPr>
          <p:cNvSpPr>
            <a:spLocks noGrp="1"/>
          </p:cNvSpPr>
          <p:nvPr>
            <p:ph type="sldNum" sz="quarter" idx="5"/>
          </p:nvPr>
        </p:nvSpPr>
        <p:spPr/>
        <p:txBody>
          <a:bodyPr/>
          <a:lstStyle/>
          <a:p>
            <a:fld id="{6CF9EA13-03A4-C645-B83D-CF7C373A6A5D}" type="slidenum">
              <a:rPr kumimoji="1" lang="ja-JP" altLang="en-US" smtClean="0"/>
              <a:t>1</a:t>
            </a:fld>
            <a:endParaRPr kumimoji="1" lang="ja-JP" altLang="en-US"/>
          </a:p>
        </p:txBody>
      </p:sp>
    </p:spTree>
    <p:extLst>
      <p:ext uri="{BB962C8B-B14F-4D97-AF65-F5344CB8AC3E}">
        <p14:creationId xmlns:p14="http://schemas.microsoft.com/office/powerpoint/2010/main" val="1597916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F297D-F270-5B53-18B8-86D2A426B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E1225-3949-C2C4-AE67-9A68B4B27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46139-A161-E5F7-8F83-4751A12B8D7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3389A9E-D6CE-AA2B-B935-7AC524504F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19663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A272E-F9EA-765E-981F-36C841BE6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936C7-8ED4-4577-9150-180186FA6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3D678-17C0-D02E-CE2F-3DF32D61514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4989B7D-B96B-DD62-CFE0-EFA371BE65A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22631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0AB6E-D4FD-79F8-5888-681FF6072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3B631-B7B3-CC6E-2EC6-1B72F87F8C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B52E6-DA80-0200-C7AF-2C812C2CA51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B9E7055-A97F-DB4F-052A-E2AD7D98654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31917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電波強度 </a:t>
            </a:r>
            <a:endParaRPr lang="en-US" altLang="ja-JP" dirty="0"/>
          </a:p>
          <a:p>
            <a:r>
              <a:rPr lang="ja-JP" altLang="en-US" dirty="0"/>
              <a:t>その調査してみる</a:t>
            </a:r>
            <a:endParaRPr lang="en-US" altLang="ja-JP" dirty="0"/>
          </a:p>
          <a:p>
            <a:r>
              <a:rPr lang="ja-JP" altLang="en-US" dirty="0"/>
              <a:t>空間的</a:t>
            </a:r>
            <a:endParaRPr lang="en-US" altLang="ja-JP" dirty="0"/>
          </a:p>
          <a:p>
            <a:r>
              <a:rPr lang="ja-JP" altLang="en-US" dirty="0"/>
              <a:t>複数ノードでの１台だと複数台だと </a:t>
            </a:r>
            <a:endParaRPr lang="en-US" altLang="ja-JP" dirty="0"/>
          </a:p>
          <a:p>
            <a:r>
              <a:rPr lang="ja-JP" altLang="en-US" dirty="0"/>
              <a:t>各ノードでの買い集めれば もとの電波強度 </a:t>
            </a:r>
            <a:endParaRPr lang="en-US" altLang="ja-JP" dirty="0"/>
          </a:p>
          <a:p>
            <a:r>
              <a:rPr lang="ja-JP" altLang="en-US" dirty="0"/>
              <a:t>ドローンの 送信電力が未知の状態で留守居できｒか</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2D86-BBF3-D13C-7301-34F1F6786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72241-7C7D-22D4-0E6C-7E279B789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8B7A3-B362-8AD0-4399-E8FE21F11FE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A239D87-35CE-D6AA-608D-22EACD56CFE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75798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メモリが早くなる</a:t>
            </a:r>
            <a:endParaRPr lang="en-US" altLang="ja-JP" dirty="0"/>
          </a:p>
          <a:p>
            <a:r>
              <a:rPr lang="ja-JP" altLang="en-US" dirty="0"/>
              <a:t>分割</a:t>
            </a:r>
            <a:endParaRPr lang="en-US" altLang="ja-JP" dirty="0"/>
          </a:p>
          <a:p>
            <a:r>
              <a:rPr lang="ja-JP" altLang="en-US" dirty="0"/>
              <a:t>メモリが大きい</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46824-B6E2-EAE9-C28A-822D74907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81ACA-7116-0457-A065-DB580561D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69873-4A73-D635-24BC-98B065F4806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32D1033-CBF1-24C5-3E29-A63BD4D4F9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63008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4900B-A3CC-43E1-E137-D98A363872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4E12DC-D007-1C13-88B8-94EF4CC4D2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66F285-5BE0-FA1F-D87B-BA27BFC536F7}"/>
              </a:ext>
            </a:extLst>
          </p:cNvPr>
          <p:cNvSpPr>
            <a:spLocks noGrp="1"/>
          </p:cNvSpPr>
          <p:nvPr>
            <p:ph type="body" idx="1"/>
          </p:nvPr>
        </p:nvSpPr>
        <p:spPr/>
        <p:txBody>
          <a:bodyPr/>
          <a:lstStyle/>
          <a:p>
            <a:r>
              <a:rPr lang="ja-JP" altLang="ja-JP" b="1" dirty="0"/>
              <a:t>1. CCS（Customizable Constraint Systems）</a:t>
            </a:r>
          </a:p>
          <a:p>
            <a:r>
              <a:rPr lang="ja-JP" altLang="ja-JP" dirty="0"/>
              <a:t>日本語：カスタマイズ可能な制約システム</a:t>
            </a:r>
          </a:p>
          <a:p>
            <a:r>
              <a:rPr lang="ja-JP" altLang="ja-JP" dirty="0"/>
              <a:t>ZKPでは、計算が正しく実行されたことを証明するために、その計算を数式による制約として表現します。</a:t>
            </a:r>
          </a:p>
          <a:p>
            <a:r>
              <a:rPr lang="ja-JP" altLang="ja-JP" dirty="0"/>
              <a:t>従来のNovaでは主にR1CSという制約形式を利用します。一方、HyperNovaではCCSを採用しています。</a:t>
            </a:r>
          </a:p>
          <a:p>
            <a:r>
              <a:rPr lang="ja-JP" altLang="ja-JP" dirty="0"/>
              <a:t>制約形式</a:t>
            </a:r>
          </a:p>
          <a:p>
            <a:r>
              <a:rPr lang="ja-JP" altLang="ja-JP" dirty="0"/>
              <a:t>特徴</a:t>
            </a:r>
          </a:p>
          <a:p>
            <a:r>
              <a:rPr lang="ja-JP" altLang="ja-JP" dirty="0"/>
              <a:t>R1CS</a:t>
            </a:r>
          </a:p>
          <a:p>
            <a:r>
              <a:rPr lang="ja-JP" altLang="ja-JP" dirty="0"/>
              <a:t>加算・乗算を中心とする制約表現</a:t>
            </a:r>
          </a:p>
          <a:p>
            <a:r>
              <a:rPr lang="ja-JP" altLang="ja-JP" dirty="0"/>
              <a:t>Plonkish</a:t>
            </a:r>
          </a:p>
          <a:p>
            <a:r>
              <a:rPr lang="ja-JP" altLang="ja-JP" dirty="0"/>
              <a:t>カスタムゲートなど柔軟な制約表現</a:t>
            </a:r>
          </a:p>
          <a:p>
            <a:r>
              <a:rPr lang="ja-JP" altLang="ja-JP" dirty="0"/>
              <a:t>AIR</a:t>
            </a:r>
          </a:p>
          <a:p>
            <a:r>
              <a:rPr lang="ja-JP" altLang="ja-JP" dirty="0"/>
              <a:t>計算の状態遷移を制約として表現</a:t>
            </a:r>
          </a:p>
          <a:p>
            <a:r>
              <a:rPr lang="ja-JP" altLang="ja-JP" dirty="0"/>
              <a:t>CCS</a:t>
            </a:r>
          </a:p>
          <a:p>
            <a:r>
              <a:rPr lang="ja-JP" altLang="ja-JP" dirty="0"/>
              <a:t>R1CS・Plonkish・AIRを包括できる汎用的な形式</a:t>
            </a:r>
          </a:p>
          <a:p>
            <a:r>
              <a:rPr lang="ja-JP" altLang="ja-JP" dirty="0"/>
              <a:t>CCSによって、HyperNovaはより多様な計算形式に対してFoldingを適用できます。</a:t>
            </a:r>
          </a:p>
          <a:p>
            <a:r>
              <a:rPr lang="ja-JP" altLang="ja-JP" dirty="0"/>
              <a:t>Microsoft Research</a:t>
            </a:r>
          </a:p>
          <a:p>
            <a:r>
              <a:rPr lang="ja-JP" altLang="ja-JP" dirty="0"/>
              <a:t>+1</a:t>
            </a:r>
          </a:p>
          <a:p>
            <a:r>
              <a:rPr lang="ja-JP" altLang="ja-JP" dirty="0"/>
              <a:t>ただし、CCSを利用しても、複数端末間でWitnessを秘密にしたまま状態を引き継げるようになるわけではありません。</a:t>
            </a:r>
            <a:endParaRPr lang="en-US" altLang="ja-JP" dirty="0"/>
          </a:p>
          <a:p>
            <a:endParaRPr lang="en-US" altLang="ja-JP" dirty="0"/>
          </a:p>
          <a:p>
            <a:endParaRPr lang="ja-JP" altLang="ja-JP" dirty="0"/>
          </a:p>
          <a:p>
            <a:r>
              <a:rPr lang="ja-JP" altLang="ja-JP" b="1" dirty="0"/>
              <a:t>2. PCD（Proof-Carrying Data）</a:t>
            </a:r>
          </a:p>
          <a:p>
            <a:r>
              <a:rPr lang="ja-JP" altLang="ja-JP" dirty="0"/>
              <a:t>日本語：証明付きデータ</a:t>
            </a:r>
          </a:p>
          <a:p>
            <a:r>
              <a:rPr lang="ja-JP" altLang="ja-JP" dirty="0"/>
              <a:t>PCDは、計算結果に証明を付けて次の処理へ渡し、過去の計算が正しかったことも継続的に検証できる仕組みです。</a:t>
            </a:r>
          </a:p>
          <a:p>
            <a:r>
              <a:rPr lang="ja-JP" altLang="ja-JP" dirty="0"/>
              <a:t>複数端末によるPCDの概念図</a:t>
            </a:r>
          </a:p>
          <a:p>
            <a:r>
              <a:rPr lang="ja-JP" altLang="ja-JP" dirty="0"/>
              <a:t>概念図。各端末が個別の秘密入力から証明を生成し、それらの正当性を検証しながら結果を統合する例です。</a:t>
            </a:r>
          </a:p>
          <a:p>
            <a:r>
              <a:rPr lang="ja-JP" altLang="ja-JP" dirty="0"/>
              <a:t>PCDの重要な特徴は、過去の証明を利用して新しい証明を生成できることです。</a:t>
            </a:r>
          </a:p>
          <a:p>
            <a:pPr lvl="0"/>
            <a:r>
              <a:rPr lang="ja-JP" altLang="ja-JP" dirty="0"/>
              <a:t>各端末が自分の計算に関する証明を生成する</a:t>
            </a:r>
          </a:p>
          <a:p>
            <a:pPr lvl="0"/>
            <a:r>
              <a:rPr lang="ja-JP" altLang="ja-JP" dirty="0"/>
              <a:t>次の端末は以前の証明を検証する</a:t>
            </a:r>
          </a:p>
          <a:p>
            <a:pPr lvl="0"/>
            <a:r>
              <a:rPr lang="ja-JP" altLang="ja-JP" dirty="0"/>
              <a:t>以前の計算が正しいことを含め、新しい結果を証明する</a:t>
            </a:r>
          </a:p>
          <a:p>
            <a:pPr lvl="0"/>
            <a:r>
              <a:rPr lang="ja-JP" altLang="ja-JP" dirty="0"/>
              <a:t>複数の計算履歴を扱う構成にも対応できる</a:t>
            </a:r>
          </a:p>
          <a:p>
            <a:r>
              <a:rPr lang="ja-JP" altLang="ja-JP" dirty="0"/>
              <a:t>PCDは、単純な一本道の計算だけでなく、分岐・合流する分散計算も扱える概念です。</a:t>
            </a:r>
          </a:p>
          <a:p>
            <a:r>
              <a:rPr lang="ja-JP" altLang="ja-JP" dirty="0"/>
              <a:t>MITオープン奨学金</a:t>
            </a:r>
          </a:p>
          <a:p>
            <a:r>
              <a:rPr lang="ja-JP" altLang="ja-JP" dirty="0"/>
              <a:t>+1</a:t>
            </a:r>
          </a:p>
          <a:p>
            <a:r>
              <a:rPr lang="ja-JP" altLang="ja-JP" dirty="0"/>
              <a:t>ただし、PCD自体が秘密入力の非共有を自動保証するわけではありません。 秘匿性を確保するには、Zero-Knowledge性を持つPCD構成や、端末間で受け渡すデータの設計が必要です。</a:t>
            </a:r>
          </a:p>
        </p:txBody>
      </p:sp>
      <p:sp>
        <p:nvSpPr>
          <p:cNvPr id="4" name="スライド番号プレースホルダー 3">
            <a:extLst>
              <a:ext uri="{FF2B5EF4-FFF2-40B4-BE49-F238E27FC236}">
                <a16:creationId xmlns:a16="http://schemas.microsoft.com/office/drawing/2014/main" id="{5EA7CA58-75AF-2E2D-DBAD-0847EECF7A45}"/>
              </a:ext>
            </a:extLst>
          </p:cNvPr>
          <p:cNvSpPr>
            <a:spLocks noGrp="1"/>
          </p:cNvSpPr>
          <p:nvPr>
            <p:ph type="sldNum" sz="quarter" idx="5"/>
          </p:nvPr>
        </p:nvSpPr>
        <p:spPr/>
        <p:txBody>
          <a:bodyPr/>
          <a:lstStyle/>
          <a:p>
            <a:fld id="{0D015021-CF2D-6942-9D05-7B052A7D82D5}" type="slidenum">
              <a:rPr kumimoji="1" lang="ja-JP" altLang="en-US" smtClean="0"/>
              <a:t>19</a:t>
            </a:fld>
            <a:endParaRPr kumimoji="1" lang="ja-JP" altLang="en-US"/>
          </a:p>
        </p:txBody>
      </p:sp>
    </p:spTree>
    <p:extLst>
      <p:ext uri="{BB962C8B-B14F-4D97-AF65-F5344CB8AC3E}">
        <p14:creationId xmlns:p14="http://schemas.microsoft.com/office/powerpoint/2010/main" val="1296269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C2BF8-BBBC-C1BC-8E84-E1CF4C192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AA17A-9F5F-FB40-F1DB-ED263E689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0B6C1-6ED3-32E9-BA6C-8DF67FD414A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41B770A-D12D-AF36-5EA3-16FD08B0AAF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30319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76E1-09B7-A8EA-5D52-988E577D7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00A98-C6D2-D588-7727-659912D64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A9C7A-5D77-76B9-8154-D5A341AE533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00EBA56-914D-0046-B4A9-73254F9DF52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541582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A3DC9-DA24-4A9A-8756-7A7D29D4C4B2}"/>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8F90811-AA72-4B3A-A33B-1AE11FAFEEED}"/>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7EC16364-86CA-4728-B217-B376008CBB4C}"/>
              </a:ext>
            </a:extLst>
          </p:cNvPr>
          <p:cNvSpPr>
            <a:spLocks noGrp="1"/>
          </p:cNvSpPr>
          <p:nvPr>
            <p:ph type="dt" idx="10"/>
          </p:nvPr>
        </p:nvSpPr>
        <p:spPr/>
        <p:txBody>
          <a:bodyPr/>
          <a:lstStyle/>
          <a:p>
            <a:fld id="{BDBF6169-4B87-414F-ACBE-D5889A1B47A0}" type="datetime1">
              <a:rPr lang="ja-JP" altLang="en-US" smtClean="0"/>
              <a:t>2026/10/19</a:t>
            </a:fld>
            <a:endParaRPr/>
          </a:p>
        </p:txBody>
      </p:sp>
      <p:sp>
        <p:nvSpPr>
          <p:cNvPr id="5" name="Footer Placeholder 4">
            <a:extLst>
              <a:ext uri="{FF2B5EF4-FFF2-40B4-BE49-F238E27FC236}">
                <a16:creationId xmlns:a16="http://schemas.microsoft.com/office/drawing/2014/main" id="{15A182AC-24F0-4218-8AEB-A45FF68A22E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68CE96D-4DC6-4894-BAD6-44067E9D8B5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ABE3D-7530-4717-A298-38B53DEF726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B912944-E2DD-4306-B5E8-29F31EE5D21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BCED062-3A99-4666-8457-27A9728F8C60}"/>
              </a:ext>
            </a:extLst>
          </p:cNvPr>
          <p:cNvSpPr>
            <a:spLocks noGrp="1"/>
          </p:cNvSpPr>
          <p:nvPr>
            <p:ph type="dt" idx="10"/>
          </p:nvPr>
        </p:nvSpPr>
        <p:spPr/>
        <p:txBody>
          <a:bodyPr/>
          <a:lstStyle/>
          <a:p>
            <a:fld id="{3FD8E8B8-C7E4-4618-ABC3-C399B7CCEC0D}" type="datetime1">
              <a:rPr lang="ja-JP" altLang="en-US" smtClean="0"/>
              <a:t>2026/10/19</a:t>
            </a:fld>
            <a:endParaRPr/>
          </a:p>
        </p:txBody>
      </p:sp>
      <p:sp>
        <p:nvSpPr>
          <p:cNvPr id="5" name="Footer Placeholder 4">
            <a:extLst>
              <a:ext uri="{FF2B5EF4-FFF2-40B4-BE49-F238E27FC236}">
                <a16:creationId xmlns:a16="http://schemas.microsoft.com/office/drawing/2014/main" id="{B9588733-8A28-44C9-A6BB-5F124CD1FB7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7EB0B2A-1A4A-4C16-AF0B-C1AB8E1409A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76D84-672C-447D-AA0B-5F3B458CD8CA}"/>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7195AEDB-D3E1-4F02-9B02-0773BF0A8A7C}"/>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016C3BEE-701C-4F80-8624-83E938895972}"/>
              </a:ext>
            </a:extLst>
          </p:cNvPr>
          <p:cNvSpPr>
            <a:spLocks noGrp="1"/>
          </p:cNvSpPr>
          <p:nvPr>
            <p:ph type="dt" idx="10"/>
          </p:nvPr>
        </p:nvSpPr>
        <p:spPr/>
        <p:txBody>
          <a:bodyPr/>
          <a:lstStyle/>
          <a:p>
            <a:fld id="{9AC23AE2-2BBD-4FC2-B528-0BF2C1EBC75B}" type="datetime1">
              <a:rPr lang="ja-JP" altLang="en-US" smtClean="0"/>
              <a:t>2026/10/19</a:t>
            </a:fld>
            <a:endParaRPr/>
          </a:p>
        </p:txBody>
      </p:sp>
      <p:sp>
        <p:nvSpPr>
          <p:cNvPr id="5" name="Footer Placeholder 4">
            <a:extLst>
              <a:ext uri="{FF2B5EF4-FFF2-40B4-BE49-F238E27FC236}">
                <a16:creationId xmlns:a16="http://schemas.microsoft.com/office/drawing/2014/main" id="{13DBC5B5-573C-4218-8628-AC45C3E58A6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8DC7663-F10E-44C8-94E3-1336202FBCE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86DAB-6AA6-48CC-9EED-B9A9092C69E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EAE6064-C9B0-4ED2-B836-773BFC88D9DA}"/>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58C39F0-1E1A-46F5-9AB6-E9CC3CAF55DB}"/>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AEFA5277-58AD-4200-9E49-D13B9CD7A7E6}"/>
              </a:ext>
            </a:extLst>
          </p:cNvPr>
          <p:cNvSpPr>
            <a:spLocks noGrp="1"/>
          </p:cNvSpPr>
          <p:nvPr>
            <p:ph type="dt" idx="10"/>
          </p:nvPr>
        </p:nvSpPr>
        <p:spPr/>
        <p:txBody>
          <a:bodyPr/>
          <a:lstStyle/>
          <a:p>
            <a:fld id="{56DCF949-C1A3-4258-9A96-1DB5EE6F9CB2}" type="datetime1">
              <a:rPr lang="ja-JP" altLang="en-US" smtClean="0"/>
              <a:t>2026/10/19</a:t>
            </a:fld>
            <a:endParaRPr/>
          </a:p>
        </p:txBody>
      </p:sp>
      <p:sp>
        <p:nvSpPr>
          <p:cNvPr id="6" name="Footer Placeholder 5">
            <a:extLst>
              <a:ext uri="{FF2B5EF4-FFF2-40B4-BE49-F238E27FC236}">
                <a16:creationId xmlns:a16="http://schemas.microsoft.com/office/drawing/2014/main" id="{6E9FD05B-7E99-476D-85CD-AAC406532E7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34D22A-46DC-4B00-8323-B3B250E4741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1324C-86BD-407E-BD4B-7FDC35D2AF7D}"/>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302C5FAD-98DF-4ECF-93D6-F37194FED71F}"/>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A3364E0E-1C37-42E5-AC1B-4419747A05D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A9175CB9-53DB-4CA8-9F84-9326531E9C9C}"/>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D15166CE-C91C-4429-852B-97E101969C2F}"/>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9D49DDF-62F2-46E2-8D03-C387761C2D6E}"/>
              </a:ext>
            </a:extLst>
          </p:cNvPr>
          <p:cNvSpPr>
            <a:spLocks noGrp="1"/>
          </p:cNvSpPr>
          <p:nvPr>
            <p:ph type="dt" idx="10"/>
          </p:nvPr>
        </p:nvSpPr>
        <p:spPr/>
        <p:txBody>
          <a:bodyPr/>
          <a:lstStyle/>
          <a:p>
            <a:fld id="{98AFE064-A27A-41A2-B430-44850FEBCE26}" type="datetime1">
              <a:rPr lang="ja-JP" altLang="en-US" smtClean="0"/>
              <a:t>2026/10/19</a:t>
            </a:fld>
            <a:endParaRPr/>
          </a:p>
        </p:txBody>
      </p:sp>
      <p:sp>
        <p:nvSpPr>
          <p:cNvPr id="8" name="Footer Placeholder 7">
            <a:extLst>
              <a:ext uri="{FF2B5EF4-FFF2-40B4-BE49-F238E27FC236}">
                <a16:creationId xmlns:a16="http://schemas.microsoft.com/office/drawing/2014/main" id="{89257547-E9ED-4D33-BBA7-65E9A46A5A30}"/>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717A970-5F74-4493-AA93-9BECC400AD9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197A6-EB07-40F6-9412-372DF04F9AEC}"/>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015F0C53-06F1-421A-8254-534DFE03F696}"/>
              </a:ext>
            </a:extLst>
          </p:cNvPr>
          <p:cNvSpPr>
            <a:spLocks noGrp="1"/>
          </p:cNvSpPr>
          <p:nvPr>
            <p:ph type="dt" idx="10"/>
          </p:nvPr>
        </p:nvSpPr>
        <p:spPr/>
        <p:txBody>
          <a:bodyPr/>
          <a:lstStyle/>
          <a:p>
            <a:fld id="{9B04457F-2123-4F1E-BC61-D6013C4605FE}" type="datetime1">
              <a:rPr lang="ja-JP" altLang="en-US" smtClean="0"/>
              <a:t>2026/10/19</a:t>
            </a:fld>
            <a:endParaRPr/>
          </a:p>
        </p:txBody>
      </p:sp>
      <p:sp>
        <p:nvSpPr>
          <p:cNvPr id="4" name="Footer Placeholder 3">
            <a:extLst>
              <a:ext uri="{FF2B5EF4-FFF2-40B4-BE49-F238E27FC236}">
                <a16:creationId xmlns:a16="http://schemas.microsoft.com/office/drawing/2014/main" id="{02E0BE3F-892B-4CCE-A466-55793FE876E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3E502C12-168B-4E2A-AB2D-AF951B8ECB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ABD391-129E-437A-B419-B22852924475}"/>
              </a:ext>
            </a:extLst>
          </p:cNvPr>
          <p:cNvSpPr>
            <a:spLocks noGrp="1"/>
          </p:cNvSpPr>
          <p:nvPr>
            <p:ph type="dt" idx="10"/>
          </p:nvPr>
        </p:nvSpPr>
        <p:spPr/>
        <p:txBody>
          <a:bodyPr/>
          <a:lstStyle/>
          <a:p>
            <a:fld id="{ADF44EDF-6DC3-458C-A3A9-8D69B7CABB26}" type="datetime1">
              <a:rPr lang="ja-JP" altLang="en-US" smtClean="0"/>
              <a:t>2026/10/19</a:t>
            </a:fld>
            <a:endParaRPr/>
          </a:p>
        </p:txBody>
      </p:sp>
      <p:sp>
        <p:nvSpPr>
          <p:cNvPr id="3" name="Footer Placeholder 2">
            <a:extLst>
              <a:ext uri="{FF2B5EF4-FFF2-40B4-BE49-F238E27FC236}">
                <a16:creationId xmlns:a16="http://schemas.microsoft.com/office/drawing/2014/main" id="{9C03395A-02F5-45BE-AFA6-75904AFFEC94}"/>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A13C7B6-DCC5-462D-A739-3E4B882B90B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0529A-30ED-4EB1-BCEB-F66554F22A1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D9F47707-8EBD-4D88-A69A-71476BA3A02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E6F7417-5E33-4BA4-BA7C-3992D0A75AB1}"/>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6E46CA97-00D8-4224-A4BC-64A94AA244C6}"/>
              </a:ext>
            </a:extLst>
          </p:cNvPr>
          <p:cNvSpPr>
            <a:spLocks noGrp="1"/>
          </p:cNvSpPr>
          <p:nvPr>
            <p:ph type="dt" idx="10"/>
          </p:nvPr>
        </p:nvSpPr>
        <p:spPr/>
        <p:txBody>
          <a:bodyPr/>
          <a:lstStyle/>
          <a:p>
            <a:fld id="{74DDA704-12F4-46A3-A7C0-1069ADB40368}" type="datetime1">
              <a:rPr lang="ja-JP" altLang="en-US" smtClean="0"/>
              <a:t>2026/10/19</a:t>
            </a:fld>
            <a:endParaRPr/>
          </a:p>
        </p:txBody>
      </p:sp>
      <p:sp>
        <p:nvSpPr>
          <p:cNvPr id="6" name="Footer Placeholder 5">
            <a:extLst>
              <a:ext uri="{FF2B5EF4-FFF2-40B4-BE49-F238E27FC236}">
                <a16:creationId xmlns:a16="http://schemas.microsoft.com/office/drawing/2014/main" id="{0AC187D0-D0C3-4B59-88DD-7B2DF8D1E6E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B504547-5A52-4444-A6A7-1F3FF93CD37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784C-269F-45F7-97AF-A45A3B15784F}"/>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6267C6B7-4096-4FA8-BE60-8C0FB5B6C2A7}"/>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8C78E12F-6B6A-45EC-AC12-8418DAB2AE77}"/>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8DF6F7A-E43C-48EA-8065-66050F3A836A}"/>
              </a:ext>
            </a:extLst>
          </p:cNvPr>
          <p:cNvSpPr>
            <a:spLocks noGrp="1"/>
          </p:cNvSpPr>
          <p:nvPr>
            <p:ph type="dt" idx="10"/>
          </p:nvPr>
        </p:nvSpPr>
        <p:spPr/>
        <p:txBody>
          <a:bodyPr/>
          <a:lstStyle/>
          <a:p>
            <a:fld id="{CC16F2CB-8729-4C62-8C45-F10C053FAA70}" type="datetime1">
              <a:rPr lang="ja-JP" altLang="en-US" smtClean="0"/>
              <a:t>2026/10/19</a:t>
            </a:fld>
            <a:endParaRPr/>
          </a:p>
        </p:txBody>
      </p:sp>
      <p:sp>
        <p:nvSpPr>
          <p:cNvPr id="6" name="Footer Placeholder 5">
            <a:extLst>
              <a:ext uri="{FF2B5EF4-FFF2-40B4-BE49-F238E27FC236}">
                <a16:creationId xmlns:a16="http://schemas.microsoft.com/office/drawing/2014/main" id="{F70C4305-4E63-45A5-BE01-994ED191BFC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35BE83D-C2A9-45C9-BBBD-0AF7D83EEFF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32461-FD17-4F35-8E54-06FDD2DF34F4}"/>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4CB851B-9832-4A6A-8699-423DAF73E48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1F9F71B-F8D3-4B77-8C3A-703806346CF5}"/>
              </a:ext>
            </a:extLst>
          </p:cNvPr>
          <p:cNvSpPr>
            <a:spLocks noGrp="1"/>
          </p:cNvSpPr>
          <p:nvPr>
            <p:ph type="dt" idx="10"/>
          </p:nvPr>
        </p:nvSpPr>
        <p:spPr/>
        <p:txBody>
          <a:bodyPr/>
          <a:lstStyle/>
          <a:p>
            <a:fld id="{4B1EAB77-6B53-47FF-89A2-6BC308EE4FAC}" type="datetime1">
              <a:rPr lang="ja-JP" altLang="en-US" smtClean="0"/>
              <a:t>2026/10/19</a:t>
            </a:fld>
            <a:endParaRPr/>
          </a:p>
        </p:txBody>
      </p:sp>
      <p:sp>
        <p:nvSpPr>
          <p:cNvPr id="5" name="Footer Placeholder 4">
            <a:extLst>
              <a:ext uri="{FF2B5EF4-FFF2-40B4-BE49-F238E27FC236}">
                <a16:creationId xmlns:a16="http://schemas.microsoft.com/office/drawing/2014/main" id="{379B9FC0-BB91-43F1-8857-877726A93B9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4CD9A64-E61C-4280-8BA2-4668230ECED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B453B3-5B2D-4CD2-A820-75C4C4AC7BA8}"/>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E7D88D68-5D37-4894-9DA0-853DBE3F328A}"/>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4398DAF-7712-4AA5-B943-36BC70A58499}"/>
              </a:ext>
            </a:extLst>
          </p:cNvPr>
          <p:cNvSpPr>
            <a:spLocks noGrp="1"/>
          </p:cNvSpPr>
          <p:nvPr>
            <p:ph type="dt" idx="10"/>
          </p:nvPr>
        </p:nvSpPr>
        <p:spPr/>
        <p:txBody>
          <a:bodyPr/>
          <a:lstStyle/>
          <a:p>
            <a:fld id="{66BAB984-F660-4238-ACB0-EABC8C45DF5C}" type="datetime1">
              <a:rPr lang="ja-JP" altLang="en-US" smtClean="0"/>
              <a:t>2026/10/19</a:t>
            </a:fld>
            <a:endParaRPr/>
          </a:p>
        </p:txBody>
      </p:sp>
      <p:sp>
        <p:nvSpPr>
          <p:cNvPr id="5" name="Footer Placeholder 4">
            <a:extLst>
              <a:ext uri="{FF2B5EF4-FFF2-40B4-BE49-F238E27FC236}">
                <a16:creationId xmlns:a16="http://schemas.microsoft.com/office/drawing/2014/main" id="{F6B692F1-4417-4A24-B468-A8B59FAB56B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26A97B2-962C-4960-8F60-D111531BB75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6BCEC0-DDFA-411A-B5DA-1CC0BCBB5058}"/>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A73F9A6-4572-46F5-A03D-D149C45D329C}"/>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FD56ABA-F6C1-49B5-94F4-0D239C9EC09A}"/>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6F986E7-C570-46E9-AAFE-601416D6D202}" type="datetime1">
              <a:rPr lang="ja-JP" altLang="en-US" smtClean="0"/>
              <a:t>2026/10/19</a:t>
            </a:fld>
            <a:endParaRPr/>
          </a:p>
        </p:txBody>
      </p:sp>
      <p:sp>
        <p:nvSpPr>
          <p:cNvPr id="5" name="Footer Placeholder 4">
            <a:extLst>
              <a:ext uri="{FF2B5EF4-FFF2-40B4-BE49-F238E27FC236}">
                <a16:creationId xmlns:a16="http://schemas.microsoft.com/office/drawing/2014/main" id="{3D359F38-C746-4A0A-AABE-DB27610D3103}"/>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976228C8-4BE7-4A46-847A-30E670EA4F82}"/>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EE1B7-510F-9A01-BC82-498497D9C1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070B0B-1B8E-DD6E-A460-6271EC5FB3C9}"/>
              </a:ext>
            </a:extLst>
          </p:cNvPr>
          <p:cNvSpPr>
            <a:spLocks noGrp="1"/>
          </p:cNvSpPr>
          <p:nvPr>
            <p:ph type="ctrTitle"/>
          </p:nvPr>
        </p:nvSpPr>
        <p:spPr>
          <a:xfrm>
            <a:off x="2187421" y="2248693"/>
            <a:ext cx="4769157" cy="1007269"/>
          </a:xfrm>
        </p:spPr>
        <p:txBody>
          <a:bodyPr>
            <a:normAutofit/>
          </a:bodyPr>
          <a:lstStyle/>
          <a:p>
            <a:r>
              <a:rPr lang="en-US" altLang="ja-JP" sz="3600" dirty="0">
                <a:latin typeface="游ゴシック" panose="020B0400000000000000" pitchFamily="50" charset="-128"/>
                <a:ea typeface="游ゴシック" panose="020B0400000000000000" pitchFamily="50" charset="-128"/>
              </a:rPr>
              <a:t> </a:t>
            </a:r>
            <a:r>
              <a:rPr lang="ja-JP" altLang="en-US" sz="3600" dirty="0">
                <a:latin typeface="游ゴシック" panose="020B0400000000000000" pitchFamily="50" charset="-128"/>
                <a:ea typeface="游ゴシック" panose="020B0400000000000000" pitchFamily="50" charset="-128"/>
              </a:rPr>
              <a:t>進捗</a:t>
            </a:r>
            <a:r>
              <a:rPr lang="ja-JP" altLang="en-US" sz="3600">
                <a:latin typeface="游ゴシック" panose="020B0400000000000000" pitchFamily="50" charset="-128"/>
                <a:ea typeface="游ゴシック" panose="020B0400000000000000" pitchFamily="50" charset="-128"/>
              </a:rPr>
              <a:t>報告　第</a:t>
            </a:r>
            <a:r>
              <a:rPr lang="en-US" altLang="ja-JP" sz="3600" dirty="0">
                <a:latin typeface="游ゴシック" panose="020B0400000000000000" pitchFamily="50" charset="-128"/>
                <a:ea typeface="游ゴシック" panose="020B0400000000000000" pitchFamily="50" charset="-128"/>
              </a:rPr>
              <a:t>24</a:t>
            </a:r>
            <a:r>
              <a:rPr lang="ja-JP" altLang="en-US" sz="3600">
                <a:latin typeface="游ゴシック" panose="020B0400000000000000" pitchFamily="50" charset="-128"/>
                <a:ea typeface="游ゴシック" panose="020B0400000000000000" pitchFamily="50" charset="-128"/>
              </a:rPr>
              <a:t>回　</a:t>
            </a:r>
            <a:endParaRPr lang="ja-JP" altLang="en-US" sz="3600" dirty="0">
              <a:latin typeface="游ゴシック" panose="020B0400000000000000" pitchFamily="50" charset="-128"/>
              <a:ea typeface="游ゴシック" panose="020B0400000000000000" pitchFamily="50" charset="-128"/>
            </a:endParaRPr>
          </a:p>
        </p:txBody>
      </p:sp>
      <p:sp>
        <p:nvSpPr>
          <p:cNvPr id="8" name="字幕 2">
            <a:extLst>
              <a:ext uri="{FF2B5EF4-FFF2-40B4-BE49-F238E27FC236}">
                <a16:creationId xmlns:a16="http://schemas.microsoft.com/office/drawing/2014/main" id="{1A28CB50-14F2-13F1-4AF7-6099447C00E7}"/>
              </a:ext>
            </a:extLst>
          </p:cNvPr>
          <p:cNvSpPr>
            <a:spLocks noGrp="1"/>
          </p:cNvSpPr>
          <p:nvPr>
            <p:ph type="subTitle" idx="1"/>
          </p:nvPr>
        </p:nvSpPr>
        <p:spPr>
          <a:xfrm>
            <a:off x="1290229" y="3595638"/>
            <a:ext cx="6858000" cy="1655762"/>
          </a:xfrm>
        </p:spPr>
        <p:txBody>
          <a:bodyPr>
            <a:normAutofit/>
          </a:bodyPr>
          <a:lstStyle/>
          <a:p>
            <a:r>
              <a:rPr kumimoji="1" lang="ja-JP" altLang="en-US" sz="2800">
                <a:solidFill>
                  <a:schemeClr val="tx1"/>
                </a:solidFill>
                <a:latin typeface="游ゴシック" panose="020B0400000000000000" pitchFamily="50" charset="-128"/>
                <a:ea typeface="游ゴシック" panose="020B0400000000000000" pitchFamily="50" charset="-128"/>
              </a:rPr>
              <a:t>情報ネットワーキング研究室</a:t>
            </a:r>
            <a:endParaRPr kumimoji="1" lang="en-US" altLang="ja-JP" sz="2800" dirty="0">
              <a:solidFill>
                <a:schemeClr val="tx1"/>
              </a:solidFill>
              <a:latin typeface="游ゴシック" panose="020B0400000000000000" pitchFamily="50" charset="-128"/>
              <a:ea typeface="游ゴシック" panose="020B0400000000000000" pitchFamily="50" charset="-128"/>
            </a:endParaRPr>
          </a:p>
          <a:p>
            <a:r>
              <a:rPr kumimoji="1" lang="ja-JP" altLang="en-US" sz="2800" dirty="0">
                <a:solidFill>
                  <a:schemeClr val="tx1"/>
                </a:solidFill>
                <a:latin typeface="游ゴシック" panose="020B0400000000000000" pitchFamily="50" charset="-128"/>
                <a:ea typeface="游ゴシック" panose="020B0400000000000000" pitchFamily="50" charset="-128"/>
              </a:rPr>
              <a:t>吉岡</a:t>
            </a:r>
            <a:r>
              <a:rPr kumimoji="1" lang="en-US" altLang="ja-JP" sz="2800" dirty="0">
                <a:solidFill>
                  <a:schemeClr val="tx1"/>
                </a:solidFill>
                <a:latin typeface="游ゴシック" panose="020B0400000000000000" pitchFamily="50" charset="-128"/>
                <a:ea typeface="游ゴシック" panose="020B0400000000000000" pitchFamily="50" charset="-128"/>
              </a:rPr>
              <a:t> </a:t>
            </a:r>
            <a:r>
              <a:rPr lang="ja-JP" altLang="en-US" sz="2800" dirty="0">
                <a:solidFill>
                  <a:schemeClr val="tx1"/>
                </a:solidFill>
                <a:latin typeface="游ゴシック" panose="020B0400000000000000" pitchFamily="50" charset="-128"/>
                <a:ea typeface="游ゴシック" panose="020B0400000000000000" pitchFamily="50" charset="-128"/>
              </a:rPr>
              <a:t>龍佑</a:t>
            </a:r>
            <a:endParaRPr lang="en-US" altLang="ja-JP" sz="2800" dirty="0">
              <a:solidFill>
                <a:schemeClr val="tx1"/>
              </a:solidFill>
              <a:latin typeface="游ゴシック" panose="020B0400000000000000" pitchFamily="50" charset="-128"/>
              <a:ea typeface="游ゴシック" panose="020B0400000000000000" pitchFamily="50" charset="-128"/>
            </a:endParaRPr>
          </a:p>
          <a:p>
            <a:r>
              <a:rPr kumimoji="1" lang="en-US" altLang="ja-JP" sz="2800" dirty="0">
                <a:solidFill>
                  <a:schemeClr val="tx1"/>
                </a:solidFill>
                <a:latin typeface="游ゴシック" panose="020B0400000000000000" pitchFamily="50" charset="-128"/>
                <a:ea typeface="游ゴシック" panose="020B0400000000000000" pitchFamily="50" charset="-128"/>
              </a:rPr>
              <a:t>2026</a:t>
            </a:r>
            <a:r>
              <a:rPr kumimoji="1" lang="ja-JP" altLang="en-US" sz="2800">
                <a:solidFill>
                  <a:schemeClr val="tx1"/>
                </a:solidFill>
                <a:latin typeface="游ゴシック" panose="020B0400000000000000" pitchFamily="50" charset="-128"/>
                <a:ea typeface="游ゴシック" panose="020B0400000000000000" pitchFamily="50" charset="-128"/>
              </a:rPr>
              <a:t>年</a:t>
            </a:r>
            <a:r>
              <a:rPr kumimoji="1" lang="en-US" altLang="ja-JP" sz="2800" dirty="0">
                <a:solidFill>
                  <a:schemeClr val="tx1"/>
                </a:solidFill>
                <a:latin typeface="游ゴシック" panose="020B0400000000000000" pitchFamily="50" charset="-128"/>
                <a:ea typeface="游ゴシック" panose="020B0400000000000000" pitchFamily="50" charset="-128"/>
              </a:rPr>
              <a:t> 10</a:t>
            </a:r>
            <a:r>
              <a:rPr kumimoji="1" lang="ja-JP" altLang="en-US" sz="2800">
                <a:solidFill>
                  <a:schemeClr val="tx1"/>
                </a:solidFill>
                <a:latin typeface="游ゴシック" panose="020B0400000000000000" pitchFamily="50" charset="-128"/>
                <a:ea typeface="游ゴシック" panose="020B0400000000000000" pitchFamily="50" charset="-128"/>
              </a:rPr>
              <a:t>月</a:t>
            </a:r>
            <a:r>
              <a:rPr kumimoji="1" lang="en-US" altLang="ja-JP" sz="2800" dirty="0">
                <a:solidFill>
                  <a:schemeClr val="tx1"/>
                </a:solidFill>
                <a:latin typeface="游ゴシック" panose="020B0400000000000000" pitchFamily="50" charset="-128"/>
                <a:ea typeface="游ゴシック" panose="020B0400000000000000" pitchFamily="50" charset="-128"/>
              </a:rPr>
              <a:t>19</a:t>
            </a:r>
            <a:r>
              <a:rPr lang="ja-JP" altLang="en-US" sz="2800">
                <a:solidFill>
                  <a:schemeClr val="tx1"/>
                </a:solidFill>
                <a:latin typeface="游ゴシック" panose="020B0400000000000000" pitchFamily="50" charset="-128"/>
                <a:ea typeface="游ゴシック" panose="020B0400000000000000" pitchFamily="50" charset="-128"/>
              </a:rPr>
              <a:t>日</a:t>
            </a:r>
            <a:endParaRPr lang="en-US" altLang="ja-JP" sz="2800" dirty="0">
              <a:solidFill>
                <a:schemeClr val="tx1"/>
              </a:solidFill>
              <a:latin typeface="游ゴシック" panose="020B0400000000000000" pitchFamily="50" charset="-128"/>
              <a:ea typeface="游ゴシック" panose="020B0400000000000000" pitchFamily="50" charset="-128"/>
            </a:endParaRPr>
          </a:p>
          <a:p>
            <a:endParaRPr kumimoji="1" lang="ja-JP" altLang="en-US" sz="2800" dirty="0">
              <a:latin typeface="游ゴシック" panose="020B0400000000000000" pitchFamily="50" charset="-128"/>
              <a:ea typeface="游ゴシック" panose="020B0400000000000000" pitchFamily="50" charset="-128"/>
            </a:endParaRPr>
          </a:p>
        </p:txBody>
      </p:sp>
      <p:sp>
        <p:nvSpPr>
          <p:cNvPr id="3" name="スライド番号プレースホルダー 2">
            <a:extLst>
              <a:ext uri="{FF2B5EF4-FFF2-40B4-BE49-F238E27FC236}">
                <a16:creationId xmlns:a16="http://schemas.microsoft.com/office/drawing/2014/main" id="{03E845AE-EA02-5977-B864-9A0429EB5142}"/>
              </a:ext>
            </a:extLst>
          </p:cNvPr>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477400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lang="ja-JP" altLang="en-US" sz="2600" b="1" spc="300" dirty="0">
                <a:solidFill>
                  <a:srgbClr val="282629"/>
                </a:solidFill>
                <a:latin typeface="Hiragino Kaku Gothic ProN W6"/>
                <a:ea typeface="Hiragino Kaku Gothic ProN W6"/>
                <a:cs typeface="Hiragino Kaku Gothic ProN W6"/>
              </a:rPr>
              <a:t>今週</a:t>
            </a:r>
            <a:r>
              <a:rPr sz="2600" b="1" spc="300" dirty="0" err="1">
                <a:solidFill>
                  <a:srgbClr val="282629"/>
                </a:solidFill>
                <a:latin typeface="Hiragino Kaku Gothic ProN W6"/>
                <a:ea typeface="Hiragino Kaku Gothic ProN W6"/>
                <a:cs typeface="Hiragino Kaku Gothic ProN W6"/>
              </a:rPr>
              <a:t>の作業</a:t>
            </a:r>
            <a:endParaRPr sz="2600" b="1" spc="300" dirty="0">
              <a:solidFill>
                <a:srgbClr val="282629"/>
              </a:solidFill>
              <a:latin typeface="Hiragino Kaku Gothic ProN W6"/>
              <a:ea typeface="Hiragino Kaku Gothic ProN W6"/>
              <a:cs typeface="Hiragino Kaku Gothic ProN W6"/>
            </a:endParaRPr>
          </a:p>
        </p:txBody>
      </p:sp>
      <p:graphicFrame>
        <p:nvGraphicFramePr>
          <p:cNvPr id="7" name="表 6">
            <a:extLst>
              <a:ext uri="{FF2B5EF4-FFF2-40B4-BE49-F238E27FC236}">
                <a16:creationId xmlns:a16="http://schemas.microsoft.com/office/drawing/2014/main" id="{1005896B-464B-4A2E-9B3B-D5D1F1F10262}"/>
              </a:ext>
            </a:extLst>
          </p:cNvPr>
          <p:cNvGraphicFramePr/>
          <p:nvPr>
            <p:extLst>
              <p:ext uri="{D42A27DB-BD31-4B8C-83A1-F6EECF244321}">
                <p14:modId xmlns:p14="http://schemas.microsoft.com/office/powerpoint/2010/main" val="2717968343"/>
              </p:ext>
            </p:extLst>
          </p:nvPr>
        </p:nvGraphicFramePr>
        <p:xfrm>
          <a:off x="400050" y="1438275"/>
          <a:ext cx="8343900" cy="3571878"/>
        </p:xfrm>
        <a:graphic>
          <a:graphicData uri="http://schemas.openxmlformats.org/drawingml/2006/table">
            <a:tbl>
              <a:tblPr/>
              <a:tblGrid>
                <a:gridCol w="2286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tblGrid>
              <a:tr h="595313">
                <a:tc>
                  <a:txBody>
                    <a:bodyPr/>
                    <a:lstStyle/>
                    <a:p>
                      <a:pPr algn="ctr"/>
                      <a:r>
                        <a:rPr sz="1500" b="1">
                          <a:solidFill>
                            <a:srgbClr val="FFFFFF"/>
                          </a:solidFill>
                          <a:latin typeface="Hiragino Kaku Gothic ProN W6"/>
                          <a:ea typeface="Hiragino Kaku Gothic ProN W6"/>
                          <a:cs typeface="Hiragino Kaku Gothic ProN W6"/>
                        </a:rPr>
                        <a:t>区分</a:t>
                      </a:r>
                    </a:p>
                  </a:txBody>
                  <a:tcPr anchor="ctr">
                    <a:lnL w="6668">
                      <a:solidFill>
                        <a:srgbClr val="282629"/>
                      </a:solidFill>
                      <a:prstDash val="soli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主な内容</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概算時間</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extLst>
                  <a:ext uri="{0D108BD9-81ED-4DB2-BD59-A6C34878D82A}">
                    <a16:rowId xmlns:a16="http://schemas.microsoft.com/office/drawing/2014/main" val="10000"/>
                  </a:ext>
                </a:extLst>
              </a:tr>
              <a:tr h="595313">
                <a:tc>
                  <a:txBody>
                    <a:bodyPr/>
                    <a:lstStyle/>
                    <a:p>
                      <a:pPr algn="ctr"/>
                      <a:r>
                        <a:rPr sz="1500" b="0">
                          <a:solidFill>
                            <a:srgbClr val="282629"/>
                          </a:solidFill>
                          <a:latin typeface="Hiragino Kaku Gothic ProN W3"/>
                          <a:ea typeface="Hiragino Kaku Gothic ProN W3"/>
                          <a:cs typeface="Hiragino Kaku Gothic ProN W3"/>
                        </a:rPr>
                        <a:t>環境構築・実行準備</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依存関係・ARM64ビルド・Pi接続と保護設定</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lang="en-US" sz="1500" b="0" dirty="0">
                          <a:solidFill>
                            <a:srgbClr val="282629"/>
                          </a:solidFill>
                          <a:latin typeface="Hiragino Kaku Gothic ProN W3"/>
                          <a:ea typeface="Hiragino Kaku Gothic ProN W3"/>
                          <a:cs typeface="Hiragino Kaku Gothic ProN W3"/>
                        </a:rPr>
                        <a:t>6</a:t>
                      </a:r>
                      <a:r>
                        <a:rPr sz="1500" b="0" dirty="0">
                          <a:solidFill>
                            <a:srgbClr val="282629"/>
                          </a:solidFill>
                          <a:latin typeface="Hiragino Kaku Gothic ProN W3"/>
                          <a:ea typeface="Hiragino Kaku Gothic ProN W3"/>
                          <a:cs typeface="Hiragino Kaku Gothic ProN W3"/>
                        </a:rPr>
                        <a:t>時間</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1"/>
                  </a:ext>
                </a:extLst>
              </a:tr>
              <a:tr h="595313">
                <a:tc>
                  <a:txBody>
                    <a:bodyPr/>
                    <a:lstStyle/>
                    <a:p>
                      <a:pPr algn="ctr"/>
                      <a:r>
                        <a:rPr sz="1500" b="0">
                          <a:solidFill>
                            <a:srgbClr val="282629"/>
                          </a:solidFill>
                          <a:latin typeface="Hiragino Kaku Gothic ProN W3"/>
                          <a:ea typeface="Hiragino Kaku Gothic ProN W3"/>
                          <a:cs typeface="Hiragino Kaku Gothic ProN W3"/>
                        </a:rPr>
                        <a:t>HyperNovaの理論</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CCS・秘匿条件の調査、段階説明の資料作成</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lang="en-US" sz="1500" b="0" dirty="0">
                          <a:solidFill>
                            <a:srgbClr val="282629"/>
                          </a:solidFill>
                          <a:latin typeface="Hiragino Kaku Gothic ProN W3"/>
                          <a:ea typeface="Hiragino Kaku Gothic ProN W3"/>
                          <a:cs typeface="Hiragino Kaku Gothic ProN W3"/>
                        </a:rPr>
                        <a:t>5</a:t>
                      </a:r>
                      <a:r>
                        <a:rPr sz="1500" b="0" dirty="0">
                          <a:solidFill>
                            <a:srgbClr val="282629"/>
                          </a:solidFill>
                          <a:latin typeface="Hiragino Kaku Gothic ProN W3"/>
                          <a:ea typeface="Hiragino Kaku Gothic ProN W3"/>
                          <a:cs typeface="Hiragino Kaku Gothic ProN W3"/>
                        </a:rPr>
                        <a:t>時間</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2"/>
                  </a:ext>
                </a:extLst>
              </a:tr>
              <a:tr h="595313">
                <a:tc>
                  <a:txBody>
                    <a:bodyPr/>
                    <a:lstStyle/>
                    <a:p>
                      <a:pPr algn="ctr"/>
                      <a:r>
                        <a:rPr sz="1500" b="0">
                          <a:solidFill>
                            <a:srgbClr val="282629"/>
                          </a:solidFill>
                          <a:latin typeface="Hiragino Kaku Gothic ProN W3"/>
                          <a:ea typeface="Hiragino Kaku Gothic ProN W3"/>
                          <a:cs typeface="Hiragino Kaku Gothic ProN W3"/>
                        </a:rPr>
                        <a:t>Sonobeの実装・検証</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Folding／IVC・改変拒否の検証、結果の整理</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lang="en-US" sz="1500" b="0" dirty="0">
                          <a:solidFill>
                            <a:srgbClr val="282629"/>
                          </a:solidFill>
                          <a:latin typeface="Hiragino Kaku Gothic ProN W3"/>
                          <a:ea typeface="Hiragino Kaku Gothic ProN W3"/>
                          <a:cs typeface="Hiragino Kaku Gothic ProN W3"/>
                        </a:rPr>
                        <a:t>7</a:t>
                      </a:r>
                      <a:r>
                        <a:rPr sz="1500" b="0" dirty="0">
                          <a:solidFill>
                            <a:srgbClr val="282629"/>
                          </a:solidFill>
                          <a:latin typeface="Hiragino Kaku Gothic ProN W3"/>
                          <a:ea typeface="Hiragino Kaku Gothic ProN W3"/>
                          <a:cs typeface="Hiragino Kaku Gothic ProN W3"/>
                        </a:rPr>
                        <a:t>時間</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3"/>
                  </a:ext>
                </a:extLst>
              </a:tr>
              <a:tr h="595313">
                <a:tc>
                  <a:txBody>
                    <a:bodyPr/>
                    <a:lstStyle/>
                    <a:p>
                      <a:pPr algn="ctr"/>
                      <a:r>
                        <a:rPr sz="1500" b="0">
                          <a:solidFill>
                            <a:srgbClr val="282629"/>
                          </a:solidFill>
                          <a:latin typeface="Hiragino Kaku Gothic ProN W3"/>
                          <a:ea typeface="Hiragino Kaku Gothic ProN W3"/>
                          <a:cs typeface="Hiragino Kaku Gothic ProN W3"/>
                        </a:rPr>
                        <a:t>Piでの実装・評価</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距離回路・計測処理、ログ・グラフ・資料作成</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lang="en-US" sz="1500" b="0" dirty="0">
                          <a:solidFill>
                            <a:srgbClr val="282629"/>
                          </a:solidFill>
                          <a:latin typeface="Hiragino Kaku Gothic ProN W3"/>
                          <a:ea typeface="Hiragino Kaku Gothic ProN W3"/>
                          <a:cs typeface="Hiragino Kaku Gothic ProN W3"/>
                        </a:rPr>
                        <a:t>8</a:t>
                      </a:r>
                      <a:r>
                        <a:rPr sz="1500" b="0" dirty="0">
                          <a:solidFill>
                            <a:srgbClr val="282629"/>
                          </a:solidFill>
                          <a:latin typeface="Hiragino Kaku Gothic ProN W3"/>
                          <a:ea typeface="Hiragino Kaku Gothic ProN W3"/>
                          <a:cs typeface="Hiragino Kaku Gothic ProN W3"/>
                        </a:rPr>
                        <a:t>時間30分</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4"/>
                  </a:ext>
                </a:extLst>
              </a:tr>
              <a:tr h="595313">
                <a:tc>
                  <a:txBody>
                    <a:bodyPr/>
                    <a:lstStyle/>
                    <a:p>
                      <a:pPr algn="ctr"/>
                      <a:r>
                        <a:rPr sz="1500" b="0">
                          <a:solidFill>
                            <a:srgbClr val="282629"/>
                          </a:solidFill>
                          <a:latin typeface="Hiragino Kaku Gothic ProN W3"/>
                          <a:ea typeface="Hiragino Kaku Gothic ProN W3"/>
                          <a:cs typeface="Hiragino Kaku Gothic ProN W3"/>
                        </a:rPr>
                        <a:t>輪講</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lang="ja-JP" altLang="en-US" sz="1500" b="0">
                          <a:solidFill>
                            <a:srgbClr val="282629"/>
                          </a:solidFill>
                          <a:latin typeface="Hiragino Kaku Gothic ProN W3"/>
                          <a:ea typeface="Hiragino Kaku Gothic ProN W3"/>
                          <a:cs typeface="Hiragino Kaku Gothic ProN W3"/>
                        </a:rPr>
                        <a:t>対象論文調査</a:t>
                      </a:r>
                      <a:r>
                        <a:rPr sz="1500" b="0" dirty="0">
                          <a:solidFill>
                            <a:srgbClr val="282629"/>
                          </a:solidFill>
                          <a:latin typeface="Hiragino Kaku Gothic ProN W3"/>
                          <a:ea typeface="Hiragino Kaku Gothic ProN W3"/>
                          <a:cs typeface="Hiragino Kaku Gothic ProN W3"/>
                        </a:rPr>
                        <a:t>、</a:t>
                      </a:r>
                      <a:r>
                        <a:rPr sz="1500" b="0" dirty="0" err="1">
                          <a:solidFill>
                            <a:srgbClr val="282629"/>
                          </a:solidFill>
                          <a:latin typeface="Hiragino Kaku Gothic ProN W3"/>
                          <a:ea typeface="Hiragino Kaku Gothic ProN W3"/>
                          <a:cs typeface="Hiragino Kaku Gothic ProN W3"/>
                        </a:rPr>
                        <a:t>説明資料の準備</a:t>
                      </a:r>
                      <a:endParaRPr sz="1500" b="0" dirty="0">
                        <a:solidFill>
                          <a:srgbClr val="282629"/>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lang="en-US" sz="1500" b="0" dirty="0">
                          <a:solidFill>
                            <a:srgbClr val="282629"/>
                          </a:solidFill>
                          <a:latin typeface="Hiragino Kaku Gothic ProN W3"/>
                          <a:ea typeface="Hiragino Kaku Gothic ProN W3"/>
                          <a:cs typeface="Hiragino Kaku Gothic ProN W3"/>
                        </a:rPr>
                        <a:t>5</a:t>
                      </a:r>
                      <a:r>
                        <a:rPr sz="1500" b="0" dirty="0">
                          <a:solidFill>
                            <a:srgbClr val="282629"/>
                          </a:solidFill>
                          <a:latin typeface="Hiragino Kaku Gothic ProN W3"/>
                          <a:ea typeface="Hiragino Kaku Gothic ProN W3"/>
                          <a:cs typeface="Hiragino Kaku Gothic ProN W3"/>
                        </a:rPr>
                        <a:t>時間30分</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スライド番号プレースホルダー 3">
            <a:extLst>
              <a:ext uri="{FF2B5EF4-FFF2-40B4-BE49-F238E27FC236}">
                <a16:creationId xmlns:a16="http://schemas.microsoft.com/office/drawing/2014/main" id="{519F63CC-D39D-5B24-FB10-8E75F8D79D93}"/>
              </a:ext>
            </a:extLst>
          </p:cNvPr>
          <p:cNvSpPr>
            <a:spLocks noGrp="1"/>
          </p:cNvSpPr>
          <p:nvPr>
            <p:ph type="sldNum" idx="12"/>
          </p:nvPr>
        </p:nvSpPr>
        <p:spPr/>
        <p:txBody>
          <a:bodyPr/>
          <a:lstStyle/>
          <a:p>
            <a:fld id="{C1FF6DA9-008F-8B48-92A6-B652298478BF}" type="slidenum">
              <a:rPr lang="en-US" altLang="ja-JP" smtClean="0"/>
              <a:t>2</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目次</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HyperNovaの秘匿化とPRの実装範囲を確認し、2方式のPi測定を示す</a:t>
            </a:r>
          </a:p>
        </p:txBody>
      </p:sp>
      <p:sp>
        <p:nvSpPr>
          <p:cNvPr id="7" name="正方形/長方形 6">
            <a:extLst>
              <a:ext uri="{FF2B5EF4-FFF2-40B4-BE49-F238E27FC236}">
                <a16:creationId xmlns:a16="http://schemas.microsoft.com/office/drawing/2014/main" id="{095D61A9-C4C5-4626-8A4D-F2EE733AABD5}"/>
              </a:ext>
            </a:extLst>
          </p:cNvPr>
          <p:cNvSpPr>
            <a:spLocks noGrp="1"/>
          </p:cNvSpPr>
          <p:nvPr/>
        </p:nvSpPr>
        <p:spPr>
          <a:xfrm>
            <a:off x="400050" y="1238250"/>
            <a:ext cx="8286750" cy="46672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作業時間とHyperNovaの理論</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作業時間の内訳／用語解説／数式とWitnessの秘匿</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blind回路／複数Proverでの検証と継続</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SonobeのPRと実現範囲</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論文の貢献とPR</a:t>
            </a:r>
            <a:r>
              <a:rPr sz="1600" b="0" dirty="0">
                <a:solidFill>
                  <a:srgbClr val="282629"/>
                </a:solidFill>
                <a:latin typeface="Hiragino Kaku Gothic ProN W3"/>
                <a:ea typeface="Hiragino Kaku Gothic ProN W3"/>
                <a:cs typeface="Hiragino Kaku Gothic ProN W3"/>
              </a:rPr>
              <a:t> #246の変更／旧ZK層との対応</a:t>
            </a: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実装・実行できたものと、未成立の要件</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Raspberry </a:t>
            </a:r>
            <a:r>
              <a:rPr sz="1700" b="1" dirty="0" err="1">
                <a:solidFill>
                  <a:srgbClr val="2F64A1"/>
                </a:solidFill>
                <a:latin typeface="Hiragino Kaku Gothic ProN W6"/>
                <a:ea typeface="Hiragino Kaku Gothic ProN W6"/>
                <a:cs typeface="Hiragino Kaku Gothic ProN W6"/>
              </a:rPr>
              <a:t>PiでのNova／HyperNova比較</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測定条件／平均時間の表とグラフ／step推移・最大メモリ</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まとめと今後</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今回の確認事項／Week25の比較と追加評価</a:t>
            </a:r>
          </a:p>
        </p:txBody>
      </p:sp>
      <p:sp>
        <p:nvSpPr>
          <p:cNvPr id="6" name="スライド番号プレースホルダー 5">
            <a:extLst>
              <a:ext uri="{FF2B5EF4-FFF2-40B4-BE49-F238E27FC236}">
                <a16:creationId xmlns:a16="http://schemas.microsoft.com/office/drawing/2014/main" id="{76E203B5-9541-E4DC-7850-071632A264E6}"/>
              </a:ext>
            </a:extLst>
          </p:cNvPr>
          <p:cNvSpPr>
            <a:spLocks noGrp="1"/>
          </p:cNvSpPr>
          <p:nvPr>
            <p:ph type="sldNum" idx="12"/>
          </p:nvPr>
        </p:nvSpPr>
        <p:spPr/>
        <p:txBody>
          <a:bodyPr/>
          <a:lstStyle/>
          <a:p>
            <a:fld id="{C1FF6DA9-008F-8B48-92A6-B652298478BF}" type="slidenum">
              <a:rPr lang="en-US" altLang="ja-JP" smtClean="0"/>
              <a:t>3</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ED31F-0EBF-CC71-0583-E0F0C07F4A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5BDA05-C6BA-2938-0E72-4BE8FBE09D87}"/>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95F1CABC-82A6-7059-A385-1CF02A2DCCBA}"/>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目次</a:t>
            </a:r>
          </a:p>
        </p:txBody>
      </p:sp>
      <p:sp>
        <p:nvSpPr>
          <p:cNvPr id="4" name="Rectangle 3">
            <a:extLst>
              <a:ext uri="{FF2B5EF4-FFF2-40B4-BE49-F238E27FC236}">
                <a16:creationId xmlns:a16="http://schemas.microsoft.com/office/drawing/2014/main" id="{D0FD6DD0-CE40-D618-7A17-88DD56F8203D}"/>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9930A4-6F34-23D5-E638-0B45E6FD9747}"/>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HyperNovaの秘匿化とPRの実装範囲を確認し、2方式のPi測定を示す</a:t>
            </a:r>
          </a:p>
        </p:txBody>
      </p:sp>
      <p:sp>
        <p:nvSpPr>
          <p:cNvPr id="7" name="正方形/長方形 6">
            <a:extLst>
              <a:ext uri="{FF2B5EF4-FFF2-40B4-BE49-F238E27FC236}">
                <a16:creationId xmlns:a16="http://schemas.microsoft.com/office/drawing/2014/main" id="{A43B83B5-AD27-951E-1F1A-3F7B0BF3786E}"/>
              </a:ext>
            </a:extLst>
          </p:cNvPr>
          <p:cNvSpPr>
            <a:spLocks noGrp="1"/>
          </p:cNvSpPr>
          <p:nvPr/>
        </p:nvSpPr>
        <p:spPr>
          <a:xfrm>
            <a:off x="400050" y="1238250"/>
            <a:ext cx="8286750" cy="46672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FF0000"/>
                </a:solidFill>
                <a:latin typeface="Hiragino Kaku Gothic ProN W6"/>
                <a:ea typeface="Hiragino Kaku Gothic ProN W6"/>
                <a:cs typeface="Hiragino Kaku Gothic ProN W6"/>
              </a:rPr>
              <a:t>■ </a:t>
            </a:r>
            <a:r>
              <a:rPr sz="1700" b="1" dirty="0" err="1">
                <a:solidFill>
                  <a:srgbClr val="FF0000"/>
                </a:solidFill>
                <a:latin typeface="Hiragino Kaku Gothic ProN W6"/>
                <a:ea typeface="Hiragino Kaku Gothic ProN W6"/>
                <a:cs typeface="Hiragino Kaku Gothic ProN W6"/>
              </a:rPr>
              <a:t>作業時間とHyperNovaの理論</a:t>
            </a:r>
            <a:endParaRPr sz="1700" b="1" dirty="0">
              <a:solidFill>
                <a:srgbClr val="FF0000"/>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作業時間の内訳／用語解説／数式とWitnessの秘匿</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blind回路／複数Proverでの検証と継続</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SonobeのPRと実現範囲</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論文の貢献とPR</a:t>
            </a:r>
            <a:r>
              <a:rPr sz="1600" b="0" dirty="0">
                <a:solidFill>
                  <a:srgbClr val="282629"/>
                </a:solidFill>
                <a:latin typeface="Hiragino Kaku Gothic ProN W3"/>
                <a:ea typeface="Hiragino Kaku Gothic ProN W3"/>
                <a:cs typeface="Hiragino Kaku Gothic ProN W3"/>
              </a:rPr>
              <a:t> #246の変更／旧ZK層との対応</a:t>
            </a: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実装・実行できたものと、未成立の要件</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Raspberry </a:t>
            </a:r>
            <a:r>
              <a:rPr sz="1700" b="1" dirty="0" err="1">
                <a:solidFill>
                  <a:srgbClr val="2F64A1"/>
                </a:solidFill>
                <a:latin typeface="Hiragino Kaku Gothic ProN W6"/>
                <a:ea typeface="Hiragino Kaku Gothic ProN W6"/>
                <a:cs typeface="Hiragino Kaku Gothic ProN W6"/>
              </a:rPr>
              <a:t>PiでのNova／HyperNova比較</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測定条件／平均時間の表とグラフ／step推移・最大メモリ</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まとめと今後</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今回の確認事項／Week25の比較と追加評価</a:t>
            </a:r>
          </a:p>
        </p:txBody>
      </p:sp>
      <p:sp>
        <p:nvSpPr>
          <p:cNvPr id="6" name="スライド番号プレースホルダー 5">
            <a:extLst>
              <a:ext uri="{FF2B5EF4-FFF2-40B4-BE49-F238E27FC236}">
                <a16:creationId xmlns:a16="http://schemas.microsoft.com/office/drawing/2014/main" id="{645CBF2E-0F9F-1AB6-FB94-B30B7F40E8D2}"/>
              </a:ext>
            </a:extLst>
          </p:cNvPr>
          <p:cNvSpPr>
            <a:spLocks noGrp="1"/>
          </p:cNvSpPr>
          <p:nvPr>
            <p:ph type="sldNum" idx="12"/>
          </p:nvPr>
        </p:nvSpPr>
        <p:spPr/>
        <p:txBody>
          <a:bodyPr/>
          <a:lstStyle/>
          <a:p>
            <a:fld id="{C1FF6DA9-008F-8B48-92A6-B652298478BF}" type="slidenum">
              <a:rPr lang="en-US" altLang="ja-JP" smtClean="0"/>
              <a:t>4</a:t>
            </a:fld>
            <a:endParaRPr lang="ja-JP" altLang="en-US"/>
          </a:p>
        </p:txBody>
      </p:sp>
    </p:spTree>
    <p:extLst>
      <p:ext uri="{BB962C8B-B14F-4D97-AF65-F5344CB8AC3E}">
        <p14:creationId xmlns:p14="http://schemas.microsoft.com/office/powerpoint/2010/main" val="4081737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dirty="0"/>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lang="en-US" altLang="ja-JP" spc="300" dirty="0" err="1"/>
              <a:t>HyperNova</a:t>
            </a:r>
            <a:r>
              <a:rPr lang="ja-JP" altLang="en-US" spc="300" dirty="0"/>
              <a:t>の調査・実装</a:t>
            </a:r>
            <a:endParaRPr sz="2600" b="1" spc="300" dirty="0">
              <a:solidFill>
                <a:srgbClr val="282629"/>
              </a:solidFill>
              <a:latin typeface="Hiragino Kaku Gothic ProN W6"/>
              <a:ea typeface="Hiragino Kaku Gothic ProN W6"/>
              <a:cs typeface="Hiragino Kaku Gothic ProN W6"/>
            </a:endParaRP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前の人のWitnessを渡さず、計算の正しさを検証・継続したい</a:t>
            </a:r>
          </a:p>
        </p:txBody>
      </p:sp>
      <p:sp>
        <p:nvSpPr>
          <p:cNvPr id="7" name="正方形/長方形 6">
            <a:extLst>
              <a:ext uri="{FF2B5EF4-FFF2-40B4-BE49-F238E27FC236}">
                <a16:creationId xmlns:a16="http://schemas.microsoft.com/office/drawing/2014/main" id="{C366706F-839C-46D3-B302-CB9C01B6A09B}"/>
              </a:ext>
            </a:extLst>
          </p:cNvPr>
          <p:cNvSpPr>
            <a:spLocks noGrp="1"/>
          </p:cNvSpPr>
          <p:nvPr/>
        </p:nvSpPr>
        <p:spPr>
          <a:xfrm>
            <a:off x="400050" y="1238250"/>
            <a:ext cx="8286750" cy="46672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2000" b="1" dirty="0">
                <a:solidFill>
                  <a:srgbClr val="2F64A1"/>
                </a:solidFill>
                <a:latin typeface="Hiragino Kaku Gothic ProN W6"/>
                <a:ea typeface="Hiragino Kaku Gothic ProN W6"/>
                <a:cs typeface="Hiragino Kaku Gothic ProN W6"/>
              </a:rPr>
              <a:t>■ </a:t>
            </a:r>
            <a:r>
              <a:rPr sz="2000" b="1" dirty="0" err="1">
                <a:solidFill>
                  <a:srgbClr val="2F64A1"/>
                </a:solidFill>
                <a:latin typeface="Hiragino Kaku Gothic ProN W6"/>
                <a:ea typeface="Hiragino Kaku Gothic ProN W6"/>
                <a:cs typeface="Hiragino Kaku Gothic ProN W6"/>
              </a:rPr>
              <a:t>想定する引継ぎ</a:t>
            </a:r>
            <a:endParaRPr sz="20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Aは観測Witness</a:t>
            </a:r>
            <a:r>
              <a:rPr sz="2000" b="0" dirty="0">
                <a:solidFill>
                  <a:srgbClr val="282629"/>
                </a:solidFill>
                <a:latin typeface="Hiragino Kaku Gothic ProN W3"/>
                <a:ea typeface="Hiragino Kaku Gothic ProN W3"/>
                <a:cs typeface="Hiragino Kaku Gothic ProN W3"/>
              </a:rPr>
              <a:t> </a:t>
            </a:r>
            <a:r>
              <a:rPr sz="2000" b="0" dirty="0" err="1">
                <a:solidFill>
                  <a:srgbClr val="282629"/>
                </a:solidFill>
                <a:latin typeface="Hiragino Kaku Gothic ProN W3"/>
                <a:ea typeface="Hiragino Kaku Gothic ProN W3"/>
                <a:cs typeface="Hiragino Kaku Gothic ProN W3"/>
              </a:rPr>
              <a:t>w_A、Bは別のWitness</a:t>
            </a:r>
            <a:r>
              <a:rPr sz="2000" b="0" dirty="0">
                <a:solidFill>
                  <a:srgbClr val="282629"/>
                </a:solidFill>
                <a:latin typeface="Hiragino Kaku Gothic ProN W3"/>
                <a:ea typeface="Hiragino Kaku Gothic ProN W3"/>
                <a:cs typeface="Hiragino Kaku Gothic ProN W3"/>
              </a:rPr>
              <a:t> </a:t>
            </a:r>
            <a:r>
              <a:rPr sz="2000" b="0" dirty="0" err="1">
                <a:solidFill>
                  <a:srgbClr val="282629"/>
                </a:solidFill>
                <a:latin typeface="Hiragino Kaku Gothic ProN W3"/>
                <a:ea typeface="Hiragino Kaku Gothic ProN W3"/>
                <a:cs typeface="Hiragino Kaku Gothic ProN W3"/>
              </a:rPr>
              <a:t>w_Bを持つ</a:t>
            </a:r>
            <a:endParaRPr sz="20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Bが受け取るものから、Aの元Witnessが分からないことを求める</a:t>
            </a:r>
            <a:endParaRPr sz="20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endParaRPr lang="en-US" sz="2000" b="1" dirty="0">
              <a:solidFill>
                <a:srgbClr val="2F64A1"/>
              </a:solidFill>
              <a:latin typeface="Hiragino Kaku Gothic ProN W6"/>
              <a:ea typeface="Hiragino Kaku Gothic ProN W6"/>
              <a:cs typeface="Hiragino Kaku Gothic ProN W6"/>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2000" b="1" dirty="0">
                <a:solidFill>
                  <a:srgbClr val="2F64A1"/>
                </a:solidFill>
                <a:latin typeface="Hiragino Kaku Gothic ProN W6"/>
                <a:ea typeface="Hiragino Kaku Gothic ProN W6"/>
                <a:cs typeface="Hiragino Kaku Gothic ProN W6"/>
              </a:rPr>
              <a:t>■ </a:t>
            </a:r>
            <a:r>
              <a:rPr sz="2000" b="1" dirty="0" err="1">
                <a:solidFill>
                  <a:srgbClr val="2F64A1"/>
                </a:solidFill>
                <a:latin typeface="Hiragino Kaku Gothic ProN W6"/>
                <a:ea typeface="Hiragino Kaku Gothic ProN W6"/>
                <a:cs typeface="Hiragino Kaku Gothic ProN W6"/>
              </a:rPr>
              <a:t>論文で説明される秘匿化</a:t>
            </a:r>
            <a:endParaRPr sz="20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元のIVC状態をランダム化し、その正しい変換も検証する</a:t>
            </a:r>
            <a:endParaRPr sz="20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通常のMulti-Foldingだけで、複数人の秘密共有問題は解決しない</a:t>
            </a:r>
            <a:endParaRPr sz="20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endParaRPr lang="en-US" sz="2000" b="1" dirty="0">
              <a:solidFill>
                <a:srgbClr val="2F64A1"/>
              </a:solidFill>
              <a:latin typeface="Hiragino Kaku Gothic ProN W6"/>
              <a:ea typeface="Hiragino Kaku Gothic ProN W6"/>
              <a:cs typeface="Hiragino Kaku Gothic ProN W6"/>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2000" b="1" dirty="0">
                <a:solidFill>
                  <a:srgbClr val="2F64A1"/>
                </a:solidFill>
                <a:latin typeface="Hiragino Kaku Gothic ProN W6"/>
                <a:ea typeface="Hiragino Kaku Gothic ProN W6"/>
                <a:cs typeface="Hiragino Kaku Gothic ProN W6"/>
              </a:rPr>
              <a:t>■ </a:t>
            </a:r>
            <a:r>
              <a:rPr sz="2000" b="1" dirty="0" err="1">
                <a:solidFill>
                  <a:srgbClr val="2F64A1"/>
                </a:solidFill>
                <a:latin typeface="Hiragino Kaku Gothic ProN W6"/>
                <a:ea typeface="Hiragino Kaku Gothic ProN W6"/>
                <a:cs typeface="Hiragino Kaku Gothic ProN W6"/>
              </a:rPr>
              <a:t>今回照合する境界</a:t>
            </a:r>
            <a:endParaRPr sz="20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秘匿proofの検証と、別Proverによる次stepの生成を区別する</a:t>
            </a:r>
            <a:endParaRPr sz="20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1" dirty="0" err="1">
                <a:solidFill>
                  <a:srgbClr val="E02B2B"/>
                </a:solidFill>
                <a:latin typeface="Hiragino Kaku Gothic ProN W6"/>
                <a:ea typeface="Hiragino Kaku Gothic ProN W6"/>
                <a:cs typeface="Hiragino Kaku Gothic ProN W6"/>
              </a:rPr>
              <a:t>論文の構成が、そのままSonobeの継続APIにある</a:t>
            </a:r>
            <a:r>
              <a:rPr lang="ja-JP" altLang="en-US" sz="2000" b="1" dirty="0">
                <a:solidFill>
                  <a:srgbClr val="E02B2B"/>
                </a:solidFill>
                <a:latin typeface="Hiragino Kaku Gothic ProN W6"/>
                <a:ea typeface="Hiragino Kaku Gothic ProN W6"/>
                <a:cs typeface="Hiragino Kaku Gothic ProN W6"/>
              </a:rPr>
              <a:t>か？</a:t>
            </a:r>
            <a:endParaRPr lang="en-US" altLang="ja-JP" sz="2000" b="1" dirty="0">
              <a:solidFill>
                <a:srgbClr val="E02B2B"/>
              </a:solidFill>
              <a:latin typeface="Hiragino Kaku Gothic ProN W6"/>
              <a:ea typeface="Hiragino Kaku Gothic ProN W6"/>
              <a:cs typeface="Hiragino Kaku Gothic ProN W6"/>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endParaRPr sz="2000" b="1" dirty="0">
              <a:solidFill>
                <a:srgbClr val="E02B2B"/>
              </a:solidFill>
              <a:latin typeface="Hiragino Kaku Gothic ProN W6"/>
              <a:ea typeface="Hiragino Kaku Gothic ProN W6"/>
              <a:cs typeface="Hiragino Kaku Gothic ProN W6"/>
            </a:endParaRPr>
          </a:p>
        </p:txBody>
      </p:sp>
      <p:sp>
        <p:nvSpPr>
          <p:cNvPr id="6" name="スライド番号プレースホルダー 5">
            <a:extLst>
              <a:ext uri="{FF2B5EF4-FFF2-40B4-BE49-F238E27FC236}">
                <a16:creationId xmlns:a16="http://schemas.microsoft.com/office/drawing/2014/main" id="{69FADE42-8F8C-F9A6-305A-DC4B200FB600}"/>
              </a:ext>
            </a:extLst>
          </p:cNvPr>
          <p:cNvSpPr>
            <a:spLocks noGrp="1"/>
          </p:cNvSpPr>
          <p:nvPr>
            <p:ph type="sldNum" idx="12"/>
          </p:nvPr>
        </p:nvSpPr>
        <p:spPr/>
        <p:txBody>
          <a:bodyPr/>
          <a:lstStyle/>
          <a:p>
            <a:fld id="{C1FF6DA9-008F-8B48-92A6-B652298478BF}" type="slidenum">
              <a:rPr lang="en-US" altLang="ja-JP" smtClean="0"/>
              <a:t>5</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HyperNovaが扱うCCS</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① 計算が正しい条件を、CCSという数式で表す</a:t>
            </a:r>
          </a:p>
        </p:txBody>
      </p:sp>
      <p:sp>
        <p:nvSpPr>
          <p:cNvPr id="7" name="正方形/長方形 6">
            <a:extLst>
              <a:ext uri="{FF2B5EF4-FFF2-40B4-BE49-F238E27FC236}">
                <a16:creationId xmlns:a16="http://schemas.microsoft.com/office/drawing/2014/main" id="{2160DE85-3173-4978-8AFB-41DDE93E85E6}"/>
              </a:ext>
            </a:extLst>
          </p:cNvPr>
          <p:cNvSpPr>
            <a:spLocks noGrp="1"/>
          </p:cNvSpPr>
          <p:nvPr/>
        </p:nvSpPr>
        <p:spPr>
          <a:xfrm>
            <a:off x="400050" y="1343025"/>
            <a:ext cx="8096250" cy="361950"/>
          </a:xfrm>
          <a:prstGeom prst="rect">
            <a:avLst/>
          </a:prstGeom>
          <a:noFill/>
          <a:ln w="0">
            <a:noFill/>
          </a:ln>
        </p:spPr>
        <p:txBody>
          <a:bodyPr wrap="square" lIns="0" tIns="0" rIns="0" bIns="0" anchor="t">
            <a:noAutofit/>
          </a:bodyPr>
          <a:lstStyle>
            <a:defPPr>
              <a:defRPr sz="1700" b="1">
                <a:solidFill>
                  <a:srgbClr val="2F64A1"/>
                </a:solidFill>
                <a:latin typeface="Hiragino Kaku Gothic ProN W6"/>
                <a:ea typeface="Hiragino Kaku Gothic ProN W6"/>
                <a:cs typeface="Hiragino Kaku Gothic ProN W6"/>
              </a:defRPr>
            </a:defPPr>
            <a:lvl1pPr>
              <a:defRPr sz="1700" b="1">
                <a:solidFill>
                  <a:srgbClr val="2F64A1"/>
                </a:solidFill>
                <a:latin typeface="Hiragino Kaku Gothic ProN W6"/>
                <a:ea typeface="Hiragino Kaku Gothic ProN W6"/>
                <a:cs typeface="Hiragino Kaku Gothic ProN W6"/>
              </a:defRPr>
            </a:lvl1pPr>
            <a:lvl2pPr>
              <a:defRPr sz="1700" b="1">
                <a:solidFill>
                  <a:srgbClr val="2F64A1"/>
                </a:solidFill>
                <a:latin typeface="Hiragino Kaku Gothic ProN W6"/>
                <a:ea typeface="Hiragino Kaku Gothic ProN W6"/>
                <a:cs typeface="Hiragino Kaku Gothic ProN W6"/>
              </a:defRPr>
            </a:lvl2pPr>
            <a:lvl3pPr>
              <a:defRPr sz="1700" b="1">
                <a:solidFill>
                  <a:srgbClr val="2F64A1"/>
                </a:solidFill>
                <a:latin typeface="Hiragino Kaku Gothic ProN W6"/>
                <a:ea typeface="Hiragino Kaku Gothic ProN W6"/>
                <a:cs typeface="Hiragino Kaku Gothic ProN W6"/>
              </a:defRPr>
            </a:lvl3pPr>
            <a:lvl4pPr>
              <a:defRPr sz="1700" b="1">
                <a:solidFill>
                  <a:srgbClr val="2F64A1"/>
                </a:solidFill>
                <a:latin typeface="Hiragino Kaku Gothic ProN W6"/>
                <a:ea typeface="Hiragino Kaku Gothic ProN W6"/>
                <a:cs typeface="Hiragino Kaku Gothic ProN W6"/>
              </a:defRPr>
            </a:lvl4pPr>
            <a:lvl5pPr>
              <a:defRPr sz="1700" b="1">
                <a:solidFill>
                  <a:srgbClr val="2F64A1"/>
                </a:solidFill>
                <a:latin typeface="Hiragino Kaku Gothic ProN W6"/>
                <a:ea typeface="Hiragino Kaku Gothic ProN W6"/>
                <a:cs typeface="Hiragino Kaku Gothic ProN W6"/>
              </a:defRPr>
            </a:lvl5pPr>
            <a:lvl6pPr>
              <a:defRPr sz="1700" b="1">
                <a:solidFill>
                  <a:srgbClr val="2F64A1"/>
                </a:solidFill>
                <a:latin typeface="Hiragino Kaku Gothic ProN W6"/>
                <a:ea typeface="Hiragino Kaku Gothic ProN W6"/>
                <a:cs typeface="Hiragino Kaku Gothic ProN W6"/>
              </a:defRPr>
            </a:lvl6pPr>
            <a:lvl7pPr>
              <a:defRPr sz="1700" b="1">
                <a:solidFill>
                  <a:srgbClr val="2F64A1"/>
                </a:solidFill>
                <a:latin typeface="Hiragino Kaku Gothic ProN W6"/>
                <a:ea typeface="Hiragino Kaku Gothic ProN W6"/>
                <a:cs typeface="Hiragino Kaku Gothic ProN W6"/>
              </a:defRPr>
            </a:lvl7pPr>
            <a:lvl8pPr>
              <a:defRPr sz="1700" b="1">
                <a:solidFill>
                  <a:srgbClr val="2F64A1"/>
                </a:solidFill>
                <a:latin typeface="Hiragino Kaku Gothic ProN W6"/>
                <a:ea typeface="Hiragino Kaku Gothic ProN W6"/>
                <a:cs typeface="Hiragino Kaku Gothic ProN W6"/>
              </a:defRPr>
            </a:lvl8pPr>
            <a:lvl9pPr>
              <a:defRPr sz="1700" b="1">
                <a:solidFill>
                  <a:srgbClr val="2F64A1"/>
                </a:solidFill>
                <a:latin typeface="Hiragino Kaku Gothic ProN W6"/>
                <a:ea typeface="Hiragino Kaku Gothic ProN W6"/>
                <a:cs typeface="Hiragino Kaku Gothic ProN W6"/>
              </a:defRPr>
            </a:lvl9pPr>
          </a:lstStyle>
          <a:p>
            <a:pPr>
              <a:defRPr sz="1700" b="1">
                <a:solidFill>
                  <a:srgbClr val="2F64A1"/>
                </a:solidFill>
                <a:latin typeface="Hiragino Kaku Gothic ProN W6"/>
                <a:ea typeface="Hiragino Kaku Gothic ProN W6"/>
                <a:cs typeface="Hiragino Kaku Gothic ProN W6"/>
              </a:defRPr>
            </a:pPr>
            <a:r>
              <a:t>■ 計算を表すCCSの関係</a:t>
            </a:r>
          </a:p>
        </p:txBody>
      </p:sp>
      <p:sp>
        <p:nvSpPr>
          <p:cNvPr id="9" name="正方形/長方形 8">
            <a:extLst>
              <a:ext uri="{FF2B5EF4-FFF2-40B4-BE49-F238E27FC236}">
                <a16:creationId xmlns:a16="http://schemas.microsoft.com/office/drawing/2014/main" id="{64253F00-1355-4AF5-A26B-120C2400FD9C}"/>
              </a:ext>
            </a:extLst>
          </p:cNvPr>
          <p:cNvSpPr>
            <a:spLocks noGrp="1"/>
          </p:cNvSpPr>
          <p:nvPr/>
        </p:nvSpPr>
        <p:spPr>
          <a:xfrm>
            <a:off x="571500" y="2714625"/>
            <a:ext cx="8001000" cy="7810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r>
              <a:rPr lang="ja-JP" altLang="ja-JP"/>
              <a:t>Mⱼ：m×n の制約行列（𝔽上） </a:t>
            </a:r>
            <a:endParaRPr lang="en-US" altLang="ja-JP" dirty="0"/>
          </a:p>
          <a:p>
            <a:r>
              <a:rPr lang="ja-JP" altLang="ja-JP"/>
              <a:t>z：長さ n の割当てベクトル（Witness・公開入力・定数1） </a:t>
            </a:r>
            <a:endParaRPr lang="en-US" altLang="ja-JP" dirty="0"/>
          </a:p>
          <a:p>
            <a:r>
              <a:rPr lang="ja-JP" altLang="ja-JP"/>
              <a:t>cᵢ：各項の係数（𝔽の要素） </a:t>
            </a:r>
            <a:endParaRPr lang="en-US" altLang="ja-JP" dirty="0"/>
          </a:p>
          <a:p>
            <a:r>
              <a:rPr lang="ja-JP" altLang="ja-JP"/>
              <a:t>Sᵢ：使用する行列のインデックスの多重集合 </a:t>
            </a:r>
            <a:endParaRPr lang="en-US" altLang="ja-JP" dirty="0"/>
          </a:p>
          <a:p>
            <a:r>
              <a:rPr lang="ja-JP" altLang="ja-JP"/>
              <a:t>⊙：Hadamard積（要素ごとの積）</a:t>
            </a:r>
          </a:p>
        </p:txBody>
      </p:sp>
      <p:sp>
        <p:nvSpPr>
          <p:cNvPr id="10" name="正方形/長方形 9">
            <a:extLst>
              <a:ext uri="{FF2B5EF4-FFF2-40B4-BE49-F238E27FC236}">
                <a16:creationId xmlns:a16="http://schemas.microsoft.com/office/drawing/2014/main" id="{FEC97BC0-A9E4-48CC-B15E-959B1D8BCB51}"/>
              </a:ext>
            </a:extLst>
          </p:cNvPr>
          <p:cNvSpPr>
            <a:spLocks noGrp="1"/>
          </p:cNvSpPr>
          <p:nvPr/>
        </p:nvSpPr>
        <p:spPr>
          <a:xfrm>
            <a:off x="396000" y="4264025"/>
            <a:ext cx="8286750" cy="22860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式</a:t>
            </a:r>
            <a:r>
              <a:rPr lang="ja-JP" altLang="en-US" sz="1700" b="1" dirty="0">
                <a:solidFill>
                  <a:srgbClr val="2F64A1"/>
                </a:solidFill>
                <a:latin typeface="Hiragino Kaku Gothic ProN W6"/>
                <a:ea typeface="Hiragino Kaku Gothic ProN W6"/>
                <a:cs typeface="Hiragino Kaku Gothic ProN W6"/>
              </a:rPr>
              <a:t>の内容</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入力・途中結果を入れて、計算の条件がすべて成立するか</a:t>
            </a:r>
            <a:endParaRPr lang="en-US" dirty="0"/>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ja-JP" altLang="en-US" sz="1600" b="0" dirty="0">
                <a:solidFill>
                  <a:srgbClr val="282629"/>
                </a:solidFill>
                <a:latin typeface="Hiragino Kaku Gothic ProN W3"/>
                <a:ea typeface="Hiragino Kaku Gothic ProN W3"/>
                <a:cs typeface="Hiragino Kaku Gothic ProN W3"/>
              </a:rPr>
              <a:t>これを使う意味：</a:t>
            </a:r>
            <a:r>
              <a:rPr lang="en-US" sz="1600" b="0" dirty="0">
                <a:solidFill>
                  <a:srgbClr val="282629"/>
                </a:solidFill>
                <a:latin typeface="Hiragino Kaku Gothic ProN W3"/>
                <a:ea typeface="Hiragino Kaku Gothic ProN W3"/>
                <a:cs typeface="Hiragino Kaku Gothic ProN W3"/>
              </a:rPr>
              <a:t>R1CS</a:t>
            </a:r>
            <a:r>
              <a:rPr lang="ja-JP" altLang="en-US" sz="1600" b="0" dirty="0">
                <a:solidFill>
                  <a:srgbClr val="282629"/>
                </a:solidFill>
                <a:latin typeface="Hiragino Kaku Gothic ProN W3"/>
                <a:ea typeface="Hiragino Kaku Gothic ProN W3"/>
                <a:cs typeface="Hiragino Kaku Gothic ProN W3"/>
              </a:rPr>
              <a:t>などの他の制約を表現</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ja-JP" altLang="en-US" dirty="0"/>
              <a:t>今回の実装：</a:t>
            </a:r>
            <a:br>
              <a:rPr lang="en-US" altLang="ja-JP" dirty="0"/>
            </a:br>
            <a:r>
              <a:rPr lang="ja-JP" altLang="en-US" dirty="0"/>
              <a:t>ユークリッド</a:t>
            </a:r>
            <a:r>
              <a:rPr sz="1600" b="0" dirty="0">
                <a:solidFill>
                  <a:srgbClr val="282629"/>
                </a:solidFill>
                <a:latin typeface="Hiragino Kaku Gothic ProN W3"/>
                <a:ea typeface="Hiragino Kaku Gothic ProN W3"/>
                <a:cs typeface="Hiragino Kaku Gothic ProN W3"/>
              </a:rPr>
              <a:t>距離なら、d²と座標差の2乗の和が一致することを確かめ</a:t>
            </a:r>
            <a:r>
              <a:rPr lang="ja-JP" altLang="en-US" sz="1600" b="0" dirty="0">
                <a:solidFill>
                  <a:srgbClr val="282629"/>
                </a:solidFill>
                <a:latin typeface="Hiragino Kaku Gothic ProN W3"/>
                <a:ea typeface="Hiragino Kaku Gothic ProN W3"/>
                <a:cs typeface="Hiragino Kaku Gothic ProN W3"/>
              </a:rPr>
              <a:t>る</a:t>
            </a:r>
            <a:endParaRPr sz="1600" b="0" dirty="0">
              <a:solidFill>
                <a:srgbClr val="282629"/>
              </a:solidFill>
              <a:latin typeface="Hiragino Kaku Gothic ProN W3"/>
              <a:ea typeface="Hiragino Kaku Gothic ProN W3"/>
              <a:cs typeface="Hiragino Kaku Gothic ProN W3"/>
            </a:endParaRPr>
          </a:p>
        </p:txBody>
      </p:sp>
      <p:pic>
        <p:nvPicPr>
          <p:cNvPr id="6" name="図 5">
            <a:extLst>
              <a:ext uri="{FF2B5EF4-FFF2-40B4-BE49-F238E27FC236}">
                <a16:creationId xmlns:a16="http://schemas.microsoft.com/office/drawing/2014/main" id="{989A3E3E-9C9A-1466-BC4C-A9677AD965BA}"/>
              </a:ext>
            </a:extLst>
          </p:cNvPr>
          <p:cNvPicPr>
            <a:picLocks noChangeAspect="1"/>
          </p:cNvPicPr>
          <p:nvPr/>
        </p:nvPicPr>
        <p:blipFill>
          <a:blip r:embed="rId3"/>
          <a:stretch>
            <a:fillRect/>
          </a:stretch>
        </p:blipFill>
        <p:spPr>
          <a:xfrm>
            <a:off x="1744132" y="1737004"/>
            <a:ext cx="2078567" cy="771081"/>
          </a:xfrm>
          <a:prstGeom prst="rect">
            <a:avLst/>
          </a:prstGeom>
        </p:spPr>
      </p:pic>
      <p:sp>
        <p:nvSpPr>
          <p:cNvPr id="8" name="スライド番号プレースホルダー 7">
            <a:extLst>
              <a:ext uri="{FF2B5EF4-FFF2-40B4-BE49-F238E27FC236}">
                <a16:creationId xmlns:a16="http://schemas.microsoft.com/office/drawing/2014/main" id="{F495D455-23CE-7331-0CB9-0FA104CCF48B}"/>
              </a:ext>
            </a:extLst>
          </p:cNvPr>
          <p:cNvSpPr>
            <a:spLocks noGrp="1"/>
          </p:cNvSpPr>
          <p:nvPr>
            <p:ph type="sldNum" idx="12"/>
          </p:nvPr>
        </p:nvSpPr>
        <p:spPr/>
        <p:txBody>
          <a:bodyPr/>
          <a:lstStyle/>
          <a:p>
            <a:fld id="{C1FF6DA9-008F-8B48-92A6-B652298478BF}" type="slidenum">
              <a:rPr lang="en-US" altLang="ja-JP" smtClean="0"/>
              <a:t>6</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HyperNovaが扱うCCS</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② 条件の式を残したまま、累積用の評価値を追加する</a:t>
            </a:r>
          </a:p>
        </p:txBody>
      </p:sp>
      <p:sp>
        <p:nvSpPr>
          <p:cNvPr id="7" name="正方形/長方形 6">
            <a:extLst>
              <a:ext uri="{FF2B5EF4-FFF2-40B4-BE49-F238E27FC236}">
                <a16:creationId xmlns:a16="http://schemas.microsoft.com/office/drawing/2014/main" id="{9C292531-ED8A-4F52-9891-B8B404D61649}"/>
              </a:ext>
            </a:extLst>
          </p:cNvPr>
          <p:cNvSpPr>
            <a:spLocks noGrp="1"/>
          </p:cNvSpPr>
          <p:nvPr/>
        </p:nvSpPr>
        <p:spPr>
          <a:xfrm>
            <a:off x="400050" y="1343025"/>
            <a:ext cx="8096250" cy="361950"/>
          </a:xfrm>
          <a:prstGeom prst="rect">
            <a:avLst/>
          </a:prstGeom>
          <a:noFill/>
          <a:ln w="0">
            <a:noFill/>
          </a:ln>
        </p:spPr>
        <p:txBody>
          <a:bodyPr wrap="square" lIns="0" tIns="0" rIns="0" bIns="0" anchor="t">
            <a:noAutofit/>
          </a:bodyPr>
          <a:lstStyle>
            <a:defPPr>
              <a:defRPr sz="1700" b="1">
                <a:solidFill>
                  <a:srgbClr val="2F64A1"/>
                </a:solidFill>
                <a:latin typeface="Hiragino Kaku Gothic ProN W6"/>
                <a:ea typeface="Hiragino Kaku Gothic ProN W6"/>
                <a:cs typeface="Hiragino Kaku Gothic ProN W6"/>
              </a:defRPr>
            </a:defPPr>
            <a:lvl1pPr>
              <a:defRPr sz="1700" b="1">
                <a:solidFill>
                  <a:srgbClr val="2F64A1"/>
                </a:solidFill>
                <a:latin typeface="Hiragino Kaku Gothic ProN W6"/>
                <a:ea typeface="Hiragino Kaku Gothic ProN W6"/>
                <a:cs typeface="Hiragino Kaku Gothic ProN W6"/>
              </a:defRPr>
            </a:lvl1pPr>
            <a:lvl2pPr>
              <a:defRPr sz="1700" b="1">
                <a:solidFill>
                  <a:srgbClr val="2F64A1"/>
                </a:solidFill>
                <a:latin typeface="Hiragino Kaku Gothic ProN W6"/>
                <a:ea typeface="Hiragino Kaku Gothic ProN W6"/>
                <a:cs typeface="Hiragino Kaku Gothic ProN W6"/>
              </a:defRPr>
            </a:lvl2pPr>
            <a:lvl3pPr>
              <a:defRPr sz="1700" b="1">
                <a:solidFill>
                  <a:srgbClr val="2F64A1"/>
                </a:solidFill>
                <a:latin typeface="Hiragino Kaku Gothic ProN W6"/>
                <a:ea typeface="Hiragino Kaku Gothic ProN W6"/>
                <a:cs typeface="Hiragino Kaku Gothic ProN W6"/>
              </a:defRPr>
            </a:lvl3pPr>
            <a:lvl4pPr>
              <a:defRPr sz="1700" b="1">
                <a:solidFill>
                  <a:srgbClr val="2F64A1"/>
                </a:solidFill>
                <a:latin typeface="Hiragino Kaku Gothic ProN W6"/>
                <a:ea typeface="Hiragino Kaku Gothic ProN W6"/>
                <a:cs typeface="Hiragino Kaku Gothic ProN W6"/>
              </a:defRPr>
            </a:lvl4pPr>
            <a:lvl5pPr>
              <a:defRPr sz="1700" b="1">
                <a:solidFill>
                  <a:srgbClr val="2F64A1"/>
                </a:solidFill>
                <a:latin typeface="Hiragino Kaku Gothic ProN W6"/>
                <a:ea typeface="Hiragino Kaku Gothic ProN W6"/>
                <a:cs typeface="Hiragino Kaku Gothic ProN W6"/>
              </a:defRPr>
            </a:lvl5pPr>
            <a:lvl6pPr>
              <a:defRPr sz="1700" b="1">
                <a:solidFill>
                  <a:srgbClr val="2F64A1"/>
                </a:solidFill>
                <a:latin typeface="Hiragino Kaku Gothic ProN W6"/>
                <a:ea typeface="Hiragino Kaku Gothic ProN W6"/>
                <a:cs typeface="Hiragino Kaku Gothic ProN W6"/>
              </a:defRPr>
            </a:lvl6pPr>
            <a:lvl7pPr>
              <a:defRPr sz="1700" b="1">
                <a:solidFill>
                  <a:srgbClr val="2F64A1"/>
                </a:solidFill>
                <a:latin typeface="Hiragino Kaku Gothic ProN W6"/>
                <a:ea typeface="Hiragino Kaku Gothic ProN W6"/>
                <a:cs typeface="Hiragino Kaku Gothic ProN W6"/>
              </a:defRPr>
            </a:lvl7pPr>
            <a:lvl8pPr>
              <a:defRPr sz="1700" b="1">
                <a:solidFill>
                  <a:srgbClr val="2F64A1"/>
                </a:solidFill>
                <a:latin typeface="Hiragino Kaku Gothic ProN W6"/>
                <a:ea typeface="Hiragino Kaku Gothic ProN W6"/>
                <a:cs typeface="Hiragino Kaku Gothic ProN W6"/>
              </a:defRPr>
            </a:lvl8pPr>
            <a:lvl9pPr>
              <a:defRPr sz="1700" b="1">
                <a:solidFill>
                  <a:srgbClr val="2F64A1"/>
                </a:solidFill>
                <a:latin typeface="Hiragino Kaku Gothic ProN W6"/>
                <a:ea typeface="Hiragino Kaku Gothic ProN W6"/>
                <a:cs typeface="Hiragino Kaku Gothic ProN W6"/>
              </a:defRPr>
            </a:lvl9pPr>
          </a:lstStyle>
          <a:p>
            <a:pPr>
              <a:defRPr sz="1700" b="1">
                <a:solidFill>
                  <a:srgbClr val="2F64A1"/>
                </a:solidFill>
                <a:latin typeface="Hiragino Kaku Gothic ProN W6"/>
                <a:ea typeface="Hiragino Kaku Gothic ProN W6"/>
                <a:cs typeface="Hiragino Kaku Gothic ProN W6"/>
              </a:defRPr>
            </a:pPr>
            <a:r>
              <a:t>■ 計算を表すCCSの関係</a:t>
            </a:r>
          </a:p>
        </p:txBody>
      </p:sp>
      <p:sp>
        <p:nvSpPr>
          <p:cNvPr id="9" name="正方形/長方形 8">
            <a:extLst>
              <a:ext uri="{FF2B5EF4-FFF2-40B4-BE49-F238E27FC236}">
                <a16:creationId xmlns:a16="http://schemas.microsoft.com/office/drawing/2014/main" id="{7F11FE26-AA26-436B-8CFC-348FFD482798}"/>
              </a:ext>
            </a:extLst>
          </p:cNvPr>
          <p:cNvSpPr>
            <a:spLocks noGrp="1"/>
          </p:cNvSpPr>
          <p:nvPr/>
        </p:nvSpPr>
        <p:spPr>
          <a:xfrm>
            <a:off x="571500" y="2714625"/>
            <a:ext cx="8001000" cy="7810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defRPr sz="1600" b="0">
                <a:solidFill>
                  <a:srgbClr val="282629"/>
                </a:solidFill>
                <a:latin typeface="Hiragino Kaku Gothic ProN W3"/>
                <a:ea typeface="Hiragino Kaku Gothic ProN W3"/>
                <a:cs typeface="Hiragino Kaku Gothic ProN W3"/>
              </a:defRPr>
            </a:pPr>
            <a:r>
              <a:t>z：公開値と秘密Witness　Mⱼ：条件の行列　cᵢ：係数</a:t>
            </a:r>
          </a:p>
          <a:p>
            <a:pPr>
              <a:defRPr sz="1600" b="0">
                <a:solidFill>
                  <a:srgbClr val="282629"/>
                </a:solidFill>
                <a:latin typeface="Hiragino Kaku Gothic ProN W3"/>
                <a:ea typeface="Hiragino Kaku Gothic ProN W3"/>
                <a:cs typeface="Hiragino Kaku Gothic ProN W3"/>
              </a:defRPr>
            </a:pPr>
            <a:r>
              <a:t>Sᵢ：掛ける項の組　⊙：同じ位置の値を掛ける記号</a:t>
            </a:r>
          </a:p>
        </p:txBody>
      </p:sp>
      <p:sp>
        <p:nvSpPr>
          <p:cNvPr id="10" name="正方形/長方形 9">
            <a:extLst>
              <a:ext uri="{FF2B5EF4-FFF2-40B4-BE49-F238E27FC236}">
                <a16:creationId xmlns:a16="http://schemas.microsoft.com/office/drawing/2014/main" id="{4FD16D86-FACD-4214-BEED-DACDD359EA12}"/>
              </a:ext>
            </a:extLst>
          </p:cNvPr>
          <p:cNvSpPr>
            <a:spLocks noGrp="1"/>
          </p:cNvSpPr>
          <p:nvPr/>
        </p:nvSpPr>
        <p:spPr>
          <a:xfrm>
            <a:off x="400050" y="3781425"/>
            <a:ext cx="8096250" cy="361950"/>
          </a:xfrm>
          <a:prstGeom prst="rect">
            <a:avLst/>
          </a:prstGeom>
          <a:noFill/>
          <a:ln w="0">
            <a:noFill/>
          </a:ln>
        </p:spPr>
        <p:txBody>
          <a:bodyPr wrap="square" lIns="0" tIns="0" rIns="0" bIns="0" anchor="t">
            <a:noAutofit/>
          </a:bodyPr>
          <a:lstStyle>
            <a:defPPr>
              <a:defRPr sz="1700" b="1">
                <a:solidFill>
                  <a:srgbClr val="2F64A1"/>
                </a:solidFill>
                <a:latin typeface="Hiragino Kaku Gothic ProN W6"/>
                <a:ea typeface="Hiragino Kaku Gothic ProN W6"/>
                <a:cs typeface="Hiragino Kaku Gothic ProN W6"/>
              </a:defRPr>
            </a:defPPr>
            <a:lvl1pPr>
              <a:defRPr sz="1700" b="1">
                <a:solidFill>
                  <a:srgbClr val="2F64A1"/>
                </a:solidFill>
                <a:latin typeface="Hiragino Kaku Gothic ProN W6"/>
                <a:ea typeface="Hiragino Kaku Gothic ProN W6"/>
                <a:cs typeface="Hiragino Kaku Gothic ProN W6"/>
              </a:defRPr>
            </a:lvl1pPr>
            <a:lvl2pPr>
              <a:defRPr sz="1700" b="1">
                <a:solidFill>
                  <a:srgbClr val="2F64A1"/>
                </a:solidFill>
                <a:latin typeface="Hiragino Kaku Gothic ProN W6"/>
                <a:ea typeface="Hiragino Kaku Gothic ProN W6"/>
                <a:cs typeface="Hiragino Kaku Gothic ProN W6"/>
              </a:defRPr>
            </a:lvl2pPr>
            <a:lvl3pPr>
              <a:defRPr sz="1700" b="1">
                <a:solidFill>
                  <a:srgbClr val="2F64A1"/>
                </a:solidFill>
                <a:latin typeface="Hiragino Kaku Gothic ProN W6"/>
                <a:ea typeface="Hiragino Kaku Gothic ProN W6"/>
                <a:cs typeface="Hiragino Kaku Gothic ProN W6"/>
              </a:defRPr>
            </a:lvl3pPr>
            <a:lvl4pPr>
              <a:defRPr sz="1700" b="1">
                <a:solidFill>
                  <a:srgbClr val="2F64A1"/>
                </a:solidFill>
                <a:latin typeface="Hiragino Kaku Gothic ProN W6"/>
                <a:ea typeface="Hiragino Kaku Gothic ProN W6"/>
                <a:cs typeface="Hiragino Kaku Gothic ProN W6"/>
              </a:defRPr>
            </a:lvl4pPr>
            <a:lvl5pPr>
              <a:defRPr sz="1700" b="1">
                <a:solidFill>
                  <a:srgbClr val="2F64A1"/>
                </a:solidFill>
                <a:latin typeface="Hiragino Kaku Gothic ProN W6"/>
                <a:ea typeface="Hiragino Kaku Gothic ProN W6"/>
                <a:cs typeface="Hiragino Kaku Gothic ProN W6"/>
              </a:defRPr>
            </a:lvl5pPr>
            <a:lvl6pPr>
              <a:defRPr sz="1700" b="1">
                <a:solidFill>
                  <a:srgbClr val="2F64A1"/>
                </a:solidFill>
                <a:latin typeface="Hiragino Kaku Gothic ProN W6"/>
                <a:ea typeface="Hiragino Kaku Gothic ProN W6"/>
                <a:cs typeface="Hiragino Kaku Gothic ProN W6"/>
              </a:defRPr>
            </a:lvl6pPr>
            <a:lvl7pPr>
              <a:defRPr sz="1700" b="1">
                <a:solidFill>
                  <a:srgbClr val="2F64A1"/>
                </a:solidFill>
                <a:latin typeface="Hiragino Kaku Gothic ProN W6"/>
                <a:ea typeface="Hiragino Kaku Gothic ProN W6"/>
                <a:cs typeface="Hiragino Kaku Gothic ProN W6"/>
              </a:defRPr>
            </a:lvl7pPr>
            <a:lvl8pPr>
              <a:defRPr sz="1700" b="1">
                <a:solidFill>
                  <a:srgbClr val="2F64A1"/>
                </a:solidFill>
                <a:latin typeface="Hiragino Kaku Gothic ProN W6"/>
                <a:ea typeface="Hiragino Kaku Gothic ProN W6"/>
                <a:cs typeface="Hiragino Kaku Gothic ProN W6"/>
              </a:defRPr>
            </a:lvl8pPr>
            <a:lvl9pPr>
              <a:defRPr sz="1700" b="1">
                <a:solidFill>
                  <a:srgbClr val="2F64A1"/>
                </a:solidFill>
                <a:latin typeface="Hiragino Kaku Gothic ProN W6"/>
                <a:ea typeface="Hiragino Kaku Gothic ProN W6"/>
                <a:cs typeface="Hiragino Kaku Gothic ProN W6"/>
              </a:defRPr>
            </a:lvl9pPr>
          </a:lstStyle>
          <a:p>
            <a:pPr>
              <a:defRPr sz="1700" b="1">
                <a:solidFill>
                  <a:srgbClr val="2F64A1"/>
                </a:solidFill>
                <a:latin typeface="Hiragino Kaku Gothic ProN W6"/>
                <a:ea typeface="Hiragino Kaku Gothic ProN W6"/>
                <a:cs typeface="Hiragino Kaku Gothic ProN W6"/>
              </a:defRPr>
            </a:pPr>
            <a:r>
              <a:t>■ 累積用の評価値（LCCCS）</a:t>
            </a:r>
          </a:p>
        </p:txBody>
      </p:sp>
      <p:sp>
        <p:nvSpPr>
          <p:cNvPr id="12" name="正方形/長方形 11">
            <a:extLst>
              <a:ext uri="{FF2B5EF4-FFF2-40B4-BE49-F238E27FC236}">
                <a16:creationId xmlns:a16="http://schemas.microsoft.com/office/drawing/2014/main" id="{769E6DF0-7D68-4FD2-A25D-A880DD93E9C3}"/>
              </a:ext>
            </a:extLst>
          </p:cNvPr>
          <p:cNvSpPr>
            <a:spLocks noGrp="1"/>
          </p:cNvSpPr>
          <p:nvPr/>
        </p:nvSpPr>
        <p:spPr>
          <a:xfrm>
            <a:off x="400050" y="5334000"/>
            <a:ext cx="8286750" cy="10287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a:solidFill>
                  <a:srgbClr val="282629"/>
                </a:solidFill>
                <a:latin typeface="Hiragino Kaku Gothic ProN W3"/>
                <a:ea typeface="Hiragino Kaku Gothic ProN W3"/>
                <a:cs typeface="Hiragino Kaku Gothic ProN W3"/>
              </a:rPr>
              <a:t>条件の値を多項式Pに表し、検査用の点rₓで評価した値をvに持つ</a:t>
            </a: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a:solidFill>
                  <a:srgbClr val="282629"/>
                </a:solidFill>
                <a:latin typeface="Hiragino Kaku Gothic ProN W3"/>
                <a:ea typeface="Hiragino Kaku Gothic ProN W3"/>
                <a:cs typeface="Hiragino Kaku Gothic ProN W3"/>
              </a:rPr>
              <a:t>SumCheckなどで元の条件と結び付け、次のFoldingへ渡す</a:t>
            </a:r>
          </a:p>
        </p:txBody>
      </p:sp>
      <p:pic>
        <p:nvPicPr>
          <p:cNvPr id="6" name="図 5">
            <a:extLst>
              <a:ext uri="{FF2B5EF4-FFF2-40B4-BE49-F238E27FC236}">
                <a16:creationId xmlns:a16="http://schemas.microsoft.com/office/drawing/2014/main" id="{B1018602-039C-B320-98AC-249E9778CEF2}"/>
              </a:ext>
            </a:extLst>
          </p:cNvPr>
          <p:cNvPicPr>
            <a:picLocks noChangeAspect="1"/>
          </p:cNvPicPr>
          <p:nvPr/>
        </p:nvPicPr>
        <p:blipFill>
          <a:blip r:embed="rId3"/>
          <a:stretch>
            <a:fillRect/>
          </a:stretch>
        </p:blipFill>
        <p:spPr>
          <a:xfrm>
            <a:off x="1744132" y="1737004"/>
            <a:ext cx="2078567" cy="771081"/>
          </a:xfrm>
          <a:prstGeom prst="rect">
            <a:avLst/>
          </a:prstGeom>
        </p:spPr>
      </p:pic>
      <p:sp>
        <p:nvSpPr>
          <p:cNvPr id="8" name="スライド番号プレースホルダー 7">
            <a:extLst>
              <a:ext uri="{FF2B5EF4-FFF2-40B4-BE49-F238E27FC236}">
                <a16:creationId xmlns:a16="http://schemas.microsoft.com/office/drawing/2014/main" id="{EB631320-262A-3DB5-5E9F-DB39203F6C06}"/>
              </a:ext>
            </a:extLst>
          </p:cNvPr>
          <p:cNvSpPr>
            <a:spLocks noGrp="1"/>
          </p:cNvSpPr>
          <p:nvPr>
            <p:ph type="sldNum" idx="12"/>
          </p:nvPr>
        </p:nvSpPr>
        <p:spPr/>
        <p:txBody>
          <a:bodyPr/>
          <a:lstStyle/>
          <a:p>
            <a:fld id="{C1FF6DA9-008F-8B48-92A6-B652298478BF}" type="slidenum">
              <a:rPr lang="en-US" altLang="ja-JP" smtClean="0"/>
              <a:t>7</a:t>
            </a:fld>
            <a:endParaRPr lang="ja-JP" altLang="en-US"/>
          </a:p>
        </p:txBody>
      </p:sp>
      <p:pic>
        <p:nvPicPr>
          <p:cNvPr id="14" name="図 13">
            <a:extLst>
              <a:ext uri="{FF2B5EF4-FFF2-40B4-BE49-F238E27FC236}">
                <a16:creationId xmlns:a16="http://schemas.microsoft.com/office/drawing/2014/main" id="{4F591AD0-9375-83F2-EFD7-E00FBD8C8D44}"/>
              </a:ext>
            </a:extLst>
          </p:cNvPr>
          <p:cNvPicPr>
            <a:picLocks noChangeAspect="1"/>
          </p:cNvPicPr>
          <p:nvPr/>
        </p:nvPicPr>
        <p:blipFill>
          <a:blip r:embed="rId4"/>
          <a:stretch>
            <a:fillRect/>
          </a:stretch>
        </p:blipFill>
        <p:spPr>
          <a:xfrm>
            <a:off x="1744132" y="4138390"/>
            <a:ext cx="2210108" cy="1057423"/>
          </a:xfrm>
          <a:prstGeom prst="rect">
            <a:avLst/>
          </a:prstGeom>
        </p:spPr>
      </p:pic>
    </p:spTree>
    <p:extLst>
      <p:ext uri="{BB962C8B-B14F-4D97-AF65-F5344CB8AC3E}">
        <p14:creationId xmlns:p14="http://schemas.microsoft.com/office/powerpoint/2010/main" val="1512234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3AD25-B55F-AD09-A2F9-372063CD1A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8AACC3F-71BC-4367-AF6E-9D0F4CC9E497}"/>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BCB2E94-A565-AE36-B60C-545D3DA7DB95}"/>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正しい秘匿化を証明するblind回路</a:t>
            </a:r>
          </a:p>
        </p:txBody>
      </p:sp>
      <p:sp>
        <p:nvSpPr>
          <p:cNvPr id="4" name="Rectangle 3">
            <a:extLst>
              <a:ext uri="{FF2B5EF4-FFF2-40B4-BE49-F238E27FC236}">
                <a16:creationId xmlns:a16="http://schemas.microsoft.com/office/drawing/2014/main" id="{6F292D60-6FEF-FD35-A24E-8ECDB4164EC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EBE3AD-3E89-1344-D884-52A7073D33D4}"/>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① 元の秘密を出さずに、正しく変換したことを示す</a:t>
            </a:r>
          </a:p>
        </p:txBody>
      </p:sp>
      <p:sp>
        <p:nvSpPr>
          <p:cNvPr id="7" name="正方形/長方形 6">
            <a:extLst>
              <a:ext uri="{FF2B5EF4-FFF2-40B4-BE49-F238E27FC236}">
                <a16:creationId xmlns:a16="http://schemas.microsoft.com/office/drawing/2014/main" id="{BF18F705-BDB6-CDC9-793E-CEE65C846F10}"/>
              </a:ext>
            </a:extLst>
          </p:cNvPr>
          <p:cNvSpPr>
            <a:spLocks noGrp="1"/>
          </p:cNvSpPr>
          <p:nvPr/>
        </p:nvSpPr>
        <p:spPr>
          <a:xfrm>
            <a:off x="400050" y="1343025"/>
            <a:ext cx="8096250" cy="361950"/>
          </a:xfrm>
          <a:prstGeom prst="rect">
            <a:avLst/>
          </a:prstGeom>
          <a:noFill/>
          <a:ln w="0">
            <a:noFill/>
          </a:ln>
        </p:spPr>
        <p:txBody>
          <a:bodyPr wrap="square" lIns="0" tIns="0" rIns="0" bIns="0" anchor="t">
            <a:noAutofit/>
          </a:bodyPr>
          <a:lstStyle>
            <a:defPPr>
              <a:defRPr sz="1700" b="1">
                <a:solidFill>
                  <a:srgbClr val="2F64A1"/>
                </a:solidFill>
                <a:latin typeface="Hiragino Kaku Gothic ProN W6"/>
                <a:ea typeface="Hiragino Kaku Gothic ProN W6"/>
                <a:cs typeface="Hiragino Kaku Gothic ProN W6"/>
              </a:defRPr>
            </a:defPPr>
            <a:lvl1pPr>
              <a:defRPr sz="1700" b="1">
                <a:solidFill>
                  <a:srgbClr val="2F64A1"/>
                </a:solidFill>
                <a:latin typeface="Hiragino Kaku Gothic ProN W6"/>
                <a:ea typeface="Hiragino Kaku Gothic ProN W6"/>
                <a:cs typeface="Hiragino Kaku Gothic ProN W6"/>
              </a:defRPr>
            </a:lvl1pPr>
            <a:lvl2pPr>
              <a:defRPr sz="1700" b="1">
                <a:solidFill>
                  <a:srgbClr val="2F64A1"/>
                </a:solidFill>
                <a:latin typeface="Hiragino Kaku Gothic ProN W6"/>
                <a:ea typeface="Hiragino Kaku Gothic ProN W6"/>
                <a:cs typeface="Hiragino Kaku Gothic ProN W6"/>
              </a:defRPr>
            </a:lvl2pPr>
            <a:lvl3pPr>
              <a:defRPr sz="1700" b="1">
                <a:solidFill>
                  <a:srgbClr val="2F64A1"/>
                </a:solidFill>
                <a:latin typeface="Hiragino Kaku Gothic ProN W6"/>
                <a:ea typeface="Hiragino Kaku Gothic ProN W6"/>
                <a:cs typeface="Hiragino Kaku Gothic ProN W6"/>
              </a:defRPr>
            </a:lvl3pPr>
            <a:lvl4pPr>
              <a:defRPr sz="1700" b="1">
                <a:solidFill>
                  <a:srgbClr val="2F64A1"/>
                </a:solidFill>
                <a:latin typeface="Hiragino Kaku Gothic ProN W6"/>
                <a:ea typeface="Hiragino Kaku Gothic ProN W6"/>
                <a:cs typeface="Hiragino Kaku Gothic ProN W6"/>
              </a:defRPr>
            </a:lvl4pPr>
            <a:lvl5pPr>
              <a:defRPr sz="1700" b="1">
                <a:solidFill>
                  <a:srgbClr val="2F64A1"/>
                </a:solidFill>
                <a:latin typeface="Hiragino Kaku Gothic ProN W6"/>
                <a:ea typeface="Hiragino Kaku Gothic ProN W6"/>
                <a:cs typeface="Hiragino Kaku Gothic ProN W6"/>
              </a:defRPr>
            </a:lvl5pPr>
            <a:lvl6pPr>
              <a:defRPr sz="1700" b="1">
                <a:solidFill>
                  <a:srgbClr val="2F64A1"/>
                </a:solidFill>
                <a:latin typeface="Hiragino Kaku Gothic ProN W6"/>
                <a:ea typeface="Hiragino Kaku Gothic ProN W6"/>
                <a:cs typeface="Hiragino Kaku Gothic ProN W6"/>
              </a:defRPr>
            </a:lvl6pPr>
            <a:lvl7pPr>
              <a:defRPr sz="1700" b="1">
                <a:solidFill>
                  <a:srgbClr val="2F64A1"/>
                </a:solidFill>
                <a:latin typeface="Hiragino Kaku Gothic ProN W6"/>
                <a:ea typeface="Hiragino Kaku Gothic ProN W6"/>
                <a:cs typeface="Hiragino Kaku Gothic ProN W6"/>
              </a:defRPr>
            </a:lvl7pPr>
            <a:lvl8pPr>
              <a:defRPr sz="1700" b="1">
                <a:solidFill>
                  <a:srgbClr val="2F64A1"/>
                </a:solidFill>
                <a:latin typeface="Hiragino Kaku Gothic ProN W6"/>
                <a:ea typeface="Hiragino Kaku Gothic ProN W6"/>
                <a:cs typeface="Hiragino Kaku Gothic ProN W6"/>
              </a:defRPr>
            </a:lvl8pPr>
            <a:lvl9pPr>
              <a:defRPr sz="1700" b="1">
                <a:solidFill>
                  <a:srgbClr val="2F64A1"/>
                </a:solidFill>
                <a:latin typeface="Hiragino Kaku Gothic ProN W6"/>
                <a:ea typeface="Hiragino Kaku Gothic ProN W6"/>
                <a:cs typeface="Hiragino Kaku Gothic ProN W6"/>
              </a:defRPr>
            </a:lvl9pPr>
          </a:lstStyle>
          <a:p>
            <a:pPr>
              <a:defRPr sz="1700" b="1">
                <a:solidFill>
                  <a:srgbClr val="2F64A1"/>
                </a:solidFill>
                <a:latin typeface="Hiragino Kaku Gothic ProN W6"/>
                <a:ea typeface="Hiragino Kaku Gothic ProN W6"/>
                <a:cs typeface="Hiragino Kaku Gothic ProN W6"/>
              </a:defRPr>
            </a:pPr>
            <a:r>
              <a:rPr dirty="0"/>
              <a:t>■ </a:t>
            </a:r>
            <a:r>
              <a:rPr dirty="0" err="1"/>
              <a:t>公開する主張と内部の秘密</a:t>
            </a:r>
            <a:endParaRPr dirty="0"/>
          </a:p>
        </p:txBody>
      </p:sp>
      <p:sp>
        <p:nvSpPr>
          <p:cNvPr id="9" name="正方形/長方形 8">
            <a:extLst>
              <a:ext uri="{FF2B5EF4-FFF2-40B4-BE49-F238E27FC236}">
                <a16:creationId xmlns:a16="http://schemas.microsoft.com/office/drawing/2014/main" id="{65EED64B-DB96-C321-D747-F1D83662428A}"/>
              </a:ext>
            </a:extLst>
          </p:cNvPr>
          <p:cNvSpPr>
            <a:spLocks noGrp="1"/>
          </p:cNvSpPr>
          <p:nvPr/>
        </p:nvSpPr>
        <p:spPr>
          <a:xfrm>
            <a:off x="571500" y="2724150"/>
            <a:ext cx="8001000" cy="7810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defRPr sz="1600" b="0">
                <a:solidFill>
                  <a:srgbClr val="282629"/>
                </a:solidFill>
                <a:latin typeface="Hiragino Kaku Gothic ProN W3"/>
                <a:ea typeface="Hiragino Kaku Gothic ProN W3"/>
                <a:cs typeface="Hiragino Kaku Gothic ProN W3"/>
              </a:defRPr>
            </a:pPr>
            <a:r>
              <a:rPr lang="ja-JP" altLang="ja-JP" dirty="0"/>
              <a:t>∃s：条件を満たす秘密情報が存在する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vk：Foldingの検証鍵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i：現在の計算step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z₀：初期の公開state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zᵢ：現在の公開state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solidFill>
                  <a:srgbClr val="FF0000"/>
                </a:solidFill>
              </a:rPr>
              <a:t>s：元のIVC内部状態、乱数インスタンス、Folding証明などの秘密入力 </a:t>
            </a:r>
            <a:endParaRPr lang="en-US" altLang="ja-JP" dirty="0">
              <a:solidFill>
                <a:srgbClr val="FF0000"/>
              </a:solidFill>
            </a:endParaRPr>
          </a:p>
          <a:p>
            <a:pPr>
              <a:defRPr sz="1600" b="0">
                <a:solidFill>
                  <a:srgbClr val="282629"/>
                </a:solidFill>
                <a:latin typeface="Hiragino Kaku Gothic ProN W3"/>
                <a:ea typeface="Hiragino Kaku Gothic ProN W3"/>
                <a:cs typeface="Hiragino Kaku Gothic ProN W3"/>
              </a:defRPr>
            </a:pPr>
            <a:r>
              <a:rPr lang="ja-JP" altLang="ja-JP" dirty="0"/>
              <a:t>U′：ランダム化後の累積インスタンス</a:t>
            </a:r>
            <a:endParaRPr dirty="0"/>
          </a:p>
        </p:txBody>
      </p:sp>
      <p:sp>
        <p:nvSpPr>
          <p:cNvPr id="10" name="正方形/長方形 9">
            <a:extLst>
              <a:ext uri="{FF2B5EF4-FFF2-40B4-BE49-F238E27FC236}">
                <a16:creationId xmlns:a16="http://schemas.microsoft.com/office/drawing/2014/main" id="{681018FE-D2D3-B958-AAB7-F0AC72B7495A}"/>
              </a:ext>
            </a:extLst>
          </p:cNvPr>
          <p:cNvSpPr>
            <a:spLocks noGrp="1"/>
          </p:cNvSpPr>
          <p:nvPr/>
        </p:nvSpPr>
        <p:spPr>
          <a:xfrm>
            <a:off x="343539" y="4864282"/>
            <a:ext cx="8286750" cy="21717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式の読み方</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a:t>
            </a:r>
            <a:r>
              <a:rPr sz="1600" b="0" dirty="0" err="1">
                <a:solidFill>
                  <a:srgbClr val="282629"/>
                </a:solidFill>
                <a:latin typeface="Hiragino Kaku Gothic ProN W3"/>
                <a:ea typeface="Hiragino Kaku Gothic ProN W3"/>
                <a:cs typeface="Hiragino Kaku Gothic ProN W3"/>
              </a:rPr>
              <a:t>元の履歴を知る人が、正しい手順で状態U′を作った」と示す</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条件を満たす秘密の材料sが存在する</a:t>
            </a:r>
            <a:r>
              <a:rPr lang="ja-JP" altLang="en-US" sz="1600" b="0" dirty="0">
                <a:solidFill>
                  <a:srgbClr val="282629"/>
                </a:solidFill>
                <a:latin typeface="Hiragino Kaku Gothic ProN W3"/>
                <a:ea typeface="Hiragino Kaku Gothic ProN W3"/>
                <a:cs typeface="Hiragino Kaku Gothic ProN W3"/>
              </a:rPr>
              <a:t> </a:t>
            </a:r>
            <a:r>
              <a:rPr sz="1600" b="0" dirty="0" err="1">
                <a:solidFill>
                  <a:srgbClr val="282629"/>
                </a:solidFill>
                <a:latin typeface="Hiragino Kaku Gothic ProN W3"/>
                <a:ea typeface="Hiragino Kaku Gothic ProN W3"/>
                <a:cs typeface="Hiragino Kaku Gothic ProN W3"/>
              </a:rPr>
              <a:t>という意味</a:t>
            </a:r>
            <a:endParaRPr sz="1600" b="0" dirty="0">
              <a:solidFill>
                <a:srgbClr val="282629"/>
              </a:solidFill>
              <a:latin typeface="Hiragino Kaku Gothic ProN W3"/>
              <a:ea typeface="Hiragino Kaku Gothic ProN W3"/>
              <a:cs typeface="Hiragino Kaku Gothic ProN W3"/>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検証者は、秘密sの中身を受け取らずに主張を確かめる</a:t>
            </a:r>
            <a:endParaRPr sz="16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AC16FF07-ADDA-5EC9-F30C-DCE916C72889}"/>
              </a:ext>
            </a:extLst>
          </p:cNvPr>
          <p:cNvSpPr>
            <a:spLocks noGrp="1"/>
          </p:cNvSpPr>
          <p:nvPr>
            <p:ph type="sldNum" idx="12"/>
          </p:nvPr>
        </p:nvSpPr>
        <p:spPr/>
        <p:txBody>
          <a:bodyPr/>
          <a:lstStyle/>
          <a:p>
            <a:fld id="{C1FF6DA9-008F-8B48-92A6-B652298478BF}" type="slidenum">
              <a:rPr lang="en-US" altLang="ja-JP" smtClean="0"/>
              <a:t>8</a:t>
            </a:fld>
            <a:endParaRPr lang="ja-JP" altLang="en-US"/>
          </a:p>
        </p:txBody>
      </p:sp>
      <p:pic>
        <p:nvPicPr>
          <p:cNvPr id="13" name="図 12">
            <a:extLst>
              <a:ext uri="{FF2B5EF4-FFF2-40B4-BE49-F238E27FC236}">
                <a16:creationId xmlns:a16="http://schemas.microsoft.com/office/drawing/2014/main" id="{C0581ABC-03AE-0040-EF14-213DD45A50A5}"/>
              </a:ext>
            </a:extLst>
          </p:cNvPr>
          <p:cNvPicPr>
            <a:picLocks noChangeAspect="1"/>
          </p:cNvPicPr>
          <p:nvPr/>
        </p:nvPicPr>
        <p:blipFill>
          <a:blip r:embed="rId3"/>
          <a:stretch>
            <a:fillRect/>
          </a:stretch>
        </p:blipFill>
        <p:spPr>
          <a:xfrm>
            <a:off x="840472" y="1822025"/>
            <a:ext cx="2886798" cy="553484"/>
          </a:xfrm>
          <a:prstGeom prst="rect">
            <a:avLst/>
          </a:prstGeom>
        </p:spPr>
      </p:pic>
    </p:spTree>
    <p:extLst>
      <p:ext uri="{BB962C8B-B14F-4D97-AF65-F5344CB8AC3E}">
        <p14:creationId xmlns:p14="http://schemas.microsoft.com/office/powerpoint/2010/main" val="2374300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C9E1D-35DD-33AD-991A-F79F62F3E7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BA5B91-FC1F-C662-EED3-45E841281872}"/>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072CF82E-ABE2-F679-ECFC-ABB91A8B9425}"/>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正しい秘匿化を証明するblind回路</a:t>
            </a:r>
          </a:p>
        </p:txBody>
      </p:sp>
      <p:sp>
        <p:nvSpPr>
          <p:cNvPr id="4" name="Rectangle 3">
            <a:extLst>
              <a:ext uri="{FF2B5EF4-FFF2-40B4-BE49-F238E27FC236}">
                <a16:creationId xmlns:a16="http://schemas.microsoft.com/office/drawing/2014/main" id="{80678CDB-9C0E-A6E7-B45C-97BE14F0971E}"/>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9D0F7CA-BA26-2C8F-8F06-19D7016E578B}"/>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dirty="0">
                <a:solidFill>
                  <a:srgbClr val="2F64A1"/>
                </a:solidFill>
                <a:latin typeface="Hiragino Kaku Gothic ProN W6"/>
                <a:ea typeface="Hiragino Kaku Gothic ProN W6"/>
                <a:cs typeface="Hiragino Kaku Gothic ProN W6"/>
              </a:rPr>
              <a:t>② </a:t>
            </a:r>
            <a:r>
              <a:rPr sz="1800" b="1" spc="100" dirty="0" err="1">
                <a:solidFill>
                  <a:srgbClr val="2F64A1"/>
                </a:solidFill>
                <a:latin typeface="Hiragino Kaku Gothic ProN W6"/>
                <a:ea typeface="Hiragino Kaku Gothic ProN W6"/>
                <a:cs typeface="Hiragino Kaku Gothic ProN W6"/>
              </a:rPr>
              <a:t>公開する主張を残し、内部で検査する内容を追加</a:t>
            </a:r>
            <a:endParaRPr sz="1800" b="1" spc="100" dirty="0">
              <a:solidFill>
                <a:srgbClr val="2F64A1"/>
              </a:solidFill>
              <a:latin typeface="Hiragino Kaku Gothic ProN W6"/>
              <a:ea typeface="Hiragino Kaku Gothic ProN W6"/>
              <a:cs typeface="Hiragino Kaku Gothic ProN W6"/>
            </a:endParaRPr>
          </a:p>
        </p:txBody>
      </p:sp>
      <p:sp>
        <p:nvSpPr>
          <p:cNvPr id="7" name="正方形/長方形 6">
            <a:extLst>
              <a:ext uri="{FF2B5EF4-FFF2-40B4-BE49-F238E27FC236}">
                <a16:creationId xmlns:a16="http://schemas.microsoft.com/office/drawing/2014/main" id="{3AE7CB8D-0132-A558-BC33-907D60595B20}"/>
              </a:ext>
            </a:extLst>
          </p:cNvPr>
          <p:cNvSpPr>
            <a:spLocks noGrp="1"/>
          </p:cNvSpPr>
          <p:nvPr/>
        </p:nvSpPr>
        <p:spPr>
          <a:xfrm>
            <a:off x="400050" y="1343025"/>
            <a:ext cx="8096250" cy="361950"/>
          </a:xfrm>
          <a:prstGeom prst="rect">
            <a:avLst/>
          </a:prstGeom>
          <a:noFill/>
          <a:ln w="0">
            <a:noFill/>
          </a:ln>
        </p:spPr>
        <p:txBody>
          <a:bodyPr wrap="square" lIns="0" tIns="0" rIns="0" bIns="0" anchor="t">
            <a:noAutofit/>
          </a:bodyPr>
          <a:lstStyle>
            <a:defPPr>
              <a:defRPr sz="1700" b="1">
                <a:solidFill>
                  <a:srgbClr val="2F64A1"/>
                </a:solidFill>
                <a:latin typeface="Hiragino Kaku Gothic ProN W6"/>
                <a:ea typeface="Hiragino Kaku Gothic ProN W6"/>
                <a:cs typeface="Hiragino Kaku Gothic ProN W6"/>
              </a:defRPr>
            </a:defPPr>
            <a:lvl1pPr>
              <a:defRPr sz="1700" b="1">
                <a:solidFill>
                  <a:srgbClr val="2F64A1"/>
                </a:solidFill>
                <a:latin typeface="Hiragino Kaku Gothic ProN W6"/>
                <a:ea typeface="Hiragino Kaku Gothic ProN W6"/>
                <a:cs typeface="Hiragino Kaku Gothic ProN W6"/>
              </a:defRPr>
            </a:lvl1pPr>
            <a:lvl2pPr>
              <a:defRPr sz="1700" b="1">
                <a:solidFill>
                  <a:srgbClr val="2F64A1"/>
                </a:solidFill>
                <a:latin typeface="Hiragino Kaku Gothic ProN W6"/>
                <a:ea typeface="Hiragino Kaku Gothic ProN W6"/>
                <a:cs typeface="Hiragino Kaku Gothic ProN W6"/>
              </a:defRPr>
            </a:lvl2pPr>
            <a:lvl3pPr>
              <a:defRPr sz="1700" b="1">
                <a:solidFill>
                  <a:srgbClr val="2F64A1"/>
                </a:solidFill>
                <a:latin typeface="Hiragino Kaku Gothic ProN W6"/>
                <a:ea typeface="Hiragino Kaku Gothic ProN W6"/>
                <a:cs typeface="Hiragino Kaku Gothic ProN W6"/>
              </a:defRPr>
            </a:lvl3pPr>
            <a:lvl4pPr>
              <a:defRPr sz="1700" b="1">
                <a:solidFill>
                  <a:srgbClr val="2F64A1"/>
                </a:solidFill>
                <a:latin typeface="Hiragino Kaku Gothic ProN W6"/>
                <a:ea typeface="Hiragino Kaku Gothic ProN W6"/>
                <a:cs typeface="Hiragino Kaku Gothic ProN W6"/>
              </a:defRPr>
            </a:lvl4pPr>
            <a:lvl5pPr>
              <a:defRPr sz="1700" b="1">
                <a:solidFill>
                  <a:srgbClr val="2F64A1"/>
                </a:solidFill>
                <a:latin typeface="Hiragino Kaku Gothic ProN W6"/>
                <a:ea typeface="Hiragino Kaku Gothic ProN W6"/>
                <a:cs typeface="Hiragino Kaku Gothic ProN W6"/>
              </a:defRPr>
            </a:lvl5pPr>
            <a:lvl6pPr>
              <a:defRPr sz="1700" b="1">
                <a:solidFill>
                  <a:srgbClr val="2F64A1"/>
                </a:solidFill>
                <a:latin typeface="Hiragino Kaku Gothic ProN W6"/>
                <a:ea typeface="Hiragino Kaku Gothic ProN W6"/>
                <a:cs typeface="Hiragino Kaku Gothic ProN W6"/>
              </a:defRPr>
            </a:lvl6pPr>
            <a:lvl7pPr>
              <a:defRPr sz="1700" b="1">
                <a:solidFill>
                  <a:srgbClr val="2F64A1"/>
                </a:solidFill>
                <a:latin typeface="Hiragino Kaku Gothic ProN W6"/>
                <a:ea typeface="Hiragino Kaku Gothic ProN W6"/>
                <a:cs typeface="Hiragino Kaku Gothic ProN W6"/>
              </a:defRPr>
            </a:lvl7pPr>
            <a:lvl8pPr>
              <a:defRPr sz="1700" b="1">
                <a:solidFill>
                  <a:srgbClr val="2F64A1"/>
                </a:solidFill>
                <a:latin typeface="Hiragino Kaku Gothic ProN W6"/>
                <a:ea typeface="Hiragino Kaku Gothic ProN W6"/>
                <a:cs typeface="Hiragino Kaku Gothic ProN W6"/>
              </a:defRPr>
            </a:lvl8pPr>
            <a:lvl9pPr>
              <a:defRPr sz="1700" b="1">
                <a:solidFill>
                  <a:srgbClr val="2F64A1"/>
                </a:solidFill>
                <a:latin typeface="Hiragino Kaku Gothic ProN W6"/>
                <a:ea typeface="Hiragino Kaku Gothic ProN W6"/>
                <a:cs typeface="Hiragino Kaku Gothic ProN W6"/>
              </a:defRPr>
            </a:lvl9pPr>
          </a:lstStyle>
          <a:p>
            <a:pPr>
              <a:defRPr sz="1700" b="1">
                <a:solidFill>
                  <a:srgbClr val="2F64A1"/>
                </a:solidFill>
                <a:latin typeface="Hiragino Kaku Gothic ProN W6"/>
                <a:ea typeface="Hiragino Kaku Gothic ProN W6"/>
                <a:cs typeface="Hiragino Kaku Gothic ProN W6"/>
              </a:defRPr>
            </a:pPr>
            <a:r>
              <a:rPr dirty="0"/>
              <a:t>■ </a:t>
            </a:r>
            <a:r>
              <a:rPr dirty="0" err="1"/>
              <a:t>公開する主張と内部の秘密</a:t>
            </a:r>
            <a:r>
              <a:rPr dirty="0"/>
              <a:t>）</a:t>
            </a:r>
          </a:p>
        </p:txBody>
      </p:sp>
      <p:sp>
        <p:nvSpPr>
          <p:cNvPr id="10" name="正方形/長方形 9">
            <a:extLst>
              <a:ext uri="{FF2B5EF4-FFF2-40B4-BE49-F238E27FC236}">
                <a16:creationId xmlns:a16="http://schemas.microsoft.com/office/drawing/2014/main" id="{A9E14416-7499-257B-FD95-69F850CD1E53}"/>
              </a:ext>
            </a:extLst>
          </p:cNvPr>
          <p:cNvSpPr>
            <a:spLocks noGrp="1"/>
          </p:cNvSpPr>
          <p:nvPr/>
        </p:nvSpPr>
        <p:spPr>
          <a:xfrm>
            <a:off x="461250" y="4601199"/>
            <a:ext cx="8286750" cy="21717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blind回路の中で確かめること</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公開されたstep・状態が、元の履歴と一致するかを検査する</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Foldingの検証手順が正しいことを検査する</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回路自身の秘密も隠す</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Novaのhiding</a:t>
            </a:r>
            <a:r>
              <a:rPr sz="1600" b="0" dirty="0">
                <a:solidFill>
                  <a:srgbClr val="282629"/>
                </a:solidFill>
                <a:latin typeface="Hiragino Kaku Gothic ProN W3"/>
                <a:ea typeface="Hiragino Kaku Gothic ProN W3"/>
                <a:cs typeface="Hiragino Kaku Gothic ProN W3"/>
              </a:rPr>
              <a:t> </a:t>
            </a:r>
            <a:r>
              <a:rPr sz="1600" b="0" dirty="0" err="1">
                <a:solidFill>
                  <a:srgbClr val="282629"/>
                </a:solidFill>
                <a:latin typeface="Hiragino Kaku Gothic ProN W3"/>
                <a:ea typeface="Hiragino Kaku Gothic ProN W3"/>
                <a:cs typeface="Hiragino Kaku Gothic ProN W3"/>
              </a:rPr>
              <a:t>foldingで、</a:t>
            </a:r>
            <a:r>
              <a:rPr sz="1600" b="0" dirty="0" err="1">
                <a:solidFill>
                  <a:srgbClr val="FF0000"/>
                </a:solidFill>
                <a:latin typeface="Hiragino Kaku Gothic ProN W3"/>
                <a:ea typeface="Hiragino Kaku Gothic ProN W3"/>
                <a:cs typeface="Hiragino Kaku Gothic ProN W3"/>
              </a:rPr>
              <a:t>blind回路のWitness</a:t>
            </a:r>
            <a:r>
              <a:rPr lang="ja-JP" altLang="en-US" sz="1600" b="0" dirty="0">
                <a:solidFill>
                  <a:srgbClr val="FF0000"/>
                </a:solidFill>
                <a:latin typeface="Hiragino Kaku Gothic ProN W3"/>
                <a:ea typeface="Hiragino Kaku Gothic ProN W3"/>
                <a:cs typeface="Hiragino Kaku Gothic ProN W3"/>
              </a:rPr>
              <a:t>を</a:t>
            </a:r>
            <a:r>
              <a:rPr sz="1600" b="0" dirty="0" err="1">
                <a:solidFill>
                  <a:srgbClr val="FF0000"/>
                </a:solidFill>
                <a:latin typeface="Hiragino Kaku Gothic ProN W3"/>
                <a:ea typeface="Hiragino Kaku Gothic ProN W3"/>
                <a:cs typeface="Hiragino Kaku Gothic ProN W3"/>
              </a:rPr>
              <a:t>ランダム化</a:t>
            </a:r>
            <a:endParaRPr sz="1600" b="0" dirty="0">
              <a:solidFill>
                <a:srgbClr val="FF0000"/>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en-US" dirty="0"/>
              <a:t>PR246</a:t>
            </a:r>
            <a:r>
              <a:rPr sz="1600" b="0" dirty="0">
                <a:solidFill>
                  <a:srgbClr val="282629"/>
                </a:solidFill>
                <a:latin typeface="Hiragino Kaku Gothic ProN W3"/>
                <a:ea typeface="Hiragino Kaku Gothic ProN W3"/>
                <a:cs typeface="Hiragino Kaku Gothic ProN W3"/>
              </a:rPr>
              <a:t>が示す保証は、検証者が手順を守る場合ゼロ知識性</a:t>
            </a:r>
          </a:p>
        </p:txBody>
      </p:sp>
      <p:sp>
        <p:nvSpPr>
          <p:cNvPr id="6" name="スライド番号プレースホルダー 5">
            <a:extLst>
              <a:ext uri="{FF2B5EF4-FFF2-40B4-BE49-F238E27FC236}">
                <a16:creationId xmlns:a16="http://schemas.microsoft.com/office/drawing/2014/main" id="{71DC4F70-A101-2350-DA8B-6D042F660898}"/>
              </a:ext>
            </a:extLst>
          </p:cNvPr>
          <p:cNvSpPr>
            <a:spLocks noGrp="1"/>
          </p:cNvSpPr>
          <p:nvPr>
            <p:ph type="sldNum" idx="12"/>
          </p:nvPr>
        </p:nvSpPr>
        <p:spPr/>
        <p:txBody>
          <a:bodyPr/>
          <a:lstStyle/>
          <a:p>
            <a:fld id="{C1FF6DA9-008F-8B48-92A6-B652298478BF}" type="slidenum">
              <a:rPr lang="en-US" altLang="ja-JP" smtClean="0"/>
              <a:t>9</a:t>
            </a:fld>
            <a:endParaRPr lang="ja-JP" altLang="en-US"/>
          </a:p>
        </p:txBody>
      </p:sp>
      <p:pic>
        <p:nvPicPr>
          <p:cNvPr id="13" name="図 12">
            <a:extLst>
              <a:ext uri="{FF2B5EF4-FFF2-40B4-BE49-F238E27FC236}">
                <a16:creationId xmlns:a16="http://schemas.microsoft.com/office/drawing/2014/main" id="{767A2F4D-087D-AD20-6471-2826B29F6B49}"/>
              </a:ext>
            </a:extLst>
          </p:cNvPr>
          <p:cNvPicPr>
            <a:picLocks noChangeAspect="1"/>
          </p:cNvPicPr>
          <p:nvPr/>
        </p:nvPicPr>
        <p:blipFill>
          <a:blip r:embed="rId3"/>
          <a:stretch>
            <a:fillRect/>
          </a:stretch>
        </p:blipFill>
        <p:spPr>
          <a:xfrm>
            <a:off x="840472" y="1822025"/>
            <a:ext cx="2886798" cy="553484"/>
          </a:xfrm>
          <a:prstGeom prst="rect">
            <a:avLst/>
          </a:prstGeom>
        </p:spPr>
      </p:pic>
      <p:sp>
        <p:nvSpPr>
          <p:cNvPr id="11" name="正方形/長方形 10">
            <a:extLst>
              <a:ext uri="{FF2B5EF4-FFF2-40B4-BE49-F238E27FC236}">
                <a16:creationId xmlns:a16="http://schemas.microsoft.com/office/drawing/2014/main" id="{5C61D3FE-2D03-179F-7F86-15DF625C88C7}"/>
              </a:ext>
            </a:extLst>
          </p:cNvPr>
          <p:cNvSpPr>
            <a:spLocks noGrp="1"/>
          </p:cNvSpPr>
          <p:nvPr/>
        </p:nvSpPr>
        <p:spPr>
          <a:xfrm>
            <a:off x="571500" y="2724150"/>
            <a:ext cx="8001000" cy="7810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defRPr sz="1600" b="0">
                <a:solidFill>
                  <a:srgbClr val="282629"/>
                </a:solidFill>
                <a:latin typeface="Hiragino Kaku Gothic ProN W3"/>
                <a:ea typeface="Hiragino Kaku Gothic ProN W3"/>
                <a:cs typeface="Hiragino Kaku Gothic ProN W3"/>
              </a:defRPr>
            </a:pPr>
            <a:r>
              <a:rPr lang="ja-JP" altLang="ja-JP" dirty="0"/>
              <a:t>∃s：条件を満たす秘密情報が存在する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vk：Foldingの検証鍵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i：現在の計算step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z₀：初期の公開state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t>zᵢ：現在の公開state </a:t>
            </a:r>
            <a:endParaRPr lang="en-US" altLang="ja-JP" dirty="0"/>
          </a:p>
          <a:p>
            <a:pPr>
              <a:defRPr sz="1600" b="0">
                <a:solidFill>
                  <a:srgbClr val="282629"/>
                </a:solidFill>
                <a:latin typeface="Hiragino Kaku Gothic ProN W3"/>
                <a:ea typeface="Hiragino Kaku Gothic ProN W3"/>
                <a:cs typeface="Hiragino Kaku Gothic ProN W3"/>
              </a:defRPr>
            </a:pPr>
            <a:r>
              <a:rPr lang="ja-JP" altLang="ja-JP" dirty="0">
                <a:solidFill>
                  <a:srgbClr val="FF0000"/>
                </a:solidFill>
              </a:rPr>
              <a:t>s：元のIVC内部状態、乱数インスタンス、Folding証明などの秘密入力 </a:t>
            </a:r>
            <a:endParaRPr lang="en-US" altLang="ja-JP" dirty="0">
              <a:solidFill>
                <a:srgbClr val="FF0000"/>
              </a:solidFill>
            </a:endParaRPr>
          </a:p>
          <a:p>
            <a:pPr>
              <a:defRPr sz="1600" b="0">
                <a:solidFill>
                  <a:srgbClr val="282629"/>
                </a:solidFill>
                <a:latin typeface="Hiragino Kaku Gothic ProN W3"/>
                <a:ea typeface="Hiragino Kaku Gothic ProN W3"/>
                <a:cs typeface="Hiragino Kaku Gothic ProN W3"/>
              </a:defRPr>
            </a:pPr>
            <a:r>
              <a:rPr lang="ja-JP" altLang="ja-JP" dirty="0"/>
              <a:t>U′：ランダム化後の累積インスタンス</a:t>
            </a:r>
            <a:endParaRPr dirty="0"/>
          </a:p>
        </p:txBody>
      </p:sp>
    </p:spTree>
    <p:extLst>
      <p:ext uri="{BB962C8B-B14F-4D97-AF65-F5344CB8AC3E}">
        <p14:creationId xmlns:p14="http://schemas.microsoft.com/office/powerpoint/2010/main" val="191533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秘匿化で追加するランダムな入力</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① ランダムなWitnessを混ぜ、元の値をそのまま見せない</a:t>
            </a:r>
          </a:p>
        </p:txBody>
      </p:sp>
      <p:sp>
        <p:nvSpPr>
          <p:cNvPr id="7" name="正方形/長方形 6">
            <a:extLst>
              <a:ext uri="{FF2B5EF4-FFF2-40B4-BE49-F238E27FC236}">
                <a16:creationId xmlns:a16="http://schemas.microsoft.com/office/drawing/2014/main" id="{982815B5-42CD-43D8-9014-3C9081A99896}"/>
              </a:ext>
            </a:extLst>
          </p:cNvPr>
          <p:cNvSpPr>
            <a:spLocks noGrp="1"/>
          </p:cNvSpPr>
          <p:nvPr/>
        </p:nvSpPr>
        <p:spPr>
          <a:xfrm>
            <a:off x="400050" y="1343025"/>
            <a:ext cx="8096250" cy="361950"/>
          </a:xfrm>
          <a:prstGeom prst="rect">
            <a:avLst/>
          </a:prstGeom>
          <a:noFill/>
          <a:ln w="0">
            <a:noFill/>
          </a:ln>
        </p:spPr>
        <p:txBody>
          <a:bodyPr wrap="square" lIns="0" tIns="0" rIns="0" bIns="0" anchor="t">
            <a:noAutofit/>
          </a:bodyPr>
          <a:lstStyle>
            <a:defPPr>
              <a:defRPr sz="1700" b="1">
                <a:solidFill>
                  <a:srgbClr val="2F64A1"/>
                </a:solidFill>
                <a:latin typeface="Hiragino Kaku Gothic ProN W6"/>
                <a:ea typeface="Hiragino Kaku Gothic ProN W6"/>
                <a:cs typeface="Hiragino Kaku Gothic ProN W6"/>
              </a:defRPr>
            </a:defPPr>
            <a:lvl1pPr>
              <a:defRPr sz="1700" b="1">
                <a:solidFill>
                  <a:srgbClr val="2F64A1"/>
                </a:solidFill>
                <a:latin typeface="Hiragino Kaku Gothic ProN W6"/>
                <a:ea typeface="Hiragino Kaku Gothic ProN W6"/>
                <a:cs typeface="Hiragino Kaku Gothic ProN W6"/>
              </a:defRPr>
            </a:lvl1pPr>
            <a:lvl2pPr>
              <a:defRPr sz="1700" b="1">
                <a:solidFill>
                  <a:srgbClr val="2F64A1"/>
                </a:solidFill>
                <a:latin typeface="Hiragino Kaku Gothic ProN W6"/>
                <a:ea typeface="Hiragino Kaku Gothic ProN W6"/>
                <a:cs typeface="Hiragino Kaku Gothic ProN W6"/>
              </a:defRPr>
            </a:lvl2pPr>
            <a:lvl3pPr>
              <a:defRPr sz="1700" b="1">
                <a:solidFill>
                  <a:srgbClr val="2F64A1"/>
                </a:solidFill>
                <a:latin typeface="Hiragino Kaku Gothic ProN W6"/>
                <a:ea typeface="Hiragino Kaku Gothic ProN W6"/>
                <a:cs typeface="Hiragino Kaku Gothic ProN W6"/>
              </a:defRPr>
            </a:lvl3pPr>
            <a:lvl4pPr>
              <a:defRPr sz="1700" b="1">
                <a:solidFill>
                  <a:srgbClr val="2F64A1"/>
                </a:solidFill>
                <a:latin typeface="Hiragino Kaku Gothic ProN W6"/>
                <a:ea typeface="Hiragino Kaku Gothic ProN W6"/>
                <a:cs typeface="Hiragino Kaku Gothic ProN W6"/>
              </a:defRPr>
            </a:lvl4pPr>
            <a:lvl5pPr>
              <a:defRPr sz="1700" b="1">
                <a:solidFill>
                  <a:srgbClr val="2F64A1"/>
                </a:solidFill>
                <a:latin typeface="Hiragino Kaku Gothic ProN W6"/>
                <a:ea typeface="Hiragino Kaku Gothic ProN W6"/>
                <a:cs typeface="Hiragino Kaku Gothic ProN W6"/>
              </a:defRPr>
            </a:lvl5pPr>
            <a:lvl6pPr>
              <a:defRPr sz="1700" b="1">
                <a:solidFill>
                  <a:srgbClr val="2F64A1"/>
                </a:solidFill>
                <a:latin typeface="Hiragino Kaku Gothic ProN W6"/>
                <a:ea typeface="Hiragino Kaku Gothic ProN W6"/>
                <a:cs typeface="Hiragino Kaku Gothic ProN W6"/>
              </a:defRPr>
            </a:lvl6pPr>
            <a:lvl7pPr>
              <a:defRPr sz="1700" b="1">
                <a:solidFill>
                  <a:srgbClr val="2F64A1"/>
                </a:solidFill>
                <a:latin typeface="Hiragino Kaku Gothic ProN W6"/>
                <a:ea typeface="Hiragino Kaku Gothic ProN W6"/>
                <a:cs typeface="Hiragino Kaku Gothic ProN W6"/>
              </a:defRPr>
            </a:lvl7pPr>
            <a:lvl8pPr>
              <a:defRPr sz="1700" b="1">
                <a:solidFill>
                  <a:srgbClr val="2F64A1"/>
                </a:solidFill>
                <a:latin typeface="Hiragino Kaku Gothic ProN W6"/>
                <a:ea typeface="Hiragino Kaku Gothic ProN W6"/>
                <a:cs typeface="Hiragino Kaku Gothic ProN W6"/>
              </a:defRPr>
            </a:lvl8pPr>
            <a:lvl9pPr>
              <a:defRPr sz="1700" b="1">
                <a:solidFill>
                  <a:srgbClr val="2F64A1"/>
                </a:solidFill>
                <a:latin typeface="Hiragino Kaku Gothic ProN W6"/>
                <a:ea typeface="Hiragino Kaku Gothic ProN W6"/>
                <a:cs typeface="Hiragino Kaku Gothic ProN W6"/>
              </a:defRPr>
            </a:lvl9pPr>
          </a:lstStyle>
          <a:p>
            <a:pPr>
              <a:defRPr sz="1700" b="1">
                <a:solidFill>
                  <a:srgbClr val="2F64A1"/>
                </a:solidFill>
                <a:latin typeface="Hiragino Kaku Gothic ProN W6"/>
                <a:ea typeface="Hiragino Kaku Gothic ProN W6"/>
                <a:cs typeface="Hiragino Kaku Gothic ProN W6"/>
              </a:defRPr>
            </a:pPr>
            <a:r>
              <a:rPr dirty="0"/>
              <a:t>■ </a:t>
            </a:r>
            <a:r>
              <a:rPr dirty="0" err="1"/>
              <a:t>Novaのrelaxed</a:t>
            </a:r>
            <a:r>
              <a:rPr dirty="0"/>
              <a:t> R1CS</a:t>
            </a:r>
            <a:r>
              <a:rPr lang="ja-JP" altLang="en-US" dirty="0"/>
              <a:t>の</a:t>
            </a:r>
            <a:r>
              <a:rPr dirty="0" err="1"/>
              <a:t>秘匿化</a:t>
            </a:r>
            <a:endParaRPr dirty="0"/>
          </a:p>
        </p:txBody>
      </p:sp>
      <p:sp>
        <p:nvSpPr>
          <p:cNvPr id="8" name="正方形/長方形 7">
            <a:extLst>
              <a:ext uri="{FF2B5EF4-FFF2-40B4-BE49-F238E27FC236}">
                <a16:creationId xmlns:a16="http://schemas.microsoft.com/office/drawing/2014/main" id="{98A42B6D-D756-416E-9AEA-401F5A96BB41}"/>
              </a:ext>
            </a:extLst>
          </p:cNvPr>
          <p:cNvSpPr>
            <a:spLocks noGrp="1"/>
          </p:cNvSpPr>
          <p:nvPr/>
        </p:nvSpPr>
        <p:spPr>
          <a:xfrm>
            <a:off x="571500" y="1981200"/>
            <a:ext cx="8001000" cy="647700"/>
          </a:xfrm>
          <a:prstGeom prst="rect">
            <a:avLst/>
          </a:prstGeom>
          <a:noFill/>
          <a:ln w="0">
            <a:noFill/>
          </a:ln>
        </p:spPr>
        <p:txBody>
          <a:bodyPr wrap="square" lIns="0" tIns="0" rIns="0" bIns="0" anchor="t">
            <a:noAutofit/>
          </a:bodyPr>
          <a:lstStyle>
            <a:defPPr>
              <a:defRPr sz="2550" b="0">
                <a:solidFill>
                  <a:srgbClr val="282629"/>
                </a:solidFill>
                <a:latin typeface="Hiragino Kaku Gothic ProN W3"/>
                <a:ea typeface="Hiragino Kaku Gothic ProN W3"/>
                <a:cs typeface="Hiragino Kaku Gothic ProN W3"/>
              </a:defRPr>
            </a:defPPr>
            <a:lvl1pPr>
              <a:defRPr sz="2550" b="0">
                <a:solidFill>
                  <a:srgbClr val="282629"/>
                </a:solidFill>
                <a:latin typeface="Hiragino Kaku Gothic ProN W3"/>
                <a:ea typeface="Hiragino Kaku Gothic ProN W3"/>
                <a:cs typeface="Hiragino Kaku Gothic ProN W3"/>
              </a:defRPr>
            </a:lvl1pPr>
            <a:lvl2pPr>
              <a:defRPr sz="2550" b="0">
                <a:solidFill>
                  <a:srgbClr val="282629"/>
                </a:solidFill>
                <a:latin typeface="Hiragino Kaku Gothic ProN W3"/>
                <a:ea typeface="Hiragino Kaku Gothic ProN W3"/>
                <a:cs typeface="Hiragino Kaku Gothic ProN W3"/>
              </a:defRPr>
            </a:lvl2pPr>
            <a:lvl3pPr>
              <a:defRPr sz="2550" b="0">
                <a:solidFill>
                  <a:srgbClr val="282629"/>
                </a:solidFill>
                <a:latin typeface="Hiragino Kaku Gothic ProN W3"/>
                <a:ea typeface="Hiragino Kaku Gothic ProN W3"/>
                <a:cs typeface="Hiragino Kaku Gothic ProN W3"/>
              </a:defRPr>
            </a:lvl3pPr>
            <a:lvl4pPr>
              <a:defRPr sz="2550" b="0">
                <a:solidFill>
                  <a:srgbClr val="282629"/>
                </a:solidFill>
                <a:latin typeface="Hiragino Kaku Gothic ProN W3"/>
                <a:ea typeface="Hiragino Kaku Gothic ProN W3"/>
                <a:cs typeface="Hiragino Kaku Gothic ProN W3"/>
              </a:defRPr>
            </a:lvl4pPr>
            <a:lvl5pPr>
              <a:defRPr sz="2550" b="0">
                <a:solidFill>
                  <a:srgbClr val="282629"/>
                </a:solidFill>
                <a:latin typeface="Hiragino Kaku Gothic ProN W3"/>
                <a:ea typeface="Hiragino Kaku Gothic ProN W3"/>
                <a:cs typeface="Hiragino Kaku Gothic ProN W3"/>
              </a:defRPr>
            </a:lvl5pPr>
            <a:lvl6pPr>
              <a:defRPr sz="2550" b="0">
                <a:solidFill>
                  <a:srgbClr val="282629"/>
                </a:solidFill>
                <a:latin typeface="Hiragino Kaku Gothic ProN W3"/>
                <a:ea typeface="Hiragino Kaku Gothic ProN W3"/>
                <a:cs typeface="Hiragino Kaku Gothic ProN W3"/>
              </a:defRPr>
            </a:lvl6pPr>
            <a:lvl7pPr>
              <a:defRPr sz="2550" b="0">
                <a:solidFill>
                  <a:srgbClr val="282629"/>
                </a:solidFill>
                <a:latin typeface="Hiragino Kaku Gothic ProN W3"/>
                <a:ea typeface="Hiragino Kaku Gothic ProN W3"/>
                <a:cs typeface="Hiragino Kaku Gothic ProN W3"/>
              </a:defRPr>
            </a:lvl7pPr>
            <a:lvl8pPr>
              <a:defRPr sz="2550" b="0">
                <a:solidFill>
                  <a:srgbClr val="282629"/>
                </a:solidFill>
                <a:latin typeface="Hiragino Kaku Gothic ProN W3"/>
                <a:ea typeface="Hiragino Kaku Gothic ProN W3"/>
                <a:cs typeface="Hiragino Kaku Gothic ProN W3"/>
              </a:defRPr>
            </a:lvl8pPr>
            <a:lvl9pPr>
              <a:defRPr sz="2550" b="0">
                <a:solidFill>
                  <a:srgbClr val="282629"/>
                </a:solidFill>
                <a:latin typeface="Hiragino Kaku Gothic ProN W3"/>
                <a:ea typeface="Hiragino Kaku Gothic ProN W3"/>
                <a:cs typeface="Hiragino Kaku Gothic ProN W3"/>
              </a:defRPr>
            </a:lvl9pPr>
          </a:lstStyle>
          <a:p>
            <a:pPr>
              <a:defRPr sz="2550" b="0">
                <a:solidFill>
                  <a:srgbClr val="282629"/>
                </a:solidFill>
                <a:latin typeface="Hiragino Kaku Gothic ProN W3"/>
                <a:ea typeface="Hiragino Kaku Gothic ProN W3"/>
                <a:cs typeface="Hiragino Kaku Gothic ProN W3"/>
              </a:defRPr>
            </a:pPr>
            <a:r>
              <a:rPr sz="2550" b="0">
                <a:solidFill>
                  <a:srgbClr val="282629"/>
                </a:solidFill>
                <a:latin typeface="Hiragino Kaku Gothic ProN W3"/>
                <a:ea typeface="Hiragino Kaku Gothic ProN W3"/>
                <a:cs typeface="Hiragino Kaku Gothic ProN W3"/>
              </a:rPr>
              <a:t>W′ = W + ρ </a:t>
            </a:r>
            <a:r>
              <a:rPr sz="2550" b="1">
                <a:solidFill>
                  <a:srgbClr val="E02B2B"/>
                </a:solidFill>
                <a:latin typeface="Hiragino Kaku Gothic ProN W3"/>
                <a:ea typeface="Hiragino Kaku Gothic ProN W3"/>
                <a:cs typeface="Hiragino Kaku Gothic ProN W3"/>
              </a:rPr>
              <a:t>Wᵣ</a:t>
            </a:r>
          </a:p>
        </p:txBody>
      </p:sp>
      <p:sp>
        <p:nvSpPr>
          <p:cNvPr id="9" name="正方形/長方形 8">
            <a:extLst>
              <a:ext uri="{FF2B5EF4-FFF2-40B4-BE49-F238E27FC236}">
                <a16:creationId xmlns:a16="http://schemas.microsoft.com/office/drawing/2014/main" id="{95BE6BCF-A7E1-47CD-97E5-411D7A8378FC}"/>
              </a:ext>
            </a:extLst>
          </p:cNvPr>
          <p:cNvSpPr>
            <a:spLocks noGrp="1"/>
          </p:cNvSpPr>
          <p:nvPr/>
        </p:nvSpPr>
        <p:spPr>
          <a:xfrm>
            <a:off x="571500" y="2714625"/>
            <a:ext cx="8001000" cy="7810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defRPr sz="1600" b="0">
                <a:solidFill>
                  <a:srgbClr val="282629"/>
                </a:solidFill>
                <a:latin typeface="Hiragino Kaku Gothic ProN W3"/>
                <a:ea typeface="Hiragino Kaku Gothic ProN W3"/>
                <a:cs typeface="Hiragino Kaku Gothic ProN W3"/>
              </a:defRPr>
            </a:pPr>
            <a:r>
              <a:rPr dirty="0"/>
              <a:t>W：元Witness　Wᵣ：</a:t>
            </a:r>
            <a:r>
              <a:rPr dirty="0" err="1"/>
              <a:t>新しく生成するランダムなWitness</a:t>
            </a:r>
            <a:endParaRPr dirty="0"/>
          </a:p>
          <a:p>
            <a:pPr>
              <a:defRPr sz="1600" b="0">
                <a:solidFill>
                  <a:srgbClr val="282629"/>
                </a:solidFill>
                <a:latin typeface="Hiragino Kaku Gothic ProN W3"/>
                <a:ea typeface="Hiragino Kaku Gothic ProN W3"/>
                <a:cs typeface="Hiragino Kaku Gothic ProN W3"/>
              </a:defRPr>
            </a:pPr>
            <a:r>
              <a:rPr dirty="0">
                <a:solidFill>
                  <a:srgbClr val="FF0000"/>
                </a:solidFill>
              </a:rPr>
              <a:t>W′：</a:t>
            </a:r>
            <a:r>
              <a:rPr dirty="0" err="1">
                <a:solidFill>
                  <a:srgbClr val="FF0000"/>
                </a:solidFill>
              </a:rPr>
              <a:t>混ぜた後のWitness。乱数Wᵣは公開せず、元の値の復元を防ぐ</a:t>
            </a:r>
            <a:endParaRPr dirty="0">
              <a:solidFill>
                <a:srgbClr val="FF0000"/>
              </a:solidFill>
            </a:endParaRPr>
          </a:p>
        </p:txBody>
      </p:sp>
      <p:sp>
        <p:nvSpPr>
          <p:cNvPr id="10" name="正方形/長方形 9">
            <a:extLst>
              <a:ext uri="{FF2B5EF4-FFF2-40B4-BE49-F238E27FC236}">
                <a16:creationId xmlns:a16="http://schemas.microsoft.com/office/drawing/2014/main" id="{A556BF4C-DE0B-4788-9D24-A114349D5552}"/>
              </a:ext>
            </a:extLst>
          </p:cNvPr>
          <p:cNvSpPr>
            <a:spLocks noGrp="1"/>
          </p:cNvSpPr>
          <p:nvPr/>
        </p:nvSpPr>
        <p:spPr>
          <a:xfrm>
            <a:off x="400050" y="3781425"/>
            <a:ext cx="8286750" cy="22860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まだ必要なこと</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Witnessを混ぜても、ほかの公開情報から秘密が漏れる可能性がある</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元の計算と正しく結び付くことも、検証できなければならない</a:t>
            </a:r>
            <a:endParaRPr sz="1600" b="0" dirty="0">
              <a:solidFill>
                <a:srgbClr val="282629"/>
              </a:solidFill>
              <a:latin typeface="Hiragino Kaku Gothic ProN W3"/>
              <a:ea typeface="Hiragino Kaku Gothic ProN W3"/>
              <a:cs typeface="Hiragino Kaku Gothic ProN W3"/>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ja-JP" altLang="en-US" dirty="0"/>
              <a:t>前の</a:t>
            </a:r>
            <a:r>
              <a:rPr sz="1600" b="0" dirty="0" err="1">
                <a:solidFill>
                  <a:srgbClr val="282629"/>
                </a:solidFill>
                <a:latin typeface="Hiragino Kaku Gothic ProN W3"/>
                <a:ea typeface="Hiragino Kaku Gothic ProN W3"/>
                <a:cs typeface="Hiragino Kaku Gothic ProN W3"/>
              </a:rPr>
              <a:t>blind回路</a:t>
            </a:r>
            <a:r>
              <a:rPr lang="ja-JP" altLang="en-US" sz="1600" b="0" dirty="0">
                <a:solidFill>
                  <a:srgbClr val="282629"/>
                </a:solidFill>
                <a:latin typeface="Hiragino Kaku Gothic ProN W3"/>
                <a:ea typeface="Hiragino Kaku Gothic ProN W3"/>
                <a:cs typeface="Hiragino Kaku Gothic ProN W3"/>
              </a:rPr>
              <a:t>で使用される</a:t>
            </a:r>
            <a:endParaRPr sz="16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B7CDCFE5-FE39-D6F4-5954-110B0C890FE9}"/>
              </a:ext>
            </a:extLst>
          </p:cNvPr>
          <p:cNvSpPr>
            <a:spLocks noGrp="1"/>
          </p:cNvSpPr>
          <p:nvPr>
            <p:ph type="sldNum" idx="12"/>
          </p:nvPr>
        </p:nvSpPr>
        <p:spPr/>
        <p:txBody>
          <a:bodyPr/>
          <a:lstStyle/>
          <a:p>
            <a:fld id="{C1FF6DA9-008F-8B48-92A6-B652298478BF}" type="slidenum">
              <a:rPr lang="en-US" altLang="ja-JP" smtClean="0"/>
              <a:t>10</a:t>
            </a:fld>
            <a:endParaRPr lang="ja-JP" altLang="en-US"/>
          </a:p>
        </p:txBody>
      </p:sp>
      <p:pic>
        <p:nvPicPr>
          <p:cNvPr id="12" name="図 11">
            <a:extLst>
              <a:ext uri="{FF2B5EF4-FFF2-40B4-BE49-F238E27FC236}">
                <a16:creationId xmlns:a16="http://schemas.microsoft.com/office/drawing/2014/main" id="{250B38ED-7D18-00E2-8B8B-12036C43B015}"/>
              </a:ext>
            </a:extLst>
          </p:cNvPr>
          <p:cNvPicPr>
            <a:picLocks noChangeAspect="1"/>
          </p:cNvPicPr>
          <p:nvPr/>
        </p:nvPicPr>
        <p:blipFill>
          <a:blip r:embed="rId3"/>
          <a:stretch>
            <a:fillRect/>
          </a:stretch>
        </p:blipFill>
        <p:spPr>
          <a:xfrm>
            <a:off x="5609502" y="1268541"/>
            <a:ext cx="2886798" cy="553484"/>
          </a:xfrm>
          <a:prstGeom prst="rect">
            <a:avLst/>
          </a:prstGeom>
        </p:spPr>
      </p:pic>
      <p:sp>
        <p:nvSpPr>
          <p:cNvPr id="14" name="テキスト ボックス 13">
            <a:extLst>
              <a:ext uri="{FF2B5EF4-FFF2-40B4-BE49-F238E27FC236}">
                <a16:creationId xmlns:a16="http://schemas.microsoft.com/office/drawing/2014/main" id="{A2429971-324C-9241-65FB-242375833376}"/>
              </a:ext>
            </a:extLst>
          </p:cNvPr>
          <p:cNvSpPr txBox="1"/>
          <p:nvPr/>
        </p:nvSpPr>
        <p:spPr>
          <a:xfrm>
            <a:off x="5886995" y="1867513"/>
            <a:ext cx="4615542" cy="369332"/>
          </a:xfrm>
          <a:prstGeom prst="rect">
            <a:avLst/>
          </a:prstGeom>
          <a:noFill/>
        </p:spPr>
        <p:txBody>
          <a:bodyPr wrap="square">
            <a:spAutoFit/>
          </a:bodyPr>
          <a:lstStyle/>
          <a:p>
            <a:r>
              <a:rPr lang="ja-JP" altLang="ja-JP" sz="1800" dirty="0">
                <a:solidFill>
                  <a:srgbClr val="FF0000"/>
                </a:solidFill>
              </a:rPr>
              <a:t>s：秘密入力</a:t>
            </a:r>
            <a:endParaRPr lang="ja-JP" altLang="en-US" dirty="0"/>
          </a:p>
        </p:txBody>
      </p:sp>
    </p:spTree>
    <p:extLst>
      <p:ext uri="{BB962C8B-B14F-4D97-AF65-F5344CB8AC3E}">
        <p14:creationId xmlns:p14="http://schemas.microsoft.com/office/powerpoint/2010/main" val="1512234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秘匿化で追加するランダムな入力</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② ランダム化した後も、正しい関係を保つ条件を追加する</a:t>
            </a:r>
          </a:p>
        </p:txBody>
      </p:sp>
      <p:sp>
        <p:nvSpPr>
          <p:cNvPr id="7" name="正方形/長方形 6">
            <a:extLst>
              <a:ext uri="{FF2B5EF4-FFF2-40B4-BE49-F238E27FC236}">
                <a16:creationId xmlns:a16="http://schemas.microsoft.com/office/drawing/2014/main" id="{92161468-FFC0-4645-A3C3-5CD3B252D65B}"/>
              </a:ext>
            </a:extLst>
          </p:cNvPr>
          <p:cNvSpPr>
            <a:spLocks noGrp="1"/>
          </p:cNvSpPr>
          <p:nvPr/>
        </p:nvSpPr>
        <p:spPr>
          <a:xfrm>
            <a:off x="400050" y="1343025"/>
            <a:ext cx="8096250" cy="361950"/>
          </a:xfrm>
          <a:prstGeom prst="rect">
            <a:avLst/>
          </a:prstGeom>
          <a:noFill/>
          <a:ln w="0">
            <a:noFill/>
          </a:ln>
        </p:spPr>
        <p:txBody>
          <a:bodyPr wrap="square" lIns="0" tIns="0" rIns="0" bIns="0" anchor="t">
            <a:noAutofit/>
          </a:bodyPr>
          <a:lstStyle>
            <a:defPPr>
              <a:defRPr sz="1700" b="1">
                <a:solidFill>
                  <a:srgbClr val="2F64A1"/>
                </a:solidFill>
                <a:latin typeface="Hiragino Kaku Gothic ProN W6"/>
                <a:ea typeface="Hiragino Kaku Gothic ProN W6"/>
                <a:cs typeface="Hiragino Kaku Gothic ProN W6"/>
              </a:defRPr>
            </a:defPPr>
            <a:lvl1pPr>
              <a:defRPr sz="1700" b="1">
                <a:solidFill>
                  <a:srgbClr val="2F64A1"/>
                </a:solidFill>
                <a:latin typeface="Hiragino Kaku Gothic ProN W6"/>
                <a:ea typeface="Hiragino Kaku Gothic ProN W6"/>
                <a:cs typeface="Hiragino Kaku Gothic ProN W6"/>
              </a:defRPr>
            </a:lvl1pPr>
            <a:lvl2pPr>
              <a:defRPr sz="1700" b="1">
                <a:solidFill>
                  <a:srgbClr val="2F64A1"/>
                </a:solidFill>
                <a:latin typeface="Hiragino Kaku Gothic ProN W6"/>
                <a:ea typeface="Hiragino Kaku Gothic ProN W6"/>
                <a:cs typeface="Hiragino Kaku Gothic ProN W6"/>
              </a:defRPr>
            </a:lvl2pPr>
            <a:lvl3pPr>
              <a:defRPr sz="1700" b="1">
                <a:solidFill>
                  <a:srgbClr val="2F64A1"/>
                </a:solidFill>
                <a:latin typeface="Hiragino Kaku Gothic ProN W6"/>
                <a:ea typeface="Hiragino Kaku Gothic ProN W6"/>
                <a:cs typeface="Hiragino Kaku Gothic ProN W6"/>
              </a:defRPr>
            </a:lvl3pPr>
            <a:lvl4pPr>
              <a:defRPr sz="1700" b="1">
                <a:solidFill>
                  <a:srgbClr val="2F64A1"/>
                </a:solidFill>
                <a:latin typeface="Hiragino Kaku Gothic ProN W6"/>
                <a:ea typeface="Hiragino Kaku Gothic ProN W6"/>
                <a:cs typeface="Hiragino Kaku Gothic ProN W6"/>
              </a:defRPr>
            </a:lvl4pPr>
            <a:lvl5pPr>
              <a:defRPr sz="1700" b="1">
                <a:solidFill>
                  <a:srgbClr val="2F64A1"/>
                </a:solidFill>
                <a:latin typeface="Hiragino Kaku Gothic ProN W6"/>
                <a:ea typeface="Hiragino Kaku Gothic ProN W6"/>
                <a:cs typeface="Hiragino Kaku Gothic ProN W6"/>
              </a:defRPr>
            </a:lvl5pPr>
            <a:lvl6pPr>
              <a:defRPr sz="1700" b="1">
                <a:solidFill>
                  <a:srgbClr val="2F64A1"/>
                </a:solidFill>
                <a:latin typeface="Hiragino Kaku Gothic ProN W6"/>
                <a:ea typeface="Hiragino Kaku Gothic ProN W6"/>
                <a:cs typeface="Hiragino Kaku Gothic ProN W6"/>
              </a:defRPr>
            </a:lvl6pPr>
            <a:lvl7pPr>
              <a:defRPr sz="1700" b="1">
                <a:solidFill>
                  <a:srgbClr val="2F64A1"/>
                </a:solidFill>
                <a:latin typeface="Hiragino Kaku Gothic ProN W6"/>
                <a:ea typeface="Hiragino Kaku Gothic ProN W6"/>
                <a:cs typeface="Hiragino Kaku Gothic ProN W6"/>
              </a:defRPr>
            </a:lvl7pPr>
            <a:lvl8pPr>
              <a:defRPr sz="1700" b="1">
                <a:solidFill>
                  <a:srgbClr val="2F64A1"/>
                </a:solidFill>
                <a:latin typeface="Hiragino Kaku Gothic ProN W6"/>
                <a:ea typeface="Hiragino Kaku Gothic ProN W6"/>
                <a:cs typeface="Hiragino Kaku Gothic ProN W6"/>
              </a:defRPr>
            </a:lvl8pPr>
            <a:lvl9pPr>
              <a:defRPr sz="1700" b="1">
                <a:solidFill>
                  <a:srgbClr val="2F64A1"/>
                </a:solidFill>
                <a:latin typeface="Hiragino Kaku Gothic ProN W6"/>
                <a:ea typeface="Hiragino Kaku Gothic ProN W6"/>
                <a:cs typeface="Hiragino Kaku Gothic ProN W6"/>
              </a:defRPr>
            </a:lvl9pPr>
          </a:lstStyle>
          <a:p>
            <a:pPr>
              <a:defRPr sz="1700" b="1">
                <a:solidFill>
                  <a:srgbClr val="2F64A1"/>
                </a:solidFill>
                <a:latin typeface="Hiragino Kaku Gothic ProN W6"/>
                <a:ea typeface="Hiragino Kaku Gothic ProN W6"/>
                <a:cs typeface="Hiragino Kaku Gothic ProN W6"/>
              </a:defRPr>
            </a:pPr>
            <a:r>
              <a:rPr dirty="0"/>
              <a:t>■ </a:t>
            </a:r>
            <a:r>
              <a:rPr dirty="0" err="1"/>
              <a:t>Novaのrelaxed</a:t>
            </a:r>
            <a:r>
              <a:rPr dirty="0"/>
              <a:t> R1CS</a:t>
            </a:r>
            <a:r>
              <a:rPr lang="ja-JP" altLang="en-US" dirty="0"/>
              <a:t>の</a:t>
            </a:r>
            <a:r>
              <a:rPr dirty="0" err="1"/>
              <a:t>秘匿化</a:t>
            </a:r>
            <a:endParaRPr dirty="0"/>
          </a:p>
        </p:txBody>
      </p:sp>
      <p:sp>
        <p:nvSpPr>
          <p:cNvPr id="8" name="正方形/長方形 7">
            <a:extLst>
              <a:ext uri="{FF2B5EF4-FFF2-40B4-BE49-F238E27FC236}">
                <a16:creationId xmlns:a16="http://schemas.microsoft.com/office/drawing/2014/main" id="{9BB640AA-197D-436C-A1C1-F3ACC592D666}"/>
              </a:ext>
            </a:extLst>
          </p:cNvPr>
          <p:cNvSpPr>
            <a:spLocks noGrp="1"/>
          </p:cNvSpPr>
          <p:nvPr/>
        </p:nvSpPr>
        <p:spPr>
          <a:xfrm>
            <a:off x="571500" y="1981200"/>
            <a:ext cx="8001000" cy="647700"/>
          </a:xfrm>
          <a:prstGeom prst="rect">
            <a:avLst/>
          </a:prstGeom>
          <a:noFill/>
          <a:ln w="0">
            <a:noFill/>
          </a:ln>
        </p:spPr>
        <p:txBody>
          <a:bodyPr wrap="square" lIns="0" tIns="0" rIns="0" bIns="0" anchor="t">
            <a:noAutofit/>
          </a:bodyPr>
          <a:lstStyle>
            <a:defPPr>
              <a:defRPr sz="2550" b="0">
                <a:solidFill>
                  <a:srgbClr val="282629"/>
                </a:solidFill>
                <a:latin typeface="Hiragino Kaku Gothic ProN W3"/>
                <a:ea typeface="Hiragino Kaku Gothic ProN W3"/>
                <a:cs typeface="Hiragino Kaku Gothic ProN W3"/>
              </a:defRPr>
            </a:defPPr>
            <a:lvl1pPr>
              <a:defRPr sz="2550" b="0">
                <a:solidFill>
                  <a:srgbClr val="282629"/>
                </a:solidFill>
                <a:latin typeface="Hiragino Kaku Gothic ProN W3"/>
                <a:ea typeface="Hiragino Kaku Gothic ProN W3"/>
                <a:cs typeface="Hiragino Kaku Gothic ProN W3"/>
              </a:defRPr>
            </a:lvl1pPr>
            <a:lvl2pPr>
              <a:defRPr sz="2550" b="0">
                <a:solidFill>
                  <a:srgbClr val="282629"/>
                </a:solidFill>
                <a:latin typeface="Hiragino Kaku Gothic ProN W3"/>
                <a:ea typeface="Hiragino Kaku Gothic ProN W3"/>
                <a:cs typeface="Hiragino Kaku Gothic ProN W3"/>
              </a:defRPr>
            </a:lvl2pPr>
            <a:lvl3pPr>
              <a:defRPr sz="2550" b="0">
                <a:solidFill>
                  <a:srgbClr val="282629"/>
                </a:solidFill>
                <a:latin typeface="Hiragino Kaku Gothic ProN W3"/>
                <a:ea typeface="Hiragino Kaku Gothic ProN W3"/>
                <a:cs typeface="Hiragino Kaku Gothic ProN W3"/>
              </a:defRPr>
            </a:lvl3pPr>
            <a:lvl4pPr>
              <a:defRPr sz="2550" b="0">
                <a:solidFill>
                  <a:srgbClr val="282629"/>
                </a:solidFill>
                <a:latin typeface="Hiragino Kaku Gothic ProN W3"/>
                <a:ea typeface="Hiragino Kaku Gothic ProN W3"/>
                <a:cs typeface="Hiragino Kaku Gothic ProN W3"/>
              </a:defRPr>
            </a:lvl4pPr>
            <a:lvl5pPr>
              <a:defRPr sz="2550" b="0">
                <a:solidFill>
                  <a:srgbClr val="282629"/>
                </a:solidFill>
                <a:latin typeface="Hiragino Kaku Gothic ProN W3"/>
                <a:ea typeface="Hiragino Kaku Gothic ProN W3"/>
                <a:cs typeface="Hiragino Kaku Gothic ProN W3"/>
              </a:defRPr>
            </a:lvl5pPr>
            <a:lvl6pPr>
              <a:defRPr sz="2550" b="0">
                <a:solidFill>
                  <a:srgbClr val="282629"/>
                </a:solidFill>
                <a:latin typeface="Hiragino Kaku Gothic ProN W3"/>
                <a:ea typeface="Hiragino Kaku Gothic ProN W3"/>
                <a:cs typeface="Hiragino Kaku Gothic ProN W3"/>
              </a:defRPr>
            </a:lvl6pPr>
            <a:lvl7pPr>
              <a:defRPr sz="2550" b="0">
                <a:solidFill>
                  <a:srgbClr val="282629"/>
                </a:solidFill>
                <a:latin typeface="Hiragino Kaku Gothic ProN W3"/>
                <a:ea typeface="Hiragino Kaku Gothic ProN W3"/>
                <a:cs typeface="Hiragino Kaku Gothic ProN W3"/>
              </a:defRPr>
            </a:lvl7pPr>
            <a:lvl8pPr>
              <a:defRPr sz="2550" b="0">
                <a:solidFill>
                  <a:srgbClr val="282629"/>
                </a:solidFill>
                <a:latin typeface="Hiragino Kaku Gothic ProN W3"/>
                <a:ea typeface="Hiragino Kaku Gothic ProN W3"/>
                <a:cs typeface="Hiragino Kaku Gothic ProN W3"/>
              </a:defRPr>
            </a:lvl8pPr>
            <a:lvl9pPr>
              <a:defRPr sz="2550" b="0">
                <a:solidFill>
                  <a:srgbClr val="282629"/>
                </a:solidFill>
                <a:latin typeface="Hiragino Kaku Gothic ProN W3"/>
                <a:ea typeface="Hiragino Kaku Gothic ProN W3"/>
                <a:cs typeface="Hiragino Kaku Gothic ProN W3"/>
              </a:defRPr>
            </a:lvl9pPr>
          </a:lstStyle>
          <a:p>
            <a:pPr>
              <a:defRPr sz="2550" b="0">
                <a:solidFill>
                  <a:srgbClr val="282629"/>
                </a:solidFill>
                <a:latin typeface="Hiragino Kaku Gothic ProN W3"/>
                <a:ea typeface="Hiragino Kaku Gothic ProN W3"/>
                <a:cs typeface="Hiragino Kaku Gothic ProN W3"/>
              </a:defRPr>
            </a:pPr>
            <a:r>
              <a:rPr sz="2550" b="0">
                <a:solidFill>
                  <a:srgbClr val="282629"/>
                </a:solidFill>
                <a:latin typeface="Hiragino Kaku Gothic ProN W3"/>
                <a:ea typeface="Hiragino Kaku Gothic ProN W3"/>
                <a:cs typeface="Hiragino Kaku Gothic ProN W3"/>
              </a:rPr>
              <a:t>W′ = W + ρ </a:t>
            </a:r>
            <a:r>
              <a:rPr sz="2550" b="1">
                <a:solidFill>
                  <a:srgbClr val="E02B2B"/>
                </a:solidFill>
                <a:latin typeface="Hiragino Kaku Gothic ProN W3"/>
                <a:ea typeface="Hiragino Kaku Gothic ProN W3"/>
                <a:cs typeface="Hiragino Kaku Gothic ProN W3"/>
              </a:rPr>
              <a:t>Wᵣ</a:t>
            </a:r>
          </a:p>
        </p:txBody>
      </p:sp>
      <p:sp>
        <p:nvSpPr>
          <p:cNvPr id="9" name="正方形/長方形 8">
            <a:extLst>
              <a:ext uri="{FF2B5EF4-FFF2-40B4-BE49-F238E27FC236}">
                <a16:creationId xmlns:a16="http://schemas.microsoft.com/office/drawing/2014/main" id="{617982C2-0C46-43B7-AEFE-14F1BAF522B7}"/>
              </a:ext>
            </a:extLst>
          </p:cNvPr>
          <p:cNvSpPr>
            <a:spLocks noGrp="1"/>
          </p:cNvSpPr>
          <p:nvPr/>
        </p:nvSpPr>
        <p:spPr>
          <a:xfrm>
            <a:off x="571500" y="2714625"/>
            <a:ext cx="8001000" cy="7810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defRPr sz="1600" b="0">
                <a:solidFill>
                  <a:srgbClr val="282629"/>
                </a:solidFill>
                <a:latin typeface="Hiragino Kaku Gothic ProN W3"/>
                <a:ea typeface="Hiragino Kaku Gothic ProN W3"/>
                <a:cs typeface="Hiragino Kaku Gothic ProN W3"/>
              </a:defRPr>
            </a:pPr>
            <a:r>
              <a:rPr dirty="0"/>
              <a:t>W：元Witness　Wᵣ：</a:t>
            </a:r>
            <a:r>
              <a:rPr dirty="0" err="1"/>
              <a:t>新しく生成するランダムなWitness</a:t>
            </a:r>
            <a:endParaRPr dirty="0"/>
          </a:p>
          <a:p>
            <a:pPr>
              <a:defRPr sz="1600" b="0">
                <a:solidFill>
                  <a:srgbClr val="282629"/>
                </a:solidFill>
                <a:latin typeface="Hiragino Kaku Gothic ProN W3"/>
                <a:ea typeface="Hiragino Kaku Gothic ProN W3"/>
                <a:cs typeface="Hiragino Kaku Gothic ProN W3"/>
              </a:defRPr>
            </a:pPr>
            <a:r>
              <a:rPr dirty="0">
                <a:solidFill>
                  <a:srgbClr val="FF0000"/>
                </a:solidFill>
              </a:rPr>
              <a:t>W′：</a:t>
            </a:r>
            <a:r>
              <a:rPr dirty="0" err="1">
                <a:solidFill>
                  <a:srgbClr val="FF0000"/>
                </a:solidFill>
              </a:rPr>
              <a:t>混ぜた後のWitness。乱数Wᵣは公開せず、元の値の復元を防ぐ</a:t>
            </a:r>
            <a:endParaRPr dirty="0">
              <a:solidFill>
                <a:srgbClr val="FF0000"/>
              </a:solidFill>
            </a:endParaRPr>
          </a:p>
        </p:txBody>
      </p:sp>
      <p:sp>
        <p:nvSpPr>
          <p:cNvPr id="10" name="正方形/長方形 9">
            <a:extLst>
              <a:ext uri="{FF2B5EF4-FFF2-40B4-BE49-F238E27FC236}">
                <a16:creationId xmlns:a16="http://schemas.microsoft.com/office/drawing/2014/main" id="{0C02C107-FD21-4655-9D53-3AB7481F279D}"/>
              </a:ext>
            </a:extLst>
          </p:cNvPr>
          <p:cNvSpPr>
            <a:spLocks noGrp="1"/>
          </p:cNvSpPr>
          <p:nvPr/>
        </p:nvSpPr>
        <p:spPr>
          <a:xfrm>
            <a:off x="571500" y="3714750"/>
            <a:ext cx="8001000" cy="647700"/>
          </a:xfrm>
          <a:prstGeom prst="rect">
            <a:avLst/>
          </a:prstGeom>
          <a:noFill/>
          <a:ln w="0">
            <a:noFill/>
          </a:ln>
        </p:spPr>
        <p:txBody>
          <a:bodyPr wrap="square" lIns="0" tIns="0" rIns="0" bIns="0" anchor="t">
            <a:noAutofit/>
          </a:bodyPr>
          <a:lstStyle>
            <a:defPPr>
              <a:defRPr sz="2100" b="0">
                <a:solidFill>
                  <a:srgbClr val="282629"/>
                </a:solidFill>
                <a:latin typeface="Hiragino Kaku Gothic ProN W3"/>
                <a:ea typeface="Hiragino Kaku Gothic ProN W3"/>
                <a:cs typeface="Hiragino Kaku Gothic ProN W3"/>
              </a:defRPr>
            </a:defPPr>
            <a:lvl1pPr>
              <a:defRPr sz="2100" b="0">
                <a:solidFill>
                  <a:srgbClr val="282629"/>
                </a:solidFill>
                <a:latin typeface="Hiragino Kaku Gothic ProN W3"/>
                <a:ea typeface="Hiragino Kaku Gothic ProN W3"/>
                <a:cs typeface="Hiragino Kaku Gothic ProN W3"/>
              </a:defRPr>
            </a:lvl1pPr>
            <a:lvl2pPr>
              <a:defRPr sz="2100" b="0">
                <a:solidFill>
                  <a:srgbClr val="282629"/>
                </a:solidFill>
                <a:latin typeface="Hiragino Kaku Gothic ProN W3"/>
                <a:ea typeface="Hiragino Kaku Gothic ProN W3"/>
                <a:cs typeface="Hiragino Kaku Gothic ProN W3"/>
              </a:defRPr>
            </a:lvl2pPr>
            <a:lvl3pPr>
              <a:defRPr sz="2100" b="0">
                <a:solidFill>
                  <a:srgbClr val="282629"/>
                </a:solidFill>
                <a:latin typeface="Hiragino Kaku Gothic ProN W3"/>
                <a:ea typeface="Hiragino Kaku Gothic ProN W3"/>
                <a:cs typeface="Hiragino Kaku Gothic ProN W3"/>
              </a:defRPr>
            </a:lvl3pPr>
            <a:lvl4pPr>
              <a:defRPr sz="2100" b="0">
                <a:solidFill>
                  <a:srgbClr val="282629"/>
                </a:solidFill>
                <a:latin typeface="Hiragino Kaku Gothic ProN W3"/>
                <a:ea typeface="Hiragino Kaku Gothic ProN W3"/>
                <a:cs typeface="Hiragino Kaku Gothic ProN W3"/>
              </a:defRPr>
            </a:lvl4pPr>
            <a:lvl5pPr>
              <a:defRPr sz="2100" b="0">
                <a:solidFill>
                  <a:srgbClr val="282629"/>
                </a:solidFill>
                <a:latin typeface="Hiragino Kaku Gothic ProN W3"/>
                <a:ea typeface="Hiragino Kaku Gothic ProN W3"/>
                <a:cs typeface="Hiragino Kaku Gothic ProN W3"/>
              </a:defRPr>
            </a:lvl5pPr>
            <a:lvl6pPr>
              <a:defRPr sz="2100" b="0">
                <a:solidFill>
                  <a:srgbClr val="282629"/>
                </a:solidFill>
                <a:latin typeface="Hiragino Kaku Gothic ProN W3"/>
                <a:ea typeface="Hiragino Kaku Gothic ProN W3"/>
                <a:cs typeface="Hiragino Kaku Gothic ProN W3"/>
              </a:defRPr>
            </a:lvl6pPr>
            <a:lvl7pPr>
              <a:defRPr sz="2100" b="0">
                <a:solidFill>
                  <a:srgbClr val="282629"/>
                </a:solidFill>
                <a:latin typeface="Hiragino Kaku Gothic ProN W3"/>
                <a:ea typeface="Hiragino Kaku Gothic ProN W3"/>
                <a:cs typeface="Hiragino Kaku Gothic ProN W3"/>
              </a:defRPr>
            </a:lvl7pPr>
            <a:lvl8pPr>
              <a:defRPr sz="2100" b="0">
                <a:solidFill>
                  <a:srgbClr val="282629"/>
                </a:solidFill>
                <a:latin typeface="Hiragino Kaku Gothic ProN W3"/>
                <a:ea typeface="Hiragino Kaku Gothic ProN W3"/>
                <a:cs typeface="Hiragino Kaku Gothic ProN W3"/>
              </a:defRPr>
            </a:lvl8pPr>
            <a:lvl9pPr>
              <a:defRPr sz="2100" b="0">
                <a:solidFill>
                  <a:srgbClr val="282629"/>
                </a:solidFill>
                <a:latin typeface="Hiragino Kaku Gothic ProN W3"/>
                <a:ea typeface="Hiragino Kaku Gothic ProN W3"/>
                <a:cs typeface="Hiragino Kaku Gothic ProN W3"/>
              </a:defRPr>
            </a:lvl9pPr>
          </a:lstStyle>
          <a:p>
            <a:pPr>
              <a:defRPr sz="2100" b="0">
                <a:solidFill>
                  <a:srgbClr val="282629"/>
                </a:solidFill>
                <a:latin typeface="Hiragino Kaku Gothic ProN W3"/>
                <a:ea typeface="Hiragino Kaku Gothic ProN W3"/>
                <a:cs typeface="Hiragino Kaku Gothic ProN W3"/>
              </a:defRPr>
            </a:pPr>
            <a:r>
              <a:rPr sz="2100" b="0" dirty="0">
                <a:solidFill>
                  <a:srgbClr val="282629"/>
                </a:solidFill>
                <a:latin typeface="Hiragino Kaku Gothic ProN W3"/>
                <a:ea typeface="Hiragino Kaku Gothic ProN W3"/>
                <a:cs typeface="Hiragino Kaku Gothic ProN W3"/>
              </a:rPr>
              <a:t>AZ ⊙ BZ = u · CZ + E</a:t>
            </a:r>
          </a:p>
        </p:txBody>
      </p:sp>
      <p:sp>
        <p:nvSpPr>
          <p:cNvPr id="11" name="正方形/長方形 10">
            <a:extLst>
              <a:ext uri="{FF2B5EF4-FFF2-40B4-BE49-F238E27FC236}">
                <a16:creationId xmlns:a16="http://schemas.microsoft.com/office/drawing/2014/main" id="{99F8AA48-DFAB-44B6-864E-9AFFA649522B}"/>
              </a:ext>
            </a:extLst>
          </p:cNvPr>
          <p:cNvSpPr>
            <a:spLocks noGrp="1"/>
          </p:cNvSpPr>
          <p:nvPr/>
        </p:nvSpPr>
        <p:spPr>
          <a:xfrm>
            <a:off x="571500" y="4371975"/>
            <a:ext cx="8001000" cy="647700"/>
          </a:xfrm>
          <a:prstGeom prst="rect">
            <a:avLst/>
          </a:prstGeom>
          <a:noFill/>
          <a:ln w="0">
            <a:noFill/>
          </a:ln>
        </p:spPr>
        <p:txBody>
          <a:bodyPr wrap="square" lIns="0" tIns="0" rIns="0" bIns="0" anchor="t">
            <a:noAutofit/>
          </a:bodyPr>
          <a:lstStyle>
            <a:defPPr>
              <a:defRPr sz="2250" b="0">
                <a:solidFill>
                  <a:srgbClr val="282629"/>
                </a:solidFill>
                <a:latin typeface="Hiragino Kaku Gothic ProN W3"/>
                <a:ea typeface="Hiragino Kaku Gothic ProN W3"/>
                <a:cs typeface="Hiragino Kaku Gothic ProN W3"/>
              </a:defRPr>
            </a:defPPr>
            <a:lvl1pPr>
              <a:defRPr sz="2250" b="0">
                <a:solidFill>
                  <a:srgbClr val="282629"/>
                </a:solidFill>
                <a:latin typeface="Hiragino Kaku Gothic ProN W3"/>
                <a:ea typeface="Hiragino Kaku Gothic ProN W3"/>
                <a:cs typeface="Hiragino Kaku Gothic ProN W3"/>
              </a:defRPr>
            </a:lvl1pPr>
            <a:lvl2pPr>
              <a:defRPr sz="2250" b="0">
                <a:solidFill>
                  <a:srgbClr val="282629"/>
                </a:solidFill>
                <a:latin typeface="Hiragino Kaku Gothic ProN W3"/>
                <a:ea typeface="Hiragino Kaku Gothic ProN W3"/>
                <a:cs typeface="Hiragino Kaku Gothic ProN W3"/>
              </a:defRPr>
            </a:lvl2pPr>
            <a:lvl3pPr>
              <a:defRPr sz="2250" b="0">
                <a:solidFill>
                  <a:srgbClr val="282629"/>
                </a:solidFill>
                <a:latin typeface="Hiragino Kaku Gothic ProN W3"/>
                <a:ea typeface="Hiragino Kaku Gothic ProN W3"/>
                <a:cs typeface="Hiragino Kaku Gothic ProN W3"/>
              </a:defRPr>
            </a:lvl3pPr>
            <a:lvl4pPr>
              <a:defRPr sz="2250" b="0">
                <a:solidFill>
                  <a:srgbClr val="282629"/>
                </a:solidFill>
                <a:latin typeface="Hiragino Kaku Gothic ProN W3"/>
                <a:ea typeface="Hiragino Kaku Gothic ProN W3"/>
                <a:cs typeface="Hiragino Kaku Gothic ProN W3"/>
              </a:defRPr>
            </a:lvl4pPr>
            <a:lvl5pPr>
              <a:defRPr sz="2250" b="0">
                <a:solidFill>
                  <a:srgbClr val="282629"/>
                </a:solidFill>
                <a:latin typeface="Hiragino Kaku Gothic ProN W3"/>
                <a:ea typeface="Hiragino Kaku Gothic ProN W3"/>
                <a:cs typeface="Hiragino Kaku Gothic ProN W3"/>
              </a:defRPr>
            </a:lvl5pPr>
            <a:lvl6pPr>
              <a:defRPr sz="2250" b="0">
                <a:solidFill>
                  <a:srgbClr val="282629"/>
                </a:solidFill>
                <a:latin typeface="Hiragino Kaku Gothic ProN W3"/>
                <a:ea typeface="Hiragino Kaku Gothic ProN W3"/>
                <a:cs typeface="Hiragino Kaku Gothic ProN W3"/>
              </a:defRPr>
            </a:lvl6pPr>
            <a:lvl7pPr>
              <a:defRPr sz="2250" b="0">
                <a:solidFill>
                  <a:srgbClr val="282629"/>
                </a:solidFill>
                <a:latin typeface="Hiragino Kaku Gothic ProN W3"/>
                <a:ea typeface="Hiragino Kaku Gothic ProN W3"/>
                <a:cs typeface="Hiragino Kaku Gothic ProN W3"/>
              </a:defRPr>
            </a:lvl7pPr>
            <a:lvl8pPr>
              <a:defRPr sz="2250" b="0">
                <a:solidFill>
                  <a:srgbClr val="282629"/>
                </a:solidFill>
                <a:latin typeface="Hiragino Kaku Gothic ProN W3"/>
                <a:ea typeface="Hiragino Kaku Gothic ProN W3"/>
                <a:cs typeface="Hiragino Kaku Gothic ProN W3"/>
              </a:defRPr>
            </a:lvl8pPr>
            <a:lvl9pPr>
              <a:defRPr sz="2250" b="0">
                <a:solidFill>
                  <a:srgbClr val="282629"/>
                </a:solidFill>
                <a:latin typeface="Hiragino Kaku Gothic ProN W3"/>
                <a:ea typeface="Hiragino Kaku Gothic ProN W3"/>
                <a:cs typeface="Hiragino Kaku Gothic ProN W3"/>
              </a:defRPr>
            </a:lvl9pPr>
          </a:lstStyle>
          <a:p>
            <a:pPr>
              <a:defRPr sz="2250" b="0">
                <a:solidFill>
                  <a:srgbClr val="282629"/>
                </a:solidFill>
                <a:latin typeface="Hiragino Kaku Gothic ProN W3"/>
                <a:ea typeface="Hiragino Kaku Gothic ProN W3"/>
                <a:cs typeface="Hiragino Kaku Gothic ProN W3"/>
              </a:defRPr>
            </a:pPr>
            <a:r>
              <a:rPr sz="2250" b="0" dirty="0">
                <a:solidFill>
                  <a:srgbClr val="282629"/>
                </a:solidFill>
                <a:latin typeface="Hiragino Kaku Gothic ProN W3"/>
                <a:ea typeface="Hiragino Kaku Gothic ProN W3"/>
                <a:cs typeface="Hiragino Kaku Gothic ProN W3"/>
              </a:rPr>
              <a:t>E′ = E + </a:t>
            </a:r>
            <a:r>
              <a:rPr sz="2250" b="0" dirty="0" err="1">
                <a:solidFill>
                  <a:srgbClr val="282629"/>
                </a:solidFill>
                <a:latin typeface="Hiragino Kaku Gothic ProN W3"/>
                <a:ea typeface="Hiragino Kaku Gothic ProN W3"/>
                <a:cs typeface="Hiragino Kaku Gothic ProN W3"/>
              </a:rPr>
              <a:t>ρT</a:t>
            </a:r>
            <a:r>
              <a:rPr sz="2250" b="0" dirty="0">
                <a:solidFill>
                  <a:srgbClr val="282629"/>
                </a:solidFill>
                <a:latin typeface="Hiragino Kaku Gothic ProN W3"/>
                <a:ea typeface="Hiragino Kaku Gothic ProN W3"/>
                <a:cs typeface="Hiragino Kaku Gothic ProN W3"/>
              </a:rPr>
              <a:t> + ρ² </a:t>
            </a:r>
            <a:r>
              <a:rPr sz="2250" b="1" dirty="0">
                <a:solidFill>
                  <a:srgbClr val="E02B2B"/>
                </a:solidFill>
                <a:latin typeface="Hiragino Kaku Gothic ProN W3"/>
                <a:ea typeface="Hiragino Kaku Gothic ProN W3"/>
                <a:cs typeface="Hiragino Kaku Gothic ProN W3"/>
              </a:rPr>
              <a:t>Eᵣ</a:t>
            </a:r>
          </a:p>
        </p:txBody>
      </p:sp>
      <p:sp>
        <p:nvSpPr>
          <p:cNvPr id="12" name="正方形/長方形 11">
            <a:extLst>
              <a:ext uri="{FF2B5EF4-FFF2-40B4-BE49-F238E27FC236}">
                <a16:creationId xmlns:a16="http://schemas.microsoft.com/office/drawing/2014/main" id="{40835D9A-78AD-4291-B377-3F3935931497}"/>
              </a:ext>
            </a:extLst>
          </p:cNvPr>
          <p:cNvSpPr>
            <a:spLocks noGrp="1"/>
          </p:cNvSpPr>
          <p:nvPr/>
        </p:nvSpPr>
        <p:spPr>
          <a:xfrm>
            <a:off x="400050" y="5334000"/>
            <a:ext cx="8286750" cy="10287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Zは割当て、A・B・Cは条件の行列、uは緩和用の値</a:t>
            </a:r>
            <a:endParaRPr sz="1600" b="0" dirty="0">
              <a:solidFill>
                <a:srgbClr val="282629"/>
              </a:solidFill>
              <a:latin typeface="Hiragino Kaku Gothic ProN W3"/>
              <a:ea typeface="Hiragino Kaku Gothic ProN W3"/>
              <a:cs typeface="Hiragino Kaku Gothic ProN W3"/>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FF0000"/>
                </a:solidFill>
                <a:latin typeface="Hiragino Kaku Gothic ProN W3"/>
                <a:ea typeface="Hiragino Kaku Gothic ProN W3"/>
                <a:cs typeface="Hiragino Kaku Gothic ProN W3"/>
              </a:rPr>
              <a:t>Eは関係を保つ補正項。Eᵣは乱数側の補正、Tは交差項</a:t>
            </a:r>
            <a:endParaRPr sz="1600" b="0" dirty="0">
              <a:solidFill>
                <a:srgbClr val="FF0000"/>
              </a:solidFill>
              <a:latin typeface="Hiragino Kaku Gothic ProN W3"/>
              <a:ea typeface="Hiragino Kaku Gothic ProN W3"/>
              <a:cs typeface="Hiragino Kaku Gothic ProN W3"/>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乱数の作り方・commitment・公開される検査情報まで整合させる</a:t>
            </a:r>
            <a:endParaRPr sz="16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7E18AF50-456D-32D3-A32B-F59220CD7394}"/>
              </a:ext>
            </a:extLst>
          </p:cNvPr>
          <p:cNvSpPr>
            <a:spLocks noGrp="1"/>
          </p:cNvSpPr>
          <p:nvPr>
            <p:ph type="sldNum" idx="12"/>
          </p:nvPr>
        </p:nvSpPr>
        <p:spPr/>
        <p:txBody>
          <a:bodyPr/>
          <a:lstStyle/>
          <a:p>
            <a:fld id="{C1FF6DA9-008F-8B48-92A6-B652298478BF}" type="slidenum">
              <a:rPr lang="en-US" altLang="ja-JP" smtClean="0"/>
              <a:t>11</a:t>
            </a:fld>
            <a:endParaRPr lang="ja-JP" altLang="en-US"/>
          </a:p>
        </p:txBody>
      </p:sp>
      <p:sp>
        <p:nvSpPr>
          <p:cNvPr id="14" name="矢印: 上 13">
            <a:extLst>
              <a:ext uri="{FF2B5EF4-FFF2-40B4-BE49-F238E27FC236}">
                <a16:creationId xmlns:a16="http://schemas.microsoft.com/office/drawing/2014/main" id="{CD098AF2-542A-3528-B9CA-ACF4BC578144}"/>
              </a:ext>
            </a:extLst>
          </p:cNvPr>
          <p:cNvSpPr/>
          <p:nvPr/>
        </p:nvSpPr>
        <p:spPr>
          <a:xfrm>
            <a:off x="3056708" y="3409950"/>
            <a:ext cx="844732" cy="56197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08098691-C70D-7ADC-83D3-F947BFA096DF}"/>
              </a:ext>
            </a:extLst>
          </p:cNvPr>
          <p:cNvSpPr txBox="1"/>
          <p:nvPr/>
        </p:nvSpPr>
        <p:spPr>
          <a:xfrm>
            <a:off x="3213464" y="4027834"/>
            <a:ext cx="4615542" cy="646331"/>
          </a:xfrm>
          <a:prstGeom prst="rect">
            <a:avLst/>
          </a:prstGeom>
          <a:noFill/>
        </p:spPr>
        <p:txBody>
          <a:bodyPr wrap="square">
            <a:spAutoFit/>
          </a:bodyPr>
          <a:lstStyle/>
          <a:p>
            <a:r>
              <a:rPr lang="ja-JP" altLang="ja-JP" dirty="0"/>
              <a:t>E′の式は、ランダムなWitnessを混ぜてもFolding後の制約が成立するようにする</a:t>
            </a:r>
            <a:endParaRPr lang="ja-JP" altLang="en-US" dirty="0"/>
          </a:p>
        </p:txBody>
      </p:sp>
    </p:spTree>
    <p:extLst>
      <p:ext uri="{BB962C8B-B14F-4D97-AF65-F5344CB8AC3E}">
        <p14:creationId xmlns:p14="http://schemas.microsoft.com/office/powerpoint/2010/main" val="1512234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82638-945D-C880-F75C-D4559247E6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FBBBAE-7E67-58F3-5551-56A75160AB83}"/>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221D88C-6B67-4CA4-2CBB-9DBB37B223B3}"/>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目次</a:t>
            </a:r>
          </a:p>
        </p:txBody>
      </p:sp>
      <p:sp>
        <p:nvSpPr>
          <p:cNvPr id="4" name="Rectangle 3">
            <a:extLst>
              <a:ext uri="{FF2B5EF4-FFF2-40B4-BE49-F238E27FC236}">
                <a16:creationId xmlns:a16="http://schemas.microsoft.com/office/drawing/2014/main" id="{A20B78F2-1162-369E-A673-50BE36B49810}"/>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470521-1BC7-66DE-3803-0A648EDC0D62}"/>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HyperNovaの秘匿化とPRの実装範囲を確認し、2方式のPi測定を示す</a:t>
            </a:r>
          </a:p>
        </p:txBody>
      </p:sp>
      <p:sp>
        <p:nvSpPr>
          <p:cNvPr id="7" name="正方形/長方形 6">
            <a:extLst>
              <a:ext uri="{FF2B5EF4-FFF2-40B4-BE49-F238E27FC236}">
                <a16:creationId xmlns:a16="http://schemas.microsoft.com/office/drawing/2014/main" id="{8A832C95-92B5-61FF-6CD5-5338686AC486}"/>
              </a:ext>
            </a:extLst>
          </p:cNvPr>
          <p:cNvSpPr>
            <a:spLocks noGrp="1"/>
          </p:cNvSpPr>
          <p:nvPr/>
        </p:nvSpPr>
        <p:spPr>
          <a:xfrm>
            <a:off x="400050" y="1238250"/>
            <a:ext cx="8286750" cy="46672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作業時間とHyperNovaの理論</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作業時間の内訳／用語解説／数式とWitnessの秘匿</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blind回路／複数Proverでの検証と継続</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SonobeのPRと実現範囲</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論文の貢献とPR</a:t>
            </a:r>
            <a:r>
              <a:rPr sz="1600" b="0" dirty="0">
                <a:solidFill>
                  <a:srgbClr val="282629"/>
                </a:solidFill>
                <a:latin typeface="Hiragino Kaku Gothic ProN W3"/>
                <a:ea typeface="Hiragino Kaku Gothic ProN W3"/>
                <a:cs typeface="Hiragino Kaku Gothic ProN W3"/>
              </a:rPr>
              <a:t> #246の変更／旧ZK層との対応</a:t>
            </a: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実装・実行できたものと、未成立の要件</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FF0000"/>
                </a:solidFill>
                <a:latin typeface="Hiragino Kaku Gothic ProN W6"/>
                <a:ea typeface="Hiragino Kaku Gothic ProN W6"/>
                <a:cs typeface="Hiragino Kaku Gothic ProN W6"/>
              </a:rPr>
              <a:t>■ Raspberry </a:t>
            </a:r>
            <a:r>
              <a:rPr sz="1700" b="1" dirty="0" err="1">
                <a:solidFill>
                  <a:srgbClr val="FF0000"/>
                </a:solidFill>
                <a:latin typeface="Hiragino Kaku Gothic ProN W6"/>
                <a:ea typeface="Hiragino Kaku Gothic ProN W6"/>
                <a:cs typeface="Hiragino Kaku Gothic ProN W6"/>
              </a:rPr>
              <a:t>PiでのNova／HyperNova比較</a:t>
            </a:r>
            <a:endParaRPr sz="1700" b="1" dirty="0">
              <a:solidFill>
                <a:srgbClr val="FF0000"/>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測定条件／平均時間の表とグラフ／step推移・最大メモリ</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まとめと今後</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今回の確認事項／Week25の比較と追加評価</a:t>
            </a:r>
          </a:p>
        </p:txBody>
      </p:sp>
      <p:sp>
        <p:nvSpPr>
          <p:cNvPr id="6" name="スライド番号プレースホルダー 5">
            <a:extLst>
              <a:ext uri="{FF2B5EF4-FFF2-40B4-BE49-F238E27FC236}">
                <a16:creationId xmlns:a16="http://schemas.microsoft.com/office/drawing/2014/main" id="{6080C532-2585-BD06-BB11-46553096287F}"/>
              </a:ext>
            </a:extLst>
          </p:cNvPr>
          <p:cNvSpPr>
            <a:spLocks noGrp="1"/>
          </p:cNvSpPr>
          <p:nvPr>
            <p:ph type="sldNum" idx="12"/>
          </p:nvPr>
        </p:nvSpPr>
        <p:spPr/>
        <p:txBody>
          <a:bodyPr/>
          <a:lstStyle/>
          <a:p>
            <a:fld id="{C1FF6DA9-008F-8B48-92A6-B652298478BF}" type="slidenum">
              <a:rPr lang="en-US" altLang="ja-JP" smtClean="0"/>
              <a:t>12</a:t>
            </a:fld>
            <a:endParaRPr lang="ja-JP" altLang="en-US"/>
          </a:p>
        </p:txBody>
      </p:sp>
    </p:spTree>
    <p:extLst>
      <p:ext uri="{BB962C8B-B14F-4D97-AF65-F5344CB8AC3E}">
        <p14:creationId xmlns:p14="http://schemas.microsoft.com/office/powerpoint/2010/main" val="3517915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Nova／HyperNovaのPi測定条件</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670161"/>
            <a:ext cx="8172000" cy="553998"/>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dirty="0">
                <a:solidFill>
                  <a:srgbClr val="2F64A1"/>
                </a:solidFill>
                <a:latin typeface="Hiragino Kaku Gothic ProN W6"/>
                <a:ea typeface="Hiragino Kaku Gothic ProN W6"/>
                <a:cs typeface="Hiragino Kaku Gothic ProN W6"/>
              </a:rPr>
              <a:t>同じ距離回路・7入力列を、単一Proverとして実行</a:t>
            </a:r>
            <a:endParaRPr lang="en-US" sz="1800" b="1" spc="100" dirty="0">
              <a:solidFill>
                <a:srgbClr val="2F64A1"/>
              </a:solidFill>
              <a:latin typeface="Hiragino Kaku Gothic ProN W6"/>
              <a:ea typeface="Hiragino Kaku Gothic ProN W6"/>
              <a:cs typeface="Hiragino Kaku Gothic ProN W6"/>
            </a:endParaRPr>
          </a:p>
          <a:p>
            <a:pPr algn="l">
              <a:buNone/>
              <a:defRPr sz="1800" b="1">
                <a:solidFill>
                  <a:srgbClr val="2F64A1"/>
                </a:solidFill>
                <a:latin typeface="Hiragino Kaku Gothic ProN W6"/>
                <a:ea typeface="Hiragino Kaku Gothic ProN W6"/>
                <a:cs typeface="Hiragino Kaku Gothic ProN W6"/>
              </a:defRPr>
            </a:pPr>
            <a:r>
              <a:rPr lang="en-US" sz="1800" b="1" spc="100" dirty="0">
                <a:solidFill>
                  <a:srgbClr val="2F64A1"/>
                </a:solidFill>
                <a:latin typeface="Hiragino Kaku Gothic ProN W6"/>
                <a:ea typeface="Hiragino Kaku Gothic ProN W6"/>
                <a:cs typeface="Hiragino Kaku Gothic ProN W6"/>
              </a:rPr>
              <a:t>(</a:t>
            </a:r>
            <a:r>
              <a:rPr lang="ja-JP" altLang="en-US" sz="1800" b="1" spc="100" dirty="0">
                <a:solidFill>
                  <a:srgbClr val="2F64A1"/>
                </a:solidFill>
                <a:latin typeface="Hiragino Kaku Gothic ProN W6"/>
                <a:ea typeface="Hiragino Kaku Gothic ProN W6"/>
                <a:cs typeface="Hiragino Kaku Gothic ProN W6"/>
              </a:rPr>
              <a:t>計算内容：ユークリッド距離、入力：比較する緯度・経度</a:t>
            </a:r>
            <a:r>
              <a:rPr lang="en-US" sz="1800" b="1" spc="100" dirty="0">
                <a:solidFill>
                  <a:srgbClr val="2F64A1"/>
                </a:solidFill>
                <a:latin typeface="Hiragino Kaku Gothic ProN W6"/>
                <a:ea typeface="Hiragino Kaku Gothic ProN W6"/>
                <a:cs typeface="Hiragino Kaku Gothic ProN W6"/>
              </a:rPr>
              <a:t>)</a:t>
            </a:r>
            <a:endParaRPr sz="1800" b="1" spc="100" dirty="0">
              <a:solidFill>
                <a:srgbClr val="2F64A1"/>
              </a:solidFill>
              <a:latin typeface="Hiragino Kaku Gothic ProN W6"/>
              <a:ea typeface="Hiragino Kaku Gothic ProN W6"/>
              <a:cs typeface="Hiragino Kaku Gothic ProN W6"/>
            </a:endParaRPr>
          </a:p>
        </p:txBody>
      </p:sp>
      <p:graphicFrame>
        <p:nvGraphicFramePr>
          <p:cNvPr id="7" name="表 6">
            <a:extLst>
              <a:ext uri="{FF2B5EF4-FFF2-40B4-BE49-F238E27FC236}">
                <a16:creationId xmlns:a16="http://schemas.microsoft.com/office/drawing/2014/main" id="{84492220-B7D5-4688-853D-F34FAD3A493C}"/>
              </a:ext>
            </a:extLst>
          </p:cNvPr>
          <p:cNvGraphicFramePr/>
          <p:nvPr>
            <p:extLst>
              <p:ext uri="{D42A27DB-BD31-4B8C-83A1-F6EECF244321}">
                <p14:modId xmlns:p14="http://schemas.microsoft.com/office/powerpoint/2010/main" val="3970802386"/>
              </p:ext>
            </p:extLst>
          </p:nvPr>
        </p:nvGraphicFramePr>
        <p:xfrm>
          <a:off x="400050" y="1438275"/>
          <a:ext cx="8343900" cy="2476500"/>
        </p:xfrm>
        <a:graphic>
          <a:graphicData uri="http://schemas.openxmlformats.org/drawingml/2006/table">
            <a:tbl>
              <a:tblPr/>
              <a:tblGrid>
                <a:gridCol w="2381250">
                  <a:extLst>
                    <a:ext uri="{9D8B030D-6E8A-4147-A177-3AD203B41FA5}">
                      <a16:colId xmlns:a16="http://schemas.microsoft.com/office/drawing/2014/main" val="20000"/>
                    </a:ext>
                  </a:extLst>
                </a:gridCol>
                <a:gridCol w="5962650">
                  <a:extLst>
                    <a:ext uri="{9D8B030D-6E8A-4147-A177-3AD203B41FA5}">
                      <a16:colId xmlns:a16="http://schemas.microsoft.com/office/drawing/2014/main" val="20001"/>
                    </a:ext>
                  </a:extLst>
                </a:gridCol>
              </a:tblGrid>
              <a:tr h="412750">
                <a:tc>
                  <a:txBody>
                    <a:bodyPr/>
                    <a:lstStyle/>
                    <a:p>
                      <a:pPr algn="ctr"/>
                      <a:r>
                        <a:rPr sz="1500" b="1">
                          <a:solidFill>
                            <a:srgbClr val="FFFFFF"/>
                          </a:solidFill>
                          <a:latin typeface="Hiragino Kaku Gothic ProN W6"/>
                          <a:ea typeface="Hiragino Kaku Gothic ProN W6"/>
                          <a:cs typeface="Hiragino Kaku Gothic ProN W6"/>
                        </a:rPr>
                        <a:t>項目</a:t>
                      </a:r>
                    </a:p>
                  </a:txBody>
                  <a:tcPr anchor="ctr">
                    <a:lnL w="6668">
                      <a:solidFill>
                        <a:srgbClr val="282629"/>
                      </a:solidFill>
                      <a:prstDash val="soli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条件</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extLst>
                  <a:ext uri="{0D108BD9-81ED-4DB2-BD59-A6C34878D82A}">
                    <a16:rowId xmlns:a16="http://schemas.microsoft.com/office/drawing/2014/main" val="10000"/>
                  </a:ext>
                </a:extLst>
              </a:tr>
              <a:tr h="412750">
                <a:tc>
                  <a:txBody>
                    <a:bodyPr/>
                    <a:lstStyle/>
                    <a:p>
                      <a:pPr algn="ctr"/>
                      <a:r>
                        <a:rPr sz="1500" b="0">
                          <a:solidFill>
                            <a:srgbClr val="282629"/>
                          </a:solidFill>
                          <a:latin typeface="Hiragino Kaku Gothic ProN W3"/>
                          <a:ea typeface="Hiragino Kaku Gothic ProN W3"/>
                          <a:cs typeface="Hiragino Kaku Gothic ProN W3"/>
                        </a:rPr>
                        <a:t>実行機</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Raspberry Pi 4B／RAM 4GB／ARM64</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1"/>
                  </a:ext>
                </a:extLst>
              </a:tr>
              <a:tr h="412750">
                <a:tc>
                  <a:txBody>
                    <a:bodyPr/>
                    <a:lstStyle/>
                    <a:p>
                      <a:pPr algn="ctr"/>
                      <a:r>
                        <a:rPr sz="1500" b="0">
                          <a:solidFill>
                            <a:srgbClr val="282629"/>
                          </a:solidFill>
                          <a:latin typeface="Hiragino Kaku Gothic ProN W3"/>
                          <a:ea typeface="Hiragino Kaku Gothic ProN W3"/>
                          <a:cs typeface="Hiragino Kaku Gothic ProN W3"/>
                        </a:rPr>
                        <a:t>回路と入力</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dirty="0">
                          <a:solidFill>
                            <a:srgbClr val="282629"/>
                          </a:solidFill>
                          <a:latin typeface="Hiragino Kaku Gothic ProN W3"/>
                          <a:ea typeface="Hiragino Kaku Gothic ProN W3"/>
                          <a:cs typeface="Hiragino Kaku Gothic ProN W3"/>
                        </a:rPr>
                        <a:t>同</a:t>
                      </a:r>
                      <a:r>
                        <a:rPr lang="ja-JP" altLang="en-US" sz="1500" b="0" dirty="0">
                          <a:solidFill>
                            <a:srgbClr val="282629"/>
                          </a:solidFill>
                          <a:latin typeface="Hiragino Kaku Gothic ProN W3"/>
                          <a:ea typeface="Hiragino Kaku Gothic ProN W3"/>
                          <a:cs typeface="Hiragino Kaku Gothic ProN W3"/>
                        </a:rPr>
                        <a:t>じ</a:t>
                      </a:r>
                      <a:r>
                        <a:rPr sz="1500" b="0" dirty="0">
                          <a:solidFill>
                            <a:srgbClr val="282629"/>
                          </a:solidFill>
                          <a:latin typeface="Hiragino Kaku Gothic ProN W3"/>
                          <a:ea typeface="Hiragino Kaku Gothic ProN W3"/>
                          <a:cs typeface="Hiragino Kaku Gothic ProN W3"/>
                        </a:rPr>
                        <a:t>制約の距離FCircuit・7</a:t>
                      </a:r>
                      <a:r>
                        <a:rPr lang="ja-JP" altLang="en-US" sz="1500" b="0" dirty="0">
                          <a:solidFill>
                            <a:srgbClr val="282629"/>
                          </a:solidFill>
                          <a:latin typeface="Hiragino Kaku Gothic ProN W3"/>
                          <a:ea typeface="Hiragino Kaku Gothic ProN W3"/>
                          <a:cs typeface="Hiragino Kaku Gothic ProN W3"/>
                        </a:rPr>
                        <a:t>回分の</a:t>
                      </a:r>
                      <a:r>
                        <a:rPr sz="1500" b="0" dirty="0" err="1">
                          <a:solidFill>
                            <a:srgbClr val="282629"/>
                          </a:solidFill>
                          <a:latin typeface="Hiragino Kaku Gothic ProN W3"/>
                          <a:ea typeface="Hiragino Kaku Gothic ProN W3"/>
                          <a:cs typeface="Hiragino Kaku Gothic ProN W3"/>
                        </a:rPr>
                        <a:t>入力列</a:t>
                      </a:r>
                      <a:endParaRPr sz="1500" b="0" dirty="0">
                        <a:solidFill>
                          <a:srgbClr val="282629"/>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2"/>
                  </a:ext>
                </a:extLst>
              </a:tr>
              <a:tr h="412750">
                <a:tc>
                  <a:txBody>
                    <a:bodyPr/>
                    <a:lstStyle/>
                    <a:p>
                      <a:pPr algn="ctr"/>
                      <a:r>
                        <a:rPr sz="1500" b="0">
                          <a:solidFill>
                            <a:srgbClr val="282629"/>
                          </a:solidFill>
                          <a:latin typeface="Hiragino Kaku Gothic ProN W3"/>
                          <a:ea typeface="Hiragino Kaku Gothic ProN W3"/>
                          <a:cs typeface="Hiragino Kaku Gothic ProN W3"/>
                        </a:rPr>
                        <a:t>CPU</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dirty="0">
                          <a:solidFill>
                            <a:srgbClr val="282629"/>
                          </a:solidFill>
                          <a:latin typeface="Hiragino Kaku Gothic ProN W3"/>
                          <a:ea typeface="Hiragino Kaku Gothic ProN W3"/>
                          <a:cs typeface="Hiragino Kaku Gothic ProN W3"/>
                        </a:rPr>
                        <a:t>1 CPU ・1スレッド</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3"/>
                  </a:ext>
                </a:extLst>
              </a:tr>
              <a:tr h="412750">
                <a:tc>
                  <a:txBody>
                    <a:bodyPr/>
                    <a:lstStyle/>
                    <a:p>
                      <a:pPr algn="ctr"/>
                      <a:r>
                        <a:rPr sz="1500" b="0">
                          <a:solidFill>
                            <a:srgbClr val="282629"/>
                          </a:solidFill>
                          <a:latin typeface="Hiragino Kaku Gothic ProN W3"/>
                          <a:ea typeface="Hiragino Kaku Gothic ProN W3"/>
                          <a:cs typeface="Hiragino Kaku Gothic ProN W3"/>
                        </a:rPr>
                        <a:t>集計</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異なる7入力を連続stepとして各1回</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4"/>
                  </a:ext>
                </a:extLst>
              </a:tr>
              <a:tr h="412750">
                <a:tc>
                  <a:txBody>
                    <a:bodyPr/>
                    <a:lstStyle/>
                    <a:p>
                      <a:pPr algn="ctr"/>
                      <a:r>
                        <a:rPr sz="1500" b="0">
                          <a:solidFill>
                            <a:srgbClr val="282629"/>
                          </a:solidFill>
                          <a:latin typeface="Hiragino Kaku Gothic ProN W3"/>
                          <a:ea typeface="Hiragino Kaku Gothic ProN W3"/>
                          <a:cs typeface="Hiragino Kaku Gothic ProN W3"/>
                        </a:rPr>
                        <a:t>メモリ保護</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dirty="0">
                          <a:solidFill>
                            <a:srgbClr val="282629"/>
                          </a:solidFill>
                          <a:latin typeface="Hiragino Kaku Gothic ProN W3"/>
                          <a:ea typeface="Hiragino Kaku Gothic ProN W3"/>
                          <a:cs typeface="Hiragino Kaku Gothic ProN W3"/>
                        </a:rPr>
                        <a:t>上限</a:t>
                      </a:r>
                      <a:r>
                        <a:rPr lang="en-US" altLang="ja-JP" sz="1500" b="0" dirty="0">
                          <a:solidFill>
                            <a:srgbClr val="282629"/>
                          </a:solidFill>
                          <a:latin typeface="Hiragino Kaku Gothic ProN W3"/>
                          <a:ea typeface="Hiragino Kaku Gothic ProN W3"/>
                          <a:cs typeface="Hiragino Kaku Gothic ProN W3"/>
                        </a:rPr>
                        <a:t>512</a:t>
                      </a:r>
                      <a:r>
                        <a:rPr sz="1500" b="0" dirty="0">
                          <a:solidFill>
                            <a:srgbClr val="282629"/>
                          </a:solidFill>
                          <a:latin typeface="Hiragino Kaku Gothic ProN W3"/>
                          <a:ea typeface="Hiragino Kaku Gothic ProN W3"/>
                          <a:cs typeface="Hiragino Kaku Gothic ProN W3"/>
                        </a:rPr>
                        <a:t> </a:t>
                      </a:r>
                      <a:r>
                        <a:rPr sz="1500" b="0" dirty="0" err="1">
                          <a:solidFill>
                            <a:srgbClr val="282629"/>
                          </a:solidFill>
                          <a:latin typeface="Hiragino Kaku Gothic ProN W3"/>
                          <a:ea typeface="Hiragino Kaku Gothic ProN W3"/>
                          <a:cs typeface="Hiragino Kaku Gothic ProN W3"/>
                        </a:rPr>
                        <a:t>MiB・Swap禁止</a:t>
                      </a:r>
                      <a:endParaRPr sz="1500" b="0" dirty="0">
                        <a:solidFill>
                          <a:srgbClr val="282629"/>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正方形/長方形 7">
            <a:extLst>
              <a:ext uri="{FF2B5EF4-FFF2-40B4-BE49-F238E27FC236}">
                <a16:creationId xmlns:a16="http://schemas.microsoft.com/office/drawing/2014/main" id="{DB412118-9CFE-4552-962A-56D4CB23D8F5}"/>
              </a:ext>
            </a:extLst>
          </p:cNvPr>
          <p:cNvSpPr>
            <a:spLocks noGrp="1"/>
          </p:cNvSpPr>
          <p:nvPr/>
        </p:nvSpPr>
        <p:spPr>
          <a:xfrm>
            <a:off x="400050" y="4133850"/>
            <a:ext cx="8286750" cy="21145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数値の読み方</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時間は各stepの生成・更新と検証を別々に計測。setupは除外</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メモリはsetup・負例検査を含む全実行の</a:t>
            </a:r>
            <a:r>
              <a:rPr lang="ja-JP" altLang="en-US" dirty="0"/>
              <a:t>メモリ</a:t>
            </a:r>
            <a:r>
              <a:rPr sz="1600" b="0" dirty="0" err="1">
                <a:solidFill>
                  <a:srgbClr val="282629"/>
                </a:solidFill>
                <a:latin typeface="Hiragino Kaku Gothic ProN W3"/>
                <a:ea typeface="Hiragino Kaku Gothic ProN W3"/>
                <a:cs typeface="Hiragino Kaku Gothic ProN W3"/>
              </a:rPr>
              <a:t>最大値</a:t>
            </a:r>
            <a:endParaRPr sz="16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80E6814C-A73B-828D-F506-BE9A2E95D5B6}"/>
              </a:ext>
            </a:extLst>
          </p:cNvPr>
          <p:cNvSpPr>
            <a:spLocks noGrp="1"/>
          </p:cNvSpPr>
          <p:nvPr>
            <p:ph type="sldNum" idx="12"/>
          </p:nvPr>
        </p:nvSpPr>
        <p:spPr/>
        <p:txBody>
          <a:bodyPr/>
          <a:lstStyle/>
          <a:p>
            <a:fld id="{C1FF6DA9-008F-8B48-92A6-B652298478BF}" type="slidenum">
              <a:rPr lang="en-US" altLang="ja-JP" smtClean="0"/>
              <a:t>13</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Piでの処理時間とメモリ</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dirty="0">
                <a:solidFill>
                  <a:srgbClr val="2F64A1"/>
                </a:solidFill>
                <a:latin typeface="Hiragino Kaku Gothic ProN W6"/>
                <a:ea typeface="Hiragino Kaku Gothic ProN W6"/>
                <a:cs typeface="Hiragino Kaku Gothic ProN W6"/>
              </a:rPr>
              <a:t>7連続stepの</a:t>
            </a:r>
            <a:r>
              <a:rPr lang="ja-JP" altLang="en-US" sz="1800" b="1" spc="100" dirty="0">
                <a:solidFill>
                  <a:srgbClr val="2F64A1"/>
                </a:solidFill>
                <a:latin typeface="Hiragino Kaku Gothic ProN W6"/>
                <a:ea typeface="Hiragino Kaku Gothic ProN W6"/>
                <a:cs typeface="Hiragino Kaku Gothic ProN W6"/>
              </a:rPr>
              <a:t>回路</a:t>
            </a:r>
            <a:r>
              <a:rPr sz="1800" b="1" spc="100" dirty="0" err="1">
                <a:solidFill>
                  <a:srgbClr val="2F64A1"/>
                </a:solidFill>
                <a:latin typeface="Hiragino Kaku Gothic ProN W6"/>
                <a:ea typeface="Hiragino Kaku Gothic ProN W6"/>
                <a:cs typeface="Hiragino Kaku Gothic ProN W6"/>
              </a:rPr>
              <a:t>を測定。第三者向け最終ZKの検証は含まない</a:t>
            </a:r>
            <a:endParaRPr sz="1800" b="1" spc="100" dirty="0">
              <a:solidFill>
                <a:srgbClr val="2F64A1"/>
              </a:solidFill>
              <a:latin typeface="Hiragino Kaku Gothic ProN W6"/>
              <a:ea typeface="Hiragino Kaku Gothic ProN W6"/>
              <a:cs typeface="Hiragino Kaku Gothic ProN W6"/>
            </a:endParaRPr>
          </a:p>
        </p:txBody>
      </p:sp>
      <p:graphicFrame>
        <p:nvGraphicFramePr>
          <p:cNvPr id="7" name="表 6">
            <a:extLst>
              <a:ext uri="{FF2B5EF4-FFF2-40B4-BE49-F238E27FC236}">
                <a16:creationId xmlns:a16="http://schemas.microsoft.com/office/drawing/2014/main" id="{51800280-CC7D-47F7-BDAB-6F42479017E0}"/>
              </a:ext>
            </a:extLst>
          </p:cNvPr>
          <p:cNvGraphicFramePr/>
          <p:nvPr>
            <p:extLst>
              <p:ext uri="{D42A27DB-BD31-4B8C-83A1-F6EECF244321}">
                <p14:modId xmlns:p14="http://schemas.microsoft.com/office/powerpoint/2010/main" val="4133187354"/>
              </p:ext>
            </p:extLst>
          </p:nvPr>
        </p:nvGraphicFramePr>
        <p:xfrm>
          <a:off x="400050" y="1438275"/>
          <a:ext cx="8343900" cy="2952747"/>
        </p:xfrm>
        <a:graphic>
          <a:graphicData uri="http://schemas.openxmlformats.org/drawingml/2006/table">
            <a:tbl>
              <a:tblPr/>
              <a:tblGrid>
                <a:gridCol w="4095750">
                  <a:extLst>
                    <a:ext uri="{9D8B030D-6E8A-4147-A177-3AD203B41FA5}">
                      <a16:colId xmlns:a16="http://schemas.microsoft.com/office/drawing/2014/main" val="20000"/>
                    </a:ext>
                  </a:extLst>
                </a:gridCol>
                <a:gridCol w="2124075">
                  <a:extLst>
                    <a:ext uri="{9D8B030D-6E8A-4147-A177-3AD203B41FA5}">
                      <a16:colId xmlns:a16="http://schemas.microsoft.com/office/drawing/2014/main" val="20001"/>
                    </a:ext>
                  </a:extLst>
                </a:gridCol>
                <a:gridCol w="2124075">
                  <a:extLst>
                    <a:ext uri="{9D8B030D-6E8A-4147-A177-3AD203B41FA5}">
                      <a16:colId xmlns:a16="http://schemas.microsoft.com/office/drawing/2014/main" val="20002"/>
                    </a:ext>
                  </a:extLst>
                </a:gridCol>
              </a:tblGrid>
              <a:tr h="421821">
                <a:tc>
                  <a:txBody>
                    <a:bodyPr/>
                    <a:lstStyle/>
                    <a:p>
                      <a:pPr algn="ctr"/>
                      <a:r>
                        <a:rPr sz="1500" b="1">
                          <a:solidFill>
                            <a:srgbClr val="FFFFFF"/>
                          </a:solidFill>
                          <a:latin typeface="Hiragino Kaku Gothic ProN W6"/>
                          <a:ea typeface="Hiragino Kaku Gothic ProN W6"/>
                          <a:cs typeface="Hiragino Kaku Gothic ProN W6"/>
                        </a:rPr>
                        <a:t>測定項目</a:t>
                      </a:r>
                    </a:p>
                  </a:txBody>
                  <a:tcPr anchor="ctr">
                    <a:lnL w="6668">
                      <a:solidFill>
                        <a:srgbClr val="282629"/>
                      </a:solidFill>
                      <a:prstDash val="soli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Nova</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HyperNova</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extLst>
                  <a:ext uri="{0D108BD9-81ED-4DB2-BD59-A6C34878D82A}">
                    <a16:rowId xmlns:a16="http://schemas.microsoft.com/office/drawing/2014/main" val="10000"/>
                  </a:ext>
                </a:extLst>
              </a:tr>
              <a:tr h="421821">
                <a:tc>
                  <a:txBody>
                    <a:bodyPr/>
                    <a:lstStyle/>
                    <a:p>
                      <a:pPr algn="ctr"/>
                      <a:r>
                        <a:rPr sz="1500" b="0">
                          <a:solidFill>
                            <a:srgbClr val="282629"/>
                          </a:solidFill>
                          <a:latin typeface="Hiragino Kaku Gothic ProN W3"/>
                          <a:ea typeface="Hiragino Kaku Gothic ProN W3"/>
                          <a:cs typeface="Hiragino Kaku Gothic ProN W3"/>
                        </a:rPr>
                        <a:t>生成・更新の平均（秒）</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1.629</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1.591</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1"/>
                  </a:ext>
                </a:extLst>
              </a:tr>
              <a:tr h="421821">
                <a:tc>
                  <a:txBody>
                    <a:bodyPr/>
                    <a:lstStyle/>
                    <a:p>
                      <a:pPr algn="ctr"/>
                      <a:r>
                        <a:rPr sz="1500" b="0" dirty="0" err="1">
                          <a:solidFill>
                            <a:srgbClr val="282629"/>
                          </a:solidFill>
                          <a:latin typeface="Hiragino Kaku Gothic ProN W3"/>
                          <a:ea typeface="Hiragino Kaku Gothic ProN W3"/>
                          <a:cs typeface="Hiragino Kaku Gothic ProN W3"/>
                        </a:rPr>
                        <a:t>検証の平均（秒</a:t>
                      </a:r>
                      <a:r>
                        <a:rPr sz="1500" b="0" dirty="0">
                          <a:solidFill>
                            <a:srgbClr val="282629"/>
                          </a:solidFill>
                          <a:latin typeface="Hiragino Kaku Gothic ProN W3"/>
                          <a:ea typeface="Hiragino Kaku Gothic ProN W3"/>
                          <a:cs typeface="Hiragino Kaku Gothic ProN W3"/>
                        </a:rPr>
                        <a:t>）</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2.577</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1.833</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2"/>
                  </a:ext>
                </a:extLst>
              </a:tr>
              <a:tr h="421821">
                <a:tc>
                  <a:txBody>
                    <a:bodyPr/>
                    <a:lstStyle/>
                    <a:p>
                      <a:pPr algn="ctr"/>
                      <a:r>
                        <a:rPr sz="1500" b="0" dirty="0" err="1">
                          <a:solidFill>
                            <a:srgbClr val="282629"/>
                          </a:solidFill>
                          <a:latin typeface="Hiragino Kaku Gothic ProN W3"/>
                          <a:ea typeface="Hiragino Kaku Gothic ProN W3"/>
                          <a:cs typeface="Hiragino Kaku Gothic ProN W3"/>
                        </a:rPr>
                        <a:t>生成＋検証の平均（秒</a:t>
                      </a:r>
                      <a:r>
                        <a:rPr sz="1500" b="0" dirty="0">
                          <a:solidFill>
                            <a:srgbClr val="282629"/>
                          </a:solidFill>
                          <a:latin typeface="Hiragino Kaku Gothic ProN W3"/>
                          <a:ea typeface="Hiragino Kaku Gothic ProN W3"/>
                          <a:cs typeface="Hiragino Kaku Gothic ProN W3"/>
                        </a:rPr>
                        <a:t>）</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4.206</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3.425</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3"/>
                  </a:ext>
                </a:extLst>
              </a:tr>
              <a:tr h="421821">
                <a:tc>
                  <a:txBody>
                    <a:bodyPr/>
                    <a:lstStyle/>
                    <a:p>
                      <a:pPr algn="ctr"/>
                      <a:r>
                        <a:rPr sz="1500" b="0">
                          <a:solidFill>
                            <a:srgbClr val="282629"/>
                          </a:solidFill>
                          <a:latin typeface="Hiragino Kaku Gothic ProN W3"/>
                          <a:ea typeface="Hiragino Kaku Gothic ProN W3"/>
                          <a:cs typeface="Hiragino Kaku Gothic ProN W3"/>
                        </a:rPr>
                        <a:t>鍵生成（秒）</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8.610</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8.545</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4"/>
                  </a:ext>
                </a:extLst>
              </a:tr>
              <a:tr h="421821">
                <a:tc>
                  <a:txBody>
                    <a:bodyPr/>
                    <a:lstStyle/>
                    <a:p>
                      <a:pPr algn="ctr"/>
                      <a:r>
                        <a:rPr sz="1500" b="0">
                          <a:solidFill>
                            <a:srgbClr val="282629"/>
                          </a:solidFill>
                          <a:latin typeface="Hiragino Kaku Gothic ProN W3"/>
                          <a:ea typeface="Hiragino Kaku Gothic ProN W3"/>
                          <a:cs typeface="Hiragino Kaku Gothic ProN W3"/>
                        </a:rPr>
                        <a:t>全unitの実行時間（秒）</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38.168</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32.633</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5"/>
                  </a:ext>
                </a:extLst>
              </a:tr>
              <a:tr h="421821">
                <a:tc>
                  <a:txBody>
                    <a:bodyPr/>
                    <a:lstStyle/>
                    <a:p>
                      <a:pPr algn="ctr"/>
                      <a:r>
                        <a:rPr sz="1500" b="0">
                          <a:solidFill>
                            <a:srgbClr val="282629"/>
                          </a:solidFill>
                          <a:latin typeface="Hiragino Kaku Gothic ProN W3"/>
                          <a:ea typeface="Hiragino Kaku Gothic ProN W3"/>
                          <a:cs typeface="Hiragino Kaku Gothic ProN W3"/>
                        </a:rPr>
                        <a:t>最大メモリ（MiB）</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187.1</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dirty="0">
                          <a:solidFill>
                            <a:srgbClr val="282629"/>
                          </a:solidFill>
                          <a:latin typeface="Hiragino Kaku Gothic ProN W3"/>
                          <a:ea typeface="Hiragino Kaku Gothic ProN W3"/>
                          <a:cs typeface="Hiragino Kaku Gothic ProN W3"/>
                        </a:rPr>
                        <a:t>148.9</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6"/>
                  </a:ext>
                </a:extLst>
              </a:tr>
            </a:tbl>
          </a:graphicData>
        </a:graphic>
      </p:graphicFrame>
      <p:sp>
        <p:nvSpPr>
          <p:cNvPr id="8" name="正方形/長方形 7">
            <a:extLst>
              <a:ext uri="{FF2B5EF4-FFF2-40B4-BE49-F238E27FC236}">
                <a16:creationId xmlns:a16="http://schemas.microsoft.com/office/drawing/2014/main" id="{2E8CF3FE-08D6-4204-9AAA-25FFBD6486B5}"/>
              </a:ext>
            </a:extLst>
          </p:cNvPr>
          <p:cNvSpPr>
            <a:spLocks noGrp="1"/>
          </p:cNvSpPr>
          <p:nvPr/>
        </p:nvSpPr>
        <p:spPr>
          <a:xfrm>
            <a:off x="400050" y="4600575"/>
            <a:ext cx="8286750" cy="17716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集計方法</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平均は7stepの算術平均。入力の違いと初期stepの影響を含む</a:t>
            </a: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生成＋検証は、各stepの2工程を足してから平均</a:t>
            </a: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未測定の項目</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公開用の最終ZK証明サイズは未測定。生Witnessのサイズと混ぜない</a:t>
            </a:r>
            <a:endParaRPr sz="16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FDAF4158-D206-5CFE-5F81-3419490EDE62}"/>
              </a:ext>
            </a:extLst>
          </p:cNvPr>
          <p:cNvSpPr>
            <a:spLocks noGrp="1"/>
          </p:cNvSpPr>
          <p:nvPr>
            <p:ph type="sldNum" idx="12"/>
          </p:nvPr>
        </p:nvSpPr>
        <p:spPr/>
        <p:txBody>
          <a:bodyPr/>
          <a:lstStyle/>
          <a:p>
            <a:fld id="{C1FF6DA9-008F-8B48-92A6-B652298478BF}" type="slidenum">
              <a:rPr lang="en-US" altLang="ja-JP" smtClean="0"/>
              <a:t>14</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平均生成・検証時間の比較</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08660"/>
            <a:ext cx="8172000" cy="276999"/>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lang="ja-JP" altLang="en-US" sz="1800" b="1" spc="100" dirty="0">
                <a:solidFill>
                  <a:srgbClr val="2F64A1"/>
                </a:solidFill>
                <a:latin typeface="Hiragino Kaku Gothic ProN W6"/>
                <a:ea typeface="Hiragino Kaku Gothic ProN W6"/>
                <a:cs typeface="Hiragino Kaku Gothic ProN W6"/>
              </a:rPr>
              <a:t>回路</a:t>
            </a:r>
            <a:r>
              <a:rPr sz="1800" b="1" spc="100" dirty="0" err="1">
                <a:solidFill>
                  <a:srgbClr val="2F64A1"/>
                </a:solidFill>
                <a:latin typeface="Hiragino Kaku Gothic ProN W6"/>
                <a:ea typeface="Hiragino Kaku Gothic ProN W6"/>
                <a:cs typeface="Hiragino Kaku Gothic ProN W6"/>
              </a:rPr>
              <a:t>の生成・検証時間</a:t>
            </a:r>
            <a:endParaRPr sz="1800" b="1" spc="100" dirty="0">
              <a:solidFill>
                <a:srgbClr val="2F64A1"/>
              </a:solidFill>
              <a:latin typeface="Hiragino Kaku Gothic ProN W6"/>
              <a:ea typeface="Hiragino Kaku Gothic ProN W6"/>
              <a:cs typeface="Hiragino Kaku Gothic ProN W6"/>
            </a:endParaRPr>
          </a:p>
        </p:txBody>
      </p:sp>
      <p:graphicFrame>
        <p:nvGraphicFramePr>
          <p:cNvPr id="7" name="Chart">
            <a:extLst>
              <a:ext uri="{FF2B5EF4-FFF2-40B4-BE49-F238E27FC236}">
                <a16:creationId xmlns:a16="http://schemas.microsoft.com/office/drawing/2014/main" id="{7D758126-2D68-4673-95DF-5F167B0AB477}"/>
              </a:ext>
            </a:extLst>
          </p:cNvPr>
          <p:cNvGraphicFramePr/>
          <p:nvPr/>
        </p:nvGraphicFramePr>
        <p:xfrm>
          <a:off x="400050" y="1390650"/>
          <a:ext cx="8343900"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61286E0-4071-487C-A644-118DA47106C1}"/>
              </a:ext>
            </a:extLst>
          </p:cNvPr>
          <p:cNvSpPr>
            <a:spLocks noGrp="1"/>
          </p:cNvSpPr>
          <p:nvPr/>
        </p:nvSpPr>
        <p:spPr>
          <a:xfrm>
            <a:off x="400050" y="5181600"/>
            <a:ext cx="8286750" cy="12382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a:solidFill>
                  <a:srgbClr val="2F64A1"/>
                </a:solidFill>
                <a:latin typeface="Hiragino Kaku Gothic ProN W6"/>
                <a:ea typeface="Hiragino Kaku Gothic ProN W6"/>
                <a:cs typeface="Hiragino Kaku Gothic ProN W6"/>
              </a:rPr>
              <a:t>■ 今回の値</a:t>
            </a: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a:solidFill>
                  <a:srgbClr val="282629"/>
                </a:solidFill>
                <a:latin typeface="Hiragino Kaku Gothic ProN W3"/>
                <a:ea typeface="Hiragino Kaku Gothic ProN W3"/>
                <a:cs typeface="Hiragino Kaku Gothic ProN W3"/>
              </a:rPr>
              <a:t>生成・更新の平均はNova 1.629秒、HyperNova 1.591秒</a:t>
            </a: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a:solidFill>
                  <a:srgbClr val="282629"/>
                </a:solidFill>
                <a:latin typeface="Hiragino Kaku Gothic ProN W3"/>
                <a:ea typeface="Hiragino Kaku Gothic ProN W3"/>
                <a:cs typeface="Hiragino Kaku Gothic ProN W3"/>
              </a:rPr>
              <a:t>検証の平均はNova 2.577秒、HyperNova 1.833秒</a:t>
            </a: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a:solidFill>
                  <a:srgbClr val="282629"/>
                </a:solidFill>
                <a:latin typeface="Hiragino Kaku Gothic ProN W3"/>
                <a:ea typeface="Hiragino Kaku Gothic ProN W3"/>
                <a:cs typeface="Hiragino Kaku Gothic ProN W3"/>
              </a:rPr>
              <a:t>異なる7入力の連続処理。一般的な性能差や統計的優位性は結論しない</a:t>
            </a:r>
          </a:p>
        </p:txBody>
      </p:sp>
      <p:sp>
        <p:nvSpPr>
          <p:cNvPr id="6" name="スライド番号プレースホルダー 5">
            <a:extLst>
              <a:ext uri="{FF2B5EF4-FFF2-40B4-BE49-F238E27FC236}">
                <a16:creationId xmlns:a16="http://schemas.microsoft.com/office/drawing/2014/main" id="{3FF3F8DA-19D4-C9F2-387E-15A769A59541}"/>
              </a:ext>
            </a:extLst>
          </p:cNvPr>
          <p:cNvSpPr>
            <a:spLocks noGrp="1"/>
          </p:cNvSpPr>
          <p:nvPr>
            <p:ph type="sldNum" idx="12"/>
          </p:nvPr>
        </p:nvSpPr>
        <p:spPr/>
        <p:txBody>
          <a:bodyPr/>
          <a:lstStyle/>
          <a:p>
            <a:fld id="{C1FF6DA9-008F-8B48-92A6-B652298478BF}" type="slidenum">
              <a:rPr lang="en-US" altLang="ja-JP" smtClean="0"/>
              <a:t>15</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stepごとの生成＋検証時間</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lang="ja-JP" altLang="en-US" spc="100" dirty="0"/>
              <a:t>回路</a:t>
            </a:r>
            <a:r>
              <a:rPr sz="1800" b="1" spc="100" dirty="0">
                <a:solidFill>
                  <a:srgbClr val="2F64A1"/>
                </a:solidFill>
                <a:latin typeface="Hiragino Kaku Gothic ProN W6"/>
                <a:ea typeface="Hiragino Kaku Gothic ProN W6"/>
                <a:cs typeface="Hiragino Kaku Gothic ProN W6"/>
              </a:rPr>
              <a:t>の生成＋検証。7入力を順に処理した1回の実行</a:t>
            </a:r>
          </a:p>
        </p:txBody>
      </p:sp>
      <p:graphicFrame>
        <p:nvGraphicFramePr>
          <p:cNvPr id="7" name="Chart">
            <a:extLst>
              <a:ext uri="{FF2B5EF4-FFF2-40B4-BE49-F238E27FC236}">
                <a16:creationId xmlns:a16="http://schemas.microsoft.com/office/drawing/2014/main" id="{21243AD0-7591-4245-838D-C4328CC3880E}"/>
              </a:ext>
            </a:extLst>
          </p:cNvPr>
          <p:cNvGraphicFramePr/>
          <p:nvPr/>
        </p:nvGraphicFramePr>
        <p:xfrm>
          <a:off x="400050" y="1390650"/>
          <a:ext cx="8343900"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ADBE1D3-1C8F-4619-9C04-2E988D8104F0}"/>
              </a:ext>
            </a:extLst>
          </p:cNvPr>
          <p:cNvSpPr>
            <a:spLocks noGrp="1"/>
          </p:cNvSpPr>
          <p:nvPr/>
        </p:nvSpPr>
        <p:spPr>
          <a:xfrm>
            <a:off x="400050" y="5181600"/>
            <a:ext cx="8286750" cy="12573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系列の意味</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stepごとに入力も変わり</a:t>
            </a:r>
            <a:r>
              <a:rPr sz="1600" b="0" dirty="0">
                <a:solidFill>
                  <a:srgbClr val="282629"/>
                </a:solidFill>
                <a:latin typeface="Hiragino Kaku Gothic ProN W3"/>
                <a:ea typeface="Hiragino Kaku Gothic ProN W3"/>
                <a:cs typeface="Hiragino Kaku Gothic ProN W3"/>
              </a:rPr>
              <a:t>、</a:t>
            </a:r>
            <a:r>
              <a:rPr lang="ja-JP" altLang="en-US" dirty="0"/>
              <a:t>回路の</a:t>
            </a:r>
            <a:r>
              <a:rPr sz="1600" b="0" dirty="0" err="1">
                <a:solidFill>
                  <a:srgbClr val="282629"/>
                </a:solidFill>
                <a:latin typeface="Hiragino Kaku Gothic ProN W3"/>
                <a:ea typeface="Hiragino Kaku Gothic ProN W3"/>
                <a:cs typeface="Hiragino Kaku Gothic ProN W3"/>
              </a:rPr>
              <a:t>内部状態も更新</a:t>
            </a:r>
            <a:endParaRPr lang="ja-JP" altLang="en-US"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en-US" altLang="ja-JP" dirty="0"/>
              <a:t>Nova</a:t>
            </a:r>
            <a:r>
              <a:rPr lang="ja-JP" altLang="en-US" dirty="0"/>
              <a:t>と</a:t>
            </a:r>
            <a:r>
              <a:rPr lang="en-US" altLang="ja-JP" dirty="0" err="1"/>
              <a:t>HyperNova</a:t>
            </a:r>
            <a:r>
              <a:rPr lang="ja-JP" altLang="en-US" dirty="0"/>
              <a:t>で累積の方法も実装方法を異なりそう</a:t>
            </a:r>
            <a:endParaRPr lang="en-US" altLang="ja-JP" dirty="0"/>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ja-JP" altLang="en-US" sz="1600" b="0" dirty="0">
                <a:solidFill>
                  <a:srgbClr val="282629"/>
                </a:solidFill>
                <a:latin typeface="Hiragino Kaku Gothic ProN W3"/>
                <a:ea typeface="Hiragino Kaku Gothic ProN W3"/>
                <a:cs typeface="Hiragino Kaku Gothic ProN W3"/>
              </a:rPr>
              <a:t>使用するなら追加調査は必要</a:t>
            </a:r>
            <a:r>
              <a:rPr lang="en-US" altLang="ja-JP" dirty="0"/>
              <a:t>(</a:t>
            </a:r>
            <a:r>
              <a:rPr lang="ja-JP" altLang="en-US" dirty="0"/>
              <a:t>現在はデモ実装</a:t>
            </a:r>
            <a:r>
              <a:rPr lang="en-US" altLang="ja-JP" dirty="0"/>
              <a:t>)</a:t>
            </a:r>
            <a:endParaRPr lang="ja-JP" altLang="en-US" sz="16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61341629-F2C4-8AAA-F4E0-A9BDE10160D3}"/>
              </a:ext>
            </a:extLst>
          </p:cNvPr>
          <p:cNvSpPr>
            <a:spLocks noGrp="1"/>
          </p:cNvSpPr>
          <p:nvPr>
            <p:ph type="sldNum" idx="12"/>
          </p:nvPr>
        </p:nvSpPr>
        <p:spPr/>
        <p:txBody>
          <a:bodyPr/>
          <a:lstStyle/>
          <a:p>
            <a:fld id="{C1FF6DA9-008F-8B48-92A6-B652298478BF}" type="slidenum">
              <a:rPr lang="en-US" altLang="ja-JP" smtClean="0"/>
              <a:t>16</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最大メモリの比較</a:t>
            </a:r>
          </a:p>
        </p:txBody>
      </p:sp>
      <p:sp>
        <p:nvSpPr>
          <p:cNvPr id="4" name="Rectangle 3">
            <a:extLst>
              <a:ext uri="{FF2B5EF4-FFF2-40B4-BE49-F238E27FC236}">
                <a16:creationId xmlns:a16="http://schemas.microsoft.com/office/drawing/2014/main" id="{D509BA2D-1B48-40A8-A5B5-79FA467D4B2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1FD6E5-C751-4799-9318-7C20F8CC7906}"/>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lang="ja-JP" altLang="en-US" spc="100" dirty="0"/>
              <a:t>回路</a:t>
            </a:r>
            <a:r>
              <a:rPr sz="1800" b="1" spc="100" dirty="0" err="1">
                <a:solidFill>
                  <a:srgbClr val="2F64A1"/>
                </a:solidFill>
                <a:latin typeface="Hiragino Kaku Gothic ProN W6"/>
                <a:ea typeface="Hiragino Kaku Gothic ProN W6"/>
                <a:cs typeface="Hiragino Kaku Gothic ProN W6"/>
              </a:rPr>
              <a:t>の全実行の</a:t>
            </a:r>
            <a:r>
              <a:rPr lang="ja-JP" altLang="en-US" sz="1800" b="1" spc="100" dirty="0">
                <a:solidFill>
                  <a:srgbClr val="2F64A1"/>
                </a:solidFill>
                <a:latin typeface="Hiragino Kaku Gothic ProN W6"/>
                <a:ea typeface="Hiragino Kaku Gothic ProN W6"/>
                <a:cs typeface="Hiragino Kaku Gothic ProN W6"/>
              </a:rPr>
              <a:t>メモリ</a:t>
            </a:r>
            <a:r>
              <a:rPr sz="1800" b="1" spc="100" dirty="0" err="1">
                <a:solidFill>
                  <a:srgbClr val="2F64A1"/>
                </a:solidFill>
                <a:latin typeface="Hiragino Kaku Gothic ProN W6"/>
                <a:ea typeface="Hiragino Kaku Gothic ProN W6"/>
                <a:cs typeface="Hiragino Kaku Gothic ProN W6"/>
              </a:rPr>
              <a:t>最大値</a:t>
            </a:r>
            <a:endParaRPr sz="1800" b="1" spc="100" dirty="0">
              <a:solidFill>
                <a:srgbClr val="2F64A1"/>
              </a:solidFill>
              <a:latin typeface="Hiragino Kaku Gothic ProN W6"/>
              <a:ea typeface="Hiragino Kaku Gothic ProN W6"/>
              <a:cs typeface="Hiragino Kaku Gothic ProN W6"/>
            </a:endParaRPr>
          </a:p>
        </p:txBody>
      </p:sp>
      <p:graphicFrame>
        <p:nvGraphicFramePr>
          <p:cNvPr id="7" name="Chart">
            <a:extLst>
              <a:ext uri="{FF2B5EF4-FFF2-40B4-BE49-F238E27FC236}">
                <a16:creationId xmlns:a16="http://schemas.microsoft.com/office/drawing/2014/main" id="{E78576C3-26BC-4AB3-930F-3AD1E6FD7ACF}"/>
              </a:ext>
            </a:extLst>
          </p:cNvPr>
          <p:cNvGraphicFramePr/>
          <p:nvPr/>
        </p:nvGraphicFramePr>
        <p:xfrm>
          <a:off x="400050" y="1390650"/>
          <a:ext cx="8343900"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B4E3D17-BC9E-4FAD-AE6C-C54C29604FEB}"/>
              </a:ext>
            </a:extLst>
          </p:cNvPr>
          <p:cNvSpPr>
            <a:spLocks noGrp="1"/>
          </p:cNvSpPr>
          <p:nvPr/>
        </p:nvSpPr>
        <p:spPr>
          <a:xfrm>
            <a:off x="400050" y="5181600"/>
            <a:ext cx="8286750" cy="13335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今回の値</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Nova 187.1 </a:t>
            </a:r>
            <a:r>
              <a:rPr sz="1600" b="0" dirty="0" err="1">
                <a:solidFill>
                  <a:srgbClr val="282629"/>
                </a:solidFill>
                <a:latin typeface="Hiragino Kaku Gothic ProN W3"/>
                <a:ea typeface="Hiragino Kaku Gothic ProN W3"/>
                <a:cs typeface="Hiragino Kaku Gothic ProN W3"/>
              </a:rPr>
              <a:t>MiB、HyperNova</a:t>
            </a:r>
            <a:r>
              <a:rPr sz="1600" b="0" dirty="0">
                <a:solidFill>
                  <a:srgbClr val="282629"/>
                </a:solidFill>
                <a:latin typeface="Hiragino Kaku Gothic ProN W3"/>
                <a:ea typeface="Hiragino Kaku Gothic ProN W3"/>
                <a:cs typeface="Hiragino Kaku Gothic ProN W3"/>
              </a:rPr>
              <a:t> 148.9 MiB</a:t>
            </a: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ja-JP" altLang="en-US" sz="1600" b="0" dirty="0">
                <a:solidFill>
                  <a:srgbClr val="282629"/>
                </a:solidFill>
                <a:latin typeface="Hiragino Kaku Gothic ProN W3"/>
                <a:ea typeface="Hiragino Kaku Gothic ProN W3"/>
                <a:cs typeface="Hiragino Kaku Gothic ProN W3"/>
              </a:rPr>
              <a:t>ラズパイのメモリが溢れないか調査必須</a:t>
            </a:r>
          </a:p>
        </p:txBody>
      </p:sp>
      <p:sp>
        <p:nvSpPr>
          <p:cNvPr id="6" name="スライド番号プレースホルダー 5">
            <a:extLst>
              <a:ext uri="{FF2B5EF4-FFF2-40B4-BE49-F238E27FC236}">
                <a16:creationId xmlns:a16="http://schemas.microsoft.com/office/drawing/2014/main" id="{A870465A-7006-565A-3DE2-500F11080EB8}"/>
              </a:ext>
            </a:extLst>
          </p:cNvPr>
          <p:cNvSpPr>
            <a:spLocks noGrp="1"/>
          </p:cNvSpPr>
          <p:nvPr>
            <p:ph type="sldNum" idx="12"/>
          </p:nvPr>
        </p:nvSpPr>
        <p:spPr/>
        <p:txBody>
          <a:bodyPr/>
          <a:lstStyle/>
          <a:p>
            <a:fld id="{C1FF6DA9-008F-8B48-92A6-B652298478BF}" type="slidenum">
              <a:rPr lang="en-US" altLang="ja-JP" smtClean="0"/>
              <a:t>17</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0EB0D-F2D4-BAAF-E269-E696921D8E9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42A486-3F87-25F1-3550-70B8A4AF7EAE}"/>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49DD039-CA10-05B3-0388-187D50ED127E}"/>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目次</a:t>
            </a:r>
          </a:p>
        </p:txBody>
      </p:sp>
      <p:sp>
        <p:nvSpPr>
          <p:cNvPr id="4" name="Rectangle 3">
            <a:extLst>
              <a:ext uri="{FF2B5EF4-FFF2-40B4-BE49-F238E27FC236}">
                <a16:creationId xmlns:a16="http://schemas.microsoft.com/office/drawing/2014/main" id="{B0732BC8-F86A-71CD-B04E-F1DBDFB88C3F}"/>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EC2BCC-2033-BDE5-AD06-ED498678A5FE}"/>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HyperNovaの秘匿化とPRの実装範囲を確認し、2方式のPi測定を示す</a:t>
            </a:r>
          </a:p>
        </p:txBody>
      </p:sp>
      <p:sp>
        <p:nvSpPr>
          <p:cNvPr id="7" name="正方形/長方形 6">
            <a:extLst>
              <a:ext uri="{FF2B5EF4-FFF2-40B4-BE49-F238E27FC236}">
                <a16:creationId xmlns:a16="http://schemas.microsoft.com/office/drawing/2014/main" id="{14BA8963-15C2-2581-FE81-D328D7FCD623}"/>
              </a:ext>
            </a:extLst>
          </p:cNvPr>
          <p:cNvSpPr>
            <a:spLocks noGrp="1"/>
          </p:cNvSpPr>
          <p:nvPr/>
        </p:nvSpPr>
        <p:spPr>
          <a:xfrm>
            <a:off x="400050" y="1238250"/>
            <a:ext cx="8286750" cy="466725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作業時間とHyperNovaの理論</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作業時間の内訳／用語解説／数式とWitnessの秘匿</a:t>
            </a:r>
            <a:endParaRPr sz="16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blind回路／複数Proverでの検証と継続</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FF0000"/>
                </a:solidFill>
                <a:latin typeface="Hiragino Kaku Gothic ProN W6"/>
                <a:ea typeface="Hiragino Kaku Gothic ProN W6"/>
                <a:cs typeface="Hiragino Kaku Gothic ProN W6"/>
              </a:rPr>
              <a:t>■ </a:t>
            </a:r>
            <a:r>
              <a:rPr sz="1700" b="1" dirty="0" err="1">
                <a:solidFill>
                  <a:srgbClr val="FF0000"/>
                </a:solidFill>
                <a:latin typeface="Hiragino Kaku Gothic ProN W6"/>
                <a:ea typeface="Hiragino Kaku Gothic ProN W6"/>
                <a:cs typeface="Hiragino Kaku Gothic ProN W6"/>
              </a:rPr>
              <a:t>SonobeのPRと実現範囲</a:t>
            </a:r>
            <a:endParaRPr sz="1700" b="1" dirty="0">
              <a:solidFill>
                <a:srgbClr val="FF0000"/>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論文の貢献とPR</a:t>
            </a:r>
            <a:r>
              <a:rPr sz="1600" b="0" dirty="0">
                <a:solidFill>
                  <a:srgbClr val="282629"/>
                </a:solidFill>
                <a:latin typeface="Hiragino Kaku Gothic ProN W3"/>
                <a:ea typeface="Hiragino Kaku Gothic ProN W3"/>
                <a:cs typeface="Hiragino Kaku Gothic ProN W3"/>
              </a:rPr>
              <a:t> #246の変更／旧ZK層との対応</a:t>
            </a: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実装・実行できたものと、未成立の要件</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Raspberry </a:t>
            </a:r>
            <a:r>
              <a:rPr sz="1700" b="1" dirty="0" err="1">
                <a:solidFill>
                  <a:srgbClr val="2F64A1"/>
                </a:solidFill>
                <a:latin typeface="Hiragino Kaku Gothic ProN W6"/>
                <a:ea typeface="Hiragino Kaku Gothic ProN W6"/>
                <a:cs typeface="Hiragino Kaku Gothic ProN W6"/>
              </a:rPr>
              <a:t>PiでのNova／HyperNova比較</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err="1">
                <a:solidFill>
                  <a:srgbClr val="282629"/>
                </a:solidFill>
                <a:latin typeface="Hiragino Kaku Gothic ProN W3"/>
                <a:ea typeface="Hiragino Kaku Gothic ProN W3"/>
                <a:cs typeface="Hiragino Kaku Gothic ProN W3"/>
              </a:rPr>
              <a:t>測定条件／平均時間の表とグラフ／step推移・最大メモリ</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まとめと今後</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今回の確認事項／Week25の比較と追加評価</a:t>
            </a:r>
          </a:p>
        </p:txBody>
      </p:sp>
      <p:sp>
        <p:nvSpPr>
          <p:cNvPr id="6" name="スライド番号プレースホルダー 5">
            <a:extLst>
              <a:ext uri="{FF2B5EF4-FFF2-40B4-BE49-F238E27FC236}">
                <a16:creationId xmlns:a16="http://schemas.microsoft.com/office/drawing/2014/main" id="{1C075DC9-9EB7-70AE-962D-F67CC4B58356}"/>
              </a:ext>
            </a:extLst>
          </p:cNvPr>
          <p:cNvSpPr>
            <a:spLocks noGrp="1"/>
          </p:cNvSpPr>
          <p:nvPr>
            <p:ph type="sldNum" idx="12"/>
          </p:nvPr>
        </p:nvSpPr>
        <p:spPr/>
        <p:txBody>
          <a:bodyPr/>
          <a:lstStyle/>
          <a:p>
            <a:fld id="{C1FF6DA9-008F-8B48-92A6-B652298478BF}" type="slidenum">
              <a:rPr lang="en-US" altLang="ja-JP" smtClean="0"/>
              <a:t>18</a:t>
            </a:fld>
            <a:endParaRPr lang="ja-JP" altLang="en-US"/>
          </a:p>
        </p:txBody>
      </p:sp>
    </p:spTree>
    <p:extLst>
      <p:ext uri="{BB962C8B-B14F-4D97-AF65-F5344CB8AC3E}">
        <p14:creationId xmlns:p14="http://schemas.microsoft.com/office/powerpoint/2010/main" val="1042497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F19B4-21E7-1B2B-9DF3-5E3A90012B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F49985-7691-36BE-D9E2-E65BDA0140A5}"/>
              </a:ext>
            </a:extLst>
          </p:cNvPr>
          <p:cNvSpPr txBox="1"/>
          <p:nvPr/>
        </p:nvSpPr>
        <p:spPr>
          <a:xfrm>
            <a:off x="621792" y="384048"/>
            <a:ext cx="7955279" cy="461665"/>
          </a:xfrm>
          <a:prstGeom prst="rect">
            <a:avLst/>
          </a:prstGeom>
          <a:noFill/>
        </p:spPr>
        <p:txBody>
          <a:bodyPr wrap="square">
            <a:spAutoFit/>
          </a:bodyPr>
          <a:lstStyle/>
          <a:p>
            <a:r>
              <a:rPr lang="ja-JP" altLang="ja-JP" sz="2400"/>
              <a:t>Nova系の比較</a:t>
            </a:r>
            <a:endParaRPr lang="en-US" sz="2300" b="1" dirty="0">
              <a:solidFill>
                <a:srgbClr val="1A1A1A"/>
              </a:solidFill>
              <a:latin typeface="Yu Gothic"/>
              <a:ea typeface="Yu Gothic"/>
              <a:cs typeface="Yu Gothic"/>
            </a:endParaRPr>
          </a:p>
        </p:txBody>
      </p:sp>
      <p:sp>
        <p:nvSpPr>
          <p:cNvPr id="4" name="Rectangle 3">
            <a:extLst>
              <a:ext uri="{FF2B5EF4-FFF2-40B4-BE49-F238E27FC236}">
                <a16:creationId xmlns:a16="http://schemas.microsoft.com/office/drawing/2014/main" id="{7D1437AB-7ADD-7E5A-B4D4-AFA715610C5B}"/>
              </a:ext>
            </a:extLst>
          </p:cNvPr>
          <p:cNvSpPr/>
          <p:nvPr/>
        </p:nvSpPr>
        <p:spPr>
          <a:xfrm>
            <a:off x="640080" y="1024128"/>
            <a:ext cx="7863840" cy="1270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スライド番号プレースホルダー 1">
            <a:extLst>
              <a:ext uri="{FF2B5EF4-FFF2-40B4-BE49-F238E27FC236}">
                <a16:creationId xmlns:a16="http://schemas.microsoft.com/office/drawing/2014/main" id="{039C01FD-CE5C-EBC0-C896-0384D2CF6D61}"/>
              </a:ext>
            </a:extLst>
          </p:cNvPr>
          <p:cNvSpPr>
            <a:spLocks noGrp="1"/>
          </p:cNvSpPr>
          <p:nvPr>
            <p:ph type="sldNum" sz="quarter" idx="12"/>
          </p:nvPr>
        </p:nvSpPr>
        <p:spPr/>
        <p:txBody>
          <a:bodyPr/>
          <a:lstStyle/>
          <a:p>
            <a:fld id="{C1FF6DA9-008F-8B48-92A6-B652298478BF}" type="slidenum">
              <a:rPr lang="en-US" smtClean="0"/>
              <a:t>19</a:t>
            </a:fld>
            <a:endParaRPr lang="en-US"/>
          </a:p>
        </p:txBody>
      </p:sp>
      <p:graphicFrame>
        <p:nvGraphicFramePr>
          <p:cNvPr id="6" name="表 5">
            <a:extLst>
              <a:ext uri="{FF2B5EF4-FFF2-40B4-BE49-F238E27FC236}">
                <a16:creationId xmlns:a16="http://schemas.microsoft.com/office/drawing/2014/main" id="{8DE82B2D-1D13-1689-21C6-D6F45544B724}"/>
              </a:ext>
            </a:extLst>
          </p:cNvPr>
          <p:cNvGraphicFramePr>
            <a:graphicFrameLocks noGrp="1"/>
          </p:cNvGraphicFramePr>
          <p:nvPr/>
        </p:nvGraphicFramePr>
        <p:xfrm>
          <a:off x="484631" y="1161288"/>
          <a:ext cx="8229600" cy="1676400"/>
        </p:xfrm>
        <a:graphic>
          <a:graphicData uri="http://schemas.openxmlformats.org/drawingml/2006/table">
            <a:tbl>
              <a:tblPr>
                <a:tableStyleId>{5940675A-B579-460E-94D1-54222C63F5DA}</a:tableStyleId>
              </a:tblPr>
              <a:tblGrid>
                <a:gridCol w="1568758">
                  <a:extLst>
                    <a:ext uri="{9D8B030D-6E8A-4147-A177-3AD203B41FA5}">
                      <a16:colId xmlns:a16="http://schemas.microsoft.com/office/drawing/2014/main" val="2262979605"/>
                    </a:ext>
                  </a:extLst>
                </a:gridCol>
                <a:gridCol w="3408948">
                  <a:extLst>
                    <a:ext uri="{9D8B030D-6E8A-4147-A177-3AD203B41FA5}">
                      <a16:colId xmlns:a16="http://schemas.microsoft.com/office/drawing/2014/main" val="3017947848"/>
                    </a:ext>
                  </a:extLst>
                </a:gridCol>
                <a:gridCol w="3251894">
                  <a:extLst>
                    <a:ext uri="{9D8B030D-6E8A-4147-A177-3AD203B41FA5}">
                      <a16:colId xmlns:a16="http://schemas.microsoft.com/office/drawing/2014/main" val="364956674"/>
                    </a:ext>
                  </a:extLst>
                </a:gridCol>
              </a:tblGrid>
              <a:tr h="0">
                <a:tc>
                  <a:txBody>
                    <a:bodyPr/>
                    <a:lstStyle/>
                    <a:p>
                      <a:pPr>
                        <a:buNone/>
                      </a:pPr>
                      <a:r>
                        <a:rPr lang="ja-JP" sz="1600"/>
                        <a:t>方式</a:t>
                      </a:r>
                    </a:p>
                  </a:txBody>
                  <a:tcPr anchor="ctr"/>
                </a:tc>
                <a:tc>
                  <a:txBody>
                    <a:bodyPr/>
                    <a:lstStyle/>
                    <a:p>
                      <a:pPr>
                        <a:buNone/>
                      </a:pPr>
                      <a:r>
                        <a:rPr lang="ja-JP" sz="1600"/>
                        <a:t>主な特徴</a:t>
                      </a:r>
                    </a:p>
                  </a:txBody>
                  <a:tcPr anchor="ctr"/>
                </a:tc>
                <a:tc>
                  <a:txBody>
                    <a:bodyPr/>
                    <a:lstStyle/>
                    <a:p>
                      <a:pPr>
                        <a:buNone/>
                      </a:pPr>
                      <a:r>
                        <a:rPr lang="ja-JP" sz="1600"/>
                        <a:t>複数端末への適合性</a:t>
                      </a:r>
                    </a:p>
                  </a:txBody>
                  <a:tcPr anchor="ctr"/>
                </a:tc>
                <a:extLst>
                  <a:ext uri="{0D108BD9-81ED-4DB2-BD59-A6C34878D82A}">
                    <a16:rowId xmlns:a16="http://schemas.microsoft.com/office/drawing/2014/main" val="2251151668"/>
                  </a:ext>
                </a:extLst>
              </a:tr>
              <a:tr h="0">
                <a:tc>
                  <a:txBody>
                    <a:bodyPr/>
                    <a:lstStyle/>
                    <a:p>
                      <a:pPr>
                        <a:buNone/>
                      </a:pPr>
                      <a:r>
                        <a:rPr lang="ja-JP" sz="1600"/>
                        <a:t>Nova</a:t>
                      </a:r>
                    </a:p>
                  </a:txBody>
                  <a:tcPr anchor="ctr"/>
                </a:tc>
                <a:tc>
                  <a:txBody>
                    <a:bodyPr/>
                    <a:lstStyle/>
                    <a:p>
                      <a:pPr>
                        <a:buNone/>
                      </a:pPr>
                      <a:r>
                        <a:rPr lang="ja-JP" sz="1600"/>
                        <a:t>単一のステップ回路を繰り返すIVC</a:t>
                      </a:r>
                    </a:p>
                  </a:txBody>
                  <a:tcPr anchor="ctr"/>
                </a:tc>
                <a:tc>
                  <a:txBody>
                    <a:bodyPr/>
                    <a:lstStyle/>
                    <a:p>
                      <a:pPr>
                        <a:buNone/>
                      </a:pPr>
                      <a:r>
                        <a:rPr lang="ja-JP" sz="1600"/>
                        <a:t>生の状態共有には注意が必要</a:t>
                      </a:r>
                    </a:p>
                  </a:txBody>
                  <a:tcPr anchor="ctr"/>
                </a:tc>
                <a:extLst>
                  <a:ext uri="{0D108BD9-81ED-4DB2-BD59-A6C34878D82A}">
                    <a16:rowId xmlns:a16="http://schemas.microsoft.com/office/drawing/2014/main" val="3588912145"/>
                  </a:ext>
                </a:extLst>
              </a:tr>
              <a:tr h="0">
                <a:tc>
                  <a:txBody>
                    <a:bodyPr/>
                    <a:lstStyle/>
                    <a:p>
                      <a:pPr>
                        <a:buNone/>
                      </a:pPr>
                      <a:r>
                        <a:rPr lang="ja-JP" sz="1600"/>
                        <a:t>SuperNova</a:t>
                      </a:r>
                    </a:p>
                  </a:txBody>
                  <a:tcPr anchor="ctr"/>
                </a:tc>
                <a:tc>
                  <a:txBody>
                    <a:bodyPr/>
                    <a:lstStyle/>
                    <a:p>
                      <a:pPr>
                        <a:buNone/>
                      </a:pPr>
                      <a:r>
                        <a:rPr lang="ja-JP" sz="1600"/>
                        <a:t>異なる種類のステップ回路に対応</a:t>
                      </a:r>
                    </a:p>
                  </a:txBody>
                  <a:tcPr anchor="ctr"/>
                </a:tc>
                <a:tc>
                  <a:txBody>
                    <a:bodyPr/>
                    <a:lstStyle/>
                    <a:p>
                      <a:pPr>
                        <a:buNone/>
                      </a:pPr>
                      <a:r>
                        <a:rPr lang="ja-JP" sz="1600"/>
                        <a:t>Witness非共有は別途設計</a:t>
                      </a:r>
                    </a:p>
                  </a:txBody>
                  <a:tcPr anchor="ctr"/>
                </a:tc>
                <a:extLst>
                  <a:ext uri="{0D108BD9-81ED-4DB2-BD59-A6C34878D82A}">
                    <a16:rowId xmlns:a16="http://schemas.microsoft.com/office/drawing/2014/main" val="2451471195"/>
                  </a:ext>
                </a:extLst>
              </a:tr>
              <a:tr h="0">
                <a:tc>
                  <a:txBody>
                    <a:bodyPr/>
                    <a:lstStyle/>
                    <a:p>
                      <a:pPr>
                        <a:buNone/>
                      </a:pPr>
                      <a:r>
                        <a:rPr lang="ja-JP" sz="1600" dirty="0">
                          <a:solidFill>
                            <a:srgbClr val="FF0000"/>
                          </a:solidFill>
                        </a:rPr>
                        <a:t>HyperNova</a:t>
                      </a:r>
                    </a:p>
                  </a:txBody>
                  <a:tcPr anchor="ctr"/>
                </a:tc>
                <a:tc>
                  <a:txBody>
                    <a:bodyPr/>
                    <a:lstStyle/>
                    <a:p>
                      <a:pPr>
                        <a:buNone/>
                      </a:pPr>
                      <a:r>
                        <a:rPr lang="ja-JP" sz="1600"/>
                        <a:t>CCSを用いた柔軟なFolding</a:t>
                      </a:r>
                    </a:p>
                  </a:txBody>
                  <a:tcPr anchor="ctr"/>
                </a:tc>
                <a:tc>
                  <a:txBody>
                    <a:bodyPr/>
                    <a:lstStyle/>
                    <a:p>
                      <a:pPr>
                        <a:buNone/>
                      </a:pPr>
                      <a:r>
                        <a:rPr lang="ja-JP" sz="1600"/>
                        <a:t>PCDなどへの拡張を検討可能</a:t>
                      </a:r>
                    </a:p>
                  </a:txBody>
                  <a:tcPr anchor="ctr"/>
                </a:tc>
                <a:extLst>
                  <a:ext uri="{0D108BD9-81ED-4DB2-BD59-A6C34878D82A}">
                    <a16:rowId xmlns:a16="http://schemas.microsoft.com/office/drawing/2014/main" val="1001874797"/>
                  </a:ext>
                </a:extLst>
              </a:tr>
              <a:tr h="0">
                <a:tc>
                  <a:txBody>
                    <a:bodyPr/>
                    <a:lstStyle/>
                    <a:p>
                      <a:pPr>
                        <a:buNone/>
                      </a:pPr>
                      <a:r>
                        <a:rPr lang="ja-JP" sz="1600"/>
                        <a:t>KiloNova</a:t>
                      </a:r>
                    </a:p>
                  </a:txBody>
                  <a:tcPr anchor="ctr"/>
                </a:tc>
                <a:tc>
                  <a:txBody>
                    <a:bodyPr/>
                    <a:lstStyle/>
                    <a:p>
                      <a:pPr>
                        <a:buNone/>
                      </a:pPr>
                      <a:r>
                        <a:rPr lang="ja-JP" sz="1600"/>
                        <a:t>Nova系の拡張候補</a:t>
                      </a:r>
                    </a:p>
                  </a:txBody>
                  <a:tcPr anchor="ctr"/>
                </a:tc>
                <a:tc>
                  <a:txBody>
                    <a:bodyPr/>
                    <a:lstStyle/>
                    <a:p>
                      <a:pPr>
                        <a:buNone/>
                      </a:pPr>
                      <a:r>
                        <a:rPr lang="ja-JP" sz="1600" dirty="0"/>
                        <a:t>実装仕様・成熟度を追加調査</a:t>
                      </a:r>
                    </a:p>
                  </a:txBody>
                  <a:tcPr anchor="ctr"/>
                </a:tc>
                <a:extLst>
                  <a:ext uri="{0D108BD9-81ED-4DB2-BD59-A6C34878D82A}">
                    <a16:rowId xmlns:a16="http://schemas.microsoft.com/office/drawing/2014/main" val="3569839806"/>
                  </a:ext>
                </a:extLst>
              </a:tr>
            </a:tbl>
          </a:graphicData>
        </a:graphic>
      </p:graphicFrame>
      <p:sp>
        <p:nvSpPr>
          <p:cNvPr id="9" name="テキスト ボックス 8">
            <a:extLst>
              <a:ext uri="{FF2B5EF4-FFF2-40B4-BE49-F238E27FC236}">
                <a16:creationId xmlns:a16="http://schemas.microsoft.com/office/drawing/2014/main" id="{4B63E0D4-4109-7304-86CD-54CC21CEACD3}"/>
              </a:ext>
            </a:extLst>
          </p:cNvPr>
          <p:cNvSpPr txBox="1"/>
          <p:nvPr/>
        </p:nvSpPr>
        <p:spPr>
          <a:xfrm>
            <a:off x="484631" y="3153263"/>
            <a:ext cx="8486274" cy="1754326"/>
          </a:xfrm>
          <a:prstGeom prst="rect">
            <a:avLst/>
          </a:prstGeom>
          <a:noFill/>
        </p:spPr>
        <p:txBody>
          <a:bodyPr wrap="square">
            <a:spAutoFit/>
          </a:bodyPr>
          <a:lstStyle/>
          <a:p>
            <a:pPr marL="285750" indent="-285750">
              <a:buFont typeface="Arial" panose="020B0604020202020204" pitchFamily="34" charset="0"/>
              <a:buChar char="•"/>
            </a:pPr>
            <a:r>
              <a:rPr lang="ja-JP" altLang="ja-JP" dirty="0"/>
              <a:t>Nova系の改良は主として証明処理の柔軟性や効率に関係</a:t>
            </a:r>
            <a:endParaRPr lang="en-US" altLang="ja-JP" dirty="0"/>
          </a:p>
          <a:p>
            <a:pPr marL="285750" indent="-285750">
              <a:buFont typeface="Arial" panose="020B0604020202020204" pitchFamily="34" charset="0"/>
              <a:buChar char="•"/>
            </a:pPr>
            <a:endParaRPr lang="en-US" altLang="ja-JP" dirty="0"/>
          </a:p>
          <a:p>
            <a:pPr marL="285750" indent="-285750">
              <a:buFont typeface="Wingdings" pitchFamily="2" charset="2"/>
              <a:buChar char="n"/>
            </a:pPr>
            <a:r>
              <a:rPr lang="ja-JP" altLang="ja-JP" dirty="0">
                <a:solidFill>
                  <a:schemeClr val="accent1"/>
                </a:solidFill>
              </a:rPr>
              <a:t>Hiding Foldin</a:t>
            </a:r>
            <a:r>
              <a:rPr lang="en-US" altLang="ja-JP" dirty="0">
                <a:solidFill>
                  <a:schemeClr val="accent1"/>
                </a:solidFill>
              </a:rPr>
              <a:t>g</a:t>
            </a:r>
          </a:p>
          <a:p>
            <a:pPr marL="285750" indent="-285750">
              <a:buFont typeface="Arial" panose="020B0604020202020204" pitchFamily="34" charset="0"/>
              <a:buChar char="•"/>
            </a:pPr>
            <a:r>
              <a:rPr lang="ja-JP" altLang="ja-JP" dirty="0"/>
              <a:t>Nova系のFolding処理にゼロ知識性を持たせるための暗号学的な仕組み</a:t>
            </a:r>
            <a:endParaRPr lang="en-US" altLang="ja-JP" dirty="0"/>
          </a:p>
          <a:p>
            <a:pPr marL="285750" indent="-285750">
              <a:buFont typeface="Arial" panose="020B0604020202020204" pitchFamily="34" charset="0"/>
              <a:buChar char="•"/>
            </a:pPr>
            <a:r>
              <a:rPr lang="ja-JP" altLang="ja-JP" dirty="0"/>
              <a:t>HyperNovaなどで議論される </a:t>
            </a:r>
            <a:r>
              <a:rPr lang="ja-JP" altLang="ja-JP" dirty="0">
                <a:solidFill>
                  <a:srgbClr val="FF0000"/>
                </a:solidFill>
              </a:rPr>
              <a:t>zk-IVC</a:t>
            </a:r>
            <a:r>
              <a:rPr lang="ja-JP" altLang="ja-JP" dirty="0"/>
              <a:t>（Zero-Knowledge Incrementally Verifiable Computation） に関係する概念</a:t>
            </a:r>
          </a:p>
        </p:txBody>
      </p:sp>
      <p:sp>
        <p:nvSpPr>
          <p:cNvPr id="13" name="テキスト ボックス 12">
            <a:extLst>
              <a:ext uri="{FF2B5EF4-FFF2-40B4-BE49-F238E27FC236}">
                <a16:creationId xmlns:a16="http://schemas.microsoft.com/office/drawing/2014/main" id="{E8EFB270-05F5-9D57-8C09-468BE734047A}"/>
              </a:ext>
            </a:extLst>
          </p:cNvPr>
          <p:cNvSpPr txBox="1"/>
          <p:nvPr/>
        </p:nvSpPr>
        <p:spPr>
          <a:xfrm>
            <a:off x="484631" y="5108116"/>
            <a:ext cx="8065008" cy="646331"/>
          </a:xfrm>
          <a:prstGeom prst="rect">
            <a:avLst/>
          </a:prstGeom>
          <a:noFill/>
        </p:spPr>
        <p:txBody>
          <a:bodyPr wrap="square">
            <a:spAutoFit/>
          </a:bodyPr>
          <a:lstStyle/>
          <a:p>
            <a:pPr marL="285750" indent="-285750">
              <a:buFont typeface="Wingdings" pitchFamily="2" charset="2"/>
              <a:buChar char="Ø"/>
            </a:pPr>
            <a:r>
              <a:rPr lang="ja-JP" altLang="ja-JP" dirty="0"/>
              <a:t>今回調査したSonobeの既存APIでは、秘密Witnessを共有せずに別のProverがFoldingを継続する方式は確認できなかった</a:t>
            </a:r>
            <a:endParaRPr lang="ja-JP" altLang="en-US" dirty="0"/>
          </a:p>
        </p:txBody>
      </p:sp>
      <p:sp>
        <p:nvSpPr>
          <p:cNvPr id="15" name="テキスト ボックス 14">
            <a:extLst>
              <a:ext uri="{FF2B5EF4-FFF2-40B4-BE49-F238E27FC236}">
                <a16:creationId xmlns:a16="http://schemas.microsoft.com/office/drawing/2014/main" id="{65ED8B81-0289-8F45-7BFE-DDA7B6585620}"/>
              </a:ext>
            </a:extLst>
          </p:cNvPr>
          <p:cNvSpPr txBox="1"/>
          <p:nvPr/>
        </p:nvSpPr>
        <p:spPr>
          <a:xfrm>
            <a:off x="138923" y="6538912"/>
            <a:ext cx="8632257" cy="261610"/>
          </a:xfrm>
          <a:prstGeom prst="rect">
            <a:avLst/>
          </a:prstGeom>
          <a:noFill/>
        </p:spPr>
        <p:txBody>
          <a:bodyPr wrap="square">
            <a:spAutoFit/>
          </a:bodyPr>
          <a:lstStyle/>
          <a:p>
            <a:r>
              <a:rPr lang="ja-JP" altLang="ja-JP" sz="1100"/>
              <a:t>A. Kothapalli and S. T. V. Setty, “HyperNova: Recursive Arguments for Customizable Constraint Systems,” CRYPTO 2024, 2024.</a:t>
            </a:r>
            <a:endParaRPr lang="ja-JP" altLang="en-US" sz="1100"/>
          </a:p>
        </p:txBody>
      </p:sp>
      <p:pic>
        <p:nvPicPr>
          <p:cNvPr id="7" name="図 6">
            <a:extLst>
              <a:ext uri="{FF2B5EF4-FFF2-40B4-BE49-F238E27FC236}">
                <a16:creationId xmlns:a16="http://schemas.microsoft.com/office/drawing/2014/main" id="{1194A93B-8BAF-1BD8-FA63-C8627A765A92}"/>
              </a:ext>
            </a:extLst>
          </p:cNvPr>
          <p:cNvPicPr>
            <a:picLocks noChangeAspect="1"/>
          </p:cNvPicPr>
          <p:nvPr/>
        </p:nvPicPr>
        <p:blipFill>
          <a:blip r:embed="rId3"/>
          <a:stretch>
            <a:fillRect/>
          </a:stretch>
        </p:blipFill>
        <p:spPr>
          <a:xfrm>
            <a:off x="905690" y="2477036"/>
            <a:ext cx="6903161" cy="3835090"/>
          </a:xfrm>
          <a:prstGeom prst="rect">
            <a:avLst/>
          </a:prstGeom>
        </p:spPr>
      </p:pic>
      <p:sp>
        <p:nvSpPr>
          <p:cNvPr id="5" name="正方形/長方形 4">
            <a:extLst>
              <a:ext uri="{FF2B5EF4-FFF2-40B4-BE49-F238E27FC236}">
                <a16:creationId xmlns:a16="http://schemas.microsoft.com/office/drawing/2014/main" id="{94D25EEC-6F14-B653-5CF1-1872533F3222}"/>
              </a:ext>
            </a:extLst>
          </p:cNvPr>
          <p:cNvSpPr/>
          <p:nvPr/>
        </p:nvSpPr>
        <p:spPr>
          <a:xfrm>
            <a:off x="1071154" y="3997234"/>
            <a:ext cx="1480457" cy="47177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9FEC4658-F9BA-DD7A-27EE-A636A934F4D2}"/>
              </a:ext>
            </a:extLst>
          </p:cNvPr>
          <p:cNvPicPr>
            <a:picLocks noChangeAspect="1"/>
          </p:cNvPicPr>
          <p:nvPr/>
        </p:nvPicPr>
        <p:blipFill>
          <a:blip r:embed="rId4"/>
          <a:stretch>
            <a:fillRect/>
          </a:stretch>
        </p:blipFill>
        <p:spPr>
          <a:xfrm>
            <a:off x="645178" y="0"/>
            <a:ext cx="7853644" cy="6858000"/>
          </a:xfrm>
          <a:prstGeom prst="rect">
            <a:avLst/>
          </a:prstGeom>
        </p:spPr>
      </p:pic>
      <p:sp>
        <p:nvSpPr>
          <p:cNvPr id="8" name="正方形/長方形 7">
            <a:extLst>
              <a:ext uri="{FF2B5EF4-FFF2-40B4-BE49-F238E27FC236}">
                <a16:creationId xmlns:a16="http://schemas.microsoft.com/office/drawing/2014/main" id="{9AC95F44-53C6-1C95-EDB3-4B43F9760E8B}"/>
              </a:ext>
            </a:extLst>
          </p:cNvPr>
          <p:cNvSpPr/>
          <p:nvPr/>
        </p:nvSpPr>
        <p:spPr>
          <a:xfrm>
            <a:off x="645178" y="2926080"/>
            <a:ext cx="2376696" cy="469251"/>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1" name="矢印: 左 10">
            <a:extLst>
              <a:ext uri="{FF2B5EF4-FFF2-40B4-BE49-F238E27FC236}">
                <a16:creationId xmlns:a16="http://schemas.microsoft.com/office/drawing/2014/main" id="{FC50B4A7-0587-64A3-3A96-FF7551791385}"/>
              </a:ext>
            </a:extLst>
          </p:cNvPr>
          <p:cNvSpPr/>
          <p:nvPr/>
        </p:nvSpPr>
        <p:spPr>
          <a:xfrm>
            <a:off x="3182421" y="2829410"/>
            <a:ext cx="870857" cy="574235"/>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99185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B1D0F-4E33-0667-7DD9-6574170E4C2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CC4C52-D310-8FFE-5770-9CE8B9319180}"/>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85566F1-D96B-31BC-5261-2F80EE6D7133}"/>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dirty="0" err="1">
                <a:solidFill>
                  <a:srgbClr val="282629"/>
                </a:solidFill>
                <a:latin typeface="Hiragino Kaku Gothic ProN W6"/>
                <a:ea typeface="Hiragino Kaku Gothic ProN W6"/>
                <a:cs typeface="Hiragino Kaku Gothic ProN W6"/>
              </a:rPr>
              <a:t>SonobeのPRの対応</a:t>
            </a:r>
            <a:endParaRPr sz="2600" b="1" spc="300" dirty="0">
              <a:solidFill>
                <a:srgbClr val="282629"/>
              </a:solidFill>
              <a:latin typeface="Hiragino Kaku Gothic ProN W6"/>
              <a:ea typeface="Hiragino Kaku Gothic ProN W6"/>
              <a:cs typeface="Hiragino Kaku Gothic ProN W6"/>
            </a:endParaRPr>
          </a:p>
        </p:txBody>
      </p:sp>
      <p:sp>
        <p:nvSpPr>
          <p:cNvPr id="4" name="Rectangle 3">
            <a:extLst>
              <a:ext uri="{FF2B5EF4-FFF2-40B4-BE49-F238E27FC236}">
                <a16:creationId xmlns:a16="http://schemas.microsoft.com/office/drawing/2014/main" id="{1433755A-359E-D0F4-EC4C-0C738CA3040E}"/>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661657-F3BE-F113-81B3-D26701748CEE}"/>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dirty="0">
                <a:solidFill>
                  <a:srgbClr val="2F64A1"/>
                </a:solidFill>
                <a:latin typeface="Hiragino Kaku Gothic ProN W6"/>
                <a:ea typeface="Hiragino Kaku Gothic ProN W6"/>
                <a:cs typeface="Hiragino Kaku Gothic ProN W6"/>
              </a:rPr>
              <a:t>評価対象は#246</a:t>
            </a:r>
          </a:p>
        </p:txBody>
      </p:sp>
      <p:graphicFrame>
        <p:nvGraphicFramePr>
          <p:cNvPr id="7" name="表 6">
            <a:extLst>
              <a:ext uri="{FF2B5EF4-FFF2-40B4-BE49-F238E27FC236}">
                <a16:creationId xmlns:a16="http://schemas.microsoft.com/office/drawing/2014/main" id="{567A0BE6-428A-07C0-B15F-EB4D5053656A}"/>
              </a:ext>
            </a:extLst>
          </p:cNvPr>
          <p:cNvGraphicFramePr/>
          <p:nvPr>
            <p:extLst>
              <p:ext uri="{D42A27DB-BD31-4B8C-83A1-F6EECF244321}">
                <p14:modId xmlns:p14="http://schemas.microsoft.com/office/powerpoint/2010/main" val="2055665091"/>
              </p:ext>
            </p:extLst>
          </p:nvPr>
        </p:nvGraphicFramePr>
        <p:xfrm>
          <a:off x="400050" y="1438275"/>
          <a:ext cx="8343900" cy="2133600"/>
        </p:xfrm>
        <a:graphic>
          <a:graphicData uri="http://schemas.openxmlformats.org/drawingml/2006/table">
            <a:tbl>
              <a:tblPr/>
              <a:tblGrid>
                <a:gridCol w="28575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tblGrid>
              <a:tr h="533400">
                <a:tc>
                  <a:txBody>
                    <a:bodyPr/>
                    <a:lstStyle/>
                    <a:p>
                      <a:pPr algn="ctr"/>
                      <a:r>
                        <a:rPr sz="1500" b="1">
                          <a:solidFill>
                            <a:srgbClr val="FFFFFF"/>
                          </a:solidFill>
                          <a:latin typeface="Hiragino Kaku Gothic ProN W6"/>
                          <a:ea typeface="Hiragino Kaku Gothic ProN W6"/>
                          <a:cs typeface="Hiragino Kaku Gothic ProN W6"/>
                        </a:rPr>
                        <a:t>PR</a:t>
                      </a:r>
                    </a:p>
                  </a:txBody>
                  <a:tcPr anchor="ctr">
                    <a:lnL w="6668">
                      <a:solidFill>
                        <a:srgbClr val="282629"/>
                      </a:solidFill>
                      <a:prstDash val="soli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役割</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今回との関係</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extLst>
                  <a:ext uri="{0D108BD9-81ED-4DB2-BD59-A6C34878D82A}">
                    <a16:rowId xmlns:a16="http://schemas.microsoft.com/office/drawing/2014/main" val="10000"/>
                  </a:ext>
                </a:extLst>
              </a:tr>
              <a:tr h="533400">
                <a:tc>
                  <a:txBody>
                    <a:bodyPr/>
                    <a:lstStyle/>
                    <a:p>
                      <a:pPr algn="ctr"/>
                      <a:r>
                        <a:rPr sz="1500" b="0" dirty="0">
                          <a:solidFill>
                            <a:srgbClr val="FF0000"/>
                          </a:solidFill>
                          <a:latin typeface="Hiragino Kaku Gothic ProN W3"/>
                          <a:ea typeface="Hiragino Kaku Gothic ProN W3"/>
                          <a:cs typeface="Hiragino Kaku Gothic ProN W3"/>
                        </a:rPr>
                        <a:t>#246 </a:t>
                      </a:r>
                      <a:r>
                        <a:rPr sz="1500" b="0" dirty="0" err="1">
                          <a:solidFill>
                            <a:srgbClr val="FF0000"/>
                          </a:solidFill>
                          <a:latin typeface="Hiragino Kaku Gothic ProN W3"/>
                          <a:ea typeface="Hiragino Kaku Gothic ProN W3"/>
                          <a:cs typeface="Hiragino Kaku Gothic ProN W3"/>
                        </a:rPr>
                        <a:t>HyperNova再設計</a:t>
                      </a:r>
                      <a:endParaRPr sz="1500" b="0" dirty="0">
                        <a:solidFill>
                          <a:srgbClr val="FF0000"/>
                        </a:solidFill>
                        <a:latin typeface="Hiragino Kaku Gothic ProN W3"/>
                        <a:ea typeface="Hiragino Kaku Gothic ProN W3"/>
                        <a:cs typeface="Hiragino Kaku Gothic ProN W3"/>
                      </a:endParaRP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dirty="0">
                          <a:solidFill>
                            <a:srgbClr val="FF0000"/>
                          </a:solidFill>
                          <a:latin typeface="Hiragino Kaku Gothic ProN W3"/>
                          <a:ea typeface="Hiragino Kaku Gothic ProN W3"/>
                          <a:cs typeface="Hiragino Kaku Gothic ProN W3"/>
                        </a:rPr>
                        <a:t>CCS / NIMFS / IVC</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dirty="0" err="1">
                          <a:solidFill>
                            <a:srgbClr val="FF0000"/>
                          </a:solidFill>
                          <a:latin typeface="Hiragino Kaku Gothic ProN W3"/>
                          <a:ea typeface="Hiragino Kaku Gothic ProN W3"/>
                          <a:cs typeface="Hiragino Kaku Gothic ProN W3"/>
                        </a:rPr>
                        <a:t>今回の対象</a:t>
                      </a:r>
                      <a:endParaRPr sz="1500" b="0" dirty="0">
                        <a:solidFill>
                          <a:srgbClr val="FF0000"/>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1"/>
                  </a:ext>
                </a:extLst>
              </a:tr>
              <a:tr h="533400">
                <a:tc>
                  <a:txBody>
                    <a:bodyPr/>
                    <a:lstStyle/>
                    <a:p>
                      <a:pPr algn="ctr"/>
                      <a:r>
                        <a:rPr sz="1500" b="0">
                          <a:solidFill>
                            <a:srgbClr val="282629"/>
                          </a:solidFill>
                          <a:latin typeface="Hiragino Kaku Gothic ProN W3"/>
                          <a:ea typeface="Hiragino Kaku Gothic ProN W3"/>
                          <a:cs typeface="Hiragino Kaku Gothic ProN W3"/>
                        </a:rPr>
                        <a:t>#127 Nova zk layer</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dirty="0" err="1">
                          <a:solidFill>
                            <a:srgbClr val="282629"/>
                          </a:solidFill>
                          <a:latin typeface="Hiragino Kaku Gothic ProN W3"/>
                          <a:ea typeface="Hiragino Kaku Gothic ProN W3"/>
                          <a:cs typeface="Hiragino Kaku Gothic ProN W3"/>
                        </a:rPr>
                        <a:t>NovaのZK層</a:t>
                      </a:r>
                      <a:endParaRPr sz="1500" b="0" dirty="0">
                        <a:solidFill>
                          <a:srgbClr val="282629"/>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dirty="0" err="1">
                          <a:solidFill>
                            <a:srgbClr val="282629"/>
                          </a:solidFill>
                          <a:latin typeface="Hiragino Kaku Gothic ProN W3"/>
                          <a:ea typeface="Hiragino Kaku Gothic ProN W3"/>
                          <a:cs typeface="Hiragino Kaku Gothic ProN W3"/>
                        </a:rPr>
                        <a:t>秘匿化に関係</a:t>
                      </a:r>
                      <a:endParaRPr sz="1500" b="0" dirty="0">
                        <a:solidFill>
                          <a:srgbClr val="282629"/>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2"/>
                  </a:ext>
                </a:extLst>
              </a:tr>
              <a:tr h="533400">
                <a:tc>
                  <a:txBody>
                    <a:bodyPr/>
                    <a:lstStyle/>
                    <a:p>
                      <a:pPr algn="ctr"/>
                      <a:r>
                        <a:rPr sz="1500" b="0">
                          <a:solidFill>
                            <a:srgbClr val="282629"/>
                          </a:solidFill>
                          <a:latin typeface="Hiragino Kaku Gothic ProN W3"/>
                          <a:ea typeface="Hiragino Kaku Gothic ProN W3"/>
                          <a:cs typeface="Hiragino Kaku Gothic ProN W3"/>
                        </a:rPr>
                        <a:t>#156 旧DeciderEth</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dirty="0" err="1">
                          <a:solidFill>
                            <a:srgbClr val="282629"/>
                          </a:solidFill>
                          <a:latin typeface="Hiragino Kaku Gothic ProN W3"/>
                          <a:ea typeface="Hiragino Kaku Gothic ProN W3"/>
                          <a:cs typeface="Hiragino Kaku Gothic ProN W3"/>
                        </a:rPr>
                        <a:t>終端証明・EVM向けAPI</a:t>
                      </a:r>
                      <a:endParaRPr sz="1500" b="0" dirty="0">
                        <a:solidFill>
                          <a:srgbClr val="282629"/>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dirty="0">
                          <a:solidFill>
                            <a:srgbClr val="282629"/>
                          </a:solidFill>
                          <a:latin typeface="Hiragino Kaku Gothic ProN W3"/>
                          <a:ea typeface="Hiragino Kaku Gothic ProN W3"/>
                          <a:cs typeface="Hiragino Kaku Gothic ProN W3"/>
                        </a:rPr>
                        <a:t>別</a:t>
                      </a:r>
                      <a:r>
                        <a:rPr lang="ja-JP" altLang="en-US" sz="1500" b="0" dirty="0">
                          <a:solidFill>
                            <a:srgbClr val="282629"/>
                          </a:solidFill>
                          <a:latin typeface="Hiragino Kaku Gothic ProN W3"/>
                          <a:ea typeface="Hiragino Kaku Gothic ProN W3"/>
                          <a:cs typeface="Hiragino Kaku Gothic ProN W3"/>
                        </a:rPr>
                        <a:t>の内容</a:t>
                      </a:r>
                      <a:endParaRPr sz="1500" b="0" dirty="0">
                        <a:solidFill>
                          <a:srgbClr val="282629"/>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E5AEF86B-8C32-87C9-6F18-9EA2E803D400}"/>
              </a:ext>
            </a:extLst>
          </p:cNvPr>
          <p:cNvSpPr>
            <a:spLocks noGrp="1"/>
          </p:cNvSpPr>
          <p:nvPr/>
        </p:nvSpPr>
        <p:spPr>
          <a:xfrm>
            <a:off x="400050" y="4314825"/>
            <a:ext cx="8286750" cy="19431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版を固定する理由</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PR #246 head：9c4e61f8…（2026-10-19</a:t>
            </a:r>
            <a:r>
              <a:rPr lang="ja-JP" altLang="en-US" dirty="0"/>
              <a:t>時点</a:t>
            </a:r>
            <a:r>
              <a:rPr sz="1600" b="0" dirty="0">
                <a:solidFill>
                  <a:srgbClr val="282629"/>
                </a:solidFill>
                <a:latin typeface="Hiragino Kaku Gothic ProN W3"/>
                <a:ea typeface="Hiragino Kaku Gothic ProN W3"/>
                <a:cs typeface="Hiragino Kaku Gothic ProN W3"/>
              </a:rPr>
              <a:t>）</a:t>
            </a: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今回見つかった対応</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旧#127はNovaのZK層。#246を</a:t>
            </a:r>
            <a:r>
              <a:rPr sz="1600" b="0" dirty="0">
                <a:solidFill>
                  <a:schemeClr val="tx1"/>
                </a:solidFill>
                <a:latin typeface="Hiragino Kaku Gothic ProN W3"/>
                <a:ea typeface="Hiragino Kaku Gothic ProN W3"/>
                <a:cs typeface="Hiragino Kaku Gothic ProN W3"/>
              </a:rPr>
              <a:t>NovaBlindFold完成PR</a:t>
            </a:r>
            <a:r>
              <a:rPr sz="1600" b="0" dirty="0">
                <a:solidFill>
                  <a:srgbClr val="282629"/>
                </a:solidFill>
                <a:latin typeface="Hiragino Kaku Gothic ProN W3"/>
                <a:ea typeface="Hiragino Kaku Gothic ProN W3"/>
                <a:cs typeface="Hiragino Kaku Gothic ProN W3"/>
              </a:rPr>
              <a:t>とは呼</a:t>
            </a:r>
            <a:r>
              <a:rPr lang="ja-JP" altLang="en-US" dirty="0"/>
              <a:t>べない</a:t>
            </a:r>
            <a:endParaRPr sz="16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6B2360CA-73F1-0913-D5DB-26B19EFD8A6F}"/>
              </a:ext>
            </a:extLst>
          </p:cNvPr>
          <p:cNvSpPr>
            <a:spLocks noGrp="1"/>
          </p:cNvSpPr>
          <p:nvPr>
            <p:ph type="sldNum" idx="12"/>
          </p:nvPr>
        </p:nvSpPr>
        <p:spPr/>
        <p:txBody>
          <a:bodyPr/>
          <a:lstStyle/>
          <a:p>
            <a:fld id="{C1FF6DA9-008F-8B48-92A6-B652298478BF}" type="slidenum">
              <a:rPr lang="en-US" altLang="ja-JP" smtClean="0"/>
              <a:t>20</a:t>
            </a:fld>
            <a:endParaRPr lang="ja-JP" altLang="en-US"/>
          </a:p>
        </p:txBody>
      </p:sp>
    </p:spTree>
    <p:extLst>
      <p:ext uri="{BB962C8B-B14F-4D97-AF65-F5344CB8AC3E}">
        <p14:creationId xmlns:p14="http://schemas.microsoft.com/office/powerpoint/2010/main" val="857090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F1190-6FBA-A5F4-B061-2277EA62B9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D316FE-2A6E-CB7C-AC22-7B5316ACFCD4}"/>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7DF1AD8-9DF8-A4E0-4913-903EFA8B8422}"/>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今回対象にしたHyperNovaの範囲</a:t>
            </a:r>
          </a:p>
        </p:txBody>
      </p:sp>
      <p:sp>
        <p:nvSpPr>
          <p:cNvPr id="4" name="Rectangle 3">
            <a:extLst>
              <a:ext uri="{FF2B5EF4-FFF2-40B4-BE49-F238E27FC236}">
                <a16:creationId xmlns:a16="http://schemas.microsoft.com/office/drawing/2014/main" id="{52C29E2D-55C5-0078-BB9B-2AA09F4D6911}"/>
              </a:ext>
            </a:extLst>
          </p:cNvPr>
          <p:cNvSpPr>
            <a:spLocks noGrp="1"/>
          </p:cNvSpPr>
          <p:nvPr/>
        </p:nvSpPr>
        <p:spPr>
          <a:xfrm>
            <a:off x="396000" y="810000"/>
            <a:ext cx="64800" cy="270000"/>
          </a:xfrm>
          <a:prstGeom prst="rect">
            <a:avLst/>
          </a:prstGeom>
          <a:solidFill>
            <a:srgbClr val="2F64A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8FD526B-F04C-B647-8A61-EF3F201560E4}"/>
              </a:ext>
            </a:extLst>
          </p:cNvPr>
          <p:cNvSpPr>
            <a:spLocks noGrp="1"/>
          </p:cNvSpPr>
          <p:nvPr/>
        </p:nvSpPr>
        <p:spPr>
          <a:xfrm>
            <a:off x="576000" y="810000"/>
            <a:ext cx="8172000" cy="274320"/>
          </a:xfrm>
          <a:prstGeom prst="rect">
            <a:avLst/>
          </a:prstGeom>
          <a:noFill/>
        </p:spPr>
        <p:txBody>
          <a:bodyPr wrap="square" lIns="0" tIns="0" rIns="0" bIns="0" anchor="ctr">
            <a:spAutoFit/>
          </a:bodyPr>
          <a:lstStyle>
            <a:defPPr>
              <a:defRPr sz="1800" b="1">
                <a:solidFill>
                  <a:srgbClr val="2F64A1"/>
                </a:solidFill>
                <a:latin typeface="Hiragino Kaku Gothic ProN W6"/>
                <a:ea typeface="Hiragino Kaku Gothic ProN W6"/>
                <a:cs typeface="Hiragino Kaku Gothic ProN W6"/>
              </a:defRPr>
            </a:defPPr>
            <a:lvl1pPr>
              <a:defRPr sz="1800" b="1">
                <a:solidFill>
                  <a:srgbClr val="2F64A1"/>
                </a:solidFill>
                <a:latin typeface="Hiragino Kaku Gothic ProN W6"/>
                <a:ea typeface="Hiragino Kaku Gothic ProN W6"/>
                <a:cs typeface="Hiragino Kaku Gothic ProN W6"/>
              </a:defRPr>
            </a:lvl1pPr>
            <a:lvl2pPr>
              <a:defRPr sz="1800" b="1">
                <a:solidFill>
                  <a:srgbClr val="2F64A1"/>
                </a:solidFill>
                <a:latin typeface="Hiragino Kaku Gothic ProN W6"/>
                <a:ea typeface="Hiragino Kaku Gothic ProN W6"/>
                <a:cs typeface="Hiragino Kaku Gothic ProN W6"/>
              </a:defRPr>
            </a:lvl2pPr>
            <a:lvl3pPr>
              <a:defRPr sz="1800" b="1">
                <a:solidFill>
                  <a:srgbClr val="2F64A1"/>
                </a:solidFill>
                <a:latin typeface="Hiragino Kaku Gothic ProN W6"/>
                <a:ea typeface="Hiragino Kaku Gothic ProN W6"/>
                <a:cs typeface="Hiragino Kaku Gothic ProN W6"/>
              </a:defRPr>
            </a:lvl3pPr>
            <a:lvl4pPr>
              <a:defRPr sz="1800" b="1">
                <a:solidFill>
                  <a:srgbClr val="2F64A1"/>
                </a:solidFill>
                <a:latin typeface="Hiragino Kaku Gothic ProN W6"/>
                <a:ea typeface="Hiragino Kaku Gothic ProN W6"/>
                <a:cs typeface="Hiragino Kaku Gothic ProN W6"/>
              </a:defRPr>
            </a:lvl4pPr>
            <a:lvl5pPr>
              <a:defRPr sz="1800" b="1">
                <a:solidFill>
                  <a:srgbClr val="2F64A1"/>
                </a:solidFill>
                <a:latin typeface="Hiragino Kaku Gothic ProN W6"/>
                <a:ea typeface="Hiragino Kaku Gothic ProN W6"/>
                <a:cs typeface="Hiragino Kaku Gothic ProN W6"/>
              </a:defRPr>
            </a:lvl5pPr>
            <a:lvl6pPr>
              <a:defRPr sz="1800" b="1">
                <a:solidFill>
                  <a:srgbClr val="2F64A1"/>
                </a:solidFill>
                <a:latin typeface="Hiragino Kaku Gothic ProN W6"/>
                <a:ea typeface="Hiragino Kaku Gothic ProN W6"/>
                <a:cs typeface="Hiragino Kaku Gothic ProN W6"/>
              </a:defRPr>
            </a:lvl6pPr>
            <a:lvl7pPr>
              <a:defRPr sz="1800" b="1">
                <a:solidFill>
                  <a:srgbClr val="2F64A1"/>
                </a:solidFill>
                <a:latin typeface="Hiragino Kaku Gothic ProN W6"/>
                <a:ea typeface="Hiragino Kaku Gothic ProN W6"/>
                <a:cs typeface="Hiragino Kaku Gothic ProN W6"/>
              </a:defRPr>
            </a:lvl7pPr>
            <a:lvl8pPr>
              <a:defRPr sz="1800" b="1">
                <a:solidFill>
                  <a:srgbClr val="2F64A1"/>
                </a:solidFill>
                <a:latin typeface="Hiragino Kaku Gothic ProN W6"/>
                <a:ea typeface="Hiragino Kaku Gothic ProN W6"/>
                <a:cs typeface="Hiragino Kaku Gothic ProN W6"/>
              </a:defRPr>
            </a:lvl8pPr>
            <a:lvl9pPr>
              <a:defRPr sz="1800" b="1">
                <a:solidFill>
                  <a:srgbClr val="2F64A1"/>
                </a:solidFill>
                <a:latin typeface="Hiragino Kaku Gothic ProN W6"/>
                <a:ea typeface="Hiragino Kaku Gothic ProN W6"/>
                <a:cs typeface="Hiragino Kaku Gothic ProN W6"/>
              </a:defRPr>
            </a:lvl9pPr>
          </a:lstStyle>
          <a:p>
            <a:pPr algn="l">
              <a:buNone/>
              <a:defRPr sz="1800" b="1">
                <a:solidFill>
                  <a:srgbClr val="2F64A1"/>
                </a:solidFill>
                <a:latin typeface="Hiragino Kaku Gothic ProN W6"/>
                <a:ea typeface="Hiragino Kaku Gothic ProN W6"/>
                <a:cs typeface="Hiragino Kaku Gothic ProN W6"/>
              </a:defRPr>
            </a:pPr>
            <a:r>
              <a:rPr sz="1800" b="1" spc="100">
                <a:solidFill>
                  <a:srgbClr val="2F64A1"/>
                </a:solidFill>
                <a:latin typeface="Hiragino Kaku Gothic ProN W6"/>
                <a:ea typeface="Hiragino Kaku Gothic ProN W6"/>
                <a:cs typeface="Hiragino Kaku Gothic ProN W6"/>
              </a:rPr>
              <a:t>今回の測定対象は、CCSのFoldingと単一端末内のIVC</a:t>
            </a:r>
          </a:p>
        </p:txBody>
      </p:sp>
      <p:graphicFrame>
        <p:nvGraphicFramePr>
          <p:cNvPr id="7" name="表 6">
            <a:extLst>
              <a:ext uri="{FF2B5EF4-FFF2-40B4-BE49-F238E27FC236}">
                <a16:creationId xmlns:a16="http://schemas.microsoft.com/office/drawing/2014/main" id="{251F6077-8FEB-9A21-0BCD-5232E594DFE7}"/>
              </a:ext>
            </a:extLst>
          </p:cNvPr>
          <p:cNvGraphicFramePr/>
          <p:nvPr>
            <p:extLst>
              <p:ext uri="{D42A27DB-BD31-4B8C-83A1-F6EECF244321}">
                <p14:modId xmlns:p14="http://schemas.microsoft.com/office/powerpoint/2010/main" val="456805483"/>
              </p:ext>
            </p:extLst>
          </p:nvPr>
        </p:nvGraphicFramePr>
        <p:xfrm>
          <a:off x="400050" y="1438275"/>
          <a:ext cx="8343900" cy="2460625"/>
        </p:xfrm>
        <a:graphic>
          <a:graphicData uri="http://schemas.openxmlformats.org/drawingml/2006/table">
            <a:tbl>
              <a:tblPr/>
              <a:tblGrid>
                <a:gridCol w="22860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tblGrid>
              <a:tr h="492125">
                <a:tc>
                  <a:txBody>
                    <a:bodyPr/>
                    <a:lstStyle/>
                    <a:p>
                      <a:pPr algn="ctr"/>
                      <a:r>
                        <a:rPr sz="1500" b="1">
                          <a:solidFill>
                            <a:srgbClr val="FFFFFF"/>
                          </a:solidFill>
                          <a:latin typeface="Hiragino Kaku Gothic ProN W6"/>
                          <a:ea typeface="Hiragino Kaku Gothic ProN W6"/>
                          <a:cs typeface="Hiragino Kaku Gothic ProN W6"/>
                        </a:rPr>
                        <a:t>層</a:t>
                      </a:r>
                    </a:p>
                  </a:txBody>
                  <a:tcPr anchor="ctr">
                    <a:lnL w="6668">
                      <a:solidFill>
                        <a:srgbClr val="282629"/>
                      </a:solidFill>
                      <a:prstDash val="soli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PR #246内の主な箇所</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tc>
                  <a:txBody>
                    <a:bodyPr/>
                    <a:lstStyle/>
                    <a:p>
                      <a:pPr algn="ctr"/>
                      <a:r>
                        <a:rPr sz="1500" b="1">
                          <a:solidFill>
                            <a:srgbClr val="FFFFFF"/>
                          </a:solidFill>
                          <a:latin typeface="Hiragino Kaku Gothic ProN W6"/>
                          <a:ea typeface="Hiragino Kaku Gothic ProN W6"/>
                          <a:cs typeface="Hiragino Kaku Gothic ProN W6"/>
                        </a:rPr>
                        <a:t>確認範囲</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a:solidFill>
                        <a:srgbClr val="282629"/>
                      </a:solidFill>
                      <a:prstDash val="solid"/>
                    </a:lnT>
                    <a:lnB w="6668">
                      <a:solidFill>
                        <a:srgbClr val="282629"/>
                      </a:solidFill>
                      <a:prstDash val="solid"/>
                    </a:lnB>
                    <a:solidFill>
                      <a:srgbClr val="2B5581"/>
                    </a:solidFill>
                  </a:tcPr>
                </a:tc>
                <a:extLst>
                  <a:ext uri="{0D108BD9-81ED-4DB2-BD59-A6C34878D82A}">
                    <a16:rowId xmlns:a16="http://schemas.microsoft.com/office/drawing/2014/main" val="10000"/>
                  </a:ext>
                </a:extLst>
              </a:tr>
              <a:tr h="492125">
                <a:tc>
                  <a:txBody>
                    <a:bodyPr/>
                    <a:lstStyle/>
                    <a:p>
                      <a:pPr algn="ctr"/>
                      <a:r>
                        <a:rPr sz="1500" b="0">
                          <a:solidFill>
                            <a:srgbClr val="282629"/>
                          </a:solidFill>
                          <a:latin typeface="Hiragino Kaku Gothic ProN W3"/>
                          <a:ea typeface="Hiragino Kaku Gothic ProN W3"/>
                          <a:cs typeface="Hiragino Kaku Gothic ProN W3"/>
                        </a:rPr>
                        <a:t>CCS / NIMFS</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hypernova/algorithms/</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複数試験で計240 fold</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1"/>
                  </a:ext>
                </a:extLst>
              </a:tr>
              <a:tr h="492125">
                <a:tc>
                  <a:txBody>
                    <a:bodyPr/>
                    <a:lstStyle/>
                    <a:p>
                      <a:pPr algn="ctr"/>
                      <a:r>
                        <a:rPr sz="1500" b="0">
                          <a:solidFill>
                            <a:srgbClr val="282629"/>
                          </a:solidFill>
                          <a:latin typeface="Hiragino Kaku Gothic ProN W3"/>
                          <a:ea typeface="Hiragino Kaku Gothic ProN W3"/>
                          <a:cs typeface="Hiragino Kaku Gothic ProN W3"/>
                        </a:rPr>
                        <a:t>ランダム関係の生成</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hypernova/mod.rs sample</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a:solidFill>
                            <a:srgbClr val="282629"/>
                          </a:solidFill>
                          <a:latin typeface="Hiragino Kaku Gothic ProN W3"/>
                          <a:ea typeface="Hiragino Kaku Gothic ProN W3"/>
                          <a:cs typeface="Hiragino Kaku Gothic ProN W3"/>
                        </a:rPr>
                        <a:t>random foldを検証</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2"/>
                  </a:ext>
                </a:extLst>
              </a:tr>
              <a:tr h="492125">
                <a:tc>
                  <a:txBody>
                    <a:bodyPr/>
                    <a:lstStyle/>
                    <a:p>
                      <a:pPr algn="ctr"/>
                      <a:r>
                        <a:rPr sz="1500" b="0">
                          <a:solidFill>
                            <a:srgbClr val="282629"/>
                          </a:solidFill>
                          <a:latin typeface="Hiragino Kaku Gothic ProN W3"/>
                          <a:ea typeface="Hiragino Kaku Gothic ProN W3"/>
                          <a:cs typeface="Hiragino Kaku Gothic ProN W3"/>
                        </a:rPr>
                        <a:t>CycleFold / IVC</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cyclefold/ adapter・Proof</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tc>
                  <a:txBody>
                    <a:bodyPr/>
                    <a:lstStyle/>
                    <a:p>
                      <a:pPr algn="ctr"/>
                      <a:r>
                        <a:rPr sz="1500" b="0">
                          <a:solidFill>
                            <a:srgbClr val="282629"/>
                          </a:solidFill>
                          <a:latin typeface="Hiragino Kaku Gothic ProN W3"/>
                          <a:ea typeface="Hiragino Kaku Gothic ProN W3"/>
                          <a:cs typeface="Hiragino Kaku Gothic ProN W3"/>
                        </a:rPr>
                        <a:t>Piで7step／生Witnessあり</a:t>
                      </a: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FFFFFF"/>
                    </a:solidFill>
                  </a:tcPr>
                </a:tc>
                <a:extLst>
                  <a:ext uri="{0D108BD9-81ED-4DB2-BD59-A6C34878D82A}">
                    <a16:rowId xmlns:a16="http://schemas.microsoft.com/office/drawing/2014/main" val="10003"/>
                  </a:ext>
                </a:extLst>
              </a:tr>
              <a:tr h="492125">
                <a:tc>
                  <a:txBody>
                    <a:bodyPr/>
                    <a:lstStyle/>
                    <a:p>
                      <a:pPr algn="ctr"/>
                      <a:r>
                        <a:rPr lang="ja-JP" altLang="en-US" sz="1500" b="0" dirty="0">
                          <a:solidFill>
                            <a:srgbClr val="FF0000"/>
                          </a:solidFill>
                          <a:latin typeface="Hiragino Kaku Gothic ProN W3"/>
                          <a:ea typeface="Hiragino Kaku Gothic ProN W3"/>
                          <a:cs typeface="Hiragino Kaku Gothic ProN W3"/>
                        </a:rPr>
                        <a:t>最終</a:t>
                      </a:r>
                      <a:r>
                        <a:rPr sz="1500" b="0" dirty="0">
                          <a:solidFill>
                            <a:srgbClr val="FF0000"/>
                          </a:solidFill>
                          <a:latin typeface="Hiragino Kaku Gothic ProN W3"/>
                          <a:ea typeface="Hiragino Kaku Gothic ProN W3"/>
                          <a:cs typeface="Hiragino Kaku Gothic ProN W3"/>
                        </a:rPr>
                        <a:t>ZK / Decider</a:t>
                      </a:r>
                    </a:p>
                  </a:txBody>
                  <a:tcPr anchor="ctr">
                    <a:lnL w="6668">
                      <a:solidFill>
                        <a:srgbClr val="282629"/>
                      </a:solidFill>
                      <a:prstDash val="soli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dirty="0">
                          <a:solidFill>
                            <a:srgbClr val="FF0000"/>
                          </a:solidFill>
                          <a:latin typeface="Hiragino Kaku Gothic ProN W3"/>
                          <a:ea typeface="Hiragino Kaku Gothic ProN W3"/>
                          <a:cs typeface="Hiragino Kaku Gothic ProN W3"/>
                        </a:rPr>
                        <a:t>ivc/src/lib.rs </a:t>
                      </a:r>
                      <a:r>
                        <a:rPr lang="en-US" sz="1500" b="0" dirty="0">
                          <a:solidFill>
                            <a:srgbClr val="FF0000"/>
                          </a:solidFill>
                          <a:latin typeface="Hiragino Kaku Gothic ProN W3"/>
                          <a:ea typeface="Hiragino Kaku Gothic ProN W3"/>
                          <a:cs typeface="Hiragino Kaku Gothic ProN W3"/>
                        </a:rPr>
                        <a:t>Decider</a:t>
                      </a:r>
                      <a:endParaRPr sz="1500" b="0" dirty="0">
                        <a:solidFill>
                          <a:srgbClr val="FF0000"/>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tc>
                  <a:txBody>
                    <a:bodyPr/>
                    <a:lstStyle/>
                    <a:p>
                      <a:pPr algn="ctr"/>
                      <a:r>
                        <a:rPr sz="1500" b="0" dirty="0" err="1">
                          <a:solidFill>
                            <a:srgbClr val="FF0000"/>
                          </a:solidFill>
                          <a:latin typeface="Hiragino Kaku Gothic ProN W3"/>
                          <a:ea typeface="Hiragino Kaku Gothic ProN W3"/>
                          <a:cs typeface="Hiragino Kaku Gothic ProN W3"/>
                        </a:rPr>
                        <a:t>WIP・実装は未確認</a:t>
                      </a:r>
                      <a:endParaRPr sz="1500" b="0" dirty="0">
                        <a:solidFill>
                          <a:srgbClr val="FF0000"/>
                        </a:solidFill>
                        <a:latin typeface="Hiragino Kaku Gothic ProN W3"/>
                        <a:ea typeface="Hiragino Kaku Gothic ProN W3"/>
                        <a:cs typeface="Hiragino Kaku Gothic ProN W3"/>
                      </a:endParaRPr>
                    </a:p>
                  </a:txBody>
                  <a:tcPr anchor="ctr">
                    <a:lnL w="6668" cap="flat" cmpd="sng" algn="ctr">
                      <a:solidFill>
                        <a:srgbClr val="282629"/>
                      </a:solidFill>
                      <a:prstDash val="solid"/>
                      <a:round/>
                      <a:headEnd type="none" w="med" len="med"/>
                      <a:tailEnd type="none" w="med" len="med"/>
                    </a:lnL>
                    <a:lnR w="6668">
                      <a:solidFill>
                        <a:srgbClr val="282629"/>
                      </a:solidFill>
                      <a:prstDash val="solid"/>
                    </a:lnR>
                    <a:lnT w="6668" cap="flat" cmpd="sng" algn="ctr">
                      <a:solidFill>
                        <a:srgbClr val="282629"/>
                      </a:solidFill>
                      <a:prstDash val="solid"/>
                      <a:round/>
                      <a:headEnd type="none" w="med" len="med"/>
                      <a:tailEnd type="none" w="med" len="med"/>
                    </a:lnT>
                    <a:lnB w="6668">
                      <a:solidFill>
                        <a:srgbClr val="282629"/>
                      </a:solidFill>
                      <a:prstDash val="solid"/>
                    </a:lnB>
                    <a:solidFill>
                      <a:srgbClr val="EDF3F7"/>
                    </a:solidFill>
                  </a:tcPr>
                </a:tc>
                <a:extLst>
                  <a:ext uri="{0D108BD9-81ED-4DB2-BD59-A6C34878D82A}">
                    <a16:rowId xmlns:a16="http://schemas.microsoft.com/office/drawing/2014/main" val="10004"/>
                  </a:ext>
                </a:extLst>
              </a:tr>
            </a:tbl>
          </a:graphicData>
        </a:graphic>
      </p:graphicFrame>
      <p:sp>
        <p:nvSpPr>
          <p:cNvPr id="6" name="スライド番号プレースホルダー 5">
            <a:extLst>
              <a:ext uri="{FF2B5EF4-FFF2-40B4-BE49-F238E27FC236}">
                <a16:creationId xmlns:a16="http://schemas.microsoft.com/office/drawing/2014/main" id="{3EEBC88A-B131-DDAA-6C0E-FEB6FC7B4B36}"/>
              </a:ext>
            </a:extLst>
          </p:cNvPr>
          <p:cNvSpPr>
            <a:spLocks noGrp="1"/>
          </p:cNvSpPr>
          <p:nvPr>
            <p:ph type="sldNum" idx="12"/>
          </p:nvPr>
        </p:nvSpPr>
        <p:spPr/>
        <p:txBody>
          <a:bodyPr/>
          <a:lstStyle/>
          <a:p>
            <a:fld id="{C1FF6DA9-008F-8B48-92A6-B652298478BF}" type="slidenum">
              <a:rPr lang="en-US" altLang="ja-JP" smtClean="0"/>
              <a:t>21</a:t>
            </a:fld>
            <a:endParaRPr lang="ja-JP" altLang="en-US"/>
          </a:p>
        </p:txBody>
      </p:sp>
      <p:sp>
        <p:nvSpPr>
          <p:cNvPr id="10" name="正方形/長方形 9">
            <a:extLst>
              <a:ext uri="{FF2B5EF4-FFF2-40B4-BE49-F238E27FC236}">
                <a16:creationId xmlns:a16="http://schemas.microsoft.com/office/drawing/2014/main" id="{9B32C694-3E21-52D6-64FC-043A5D1B5916}"/>
              </a:ext>
            </a:extLst>
          </p:cNvPr>
          <p:cNvSpPr>
            <a:spLocks noGrp="1"/>
          </p:cNvSpPr>
          <p:nvPr/>
        </p:nvSpPr>
        <p:spPr>
          <a:xfrm>
            <a:off x="400050" y="4314825"/>
            <a:ext cx="8286750" cy="19431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版を固定する理由</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PR #246 head：9c4e61f8…（2026-10-19に再確認）</a:t>
            </a:r>
            <a:endParaRPr lang="en-US" sz="1600" b="0" dirty="0">
              <a:solidFill>
                <a:srgbClr val="282629"/>
              </a:solidFill>
              <a:latin typeface="Hiragino Kaku Gothic ProN W3"/>
              <a:ea typeface="Hiragino Kaku Gothic ProN W3"/>
              <a:cs typeface="Hiragino Kaku Gothic ProN W3"/>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ja-JP" altLang="ja-JP" dirty="0"/>
              <a:t>Decider</a:t>
            </a:r>
            <a:r>
              <a:rPr lang="ja-JP" altLang="en-US" dirty="0"/>
              <a:t>：</a:t>
            </a:r>
            <a:r>
              <a:rPr lang="ja-JP" altLang="ja-JP" dirty="0"/>
              <a:t>NovaやHyperNovaでFoldingによって累積された計算結果が、最終的に正しいかを判定する仕組み</a:t>
            </a:r>
            <a:endParaRPr sz="16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700" b="1" dirty="0">
                <a:solidFill>
                  <a:srgbClr val="2F64A1"/>
                </a:solidFill>
                <a:latin typeface="Hiragino Kaku Gothic ProN W6"/>
                <a:ea typeface="Hiragino Kaku Gothic ProN W6"/>
                <a:cs typeface="Hiragino Kaku Gothic ProN W6"/>
              </a:rPr>
              <a:t>■ </a:t>
            </a:r>
            <a:r>
              <a:rPr sz="1700" b="1" dirty="0" err="1">
                <a:solidFill>
                  <a:srgbClr val="2F64A1"/>
                </a:solidFill>
                <a:latin typeface="Hiragino Kaku Gothic ProN W6"/>
                <a:ea typeface="Hiragino Kaku Gothic ProN W6"/>
                <a:cs typeface="Hiragino Kaku Gothic ProN W6"/>
              </a:rPr>
              <a:t>今回見つかった対応</a:t>
            </a:r>
            <a:endParaRPr sz="17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600" b="0" dirty="0">
                <a:solidFill>
                  <a:srgbClr val="282629"/>
                </a:solidFill>
                <a:latin typeface="Hiragino Kaku Gothic ProN W3"/>
                <a:ea typeface="Hiragino Kaku Gothic ProN W3"/>
                <a:cs typeface="Hiragino Kaku Gothic ProN W3"/>
              </a:rPr>
              <a:t>旧#127はNovaのZK層。#246を</a:t>
            </a:r>
            <a:r>
              <a:rPr sz="1600" b="0" dirty="0">
                <a:solidFill>
                  <a:srgbClr val="FF0000"/>
                </a:solidFill>
                <a:latin typeface="Hiragino Kaku Gothic ProN W3"/>
                <a:ea typeface="Hiragino Kaku Gothic ProN W3"/>
                <a:cs typeface="Hiragino Kaku Gothic ProN W3"/>
              </a:rPr>
              <a:t>NovaBlindFold完成PR</a:t>
            </a:r>
            <a:r>
              <a:rPr lang="en-US" sz="1600" b="0" dirty="0">
                <a:solidFill>
                  <a:srgbClr val="FF0000"/>
                </a:solidFill>
                <a:latin typeface="Hiragino Kaku Gothic ProN W3"/>
                <a:ea typeface="Hiragino Kaku Gothic ProN W3"/>
                <a:cs typeface="Hiragino Kaku Gothic ProN W3"/>
              </a:rPr>
              <a:t>(witness</a:t>
            </a:r>
            <a:r>
              <a:rPr lang="ja-JP" altLang="en-US" sz="1600" b="0" dirty="0">
                <a:solidFill>
                  <a:srgbClr val="FF0000"/>
                </a:solidFill>
                <a:latin typeface="Hiragino Kaku Gothic ProN W3"/>
                <a:ea typeface="Hiragino Kaku Gothic ProN W3"/>
                <a:cs typeface="Hiragino Kaku Gothic ProN W3"/>
              </a:rPr>
              <a:t>秘匿</a:t>
            </a:r>
            <a:r>
              <a:rPr lang="en-US" sz="1600" b="0" dirty="0">
                <a:solidFill>
                  <a:srgbClr val="FF0000"/>
                </a:solidFill>
                <a:latin typeface="Hiragino Kaku Gothic ProN W3"/>
                <a:ea typeface="Hiragino Kaku Gothic ProN W3"/>
                <a:cs typeface="Hiragino Kaku Gothic ProN W3"/>
              </a:rPr>
              <a:t>)</a:t>
            </a:r>
            <a:r>
              <a:rPr sz="1600" b="0" dirty="0" err="1">
                <a:solidFill>
                  <a:srgbClr val="282629"/>
                </a:solidFill>
                <a:latin typeface="Hiragino Kaku Gothic ProN W3"/>
                <a:ea typeface="Hiragino Kaku Gothic ProN W3"/>
                <a:cs typeface="Hiragino Kaku Gothic ProN W3"/>
              </a:rPr>
              <a:t>とは呼</a:t>
            </a:r>
            <a:r>
              <a:rPr lang="ja-JP" altLang="en-US" dirty="0"/>
              <a:t>べない</a:t>
            </a:r>
            <a:endParaRPr sz="1600" b="0" dirty="0">
              <a:solidFill>
                <a:srgbClr val="282629"/>
              </a:solidFill>
              <a:latin typeface="Hiragino Kaku Gothic ProN W3"/>
              <a:ea typeface="Hiragino Kaku Gothic ProN W3"/>
              <a:cs typeface="Hiragino Kaku Gothic ProN W3"/>
            </a:endParaRPr>
          </a:p>
        </p:txBody>
      </p:sp>
      <p:sp>
        <p:nvSpPr>
          <p:cNvPr id="11" name="矢印: 上 10">
            <a:extLst>
              <a:ext uri="{FF2B5EF4-FFF2-40B4-BE49-F238E27FC236}">
                <a16:creationId xmlns:a16="http://schemas.microsoft.com/office/drawing/2014/main" id="{3DAA3996-293F-0F5F-A1AD-C2BCCA87B2DB}"/>
              </a:ext>
            </a:extLst>
          </p:cNvPr>
          <p:cNvSpPr/>
          <p:nvPr/>
        </p:nvSpPr>
        <p:spPr>
          <a:xfrm>
            <a:off x="4865194" y="3857216"/>
            <a:ext cx="406389" cy="24964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043426A-BA75-D07D-25A1-CA0F65E591EC}"/>
              </a:ext>
            </a:extLst>
          </p:cNvPr>
          <p:cNvSpPr txBox="1"/>
          <p:nvPr/>
        </p:nvSpPr>
        <p:spPr>
          <a:xfrm>
            <a:off x="4865194" y="4173491"/>
            <a:ext cx="3821606" cy="646331"/>
          </a:xfrm>
          <a:prstGeom prst="rect">
            <a:avLst/>
          </a:prstGeom>
          <a:noFill/>
        </p:spPr>
        <p:txBody>
          <a:bodyPr wrap="square" rtlCol="0">
            <a:spAutoFit/>
          </a:bodyPr>
          <a:lstStyle/>
          <a:p>
            <a:pPr marL="285750" indent="-285750">
              <a:buFont typeface="Wingdings" panose="05000000000000000000" pitchFamily="2" charset="2"/>
              <a:buChar char="ü"/>
            </a:pPr>
            <a:r>
              <a:rPr kumimoji="1" lang="en-US" altLang="ja-JP" dirty="0"/>
              <a:t>Witness</a:t>
            </a:r>
            <a:r>
              <a:rPr kumimoji="1" lang="ja-JP" altLang="en-US" dirty="0"/>
              <a:t>秘匿の</a:t>
            </a:r>
            <a:r>
              <a:rPr kumimoji="1" lang="en-US" altLang="ja-JP" dirty="0"/>
              <a:t>blind</a:t>
            </a:r>
            <a:r>
              <a:rPr kumimoji="1" lang="ja-JP" altLang="en-US" dirty="0"/>
              <a:t>回路生成</a:t>
            </a:r>
            <a:endParaRPr kumimoji="1" lang="en-US" altLang="ja-JP" dirty="0"/>
          </a:p>
          <a:p>
            <a:pPr marL="285750" indent="-285750">
              <a:buFont typeface="Wingdings" panose="05000000000000000000" pitchFamily="2" charset="2"/>
              <a:buChar char="ü"/>
            </a:pPr>
            <a:r>
              <a:rPr kumimoji="1" lang="ja-JP" altLang="en-US" dirty="0"/>
              <a:t>変更は今のところない</a:t>
            </a:r>
          </a:p>
        </p:txBody>
      </p:sp>
    </p:spTree>
    <p:extLst>
      <p:ext uri="{BB962C8B-B14F-4D97-AF65-F5344CB8AC3E}">
        <p14:creationId xmlns:p14="http://schemas.microsoft.com/office/powerpoint/2010/main" val="1764790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まとめ</a:t>
            </a:r>
          </a:p>
        </p:txBody>
      </p:sp>
      <p:sp>
        <p:nvSpPr>
          <p:cNvPr id="7" name="正方形/長方形 6">
            <a:extLst>
              <a:ext uri="{FF2B5EF4-FFF2-40B4-BE49-F238E27FC236}">
                <a16:creationId xmlns:a16="http://schemas.microsoft.com/office/drawing/2014/main" id="{2C9969D6-3CFD-4FF6-82EF-6B82B34405A9}"/>
              </a:ext>
            </a:extLst>
          </p:cNvPr>
          <p:cNvSpPr>
            <a:spLocks noGrp="1"/>
          </p:cNvSpPr>
          <p:nvPr/>
        </p:nvSpPr>
        <p:spPr>
          <a:xfrm>
            <a:off x="400050" y="1304925"/>
            <a:ext cx="8286750" cy="41910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800" b="1" dirty="0">
                <a:solidFill>
                  <a:srgbClr val="2F64A1"/>
                </a:solidFill>
                <a:latin typeface="Hiragino Kaku Gothic ProN W6"/>
                <a:ea typeface="Hiragino Kaku Gothic ProN W6"/>
                <a:cs typeface="Hiragino Kaku Gothic ProN W6"/>
              </a:rPr>
              <a:t>■ </a:t>
            </a:r>
            <a:r>
              <a:rPr sz="1800" b="1" dirty="0" err="1">
                <a:solidFill>
                  <a:srgbClr val="2F64A1"/>
                </a:solidFill>
                <a:latin typeface="Hiragino Kaku Gothic ProN W6"/>
                <a:ea typeface="Hiragino Kaku Gothic ProN W6"/>
                <a:cs typeface="Hiragino Kaku Gothic ProN W6"/>
              </a:rPr>
              <a:t>HyperNovaの理論とSonobeの実装</a:t>
            </a:r>
            <a:endParaRPr sz="18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800" b="0" dirty="0" err="1">
                <a:solidFill>
                  <a:srgbClr val="282629"/>
                </a:solidFill>
                <a:latin typeface="Hiragino Kaku Gothic ProN W3"/>
                <a:ea typeface="Hiragino Kaku Gothic ProN W3"/>
                <a:cs typeface="Hiragino Kaku Gothic ProN W3"/>
              </a:rPr>
              <a:t>ランダム化・blind回路による秘匿化の仕組みを整理</a:t>
            </a:r>
            <a:endParaRPr sz="18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800" b="0" dirty="0">
                <a:solidFill>
                  <a:srgbClr val="282629"/>
                </a:solidFill>
                <a:latin typeface="Hiragino Kaku Gothic ProN W3"/>
                <a:ea typeface="Hiragino Kaku Gothic ProN W3"/>
                <a:cs typeface="Hiragino Kaku Gothic ProN W3"/>
              </a:rPr>
              <a:t>PR #246では通常Foldingと単一Prover </a:t>
            </a:r>
            <a:r>
              <a:rPr lang="ja-JP" altLang="en-US" sz="1800" dirty="0"/>
              <a:t>で</a:t>
            </a:r>
            <a:r>
              <a:rPr sz="1800" b="0" dirty="0" err="1">
                <a:solidFill>
                  <a:srgbClr val="282629"/>
                </a:solidFill>
                <a:latin typeface="Hiragino Kaku Gothic ProN W3"/>
                <a:ea typeface="Hiragino Kaku Gothic ProN W3"/>
                <a:cs typeface="Hiragino Kaku Gothic ProN W3"/>
              </a:rPr>
              <a:t>実行</a:t>
            </a:r>
            <a:endParaRPr sz="18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1800" b="0" dirty="0" err="1">
                <a:solidFill>
                  <a:srgbClr val="282629"/>
                </a:solidFill>
                <a:latin typeface="Hiragino Kaku Gothic ProN W3"/>
                <a:ea typeface="Hiragino Kaku Gothic ProN W3"/>
                <a:cs typeface="Hiragino Kaku Gothic ProN W3"/>
              </a:rPr>
              <a:t>終端ZKと、別Proverへの秘密非共有継続は未確認・未成立</a:t>
            </a:r>
            <a:endParaRPr sz="18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1800" b="1" dirty="0">
                <a:solidFill>
                  <a:srgbClr val="2F64A1"/>
                </a:solidFill>
                <a:latin typeface="Hiragino Kaku Gothic ProN W6"/>
                <a:ea typeface="Hiragino Kaku Gothic ProN W6"/>
                <a:cs typeface="Hiragino Kaku Gothic ProN W6"/>
              </a:rPr>
              <a:t>■ Raspberry </a:t>
            </a:r>
            <a:r>
              <a:rPr sz="1800" b="1" dirty="0" err="1">
                <a:solidFill>
                  <a:srgbClr val="2F64A1"/>
                </a:solidFill>
                <a:latin typeface="Hiragino Kaku Gothic ProN W6"/>
                <a:ea typeface="Hiragino Kaku Gothic ProN W6"/>
                <a:cs typeface="Hiragino Kaku Gothic ProN W6"/>
              </a:rPr>
              <a:t>Piでの比較</a:t>
            </a:r>
            <a:endParaRPr sz="18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lang="ja-JP" altLang="en-US" sz="1800" dirty="0"/>
              <a:t>同じ</a:t>
            </a:r>
            <a:r>
              <a:rPr sz="1800" b="0" dirty="0" err="1">
                <a:solidFill>
                  <a:srgbClr val="282629"/>
                </a:solidFill>
                <a:latin typeface="Hiragino Kaku Gothic ProN W3"/>
                <a:ea typeface="Hiragino Kaku Gothic ProN W3"/>
                <a:cs typeface="Hiragino Kaku Gothic ProN W3"/>
              </a:rPr>
              <a:t>の距離回路では、今回HyperNovaの時間と最大メモリが小さかった</a:t>
            </a:r>
            <a:endParaRPr sz="18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AE735998-0CF7-AF8E-F775-1B86CCB59075}"/>
              </a:ext>
            </a:extLst>
          </p:cNvPr>
          <p:cNvSpPr>
            <a:spLocks noGrp="1"/>
          </p:cNvSpPr>
          <p:nvPr>
            <p:ph type="sldNum" idx="12"/>
          </p:nvPr>
        </p:nvSpPr>
        <p:spPr/>
        <p:txBody>
          <a:bodyPr/>
          <a:lstStyle/>
          <a:p>
            <a:fld id="{C1FF6DA9-008F-8B48-92A6-B652298478BF}" type="slidenum">
              <a:rPr lang="en-US" altLang="ja-JP" smtClean="0"/>
              <a:t>22</a:t>
            </a:fld>
            <a:endParaRPr lang="ja-JP" altLang="en-US"/>
          </a:p>
        </p:txBody>
      </p:sp>
    </p:spTree>
    <p:extLst>
      <p:ext uri="{BB962C8B-B14F-4D97-AF65-F5344CB8AC3E}">
        <p14:creationId xmlns:p14="http://schemas.microsoft.com/office/powerpoint/2010/main" val="1512234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274BA-1D5B-41C6-968A-6C320EC142A6}"/>
              </a:ext>
            </a:extLst>
          </p:cNvPr>
          <p:cNvSpPr>
            <a:spLocks noGrp="1"/>
          </p:cNvSpPr>
          <p:nvPr/>
        </p:nvSpPr>
        <p:spPr>
          <a:xfrm>
            <a:off x="0" y="0"/>
            <a:ext cx="9144000" cy="612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357DBC7-3B0F-4E0A-B98B-2700CA06381B}"/>
              </a:ext>
            </a:extLst>
          </p:cNvPr>
          <p:cNvSpPr>
            <a:spLocks noGrp="1"/>
          </p:cNvSpPr>
          <p:nvPr/>
        </p:nvSpPr>
        <p:spPr>
          <a:xfrm>
            <a:off x="396000" y="90000"/>
            <a:ext cx="8352000" cy="396240"/>
          </a:xfrm>
          <a:prstGeom prst="rect">
            <a:avLst/>
          </a:prstGeom>
          <a:noFill/>
        </p:spPr>
        <p:txBody>
          <a:bodyPr wrap="square" lIns="0" tIns="0" rIns="0" bIns="0" anchor="t">
            <a:spAutoFit/>
          </a:bodyPr>
          <a:lstStyle>
            <a:defPPr>
              <a:defRPr sz="2600" b="1">
                <a:solidFill>
                  <a:srgbClr val="282629"/>
                </a:solidFill>
                <a:latin typeface="Hiragino Kaku Gothic ProN W6"/>
                <a:ea typeface="Hiragino Kaku Gothic ProN W6"/>
                <a:cs typeface="Hiragino Kaku Gothic ProN W6"/>
              </a:defRPr>
            </a:defPPr>
            <a:lvl1pPr>
              <a:defRPr sz="2600" b="1">
                <a:solidFill>
                  <a:srgbClr val="282629"/>
                </a:solidFill>
                <a:latin typeface="Hiragino Kaku Gothic ProN W6"/>
                <a:ea typeface="Hiragino Kaku Gothic ProN W6"/>
                <a:cs typeface="Hiragino Kaku Gothic ProN W6"/>
              </a:defRPr>
            </a:lvl1pPr>
            <a:lvl2pPr>
              <a:defRPr sz="2600" b="1">
                <a:solidFill>
                  <a:srgbClr val="282629"/>
                </a:solidFill>
                <a:latin typeface="Hiragino Kaku Gothic ProN W6"/>
                <a:ea typeface="Hiragino Kaku Gothic ProN W6"/>
                <a:cs typeface="Hiragino Kaku Gothic ProN W6"/>
              </a:defRPr>
            </a:lvl2pPr>
            <a:lvl3pPr>
              <a:defRPr sz="2600" b="1">
                <a:solidFill>
                  <a:srgbClr val="282629"/>
                </a:solidFill>
                <a:latin typeface="Hiragino Kaku Gothic ProN W6"/>
                <a:ea typeface="Hiragino Kaku Gothic ProN W6"/>
                <a:cs typeface="Hiragino Kaku Gothic ProN W6"/>
              </a:defRPr>
            </a:lvl3pPr>
            <a:lvl4pPr>
              <a:defRPr sz="2600" b="1">
                <a:solidFill>
                  <a:srgbClr val="282629"/>
                </a:solidFill>
                <a:latin typeface="Hiragino Kaku Gothic ProN W6"/>
                <a:ea typeface="Hiragino Kaku Gothic ProN W6"/>
                <a:cs typeface="Hiragino Kaku Gothic ProN W6"/>
              </a:defRPr>
            </a:lvl4pPr>
            <a:lvl5pPr>
              <a:defRPr sz="2600" b="1">
                <a:solidFill>
                  <a:srgbClr val="282629"/>
                </a:solidFill>
                <a:latin typeface="Hiragino Kaku Gothic ProN W6"/>
                <a:ea typeface="Hiragino Kaku Gothic ProN W6"/>
                <a:cs typeface="Hiragino Kaku Gothic ProN W6"/>
              </a:defRPr>
            </a:lvl5pPr>
            <a:lvl6pPr>
              <a:defRPr sz="2600" b="1">
                <a:solidFill>
                  <a:srgbClr val="282629"/>
                </a:solidFill>
                <a:latin typeface="Hiragino Kaku Gothic ProN W6"/>
                <a:ea typeface="Hiragino Kaku Gothic ProN W6"/>
                <a:cs typeface="Hiragino Kaku Gothic ProN W6"/>
              </a:defRPr>
            </a:lvl6pPr>
            <a:lvl7pPr>
              <a:defRPr sz="2600" b="1">
                <a:solidFill>
                  <a:srgbClr val="282629"/>
                </a:solidFill>
                <a:latin typeface="Hiragino Kaku Gothic ProN W6"/>
                <a:ea typeface="Hiragino Kaku Gothic ProN W6"/>
                <a:cs typeface="Hiragino Kaku Gothic ProN W6"/>
              </a:defRPr>
            </a:lvl7pPr>
            <a:lvl8pPr>
              <a:defRPr sz="2600" b="1">
                <a:solidFill>
                  <a:srgbClr val="282629"/>
                </a:solidFill>
                <a:latin typeface="Hiragino Kaku Gothic ProN W6"/>
                <a:ea typeface="Hiragino Kaku Gothic ProN W6"/>
                <a:cs typeface="Hiragino Kaku Gothic ProN W6"/>
              </a:defRPr>
            </a:lvl8pPr>
            <a:lvl9pPr>
              <a:defRPr sz="2600" b="1">
                <a:solidFill>
                  <a:srgbClr val="282629"/>
                </a:solidFill>
                <a:latin typeface="Hiragino Kaku Gothic ProN W6"/>
                <a:ea typeface="Hiragino Kaku Gothic ProN W6"/>
                <a:cs typeface="Hiragino Kaku Gothic ProN W6"/>
              </a:defRPr>
            </a:lvl9pPr>
          </a:lstStyle>
          <a:p>
            <a:pPr algn="l">
              <a:buNone/>
              <a:defRPr sz="2600" b="1">
                <a:solidFill>
                  <a:srgbClr val="282629"/>
                </a:solidFill>
                <a:latin typeface="Hiragino Kaku Gothic ProN W6"/>
                <a:ea typeface="Hiragino Kaku Gothic ProN W6"/>
                <a:cs typeface="Hiragino Kaku Gothic ProN W6"/>
              </a:defRPr>
            </a:pPr>
            <a:r>
              <a:rPr sz="2600" b="1" spc="300">
                <a:solidFill>
                  <a:srgbClr val="282629"/>
                </a:solidFill>
                <a:latin typeface="Hiragino Kaku Gothic ProN W6"/>
                <a:ea typeface="Hiragino Kaku Gothic ProN W6"/>
                <a:cs typeface="Hiragino Kaku Gothic ProN W6"/>
              </a:rPr>
              <a:t>今後</a:t>
            </a:r>
          </a:p>
        </p:txBody>
      </p:sp>
      <p:sp>
        <p:nvSpPr>
          <p:cNvPr id="7" name="正方形/長方形 6">
            <a:extLst>
              <a:ext uri="{FF2B5EF4-FFF2-40B4-BE49-F238E27FC236}">
                <a16:creationId xmlns:a16="http://schemas.microsoft.com/office/drawing/2014/main" id="{3E653148-833F-4E20-8A42-9C0F55507936}"/>
              </a:ext>
            </a:extLst>
          </p:cNvPr>
          <p:cNvSpPr>
            <a:spLocks noGrp="1"/>
          </p:cNvSpPr>
          <p:nvPr/>
        </p:nvSpPr>
        <p:spPr>
          <a:xfrm>
            <a:off x="400049" y="1304925"/>
            <a:ext cx="8447859" cy="4000500"/>
          </a:xfrm>
          <a:prstGeom prst="rect">
            <a:avLst/>
          </a:prstGeom>
          <a:noFill/>
          <a:ln w="0">
            <a:noFill/>
          </a:ln>
        </p:spPr>
        <p:txBody>
          <a:bodyPr wrap="square" lIns="0" tIns="0" rIns="0" bIns="0" anchor="t">
            <a:noAutofit/>
          </a:bodyPr>
          <a:lstStyle>
            <a:defPPr>
              <a:defRPr sz="1600" b="0">
                <a:solidFill>
                  <a:srgbClr val="282629"/>
                </a:solidFill>
                <a:latin typeface="Hiragino Kaku Gothic ProN W3"/>
                <a:ea typeface="Hiragino Kaku Gothic ProN W3"/>
                <a:cs typeface="Hiragino Kaku Gothic ProN W3"/>
              </a:defRPr>
            </a:defPPr>
            <a:lvl1pPr>
              <a:defRPr sz="1600" b="0">
                <a:solidFill>
                  <a:srgbClr val="282629"/>
                </a:solidFill>
                <a:latin typeface="Hiragino Kaku Gothic ProN W3"/>
                <a:ea typeface="Hiragino Kaku Gothic ProN W3"/>
                <a:cs typeface="Hiragino Kaku Gothic ProN W3"/>
              </a:defRPr>
            </a:lvl1pPr>
            <a:lvl2pPr>
              <a:defRPr sz="1600" b="0">
                <a:solidFill>
                  <a:srgbClr val="282629"/>
                </a:solidFill>
                <a:latin typeface="Hiragino Kaku Gothic ProN W3"/>
                <a:ea typeface="Hiragino Kaku Gothic ProN W3"/>
                <a:cs typeface="Hiragino Kaku Gothic ProN W3"/>
              </a:defRPr>
            </a:lvl2pPr>
            <a:lvl3pPr>
              <a:defRPr sz="1600" b="0">
                <a:solidFill>
                  <a:srgbClr val="282629"/>
                </a:solidFill>
                <a:latin typeface="Hiragino Kaku Gothic ProN W3"/>
                <a:ea typeface="Hiragino Kaku Gothic ProN W3"/>
                <a:cs typeface="Hiragino Kaku Gothic ProN W3"/>
              </a:defRPr>
            </a:lvl3pPr>
            <a:lvl4pPr>
              <a:defRPr sz="1600" b="0">
                <a:solidFill>
                  <a:srgbClr val="282629"/>
                </a:solidFill>
                <a:latin typeface="Hiragino Kaku Gothic ProN W3"/>
                <a:ea typeface="Hiragino Kaku Gothic ProN W3"/>
                <a:cs typeface="Hiragino Kaku Gothic ProN W3"/>
              </a:defRPr>
            </a:lvl4pPr>
            <a:lvl5pPr>
              <a:defRPr sz="1600" b="0">
                <a:solidFill>
                  <a:srgbClr val="282629"/>
                </a:solidFill>
                <a:latin typeface="Hiragino Kaku Gothic ProN W3"/>
                <a:ea typeface="Hiragino Kaku Gothic ProN W3"/>
                <a:cs typeface="Hiragino Kaku Gothic ProN W3"/>
              </a:defRPr>
            </a:lvl5pPr>
            <a:lvl6pPr>
              <a:defRPr sz="1600" b="0">
                <a:solidFill>
                  <a:srgbClr val="282629"/>
                </a:solidFill>
                <a:latin typeface="Hiragino Kaku Gothic ProN W3"/>
                <a:ea typeface="Hiragino Kaku Gothic ProN W3"/>
                <a:cs typeface="Hiragino Kaku Gothic ProN W3"/>
              </a:defRPr>
            </a:lvl6pPr>
            <a:lvl7pPr>
              <a:defRPr sz="1600" b="0">
                <a:solidFill>
                  <a:srgbClr val="282629"/>
                </a:solidFill>
                <a:latin typeface="Hiragino Kaku Gothic ProN W3"/>
                <a:ea typeface="Hiragino Kaku Gothic ProN W3"/>
                <a:cs typeface="Hiragino Kaku Gothic ProN W3"/>
              </a:defRPr>
            </a:lvl7pPr>
            <a:lvl8pPr>
              <a:defRPr sz="1600" b="0">
                <a:solidFill>
                  <a:srgbClr val="282629"/>
                </a:solidFill>
                <a:latin typeface="Hiragino Kaku Gothic ProN W3"/>
                <a:ea typeface="Hiragino Kaku Gothic ProN W3"/>
                <a:cs typeface="Hiragino Kaku Gothic ProN W3"/>
              </a:defRPr>
            </a:lvl8pPr>
            <a:lvl9pPr>
              <a:defRPr sz="1600" b="0">
                <a:solidFill>
                  <a:srgbClr val="282629"/>
                </a:solidFill>
                <a:latin typeface="Hiragino Kaku Gothic ProN W3"/>
                <a:ea typeface="Hiragino Kaku Gothic ProN W3"/>
                <a:cs typeface="Hiragino Kaku Gothic ProN W3"/>
              </a:defRPr>
            </a:lvl9pPr>
          </a:lstStyle>
          <a:p>
            <a:pPr>
              <a:spcBef>
                <a:spcPts val="800"/>
              </a:spcBef>
              <a:spcAft>
                <a:spcPts val="250"/>
              </a:spcAft>
              <a:defRPr sz="1600" b="0">
                <a:solidFill>
                  <a:srgbClr val="282629"/>
                </a:solidFill>
                <a:latin typeface="Hiragino Kaku Gothic ProN W3"/>
                <a:ea typeface="Hiragino Kaku Gothic ProN W3"/>
                <a:cs typeface="Hiragino Kaku Gothic ProN W3"/>
              </a:defRPr>
            </a:pPr>
            <a:r>
              <a:rPr sz="2000" b="1" dirty="0">
                <a:solidFill>
                  <a:srgbClr val="2F64A1"/>
                </a:solidFill>
                <a:latin typeface="Hiragino Kaku Gothic ProN W6"/>
                <a:ea typeface="Hiragino Kaku Gothic ProN W6"/>
                <a:cs typeface="Hiragino Kaku Gothic ProN W6"/>
              </a:rPr>
              <a:t>■ </a:t>
            </a:r>
            <a:r>
              <a:rPr lang="ja-JP" altLang="en-US" sz="2000" b="1" dirty="0">
                <a:solidFill>
                  <a:srgbClr val="2F64A1"/>
                </a:solidFill>
                <a:latin typeface="Hiragino Kaku Gothic ProN W6"/>
                <a:ea typeface="Hiragino Kaku Gothic ProN W6"/>
                <a:cs typeface="Hiragino Kaku Gothic ProN W6"/>
              </a:rPr>
              <a:t>次回</a:t>
            </a:r>
            <a:endParaRPr sz="20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他フレームワークの処理時間・メモリ・証明サイズを比較</a:t>
            </a:r>
            <a:endParaRPr sz="20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a:solidFill>
                  <a:srgbClr val="282629"/>
                </a:solidFill>
                <a:latin typeface="Hiragino Kaku Gothic ProN W3"/>
                <a:ea typeface="Hiragino Kaku Gothic ProN W3"/>
                <a:cs typeface="Hiragino Kaku Gothic ProN W3"/>
              </a:rPr>
              <a:t>Groth16などの方式と、snarkjs・RapidSnarkなどの実装を分けて</a:t>
            </a:r>
            <a:r>
              <a:rPr lang="ja-JP" altLang="en-US" sz="2000" b="0" dirty="0">
                <a:solidFill>
                  <a:srgbClr val="282629"/>
                </a:solidFill>
                <a:latin typeface="Hiragino Kaku Gothic ProN W3"/>
                <a:ea typeface="Hiragino Kaku Gothic ProN W3"/>
                <a:cs typeface="Hiragino Kaku Gothic ProN W3"/>
              </a:rPr>
              <a:t>実装</a:t>
            </a:r>
            <a:endParaRPr sz="2000" b="0" dirty="0">
              <a:solidFill>
                <a:srgbClr val="282629"/>
              </a:solidFill>
              <a:latin typeface="Hiragino Kaku Gothic ProN W3"/>
              <a:ea typeface="Hiragino Kaku Gothic ProN W3"/>
              <a:cs typeface="Hiragino Kaku Gothic ProN W3"/>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endParaRPr lang="en-US" sz="2000" b="1" dirty="0">
              <a:solidFill>
                <a:srgbClr val="2F64A1"/>
              </a:solidFill>
              <a:latin typeface="Hiragino Kaku Gothic ProN W6"/>
              <a:ea typeface="Hiragino Kaku Gothic ProN W6"/>
              <a:cs typeface="Hiragino Kaku Gothic ProN W6"/>
            </a:endParaRPr>
          </a:p>
          <a:p>
            <a:pPr>
              <a:spcBef>
                <a:spcPts val="800"/>
              </a:spcBef>
              <a:spcAft>
                <a:spcPts val="250"/>
              </a:spcAft>
              <a:defRPr sz="1600" b="0">
                <a:solidFill>
                  <a:srgbClr val="282629"/>
                </a:solidFill>
                <a:latin typeface="Hiragino Kaku Gothic ProN W3"/>
                <a:ea typeface="Hiragino Kaku Gothic ProN W3"/>
                <a:cs typeface="Hiragino Kaku Gothic ProN W3"/>
              </a:defRPr>
            </a:pPr>
            <a:r>
              <a:rPr sz="2000" b="1" dirty="0">
                <a:solidFill>
                  <a:srgbClr val="2F64A1"/>
                </a:solidFill>
                <a:latin typeface="Hiragino Kaku Gothic ProN W6"/>
                <a:ea typeface="Hiragino Kaku Gothic ProN W6"/>
                <a:cs typeface="Hiragino Kaku Gothic ProN W6"/>
              </a:rPr>
              <a:t>■ </a:t>
            </a:r>
            <a:r>
              <a:rPr sz="2000" b="1" dirty="0" err="1">
                <a:solidFill>
                  <a:srgbClr val="2F64A1"/>
                </a:solidFill>
                <a:latin typeface="Hiragino Kaku Gothic ProN W6"/>
                <a:ea typeface="Hiragino Kaku Gothic ProN W6"/>
                <a:cs typeface="Hiragino Kaku Gothic ProN W6"/>
              </a:rPr>
              <a:t>追加評価</a:t>
            </a:r>
            <a:endParaRPr sz="2000" b="1" dirty="0">
              <a:solidFill>
                <a:srgbClr val="2F64A1"/>
              </a:solidFill>
              <a:latin typeface="Hiragino Kaku Gothic ProN W6"/>
              <a:ea typeface="Hiragino Kaku Gothic ProN W6"/>
              <a:cs typeface="Hiragino Kaku Gothic ProN W6"/>
            </a:endParaRPr>
          </a:p>
          <a:p>
            <a:pPr marL="2857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測定条件を揃えた反復と、Piでの継続負荷を評価</a:t>
            </a:r>
            <a:endParaRPr sz="2000" b="0" dirty="0">
              <a:solidFill>
                <a:srgbClr val="282629"/>
              </a:solidFill>
              <a:latin typeface="Hiragino Kaku Gothic ProN W3"/>
              <a:ea typeface="Hiragino Kaku Gothic ProN W3"/>
              <a:cs typeface="Hiragino Kaku Gothic ProN W3"/>
            </a:endParaRPr>
          </a:p>
          <a:p>
            <a:pPr marL="742950" indent="-285750">
              <a:spcBef>
                <a:spcPts val="300"/>
              </a:spcBef>
              <a:spcAft>
                <a:spcPts val="100"/>
              </a:spcAft>
              <a:buChar char="•"/>
              <a:defRPr sz="1600" b="0">
                <a:solidFill>
                  <a:srgbClr val="282629"/>
                </a:solidFill>
                <a:latin typeface="Hiragino Kaku Gothic ProN W3"/>
                <a:ea typeface="Hiragino Kaku Gothic ProN W3"/>
                <a:cs typeface="Hiragino Kaku Gothic ProN W3"/>
              </a:defRPr>
            </a:pPr>
            <a:r>
              <a:rPr sz="2000" b="0" dirty="0" err="1">
                <a:solidFill>
                  <a:srgbClr val="282629"/>
                </a:solidFill>
                <a:latin typeface="Hiragino Kaku Gothic ProN W3"/>
                <a:ea typeface="Hiragino Kaku Gothic ProN W3"/>
                <a:cs typeface="Hiragino Kaku Gothic ProN W3"/>
              </a:rPr>
              <a:t>必要な保証と端末の制約を踏まえ、用途ごとの採否を整</a:t>
            </a:r>
            <a:r>
              <a:rPr lang="ja-JP" altLang="en-US" sz="2000" b="0" dirty="0">
                <a:solidFill>
                  <a:srgbClr val="282629"/>
                </a:solidFill>
                <a:latin typeface="Hiragino Kaku Gothic ProN W3"/>
                <a:ea typeface="Hiragino Kaku Gothic ProN W3"/>
                <a:cs typeface="Hiragino Kaku Gothic ProN W3"/>
              </a:rPr>
              <a:t>理</a:t>
            </a:r>
            <a:endParaRPr lang="en-US" altLang="ja-JP" sz="2000" b="1" dirty="0">
              <a:solidFill>
                <a:srgbClr val="2F64A1"/>
              </a:solidFill>
              <a:latin typeface="Hiragino Kaku Gothic ProN W6"/>
            </a:endParaRPr>
          </a:p>
          <a:p>
            <a:pPr marL="800100" indent="-342900">
              <a:spcBef>
                <a:spcPts val="300"/>
              </a:spcBef>
              <a:spcAft>
                <a:spcPts val="100"/>
              </a:spcAft>
              <a:buFont typeface="Wingdings" panose="05000000000000000000" pitchFamily="2" charset="2"/>
              <a:buChar char="Ø"/>
              <a:defRPr sz="1600" b="0">
                <a:solidFill>
                  <a:srgbClr val="282629"/>
                </a:solidFill>
                <a:latin typeface="Hiragino Kaku Gothic ProN W3"/>
                <a:ea typeface="Hiragino Kaku Gothic ProN W3"/>
                <a:cs typeface="Hiragino Kaku Gothic ProN W3"/>
              </a:defRPr>
            </a:pPr>
            <a:r>
              <a:rPr lang="ja-JP" altLang="en-US" sz="2000" dirty="0"/>
              <a:t>新規性がどこで出るか？</a:t>
            </a:r>
            <a:endParaRPr lang="en-US" altLang="ja-JP" sz="2000" dirty="0"/>
          </a:p>
          <a:p>
            <a:pPr marL="800100" indent="-342900">
              <a:spcBef>
                <a:spcPts val="300"/>
              </a:spcBef>
              <a:spcAft>
                <a:spcPts val="100"/>
              </a:spcAft>
              <a:buFont typeface="Wingdings" panose="05000000000000000000" pitchFamily="2" charset="2"/>
              <a:buChar char="Ø"/>
              <a:defRPr sz="1600" b="0">
                <a:solidFill>
                  <a:srgbClr val="282629"/>
                </a:solidFill>
                <a:latin typeface="Hiragino Kaku Gothic ProN W3"/>
                <a:ea typeface="Hiragino Kaku Gothic ProN W3"/>
                <a:cs typeface="Hiragino Kaku Gothic ProN W3"/>
              </a:defRPr>
            </a:pPr>
            <a:r>
              <a:rPr lang="ja-JP" altLang="en-US" sz="2000" dirty="0"/>
              <a:t>実証実験への設計や構成</a:t>
            </a:r>
            <a:endParaRPr lang="en-US" altLang="ja-JP" sz="2000" dirty="0"/>
          </a:p>
          <a:p>
            <a:pPr marL="800100" indent="-342900">
              <a:spcBef>
                <a:spcPts val="300"/>
              </a:spcBef>
              <a:spcAft>
                <a:spcPts val="100"/>
              </a:spcAft>
              <a:buFont typeface="Wingdings" panose="05000000000000000000" pitchFamily="2" charset="2"/>
              <a:buChar char="Ø"/>
              <a:defRPr sz="1600" b="0">
                <a:solidFill>
                  <a:srgbClr val="282629"/>
                </a:solidFill>
                <a:latin typeface="Hiragino Kaku Gothic ProN W3"/>
                <a:ea typeface="Hiragino Kaku Gothic ProN W3"/>
                <a:cs typeface="Hiragino Kaku Gothic ProN W3"/>
              </a:defRPr>
            </a:pPr>
            <a:r>
              <a:rPr lang="ja-JP" altLang="en-US" sz="2000" b="0" dirty="0">
                <a:solidFill>
                  <a:srgbClr val="282629"/>
                </a:solidFill>
                <a:latin typeface="Hiragino Kaku Gothic ProN W3"/>
                <a:ea typeface="Hiragino Kaku Gothic ProN W3"/>
                <a:cs typeface="Hiragino Kaku Gothic ProN W3"/>
              </a:rPr>
              <a:t>複数</a:t>
            </a:r>
            <a:r>
              <a:rPr lang="ja-JP" altLang="en-US" sz="2000" dirty="0"/>
              <a:t>ノードでの使用しやすいフレームワークか？</a:t>
            </a:r>
            <a:endParaRPr lang="en-US" altLang="ja-JP" sz="2000" b="0" dirty="0">
              <a:solidFill>
                <a:srgbClr val="282629"/>
              </a:solidFill>
              <a:latin typeface="Hiragino Kaku Gothic ProN W3"/>
              <a:ea typeface="Hiragino Kaku Gothic ProN W3"/>
              <a:cs typeface="Hiragino Kaku Gothic ProN W3"/>
            </a:endParaRPr>
          </a:p>
          <a:p>
            <a:pPr marL="457200">
              <a:spcBef>
                <a:spcPts val="300"/>
              </a:spcBef>
              <a:spcAft>
                <a:spcPts val="100"/>
              </a:spcAft>
              <a:defRPr sz="1600" b="0">
                <a:solidFill>
                  <a:srgbClr val="282629"/>
                </a:solidFill>
                <a:latin typeface="Hiragino Kaku Gothic ProN W3"/>
                <a:ea typeface="Hiragino Kaku Gothic ProN W3"/>
                <a:cs typeface="Hiragino Kaku Gothic ProN W3"/>
              </a:defRPr>
            </a:pPr>
            <a:endParaRPr lang="ja-JP" altLang="en-US" sz="2000" b="0" dirty="0">
              <a:solidFill>
                <a:srgbClr val="282629"/>
              </a:solidFill>
              <a:latin typeface="Hiragino Kaku Gothic ProN W3"/>
              <a:ea typeface="Hiragino Kaku Gothic ProN W3"/>
              <a:cs typeface="Hiragino Kaku Gothic ProN W3"/>
            </a:endParaRPr>
          </a:p>
        </p:txBody>
      </p:sp>
      <p:sp>
        <p:nvSpPr>
          <p:cNvPr id="6" name="スライド番号プレースホルダー 5">
            <a:extLst>
              <a:ext uri="{FF2B5EF4-FFF2-40B4-BE49-F238E27FC236}">
                <a16:creationId xmlns:a16="http://schemas.microsoft.com/office/drawing/2014/main" id="{B98659EC-829F-DAB5-1F8A-435D8485A43F}"/>
              </a:ext>
            </a:extLst>
          </p:cNvPr>
          <p:cNvSpPr>
            <a:spLocks noGrp="1"/>
          </p:cNvSpPr>
          <p:nvPr>
            <p:ph type="sldNum" idx="12"/>
          </p:nvPr>
        </p:nvSpPr>
        <p:spPr/>
        <p:txBody>
          <a:bodyPr/>
          <a:lstStyle/>
          <a:p>
            <a:fld id="{C1FF6DA9-008F-8B48-92A6-B652298478BF}" type="slidenum">
              <a:rPr lang="en-US" altLang="ja-JP" smtClean="0"/>
              <a:t>23</a:t>
            </a:fld>
            <a:endParaRPr lang="ja-JP" altLang="en-US"/>
          </a:p>
        </p:txBody>
      </p:sp>
    </p:spTree>
    <p:extLst>
      <p:ext uri="{BB962C8B-B14F-4D97-AF65-F5344CB8AC3E}">
        <p14:creationId xmlns:p14="http://schemas.microsoft.com/office/powerpoint/2010/main" val="1512234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2121</Words>
  <Application>Microsoft Office PowerPoint</Application>
  <DocSecurity>0</DocSecurity>
  <PresentationFormat>画面に合わせる (4:3)</PresentationFormat>
  <Paragraphs>374</Paragraphs>
  <Slides>23</Slides>
  <Notes>23</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23</vt:i4>
      </vt:variant>
    </vt:vector>
  </HeadingPairs>
  <TitlesOfParts>
    <vt:vector size="31" baseType="lpstr">
      <vt:lpstr>Hiragino Kaku Gothic ProN W3</vt:lpstr>
      <vt:lpstr>Hiragino Kaku Gothic ProN W6</vt:lpstr>
      <vt:lpstr>Yu Gothic</vt:lpstr>
      <vt:lpstr>Yu Gothic</vt:lpstr>
      <vt:lpstr>Arial</vt:lpstr>
      <vt:lpstr>Calibri</vt:lpstr>
      <vt:lpstr>Wingdings</vt:lpstr>
      <vt:lpstr>Office Theme</vt:lpstr>
      <vt:lpstr> 進捗報告　第24回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吉岡 龍佑(is0697he)</cp:lastModifiedBy>
  <cp:revision>4</cp:revision>
  <dcterms:created xsi:type="dcterms:W3CDTF">2026-10-18T23:36:06Z</dcterms:created>
  <dcterms:modified xsi:type="dcterms:W3CDTF">2026-10-19T03:57:33Z</dcterms:modified>
</cp:coreProperties>
</file>