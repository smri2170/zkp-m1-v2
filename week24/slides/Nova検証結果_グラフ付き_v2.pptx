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08c2221d1f40ae" /><Relationship Type="http://schemas.openxmlformats.org/officeDocument/2006/relationships/extended-properties" Target="/docProps/app.xml" Id="R33d8e3d83d5c49e2" /><Relationship Type="http://schemas.openxmlformats.org/officeDocument/2006/relationships/officeDocument" Target="/ppt/presentation.xml" Id="R326ed4d823cc4b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56a7c500314a9f"/>
  </p:sldMasterIdLst>
  <p:notesMasterIdLst>
    <p:notesMasterId xmlns:r="http://schemas.openxmlformats.org/officeDocument/2006/relationships" r:id="R9faf399cd93949f7"/>
  </p:notesMasterIdLst>
  <p:sldIdLst>
    <p:sldId xmlns:r="http://schemas.openxmlformats.org/officeDocument/2006/relationships" id="256" r:id="R2c03d77613834a3e"/>
    <p:sldId xmlns:r="http://schemas.openxmlformats.org/officeDocument/2006/relationships" id="257" r:id="R8920f72729a840bb"/>
    <p:sldId xmlns:r="http://schemas.openxmlformats.org/officeDocument/2006/relationships" id="258" r:id="Ra393acaeebd34879"/>
    <p:sldId xmlns:r="http://schemas.openxmlformats.org/officeDocument/2006/relationships" id="259" r:id="Re21543867a82463c"/>
    <p:sldId xmlns:r="http://schemas.openxmlformats.org/officeDocument/2006/relationships" id="260" r:id="R2fd9af4186074346"/>
    <p:sldId xmlns:r="http://schemas.openxmlformats.org/officeDocument/2006/relationships" id="261" r:id="R20c88b220a214f95"/>
    <p:sldId xmlns:r="http://schemas.openxmlformats.org/officeDocument/2006/relationships" id="262" r:id="Ra9ca9507f2ee470b"/>
    <p:sldId xmlns:r="http://schemas.openxmlformats.org/officeDocument/2006/relationships" id="263" r:id="Ra2f3ab7bf9944425"/>
    <p:sldId xmlns:r="http://schemas.openxmlformats.org/officeDocument/2006/relationships" id="264" r:id="R6063ab34312f4882"/>
    <p:sldId xmlns:r="http://schemas.openxmlformats.org/officeDocument/2006/relationships" id="265" r:id="R9a6c46f85b0540fe"/>
    <p:sldId xmlns:r="http://schemas.openxmlformats.org/officeDocument/2006/relationships" id="266" r:id="Red87e1302eee492a"/>
    <p:sldId xmlns:r="http://schemas.openxmlformats.org/officeDocument/2006/relationships" id="267" r:id="Ra2ef4e14686b4e98"/>
    <p:sldId xmlns:r="http://schemas.openxmlformats.org/officeDocument/2006/relationships" id="268" r:id="Ref6b7b29163c4d41"/>
    <p:sldId xmlns:r="http://schemas.openxmlformats.org/officeDocument/2006/relationships" id="269" r:id="R44f37941eba646e7"/>
  </p:sldIdLst>
  <p:sldSz cx="9144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90d92c51164746" /><Relationship Type="http://schemas.openxmlformats.org/officeDocument/2006/relationships/slideMaster" Target="/ppt/slideMasters/slideMaster1.xml" Id="R1b56a7c500314a9f" /><Relationship Type="http://schemas.openxmlformats.org/officeDocument/2006/relationships/notesMaster" Target="/ppt/notesMasters/notesMaster1.xml" Id="R9faf399cd93949f7" /><Relationship Type="http://schemas.openxmlformats.org/officeDocument/2006/relationships/presProps" Target="/ppt/presProps.xml" Id="Re0db4f76e30a41c1" /><Relationship Type="http://schemas.openxmlformats.org/officeDocument/2006/relationships/viewProps" Target="/ppt/viewProps.xml" Id="R11ee53b15511456b" /><Relationship Type="http://schemas.openxmlformats.org/officeDocument/2006/relationships/tableStyles" Target="/ppt/tableStyles.xml" Id="R176f3803569040c9" /><Relationship Type="http://schemas.openxmlformats.org/officeDocument/2006/relationships/slide" Target="/ppt/slides/slide1.xml" Id="R2c03d77613834a3e" /><Relationship Type="http://schemas.openxmlformats.org/officeDocument/2006/relationships/slide" Target="/ppt/slides/slide2.xml" Id="R8920f72729a840bb" /><Relationship Type="http://schemas.openxmlformats.org/officeDocument/2006/relationships/slide" Target="/ppt/slides/slide3.xml" Id="Ra393acaeebd34879" /><Relationship Type="http://schemas.openxmlformats.org/officeDocument/2006/relationships/slide" Target="/ppt/slides/slide4.xml" Id="Re21543867a82463c" /><Relationship Type="http://schemas.openxmlformats.org/officeDocument/2006/relationships/slide" Target="/ppt/slides/slide5.xml" Id="R2fd9af4186074346" /><Relationship Type="http://schemas.openxmlformats.org/officeDocument/2006/relationships/slide" Target="/ppt/slides/slide6.xml" Id="R20c88b220a214f95" /><Relationship Type="http://schemas.openxmlformats.org/officeDocument/2006/relationships/slide" Target="/ppt/slides/slide7.xml" Id="Ra9ca9507f2ee470b" /><Relationship Type="http://schemas.openxmlformats.org/officeDocument/2006/relationships/slide" Target="/ppt/slides/slide8.xml" Id="Ra2f3ab7bf9944425" /><Relationship Type="http://schemas.openxmlformats.org/officeDocument/2006/relationships/slide" Target="/ppt/slides/slide9.xml" Id="R6063ab34312f4882" /><Relationship Type="http://schemas.openxmlformats.org/officeDocument/2006/relationships/slide" Target="/ppt/slides/slide10.xml" Id="R9a6c46f85b0540fe" /><Relationship Type="http://schemas.openxmlformats.org/officeDocument/2006/relationships/slide" Target="/ppt/slides/slide11.xml" Id="Red87e1302eee492a" /><Relationship Type="http://schemas.openxmlformats.org/officeDocument/2006/relationships/slide" Target="/ppt/slides/slide12.xml" Id="Ra2ef4e14686b4e98" /><Relationship Type="http://schemas.openxmlformats.org/officeDocument/2006/relationships/slide" Target="/ppt/slides/slide13.xml" Id="Ref6b7b29163c4d41" /><Relationship Type="http://schemas.openxmlformats.org/officeDocument/2006/relationships/slide" Target="/ppt/slides/slide14.xml" Id="R44f37941eba646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be586f4a6049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9f3e975ba64ee3" /><Relationship Type="http://schemas.openxmlformats.org/officeDocument/2006/relationships/notesMaster" Target="/ppt/notesMasters/notesMaster1.xml" Id="R745a8ee6573a44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f45c8f778f4155" /><Relationship Type="http://schemas.openxmlformats.org/officeDocument/2006/relationships/notesMaster" Target="/ppt/notesMasters/notesMaster1.xml" Id="R0bbb79395dde4e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e35ba50ad84e3f" /><Relationship Type="http://schemas.openxmlformats.org/officeDocument/2006/relationships/notesMaster" Target="/ppt/notesMasters/notesMaster1.xml" Id="R44f3dba0845941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e1b4a38bd3419d" /><Relationship Type="http://schemas.openxmlformats.org/officeDocument/2006/relationships/notesMaster" Target="/ppt/notesMasters/notesMaster1.xml" Id="R6b9275ce437141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587e105a7f4ccd" /><Relationship Type="http://schemas.openxmlformats.org/officeDocument/2006/relationships/notesMaster" Target="/ppt/notesMasters/notesMaster1.xml" Id="Ra8c83317e8ca49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9a987afadc43e8" /><Relationship Type="http://schemas.openxmlformats.org/officeDocument/2006/relationships/notesMaster" Target="/ppt/notesMasters/notesMaster1.xml" Id="Rfd3505d25aa24a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324ddc9ac24371" /><Relationship Type="http://schemas.openxmlformats.org/officeDocument/2006/relationships/notesMaster" Target="/ppt/notesMasters/notesMaster1.xml" Id="R44861516a38e41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d63600f33746fc" /><Relationship Type="http://schemas.openxmlformats.org/officeDocument/2006/relationships/notesMaster" Target="/ppt/notesMasters/notesMaster1.xml" Id="Raf868cd5e71945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df71ae7d0c4a68" /><Relationship Type="http://schemas.openxmlformats.org/officeDocument/2006/relationships/notesMaster" Target="/ppt/notesMasters/notesMaster1.xml" Id="Rc6c8e7fbe19a44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94e3cebe084793" /><Relationship Type="http://schemas.openxmlformats.org/officeDocument/2006/relationships/notesMaster" Target="/ppt/notesMasters/notesMaster1.xml" Id="R255474ce543246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46317df37649c6" /><Relationship Type="http://schemas.openxmlformats.org/officeDocument/2006/relationships/notesMaster" Target="/ppt/notesMasters/notesMaster1.xml" Id="Rc8a7b0e4c8f042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e74402e895469f" /><Relationship Type="http://schemas.openxmlformats.org/officeDocument/2006/relationships/notesMaster" Target="/ppt/notesMasters/notesMaster1.xml" Id="R1ff41bfc7f4945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ba7ce27aa545e5" /><Relationship Type="http://schemas.openxmlformats.org/officeDocument/2006/relationships/notesMaster" Target="/ppt/notesMasters/notesMaster1.xml" Id="Rfb69fdb65db544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3f7ee771a141b0" /><Relationship Type="http://schemas.openxmlformats.org/officeDocument/2006/relationships/notesMaster" Target="/ppt/notesMasters/notesMaster1.xml" Id="Rde839499f7cd40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Novaについて実行済みの旧Sonobe、固定main、Piの記録を説明する。HyperNovaとは別資料。新規の重い証明実験は再実行しない。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week23/03_旧Sonobe_Witness露出再現.md; week23/logs/sonobe-current-security.json; week24/03_ユークリッド距離_各方式のPi実装.md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検証の正当性、秘密を渡すかどうか、性能計測を分ける。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week23/02_Nova系実装とAPI対応調査.md; week24/03_ユークリッド距離_各方式のPi実装.md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固定mainのprobeはsonobe_fs::nova、NovaNovaIVCを使用。Pi実装もNovaNovaIVCとHyperNovaNovaIVCを分けて実行する。Microsoft NovaのCompressedSNARKは今回の実行ログと混同しない。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week23/02_Nova系実装とAPI対応調査.md; week23/poc/sonobe-current/src/main.rs; experiments/pi4-euclidean/sonobe/src/main.rs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理論の概要はIACR 2021/370の公開abstractを確認。foldingは2関係を1関係へ縮約しIVCへつなぐ。生RecursiveSNARK/IVCProofと最終圧縮・ランダム化証明のAPIを区別する。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https://eprint.iacr.org/2021/370; week23/02_Nova系実装とAPI対応調査.md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旧版9b7dd34f0e0341046baeabc6f900f5ee63007f18+移植patch。Pedersen/Pedersen両Hと、元KZG/Pedersen H=falseで再現。生state8441240bytesは秘密を含み公開proofサイズとは扱わない。受信guardは別の研究CLIの検査であり上流ライブラリ修正とは扱わない。単一fold逆算は既知の前running witnessという条件があり、最終ZK proofの解読ではない。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week23/03_旧Sonobe_Witness露出再現.md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-12時点で固定したmain7f042351e73d38f99c05167ba41f1e282178b067。NovaNovaIVCで6独立プロセスの正常経路と22改竄×3段×2設定=132件拒否。省略6件を132に加算して同じ検査種類とは扱わない。信頼区間や確率推定の図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week23/logs/sonobe-current-security.json; week23/10_HyperNova実行と最新Sonobe安全性と秘密引継ぎ.md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固定main各runの当該stageのauditからowner_stageが同じcanaryのみを集計し、incoming_w_indicesが非空の数を算出。両H各3段で7件。canaryの値そのものや秘密assignmentは資料へ埋め込まない。serialized witnessの直接可視性と暗号学的なcommitmentの破壊を区別する。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week23/logs/sonobe-current-security.json; week24/figures/nova-validation-v2/security.csv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benchmark relation valid7 invalid6、claimed_state_rejections3×7、all_verifiedtrue、final_zkfalse、raw_ivc_contains_witnesstrue。setup8610.061128ms、unit38.168350018sec、peak196173824bytes。CPU quota25%の後続21件実験と混ぜない。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week24/03_ユークリッド距離_各方式のPi実装.md; week24/logs/pi-euclidean/euclidean-nova-v2/benchmark.jsonl; week24/logs/pi-euclidean/euclidean-nova-v2/resource.json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正常採用run v2のcase_id0..6を順に線で結ぶ。生成median1900.210576ms、検証median2946.230978ms。長期スケーリング則や定常レイテンシを推定しない。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week24/logs/pi-euclidean/euclidean-nova-v2/benchmark.jsonl; week24/figures/nova-validation-v2/pi-steps.csv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memory.jsonlのcgroup_current_bytesを使用し、kernel peakはresource.jsonから別の破線として表示。Nova v2のみで、失敗v1を混ぜない。親High1200/Max1536MiB、子High384/Max512MiB、Swap0。OOM/oom_killイベント増分0。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week24/logs/pi-euclidean/euclidean-nova-v2/memory.jsonl; week24/logs/pi-euclidean/euclidean-nova-v2/resource.json; week24/figures/nova-validation-v2/sources.json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同じFCircuitをNovaNovaIVC/HyperNovaNovaIVCで実行。全unitにはsetupや公開state負例を含む。いずれも7stepで最終ZKは含まず、後続n21の方式比較へ合流させない。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week24/03_ユークリッド距離_各方式のPi実装.md; week24/logs/pi-euclidean/euclidean-nova-v2/benchmark.jsonl; week24/logs/pi-euclidean/euclidean-hypernova-v1/benchmark.jsonl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v1exit-15、stop_reason current_undervoltage_or_throttling、before0x50000 after0x50005。v2exit0、stop_reasonnull、before/after0x50000。いずれもOOMイベント0・swap0。電源フラグによるguard停止の観測で、他の全SSH断原因も電源と断定するものではない。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week24/logs/pi-euclidean/euclidean-nova-v1/resource.json; week24/logs/pi-euclidean/euclidean-nova-v2/resource.json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旧Sonobe H=trueのRandomizedIVCProof::new/verifyを実行。canary完全一致0は直接一致検査であり暗号学的安全性の証明ではない。from_ivc_proofはIVCProofを要求し、RandomizedIVCProofからの復元APIは調査範囲内で未確認。Microsoft CompressedSNARKとは別の実装・実験。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week23/logs/witness-zk-final.jsonl; week23/02_Nova系実装とAPI対応調査.md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Novaも実装・実行済みであり未着手ではない。ただしSonobeのraw IVC handoffがprivacy要件を満たしていないという用途限定の結果。単一端末内IVCの動作結果と両立する。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week23/05_PCD_BC比較と技術選定ADR.md; week23/logs/sonobe-current-security.json; week24/03_ユークリッド距離_各方式のPi実装.md</a:t>
            </a:r>
          </a:p>
          <a:p xmlns:a="http://schemas.openxmlformats.org/drawingml/2006/main">
            <a:r>
              <a:t>デザイン参照: week24/slides/輪講1.pptx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3fc3e9fd740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d25ef8d004d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6fba342b548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c96d27aea49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601c723e742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aa68858e0494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d2304c4f24c8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1c2ea008f94f4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17a21023e434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33fd7384c466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23d592bc9d4e6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FB3985-0584-4A3F-9896-A509FA6A42D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8FA42BD-62D6-48CE-94B5-6DB54B4CE5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D2418D-ED2D-491E-848A-10627DFE48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69B0F2-C2B1-4A0E-B909-A4A4C5BC87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109795-67FE-486D-B22B-E690D02CCB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DAD5FB-854D-4690-94B3-1DDC099D1A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9999F60-B98C-4ABF-811E-2D003D229A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BD073A-FA43-4A57-9691-6405E0AAD8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5A3068-A686-4E02-A84F-C15F788C7F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8E0660-7098-4ABF-A089-CE223330B4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282C22-CA1F-4D13-BA2B-EA21B94B4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36AB78A-738C-4A02-8214-489CED6C28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C40DC1A-663B-448A-B0CF-A90725A1F4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957FF3-EE70-48F3-AF6D-BEF702A7A7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EA492D-E493-4889-9DCD-8FCD3515C9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93A1D1-8138-4C50-99D9-D0F73A11FE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82F004D-A8B6-488B-AB8F-EAAB09415D1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650ED92-20FC-4314-AA94-E9F3E83DD89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E0C49D-68D3-4F20-AA4E-A22CDF0833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31965CD-0A8F-411F-8333-82840803E3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32E5753-90C9-4818-93E8-2CCC6CE6AD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F74E70-111C-44F3-BF09-6E6E37C5C3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2E8865-6BD7-47AC-9DAC-22DEAA4FFA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7D25A42-8F1A-42EB-9BE5-C81F2F79320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E39F94E-D23F-4F34-BA1B-3E3375C1252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A4BF750-3822-437F-AE2A-80DD22AEC13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F0B90C1-8246-4FD2-89E4-C23EA895B4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A8AF883-AB3B-427E-916F-DDB4C90B8E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EEA8077-A872-47EE-B139-7C8E643382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04BDE4-E95E-4205-A58E-150254897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150DFD5-5DBF-4E2B-AC8B-E3171940E5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083CB6E-F1CD-4311-9A63-BE4481B70C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53C232D-E187-471C-8FB4-F7C30724DB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11D40EA-A1E4-4167-B552-6EAFB8D417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CC07C2B-4296-4823-8BE1-136B2A336E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AF91848-944C-41B8-9390-DEEF4C8942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9D87F0-37D6-4EA2-ACD9-733B8B428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37A972B-DC1E-45E9-861B-6D36EA4556B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97F9FFF-DF85-485C-BBE4-A27A17AF99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7F67546-2FFA-45FC-B892-3EC6A534B4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4CED04B-7954-49B8-B5E8-3CE9D2B30E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925D5D2-2AB6-411F-91C7-E06149B25B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254A28-9275-483C-9114-8589CA5B00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6F41D67-2CAB-4BBB-8546-29226E1DD15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F39FD2-ADEE-40D1-B7F5-F452AEAD51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6B55E18-966A-4726-9962-3417C29BA1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70915CE-AEB9-4E0C-B113-5451C925F9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7D89F56-C465-4ED4-B472-5DD8219598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0EE959-A09B-4583-9514-57AFBF5334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445AB39-7511-46A5-9F97-376E9B2C4D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F75BC4B-C651-480B-A8E4-6E0248B594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B39BF2-8387-45D1-AA19-48851D6EEA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79EE22-DE06-4070-A859-B7B292240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50FA7A1-1293-478A-B3AC-88B04ABAB7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A98164C-0BD9-444E-9263-A5A63A36E5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4524B5-9A36-4678-AF24-FA89453B51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7CDE07A-7344-4445-8727-EC2FE6A9FA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4EDDB2-F3D5-43E9-AC55-F4879F0A8C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66c65124a14fb8" /><Relationship Type="http://schemas.openxmlformats.org/officeDocument/2006/relationships/slideLayout" Target="/ppt/slideLayouts/slideLayout1.xml" Id="R579995e588724f2a" /><Relationship Type="http://schemas.openxmlformats.org/officeDocument/2006/relationships/slideLayout" Target="/ppt/slideLayouts/slideLayout2.xml" Id="R5662d477f9484f9d" /><Relationship Type="http://schemas.openxmlformats.org/officeDocument/2006/relationships/slideLayout" Target="/ppt/slideLayouts/slideLayout3.xml" Id="Rc9e346f0b2e54b92" /><Relationship Type="http://schemas.openxmlformats.org/officeDocument/2006/relationships/slideLayout" Target="/ppt/slideLayouts/slideLayout4.xml" Id="Rbd34dd1e2a2c4990" /><Relationship Type="http://schemas.openxmlformats.org/officeDocument/2006/relationships/slideLayout" Target="/ppt/slideLayouts/slideLayout5.xml" Id="R3c07cf11a96a4b25" /><Relationship Type="http://schemas.openxmlformats.org/officeDocument/2006/relationships/slideLayout" Target="/ppt/slideLayouts/slideLayout6.xml" Id="R0563473dfc894712" /><Relationship Type="http://schemas.openxmlformats.org/officeDocument/2006/relationships/slideLayout" Target="/ppt/slideLayouts/slideLayout7.xml" Id="Rdc6fbef4249348ea" /><Relationship Type="http://schemas.openxmlformats.org/officeDocument/2006/relationships/slideLayout" Target="/ppt/slideLayouts/slideLayout8.xml" Id="R4065fbc2a78b4d22" /><Relationship Type="http://schemas.openxmlformats.org/officeDocument/2006/relationships/slideLayout" Target="/ppt/slideLayouts/slideLayout9.xml" Id="Rb3735fff9ddc4043" /><Relationship Type="http://schemas.openxmlformats.org/officeDocument/2006/relationships/slideLayout" Target="/ppt/slideLayouts/slideLayout10.xml" Id="R208dca4745854063" /><Relationship Type="http://schemas.openxmlformats.org/officeDocument/2006/relationships/slideLayout" Target="/ppt/slideLayouts/slideLayout11.xml" Id="Rb106af2691c144c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6431B49-E56D-4B15-9F4B-713D9E8288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1D2EAA6-DEF2-4B5B-AC5E-B49E01AE92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DA6D483-51E7-4B66-B51A-3A335471451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FB8CA4-CB40-41F7-B960-416AE36FA9E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A43271-459C-4E57-B740-ED73457AF7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9995e588724f2a"/>
    <p:sldLayoutId xmlns:r="http://schemas.openxmlformats.org/officeDocument/2006/relationships" id="2147483650" r:id="R5662d477f9484f9d"/>
    <p:sldLayoutId xmlns:r="http://schemas.openxmlformats.org/officeDocument/2006/relationships" id="2147483651" r:id="Rc9e346f0b2e54b92"/>
    <p:sldLayoutId xmlns:r="http://schemas.openxmlformats.org/officeDocument/2006/relationships" id="2147483652" r:id="Rbd34dd1e2a2c4990"/>
    <p:sldLayoutId xmlns:r="http://schemas.openxmlformats.org/officeDocument/2006/relationships" id="2147483653" r:id="R3c07cf11a96a4b25"/>
    <p:sldLayoutId xmlns:r="http://schemas.openxmlformats.org/officeDocument/2006/relationships" id="2147483654" r:id="R0563473dfc894712"/>
    <p:sldLayoutId xmlns:r="http://schemas.openxmlformats.org/officeDocument/2006/relationships" id="2147483655" r:id="Rdc6fbef4249348ea"/>
    <p:sldLayoutId xmlns:r="http://schemas.openxmlformats.org/officeDocument/2006/relationships" id="2147483656" r:id="R4065fbc2a78b4d22"/>
    <p:sldLayoutId xmlns:r="http://schemas.openxmlformats.org/officeDocument/2006/relationships" id="2147483657" r:id="Rb3735fff9ddc4043"/>
    <p:sldLayoutId xmlns:r="http://schemas.openxmlformats.org/officeDocument/2006/relationships" id="2147483658" r:id="R208dca4745854063"/>
    <p:sldLayoutId xmlns:r="http://schemas.openxmlformats.org/officeDocument/2006/relationships" id="2147483659" r:id="Rb106af2691c144c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3c0f6e1af04a26" /><Relationship Type="http://schemas.openxmlformats.org/officeDocument/2006/relationships/notesSlide" Target="/ppt/notesSlides/notesSlide1.xml" Id="Rd4ecf4c5ea464e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cf2da133ec44c8" /><Relationship Type="http://schemas.openxmlformats.org/officeDocument/2006/relationships/notesSlide" Target="/ppt/notesSlides/notesSlide2.xml" Id="Rbee866109b3349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c9a76bfa494f4b" /><Relationship Type="http://schemas.openxmlformats.org/officeDocument/2006/relationships/notesSlide" Target="/ppt/notesSlides/notesSlide3.xml" Id="Recb33eb1ea334d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8fc33fcc6f4d0d" /><Relationship Type="http://schemas.openxmlformats.org/officeDocument/2006/relationships/notesSlide" Target="/ppt/notesSlides/notesSlide4.xml" Id="Re6fea0a4aeeb4d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4b9349ab6c425b" /><Relationship Type="http://schemas.openxmlformats.org/officeDocument/2006/relationships/notesSlide" Target="/ppt/notesSlides/notesSlide5.xml" Id="Rfe94775565c443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fe3ecf945b492e" /><Relationship Type="http://schemas.openxmlformats.org/officeDocument/2006/relationships/chart" Target="/ppt/slides/charts/chart1.xml" Id="R5f4d0ec4250648e8" /><Relationship Type="http://schemas.openxmlformats.org/officeDocument/2006/relationships/notesSlide" Target="/ppt/notesSlides/notesSlide6.xml" Id="R76eb794500a745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72ae79ab374d00" /><Relationship Type="http://schemas.openxmlformats.org/officeDocument/2006/relationships/chart" Target="/ppt/slides/charts/chart2.xml" Id="Rea7c61a6c6dd4319" /><Relationship Type="http://schemas.openxmlformats.org/officeDocument/2006/relationships/notesSlide" Target="/ppt/notesSlides/notesSlide7.xml" Id="R5d1e37744f1943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c2ef9fe3044f63" /><Relationship Type="http://schemas.openxmlformats.org/officeDocument/2006/relationships/notesSlide" Target="/ppt/notesSlides/notesSlide8.xml" Id="Rd3725405ae4b48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c28e5d48614c75" /><Relationship Type="http://schemas.openxmlformats.org/officeDocument/2006/relationships/chart" Target="/ppt/slides/charts/chart3.xml" Id="Re073323f183249b7" /><Relationship Type="http://schemas.openxmlformats.org/officeDocument/2006/relationships/notesSlide" Target="/ppt/notesSlides/notesSlide9.xml" Id="R1e13210decf84c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34649d5052420a" /><Relationship Type="http://schemas.openxmlformats.org/officeDocument/2006/relationships/image" Target="/ppt/media/image.png" Id="Rd5d49a06eb684573" /><Relationship Type="http://schemas.openxmlformats.org/officeDocument/2006/relationships/notesSlide" Target="/ppt/notesSlides/notesSlide10.xml" Id="R503edf05096d43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be63ccf2c2454c" /><Relationship Type="http://schemas.openxmlformats.org/officeDocument/2006/relationships/chart" Target="/ppt/slides/charts/chart4.xml" Id="Redfa0fce23614c7b" /><Relationship Type="http://schemas.openxmlformats.org/officeDocument/2006/relationships/notesSlide" Target="/ppt/notesSlides/notesSlide11.xml" Id="R0d34a4dceedf45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8ff8d5bef84f16" /><Relationship Type="http://schemas.openxmlformats.org/officeDocument/2006/relationships/notesSlide" Target="/ppt/notesSlides/notesSlide12.xml" Id="R7ab040dc7fea4c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61220d36454180" /><Relationship Type="http://schemas.openxmlformats.org/officeDocument/2006/relationships/notesSlide" Target="/ppt/notesSlides/notesSlide13.xml" Id="Rd96cd209bf6e43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91d1320c7742f6" /><Relationship Type="http://schemas.openxmlformats.org/officeDocument/2006/relationships/notesSlide" Target="/ppt/notesSlides/notesSlide14.xml" Id="R8cc7b2cfb2404ba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H=false</c:v>
          </c:tx>
          <c:spPr>
            <a:solidFill xmlns:a="http://schemas.openxmlformats.org/drawingml/2006/main">
              <a:srgbClr val="A8BAC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22</c:v>
                </c:pt>
                <c:pt idx="1">
                  <c:v>22</c:v>
                </c:pt>
                <c:pt idx="2">
                  <c:v>22</c:v>
                </c:pt>
              </c:numCache>
            </c:numRef>
          </c:val>
        </c:ser>
        <c:ser>
          <c:idx val="1"/>
          <c:order val="1"/>
          <c:tx>
            <c:v>H=true</c:v>
          </c:tx>
          <c:spPr>
            <a:solidFill xmlns:a="http://schemas.openxmlformats.org/drawingml/2006/main">
              <a:srgbClr val="2F64A1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22</c:v>
                </c:pt>
                <c:pt idx="1">
                  <c:v>22</c:v>
                </c:pt>
                <c:pt idx="2">
                  <c:v>22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Kaku Gothic ProN W3"/>
                    <a:ea typeface="Hiragino Kaku Gothic ProN W3"/>
                    <a:cs typeface="Hiragino Kaku Gothic ProN W3"/>
                  </a:rPr>
                  <a:t>拒否数（各22件）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H=false</c:v>
          </c:tx>
          <c:spPr>
            <a:solidFill xmlns:a="http://schemas.openxmlformats.org/drawingml/2006/main">
              <a:srgbClr val="A8BAC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</c:v>
                </c:pt>
                <c:pt idx="1">
                  <c:v>7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v>H=true</c:v>
          </c:tx>
          <c:spPr>
            <a:solidFill xmlns:a="http://schemas.openxmlformats.org/drawingml/2006/main">
              <a:srgbClr val="E02B2B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7</c:v>
                </c:pt>
                <c:pt idx="1">
                  <c:v>7</c:v>
                </c:pt>
                <c:pt idx="2">
                  <c:v>7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Kaku Gothic ProN W3"/>
                    <a:ea typeface="Hiragino Kaku Gothic ProN W3"/>
                    <a:cs typeface="Hiragino Kaku Gothic ProN W3"/>
                  </a:rPr>
                  <a:t>検出数（当該入力7個）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生成</c:v>
          </c:tx>
          <c:spPr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5"/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0.4727</c:v>
                </c:pt>
                <c:pt idx="1">
                  <c:v>1.0376</c:v>
                </c:pt>
                <c:pt idx="2">
                  <c:v>1.6972</c:v>
                </c:pt>
                <c:pt idx="3">
                  <c:v>1.9002</c:v>
                </c:pt>
                <c:pt idx="4">
                  <c:v>2.0547</c:v>
                </c:pt>
                <c:pt idx="5">
                  <c:v>2.1043</c:v>
                </c:pt>
                <c:pt idx="6">
                  <c:v>2.138</c:v>
                </c:pt>
              </c:numCache>
            </c:numRef>
          </c:val>
          <c:smooth val="0"/>
        </c:ser>
        <c:ser>
          <c:idx val="1"/>
          <c:order val="1"/>
          <c:tx>
            <c:v>検証</c:v>
          </c:tx>
          <c:spPr>
            <a:ln xmlns:a="http://schemas.openxmlformats.org/drawingml/2006/main" w="19050">
              <a:solidFill>
                <a:srgbClr val="6B7A88"/>
              </a:solidFill>
            </a:ln>
          </c:spPr>
          <c:marker>
            <c:symbol val="square"/>
            <c:size val="5"/>
          </c:marker>
          <c:cat>
            <c:numRef>
              <c:f>'Chart Data'!$C$2:$C$8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cat>
          <c:val>
            <c:numRef>
              <c:f>'Chart Data'!$D$2:$D$8</c:f>
              <c:numCache>
                <c:formatCode>0.0</c:formatCode>
                <c:ptCount val="7"/>
                <c:pt idx="0">
                  <c:v>0.9498</c:v>
                </c:pt>
                <c:pt idx="1">
                  <c:v>1.531</c:v>
                </c:pt>
                <c:pt idx="2">
                  <c:v>2.4305</c:v>
                </c:pt>
                <c:pt idx="3">
                  <c:v>2.9462</c:v>
                </c:pt>
                <c:pt idx="4">
                  <c:v>3.2717</c:v>
                </c:pt>
                <c:pt idx="5">
                  <c:v>3.4164</c:v>
                </c:pt>
                <c:pt idx="6">
                  <c:v>3.4908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Kaku Gothic ProN W3"/>
                    <a:ea typeface="Hiragino Kaku Gothic ProN W3"/>
                    <a:cs typeface="Hiragino Kaku Gothic ProN W3"/>
                  </a:rPr>
                  <a:t>秒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Nova</c:v>
          </c:tx>
          <c:spPr>
            <a:solidFill xmlns:a="http://schemas.openxmlformats.org/drawingml/2006/main">
              <a:srgbClr val="2F64A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生成中央値</c:v>
                </c:pt>
                <c:pt idx="1">
                  <c:v>検証中央値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1.9002</c:v>
                </c:pt>
                <c:pt idx="1">
                  <c:v>2.9462</c:v>
                </c:pt>
              </c:numCache>
            </c:numRef>
          </c:val>
        </c:ser>
        <c:ser>
          <c:idx val="1"/>
          <c:order val="1"/>
          <c:tx>
            <c:v>HyperNova</c:v>
          </c:tx>
          <c:spPr>
            <a:solidFill xmlns:a="http://schemas.openxmlformats.org/drawingml/2006/main">
              <a:srgbClr val="8DA6BF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生成中央値</c:v>
                </c:pt>
                <c:pt idx="1">
                  <c:v>検証中央値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1.7679</c:v>
                </c:pt>
                <c:pt idx="1">
                  <c:v>1.9852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iragino Kaku Gothic ProN W3"/>
                    <a:ea typeface="Hiragino Kaku Gothic ProN W3"/>
                    <a:cs typeface="Hiragino Kaku Gothic ProN W3"/>
                  </a:rPr>
                  <a:t>秒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50BADC8-14F2-43BD-9553-5B0D1041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77" y="2000250"/>
            <a:ext cx="7953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4000" b="1" spc="5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Nova</a:t>
            </a:r>
          </a:p>
          <a:p xmlns:a="http://schemas.openxmlformats.org/drawingml/2006/main">
            <a:pPr algn="l">
              <a:buNone/>
              <a:defRPr sz="40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4000" b="1" spc="5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検証結果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4B47D18-5CA1-4F98-B716-D9E0C63A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2988000"/>
            <a:ext cx="792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4C88D13-EEC2-4E8F-ABDE-8CE35B6E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3671999"/>
            <a:ext cx="7992000" cy="1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A8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61FD23D-A542-489D-9949-97811740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3888000"/>
            <a:ext cx="792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 algn="l">
              <a:buNone/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0" spc="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Sonobe Nova / CycleFoldの実行と確認範囲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0" spc="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改竄拒否・Witness転送・Piでの計測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0" spc="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2026年10月18日</a:t>
            </a:r>
          </a:p>
        </p:txBody>
      </p:sp>
    </p:spTree>
    <p:extLst>
      <p:ext uri="{BB962C8B-B14F-4D97-AF65-F5344CB8AC3E}">
        <p14:creationId xmlns:p14="http://schemas.microsoft.com/office/powerpoint/2010/main" val="3296754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1B0486-9650-4A4C-92AE-4CD8371D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4FFEF6-769A-4767-B4BA-C54DDA3B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目次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986700-C546-4B3B-BE57-F73D6A8A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741A3C-A620-4D2C-9D10-309E417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実行済みのNovaを整理し、検証結果と資源量をグラフで示す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AE801-7F94-423B-8E7F-37DE521A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286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何を実行したか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Novaと実装の区別／旧Sonobeと固定main／Pi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検証と秘密の扱い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改竄拒否のグラフ／生状態に残る識別用入力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Piでの計測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stepごとの生成・検証時間／メモリ推移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HyperNovaとの同一回路での比較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結果の解釈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失敗runと停止理由／最終証明と継続／今回の判断</a:t>
            </a:r>
          </a:p>
        </p:txBody>
      </p:sp>
    </p:spTree>
    <p:extLst>
      <p:ext uri="{BB962C8B-B14F-4D97-AF65-F5344CB8AC3E}">
        <p14:creationId xmlns:p14="http://schemas.microsoft.com/office/powerpoint/2010/main" val="7855157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1B0486-9650-4A4C-92AE-4CD8371D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4FFEF6-769A-4767-B4BA-C54DDA3B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Novaも実行済み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986700-C546-4B3B-BE57-F73D6A8A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741A3C-A620-4D2C-9D10-309E417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主な実行対象はSonobeのNova / CycleFold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03D66-F9CC-4D1E-80C1-7209924BDA53}"/>
              </a:ext>
            </a:extLst>
          </p:cNvPr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83439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343525"/>
              </a:tblGrid>
              <a:tr h="44767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対象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実行・確認したこと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4767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旧Sonobe Nova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A/B別プロセス、正常継続・改竄・Witness転送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固定Sonobe main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A/B/C×両H、132改竄拒否・6省略拒否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4767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PiのNova / CycleFold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距離回路の7stepを完走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Microsoft Nova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固定ソースの圧縮・継続APIを調査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3D02F-310F-4E2A-A1E1-AFAA6349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6675"/>
            <a:ext cx="8286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名前を区別する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Novaは方式名。SonobeとMicrosoft Novaは実装が異なる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HyperNovaNovaIVCはHyperNova側のadapter名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この資料での対象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実測はSonobe Nova / CycleFoldの結果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Microsoft実装の圧縮proofを実行済みとは記載しない</a:t>
            </a:r>
          </a:p>
        </p:txBody>
      </p:sp>
    </p:spTree>
    <p:extLst>
      <p:ext uri="{BB962C8B-B14F-4D97-AF65-F5344CB8AC3E}">
        <p14:creationId xmlns:p14="http://schemas.microsoft.com/office/powerpoint/2010/main" val="7855157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1B0486-9650-4A4C-92AE-4CD8371D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4FFEF6-769A-4767-B4BA-C54DDA3B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Novaで検証するもの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986700-C546-4B3B-BE57-F73D6A8A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741A3C-A620-4D2C-9D10-309E417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stepの計算を累積することと、転送物の秘匿性は別に確認する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57D41-1574-42F5-8BC4-2C0007B2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286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FoldingとIVC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Foldingは、2つの関係の検査を1つの累積関係へまとめる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IVCでは、状態を更新する計算をstepごとに繰り返す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内部で使う状態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次のstepを生成するため、Witnessを持つ生状態を保持する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状態を別の観測者へ渡す場合は、転送物の中身を確認する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外部向けの検証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最終証明を検証できることと、その証明から次のstepを作れることは別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検証成功だけでは、元Witness非共有の継続を意味しない</a:t>
            </a:r>
          </a:p>
        </p:txBody>
      </p:sp>
    </p:spTree>
    <p:extLst>
      <p:ext uri="{BB962C8B-B14F-4D97-AF65-F5344CB8AC3E}">
        <p14:creationId xmlns:p14="http://schemas.microsoft.com/office/powerpoint/2010/main" val="7855157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1B0486-9650-4A4C-92AE-4CD8371D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4FFEF6-769A-4767-B4BA-C54DDA3B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旧Sonobeでの再現結果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986700-C546-4B3B-BE57-F73D6A8A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741A3C-A620-4D2C-9D10-309E417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生Witnessの転送と、限定されたcommitment検査漏れを確認した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2C4B8-6BE6-4CC3-BADB-14AFEC2FDD4B}"/>
              </a:ext>
            </a:extLst>
          </p:cNvPr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83439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3962400"/>
              </a:tblGrid>
              <a:tr h="4667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対象・操作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旧版での結果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667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正常なA → B継続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受信・次step・最終verifyが成功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count / RID / bucket / Witness改竄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受信verifyと最終verifyが拒否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667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incoming commitmentの改竄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受信verify・最終verifyが受理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H=false / trueの生状態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両方とも元の識別用入力7個を含む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D22DE-D85F-43BA-B8F9-145A8256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8286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確認した版に限定する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固定旧API＋arkworks互換patchでのローカル再現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commitmentとWitnessの照合がない経路と結果が一致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拡大解釈しない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任意statementの偽造や、現行全版の脆弱性とは結論しない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失敗assertとログを維持し、後続mainの実験とは分ける</a:t>
            </a:r>
          </a:p>
        </p:txBody>
      </p:sp>
    </p:spTree>
    <p:extLst>
      <p:ext uri="{BB962C8B-B14F-4D97-AF65-F5344CB8AC3E}">
        <p14:creationId xmlns:p14="http://schemas.microsoft.com/office/powerpoint/2010/main" val="7855157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1B0486-9650-4A4C-92AE-4CD8371D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4FFEF6-769A-4767-B4BA-C54DDA3B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固定mainでの改竄拒否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986700-C546-4B3B-BE57-F73D6A8A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741A3C-A620-4D2C-9D10-309E417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22種類 × 3段 × 両Hの132件を、すべて拒否した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64A41-C848-4C87-A566-B5819CA8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24098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図の読み方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A・B・Cの各段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各設定で22種類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追加検査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incoming Witnessの省略6件も拒否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確認範囲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固定main 7f042351…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小規模な合成回路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B5372DCF-8D04-44F4-A4F6-C04380C392D7}"/>
              </a:ext>
            </a:extLst>
          </p:cNvPr>
          <p:cNvGraphicFramePr/>
          <p:nvPr/>
        </p:nvGraphicFramePr>
        <p:xfrm>
          <a:off xmlns:a="http://schemas.openxmlformats.org/drawingml/2006/main" x="2895600" y="1419225"/>
          <a:ext xmlns:a="http://schemas.openxmlformats.org/drawingml/2006/main" cx="5867400" cy="3781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4d0ec4250648e8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CAC9A-9E64-4F0C-96DF-8F95EC3F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381625"/>
            <a:ext cx="5514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各段の拒否数。上流ソースは変更していない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1C23B-0FC4-4535-9A72-7E8FD2B1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828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旧版との相違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旧版で受理されたincoming commitment改竄も拒否した</a:t>
            </a:r>
          </a:p>
        </p:txBody>
      </p:sp>
    </p:spTree>
    <p:extLst>
      <p:ext uri="{BB962C8B-B14F-4D97-AF65-F5344CB8AC3E}">
        <p14:creationId xmlns:p14="http://schemas.microsoft.com/office/powerpoint/2010/main" val="7855157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1B0486-9650-4A4C-92AE-4CD8371D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4FFEF6-769A-4767-B4BA-C54DDA3B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生状態に残る識別用入力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986700-C546-4B3B-BE57-F73D6A8A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741A3C-A620-4D2C-9D10-309E417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H=trueでも、各段の当該入力7個がincoming Witnessに残る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73FAE-6E98-4000-B12D-59A68522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24098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図の読み方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各段で使った合成の識別用入力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各条件で7個を検出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判定の意味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転送した生状態の配列を読む検査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暗号を解読した実験ではない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A8A5D52F-B78C-4B58-B6F8-45BB2FC2F30B}"/>
              </a:ext>
            </a:extLst>
          </p:cNvPr>
          <p:cNvGraphicFramePr/>
          <p:nvPr/>
        </p:nvGraphicFramePr>
        <p:xfrm>
          <a:off xmlns:a="http://schemas.openxmlformats.org/drawingml/2006/main" x="2895600" y="1419225"/>
          <a:ext xmlns:a="http://schemas.openxmlformats.org/drawingml/2006/main" cx="5867400" cy="3781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7c61a6c6dd4319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6AB7E-72ED-4A57-BC90-65A89E59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381625"/>
            <a:ext cx="551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各段の当該入力のみ。すべての過去Witnessの回復を主張しない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7EE90-82DA-40E1-824A-262F8479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828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正当性と秘匿性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改竄を拒否しても、生状態の転送だけでは元Witness非共有にならない</a:t>
            </a:r>
          </a:p>
        </p:txBody>
      </p:sp>
    </p:spTree>
    <p:extLst>
      <p:ext uri="{BB962C8B-B14F-4D97-AF65-F5344CB8AC3E}">
        <p14:creationId xmlns:p14="http://schemas.microsoft.com/office/powerpoint/2010/main" val="7855157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1B0486-9650-4A4C-92AE-4CD8371D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4FFEF6-769A-4767-B4BA-C54DDA3B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Pi上でのNova / CycleFold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986700-C546-4B3B-BE57-F73D6A8A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741A3C-A620-4D2C-9D10-309E417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ユークリッド距離の7stepを完走し、公開stateの改変も拒否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65874-DD7B-4DF1-B584-A9EE0FB96C20}"/>
              </a:ext>
            </a:extLst>
          </p:cNvPr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83439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48125"/>
                <a:gridCol w="4295775"/>
              </a:tblGrid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測定項目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正常step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7 / 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公開stateの改変拒否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3項目 × 7step = 21件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生成中央値 / 検証中央値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1.900 秒 / 2.946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鍵生成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8.610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全unitの実行時間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38.168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cgroup最大メモリ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187.086 MiB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EC91E-9A80-4D9A-A815-25630525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828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条件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Pi 4B / 4GB、1 CPU affinity・1スレッド、163制約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7入力を順に各1回。n=21の独立反復ではない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含まない保証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外部提出用の最終ZK・EVM検証は含まない</a:t>
            </a:r>
          </a:p>
        </p:txBody>
      </p:sp>
    </p:spTree>
    <p:extLst>
      <p:ext uri="{BB962C8B-B14F-4D97-AF65-F5344CB8AC3E}">
        <p14:creationId xmlns:p14="http://schemas.microsoft.com/office/powerpoint/2010/main" val="7855157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1B0486-9650-4A4C-92AE-4CD8371D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4FFEF6-769A-4767-B4BA-C54DDA3B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stepごとの生成・検証時間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986700-C546-4B3B-BE57-F73D6A8A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741A3C-A620-4D2C-9D10-309E417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7入力を順に処理したときの実測値を示す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87AF1C0-3104-4CAE-A1EC-0D9FA34B499A}"/>
              </a:ext>
            </a:extLst>
          </p:cNvPr>
          <p:cNvGraphicFramePr/>
          <p:nvPr/>
        </p:nvGraphicFramePr>
        <p:xfrm>
          <a:off xmlns:a="http://schemas.openxmlformats.org/drawingml/2006/main" x="400050" y="1400175"/>
          <a:ext xmlns:a="http://schemas.openxmlformats.org/drawingml/2006/main" cx="83439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73323f183249b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2702A-737A-4B9F-B796-BE3C7730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834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横軸：step。7入力は異なり、独立反復の平均ではない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EF326-3783-4C0F-B9B3-871196D7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62575"/>
            <a:ext cx="828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読み方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初期処理を含む系列で、stepごとに入力も変わる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この短い系列から、長期の増加率や1Hz適合性は決めない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単一Proverのraw IVC更新・検証を計測した</a:t>
            </a:r>
          </a:p>
        </p:txBody>
      </p:sp>
    </p:spTree>
    <p:extLst>
      <p:ext uri="{BB962C8B-B14F-4D97-AF65-F5344CB8AC3E}">
        <p14:creationId xmlns:p14="http://schemas.microsoft.com/office/powerpoint/2010/main" val="7855157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1B0486-9650-4A4C-92AE-4CD8371D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4FFEF6-769A-4767-B4BA-C54DDA3B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実行全体のメモリ推移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986700-C546-4B3B-BE57-F73D6A8A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741A3C-A620-4D2C-9D10-309E417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完走runでは、OOM・Swap使用なしで計測を終えた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E41E8-6E39-454A-8AFA-1A9D78DD6B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49a06eb684573"/>
          <a:stretch xmlns:a="http://schemas.openxmlformats.org/drawingml/2006/main"/>
        </p:blipFill>
        <p:spPr>
          <a:xfrm xmlns:a="http://schemas.openxmlformats.org/drawingml/2006/main">
            <a:off x="730250" y="1285875"/>
            <a:ext cx="7683500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3130B-3EED-455A-865F-73C057A3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828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計測範囲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setup・負例検査を含む全unit。カーネル最大187.086 MiB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10 ms間隔のsampleとkernel peakを区別する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短いstartup込みの系列から、メモリリークの有無は判断しない</a:t>
            </a:r>
          </a:p>
        </p:txBody>
      </p:sp>
    </p:spTree>
    <p:extLst>
      <p:ext uri="{BB962C8B-B14F-4D97-AF65-F5344CB8AC3E}">
        <p14:creationId xmlns:p14="http://schemas.microsoft.com/office/powerpoint/2010/main" val="7855157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1B0486-9650-4A4C-92AE-4CD8371D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4FFEF6-769A-4767-B4BA-C54DDA3B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HyperNovaとの同一回路での比較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986700-C546-4B3B-BE57-F73D6A8A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741A3C-A620-4D2C-9D10-309E417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両方式とも、Pi内の7step raw IVCとして計測した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245E806D-E452-429C-BFD8-2C25F54C84AE}"/>
              </a:ext>
            </a:extLst>
          </p:cNvPr>
          <p:cNvGraphicFramePr/>
          <p:nvPr/>
        </p:nvGraphicFramePr>
        <p:xfrm>
          <a:off xmlns:a="http://schemas.openxmlformats.org/drawingml/2006/main" x="400050" y="1400175"/>
          <a:ext xmlns:a="http://schemas.openxmlformats.org/drawingml/2006/main" cx="523875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fa0fce23614c7b"/>
          </a:graphicData>
        </a:graphic>
      </p:graphicFrame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661D7-6777-41DC-BB5C-1EEECD09006A}"/>
              </a:ext>
            </a:extLst>
          </p:cNvPr>
          <p:cNvGraphicFramePr/>
          <p:nvPr/>
        </p:nvGraphicFramePr>
        <p:xfrm>
          <a:off xmlns:a="http://schemas.openxmlformats.org/drawingml/2006/main" x="400050" y="4762500"/>
          <a:ext xmlns:a="http://schemas.openxmlformats.org/drawingml/2006/main" cx="8343900" cy="109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886075"/>
                <a:gridCol w="2886075"/>
              </a:tblGrid>
              <a:tr h="3651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Nova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HyperNova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3651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最大メモリ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187.1 MiB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148.9 MiB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全unit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38.168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32.633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80704-0DE5-4903-B9E0-54EB8DBB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447800"/>
            <a:ext cx="28098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条件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同じ163制約のFCircuit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同じ7入力列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単一ProverのIVC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完成ZKの速度比較ではない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EE832-C0F8-4963-8B0C-EA3DFF6C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67425"/>
            <a:ext cx="834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異なる日・runの短期測定。一般的な優劣や採用判断へ直結させない</a:t>
            </a:r>
          </a:p>
        </p:txBody>
      </p:sp>
    </p:spTree>
    <p:extLst>
      <p:ext uri="{BB962C8B-B14F-4D97-AF65-F5344CB8AC3E}">
        <p14:creationId xmlns:p14="http://schemas.microsoft.com/office/powerpoint/2010/main" val="7855157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1B0486-9650-4A4C-92AE-4CD8371D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4FFEF6-769A-4767-B4BA-C54DDA3B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失敗runと再実行の扱い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986700-C546-4B3B-BE57-F73D6A8A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741A3C-A620-4D2C-9D10-309E417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初回は電源フラグで停止し、成功runとは分けて保存した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F2E02-B9E3-417C-8CE9-F903C1A4C716}"/>
              </a:ext>
            </a:extLst>
          </p:cNvPr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83439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838450"/>
                <a:gridCol w="2838450"/>
              </a:tblGrid>
              <a:tr h="4445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初回 v1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採用run v2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445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終了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guardによるSIGTERM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正常完走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停止・実行時間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14.636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38.168 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445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終了時のフラグ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0x50005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0x50000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OOM / Swap使用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 / 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 / 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44500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集計への扱い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成功値に混ぜない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7stepの結果に採用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70D98-C61D-406D-A99C-92C61112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828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原因を混同しない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初回の停止理由はcurrent_undervoltage_or_throttling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失敗をOOMや回路の不成立として扱わない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条件を緩めず再確認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メモリ・電源の停止条件は維持してv2を実行した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0x50000は過去の履歴bit。現在状態の下位bitと区別する</a:t>
            </a:r>
          </a:p>
        </p:txBody>
      </p:sp>
    </p:spTree>
    <p:extLst>
      <p:ext uri="{BB962C8B-B14F-4D97-AF65-F5344CB8AC3E}">
        <p14:creationId xmlns:p14="http://schemas.microsoft.com/office/powerpoint/2010/main" val="78551574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1B0486-9650-4A4C-92AE-4CD8371D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4FFEF6-769A-4767-B4BA-C54DDA3B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最終証明と継続状態を区別する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986700-C546-4B3B-BE57-F73D6A8A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741A3C-A620-4D2C-9D10-309E417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旧版のRandomizedIVCProofは生成・検証できたが、継続は別のAPI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CA209-4E92-4707-8838-5FCBB07F1AC0}"/>
              </a:ext>
            </a:extLst>
          </p:cNvPr>
          <p:cNvGraphicFramePr/>
          <p:nvPr/>
        </p:nvGraphicFramePr>
        <p:xfrm>
          <a:off xmlns:a="http://schemas.openxmlformats.org/drawingml/2006/main" x="400050" y="1438275"/>
          <a:ext xmlns:a="http://schemas.openxmlformats.org/drawingml/2006/main" cx="83439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4343400"/>
              </a:tblGrid>
              <a:tr h="44767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確認内容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T w="6668">
                      <a:solidFill>
                        <a:srgbClr val="282629"/>
                      </a:solidFill>
                      <a:prstDash val="solid"/>
                    </a:lnT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4767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旧版RandomizedIVCProofの生成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成功：917.168 ms（単回）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同proofのverify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成功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4767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W_i_prime内のcanary直接一致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0件（この検査だけでZK性は証明しない）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生IVC状態への変換・秘密非共有継続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282629"/>
                      </a:solidFill>
                      <a:prstDash val="solid"/>
                    </a:lnL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調査範囲内で成立経路を確認できず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282629"/>
                      </a:solidFill>
                      <a:prstDash val="solid"/>
                    </a:lnR>
                    <a:lnB w="6668">
                      <a:solidFill>
                        <a:srgbClr val="282629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31B4C-058C-4B02-B0D3-AEE43EFB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8286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正確な整理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Nova全般でZK証明を作れない、という結論ではない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調査した生状態の転送はWitnessを含む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今回の要件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別Proverが元Witnessなしで検証・継続する経路は未成立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最終証明の成功と、分散した継続の成功を分けて報告する</a:t>
            </a:r>
          </a:p>
        </p:txBody>
      </p:sp>
    </p:spTree>
    <p:extLst>
      <p:ext uri="{BB962C8B-B14F-4D97-AF65-F5344CB8AC3E}">
        <p14:creationId xmlns:p14="http://schemas.microsoft.com/office/powerpoint/2010/main" val="78551574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1B0486-9650-4A4C-92AE-4CD8371D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4FFEF6-769A-4767-B4BA-C54DDA3B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90000"/>
            <a:ext cx="83520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60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Novaの検証結果まとめ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D986700-C546-4B3B-BE57-F73D6A8A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" y="810000"/>
            <a:ext cx="648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A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741A3C-A620-4D2C-9D10-309E417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810000"/>
            <a:ext cx="81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Novaは実行済み。正当性・秘匿性・性能は別々の結果として整理する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FCCA6-C75A-420C-B8C7-AED5F5C1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28675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実行・検証できたこと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Sonobeでの正常継続、固定mainでの132改竄拒否、Piの7step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時間・メモリ・拒否数をグラフとCSVで保存した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未達の要件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生状態は元Witnessを含み、秘密非共有の転送物にはできない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Piの結果は外部提出用の最終ZK・EVM検証ではない</a:t>
            </a:r>
          </a:p>
          <a:p xmlns:a="http://schemas.openxmlformats.org/drawingml/2006/main">
            <a:pPr>
              <a:spcBef>
                <a:spcPts val="800"/>
              </a:spcBef>
              <a:spcAft>
                <a:spcPts val="250"/>
              </a:spcAft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■ 今回の判断</a:t>
            </a:r>
          </a:p>
          <a:p xmlns:a="http://schemas.openxmlformats.org/drawingml/2006/main">
            <a:pPr marL="2857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調査したSonobeの生状態継続は、秘密非共有の用途に採用しない</a:t>
            </a:r>
          </a:p>
          <a:p xmlns:a="http://schemas.openxmlformats.org/drawingml/2006/main">
            <a:pPr marL="742950" indent="-285750">
              <a:spcBef>
                <a:spcPts val="300"/>
              </a:spcBef>
              <a:spcAft>
                <a:spcPts val="100"/>
              </a:spcAft>
              <a:buChar char="•"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Novaの理論や、他の実装全般の不可能性へ広げない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E8692-9390-4001-8990-DC6F130A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24575"/>
            <a:ext cx="8343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6B7A88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t>合成入力の研究PoC。RF真値、DRIP信頼連鎖、航空機・観測者hardware認証は保証しない</a:t>
            </a:r>
          </a:p>
        </p:txBody>
      </p:sp>
    </p:spTree>
    <p:extLst>
      <p:ext uri="{BB962C8B-B14F-4D97-AF65-F5344CB8AC3E}">
        <p14:creationId xmlns:p14="http://schemas.microsoft.com/office/powerpoint/2010/main" val="7855157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2026-10-18T07:05:14.0970000Z</dcterms:created>
  <dcterms:modified xsi:type="dcterms:W3CDTF">2026-10-18T07:05:14.0970000Z</dcterms:modified>
</coreProperties>
</file>