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f6ee69a7b4e27" /><Relationship Type="http://schemas.openxmlformats.org/officeDocument/2006/relationships/extended-properties" Target="/docProps/app.xml" Id="Rcc8889b2a17e4ad1" /><Relationship Type="http://schemas.openxmlformats.org/officeDocument/2006/relationships/officeDocument" Target="/ppt/presentation.xml" Id="R3fd4d1d8886041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4facf7ae3642ca"/>
  </p:sldMasterIdLst>
  <p:notesMasterIdLst>
    <p:notesMasterId xmlns:r="http://schemas.openxmlformats.org/officeDocument/2006/relationships" r:id="Refe51eb63a4849d2"/>
  </p:notesMasterIdLst>
  <p:sldIdLst>
    <p:sldId xmlns:r="http://schemas.openxmlformats.org/officeDocument/2006/relationships" id="256" r:id="R033e3f01ac4e42d7"/>
    <p:sldId xmlns:r="http://schemas.openxmlformats.org/officeDocument/2006/relationships" id="257" r:id="Rfd90ac3741884e17"/>
    <p:sldId xmlns:r="http://schemas.openxmlformats.org/officeDocument/2006/relationships" id="258" r:id="Rdfae3f062263430d"/>
    <p:sldId xmlns:r="http://schemas.openxmlformats.org/officeDocument/2006/relationships" id="259" r:id="R9332ffb6e25846bd"/>
    <p:sldId xmlns:r="http://schemas.openxmlformats.org/officeDocument/2006/relationships" id="260" r:id="Rab8fc0ca611b4a1f"/>
    <p:sldId xmlns:r="http://schemas.openxmlformats.org/officeDocument/2006/relationships" id="261" r:id="R9eb8033bcdd1499f"/>
    <p:sldId xmlns:r="http://schemas.openxmlformats.org/officeDocument/2006/relationships" id="262" r:id="R9323b92cefab48be"/>
    <p:sldId xmlns:r="http://schemas.openxmlformats.org/officeDocument/2006/relationships" id="263" r:id="Rf85cf2b221fc495d"/>
    <p:sldId xmlns:r="http://schemas.openxmlformats.org/officeDocument/2006/relationships" id="264" r:id="Re1c4d77fe8534a4a"/>
    <p:sldId xmlns:r="http://schemas.openxmlformats.org/officeDocument/2006/relationships" id="265" r:id="R857db57e8bd24889"/>
    <p:sldId xmlns:r="http://schemas.openxmlformats.org/officeDocument/2006/relationships" id="266" r:id="Rc12482a44f254099"/>
    <p:sldId xmlns:r="http://schemas.openxmlformats.org/officeDocument/2006/relationships" id="267" r:id="R0076af3029424b82"/>
    <p:sldId xmlns:r="http://schemas.openxmlformats.org/officeDocument/2006/relationships" id="268" r:id="Raf6b0481ead94fca"/>
    <p:sldId xmlns:r="http://schemas.openxmlformats.org/officeDocument/2006/relationships" id="269" r:id="Rdcff7b9c3e384809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be1496302485a" /><Relationship Type="http://schemas.openxmlformats.org/officeDocument/2006/relationships/slideMaster" Target="/ppt/slideMasters/slideMaster1.xml" Id="Rce4facf7ae3642ca" /><Relationship Type="http://schemas.openxmlformats.org/officeDocument/2006/relationships/notesMaster" Target="/ppt/notesMasters/notesMaster1.xml" Id="Refe51eb63a4849d2" /><Relationship Type="http://schemas.openxmlformats.org/officeDocument/2006/relationships/presProps" Target="/ppt/presProps.xml" Id="Rc7b0b5f6b2ef4e46" /><Relationship Type="http://schemas.openxmlformats.org/officeDocument/2006/relationships/viewProps" Target="/ppt/viewProps.xml" Id="R81c5151714ce4d0a" /><Relationship Type="http://schemas.openxmlformats.org/officeDocument/2006/relationships/tableStyles" Target="/ppt/tableStyles.xml" Id="R35598d4a266b4ddf" /><Relationship Type="http://schemas.openxmlformats.org/officeDocument/2006/relationships/slide" Target="/ppt/slides/slide1.xml" Id="R033e3f01ac4e42d7" /><Relationship Type="http://schemas.openxmlformats.org/officeDocument/2006/relationships/slide" Target="/ppt/slides/slide2.xml" Id="Rfd90ac3741884e17" /><Relationship Type="http://schemas.openxmlformats.org/officeDocument/2006/relationships/slide" Target="/ppt/slides/slide3.xml" Id="Rdfae3f062263430d" /><Relationship Type="http://schemas.openxmlformats.org/officeDocument/2006/relationships/slide" Target="/ppt/slides/slide4.xml" Id="R9332ffb6e25846bd" /><Relationship Type="http://schemas.openxmlformats.org/officeDocument/2006/relationships/slide" Target="/ppt/slides/slide5.xml" Id="Rab8fc0ca611b4a1f" /><Relationship Type="http://schemas.openxmlformats.org/officeDocument/2006/relationships/slide" Target="/ppt/slides/slide6.xml" Id="R9eb8033bcdd1499f" /><Relationship Type="http://schemas.openxmlformats.org/officeDocument/2006/relationships/slide" Target="/ppt/slides/slide7.xml" Id="R9323b92cefab48be" /><Relationship Type="http://schemas.openxmlformats.org/officeDocument/2006/relationships/slide" Target="/ppt/slides/slide8.xml" Id="Rf85cf2b221fc495d" /><Relationship Type="http://schemas.openxmlformats.org/officeDocument/2006/relationships/slide" Target="/ppt/slides/slide9.xml" Id="Re1c4d77fe8534a4a" /><Relationship Type="http://schemas.openxmlformats.org/officeDocument/2006/relationships/slide" Target="/ppt/slides/slide10.xml" Id="R857db57e8bd24889" /><Relationship Type="http://schemas.openxmlformats.org/officeDocument/2006/relationships/slide" Target="/ppt/slides/slide11.xml" Id="Rc12482a44f254099" /><Relationship Type="http://schemas.openxmlformats.org/officeDocument/2006/relationships/slide" Target="/ppt/slides/slide12.xml" Id="R0076af3029424b82" /><Relationship Type="http://schemas.openxmlformats.org/officeDocument/2006/relationships/slide" Target="/ppt/slides/slide13.xml" Id="Raf6b0481ead94fca" /><Relationship Type="http://schemas.openxmlformats.org/officeDocument/2006/relationships/slide" Target="/ppt/slides/slide14.xml" Id="Rdcff7b9c3e38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fdd933d14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7c950845647fd" /><Relationship Type="http://schemas.openxmlformats.org/officeDocument/2006/relationships/notesMaster" Target="/ppt/notesMasters/notesMaster1.xml" Id="R4fdffa915846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e28383cb2485a" /><Relationship Type="http://schemas.openxmlformats.org/officeDocument/2006/relationships/notesMaster" Target="/ppt/notesMasters/notesMaster1.xml" Id="R374d240acedb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e0666b9354f22" /><Relationship Type="http://schemas.openxmlformats.org/officeDocument/2006/relationships/notesMaster" Target="/ppt/notesMasters/notesMaster1.xml" Id="R2203196dccf544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059b21236f46bc" /><Relationship Type="http://schemas.openxmlformats.org/officeDocument/2006/relationships/notesMaster" Target="/ppt/notesMasters/notesMaster1.xml" Id="R82aca6babdec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d2c6c1fb784572" /><Relationship Type="http://schemas.openxmlformats.org/officeDocument/2006/relationships/notesMaster" Target="/ppt/notesMasters/notesMaster1.xml" Id="R8094d2fb87b94d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9dceee6514ab3" /><Relationship Type="http://schemas.openxmlformats.org/officeDocument/2006/relationships/notesMaster" Target="/ppt/notesMasters/notesMaster1.xml" Id="Ra502ab51ceb3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2b515e0d144339" /><Relationship Type="http://schemas.openxmlformats.org/officeDocument/2006/relationships/notesMaster" Target="/ppt/notesMasters/notesMaster1.xml" Id="R54585f2c013d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60ebeea95f4d4e" /><Relationship Type="http://schemas.openxmlformats.org/officeDocument/2006/relationships/notesMaster" Target="/ppt/notesMasters/notesMaster1.xml" Id="R309e5d9b49b5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b9afe082344a71" /><Relationship Type="http://schemas.openxmlformats.org/officeDocument/2006/relationships/notesMaster" Target="/ppt/notesMasters/notesMaster1.xml" Id="Rff683ecc983348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e0e393c78c43fa" /><Relationship Type="http://schemas.openxmlformats.org/officeDocument/2006/relationships/notesMaster" Target="/ppt/notesMasters/notesMaster1.xml" Id="R0b533143ee664b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64757ecfe84440" /><Relationship Type="http://schemas.openxmlformats.org/officeDocument/2006/relationships/notesMaster" Target="/ppt/notesMasters/notesMaster1.xml" Id="Rf3d6fc9a370b41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2d4ccc8e2b4f4f" /><Relationship Type="http://schemas.openxmlformats.org/officeDocument/2006/relationships/notesMaster" Target="/ppt/notesMasters/notesMaster1.xml" Id="Rcf5268ea338e41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e7764625854908" /><Relationship Type="http://schemas.openxmlformats.org/officeDocument/2006/relationships/notesMaster" Target="/ppt/notesMasters/notesMaster1.xml" Id="Raaab53d00fb048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709d09a4544336" /><Relationship Type="http://schemas.openxmlformats.org/officeDocument/2006/relationships/notesMaster" Target="/ppt/notesMasters/notesMaster1.xml" Id="R3150776273d4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研究PoCの合成ユークリッド計算について、Pi上での実測を報告する。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発表の流れを示す。スライド番号は表示しない。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単純なライブラリの順位づけではなく、実行性と資源量を確認する。センサの正直性や航空機認証の実証ではない。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CircomのEuclidean回路は座標16bit、d2 33bit、r 17bitと上下限を制約化。観測やセンサの正しさを証明するものではない。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experiments/pi4-euclidean/circom/euclidean.circom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構成数はライブラリ数と異なる。同じライブラリの複数backendやproverを別構成として数える。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.cache/week24/sequential-jobs/circom-1017c/comparison-status.json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記述統計として扱い、独立な繰り返しや信頼区間とは主張しない。構成間の細かい時間境界の差は残る。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experiments/unified-distance-bench/protocol.py;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子High192/Max256MiB/Swap0、親High1200/Max1536MiB/Swap0、OS空き1GiB以上、SSH oom_score_adj=-900。Circom両runのcgroup OOM/oom_kill=0。接続断や再起動原因は未確定。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.cache/week24/sequential-jobs/circom-1017c/guard-restoration.json; .cache/week24/sequential-jobs/circom-1017c/data/summary.json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9構成は別々のジョブから得た実測。工程時間はstatus.jsonのmeasurement step elapsed_s、本体時間はresource elapsed_s。合計1877.452秒は完走工程の単純合計。人が実装した作業時間や失敗・再接続の全時間は測定していない。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week24/slides/実験所要時間.csv; .cache/week24/sequential-jobs/seq-1016b/status.json; .cache/week24/sequential-jobs/circom-1017c/status.json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平均フロー秒を表示。誤差棒はこの図には表示せず、統計データのSD・中央値はCSV/JSONに保存。異なる保証や測定範囲を含むため一般的な優劣とはしない。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全実行のcgroup値でOS全体の使用量ではない。RapidSnark平均25.3/最大28.2MiB、snarkjs平均85.7/最大106.4MiB。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proof本文・鍵は埋め込まない。サイズのみ保存。JSON書式やnative encoding差を含む。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16.608548833/0.427582176=約38.84倍。Pi snarkjsは0.7.5、Mac正当性テストは0.7.6。両構成とも共通native RapidSnark verifierを使用。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experiments/circom-prover-comparison/README.md;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元データから生成した散布図。今回の合成計算での値であり本番性能を一般化しない。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合成入力での計算評価。実観測や航空機認証・本番安全システムの実証ではない。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week24/figures/balanced-nine-overview/comparison.json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4778218fe47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96ba06fb249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d58c2db3545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7b088e19540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7d429fb444a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1d52734014d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98692d9694e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e71bbf4764f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1df86283641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25e3b678848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333976e734bd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354AB6-381E-4DC7-AAE9-1389096531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79EBEF9-DB3B-4C59-AFDF-9B6733BCD0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EA1A06-F686-4056-BE9E-542DEDC303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75DCE8-6B86-4BEE-A5E6-3E9C90CE0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402567-33AF-4447-96D4-D70B9ED87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D00921-4A5E-4DDD-A387-0D9C72F17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3BADF1-808E-4695-8CDD-2C4C07BF90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35076D-2BF4-45F8-B799-4BBA470184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4075A4-9212-44A2-81AB-24EC69FA9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FF7A32-CF1E-45ED-A1CE-80C979735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4370F1-1E5D-44AD-A20B-90C76E164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AB313B-F737-4A85-A8B5-A96405B92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6C936E-4B67-4CDC-8C2A-101A590A9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52CC22-6AA0-4EAD-AF46-73EB583DF9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B6737B-4533-444B-93A7-3D31F4B18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4DEFEA-EB5F-418A-BE20-06AA61390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5542BF-D4A5-480D-9397-EC9A2DF7C3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D2C069F-8C19-4A66-A3FC-B1D5F06691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A65876-1FC3-4BC9-A5AE-BA39A7B0F2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2A8ADB-0F1E-4F3A-8B4C-6F24196649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898B0FD-743E-4EB5-8239-90AA082478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583BE9-C86D-495E-9F7D-0B5390865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BF8755-C95D-4A5D-8164-5CF5E11955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D8D2B92-5594-40AA-9095-FE0EBBE1C99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8FDE7AE-AFEA-4C2A-9230-8029334AA9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0650097-ED5F-47FB-8F18-0F35FBF7A3F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8D816A8-DFEA-4A2F-BED3-289FE11B1F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7754A27-29AC-48E6-BAB5-2CA208736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D31F93A-E163-4E30-AB51-861B74B26B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BC4D80-01DD-4962-9EE1-D5DAFF66B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83E691-4E05-4C30-BB6A-1CE8F12A2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F1AAF0D-425F-4BBF-BD1D-C1783E1C8C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CFB88D4-5C6B-4D99-92A1-12E7EDE254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B85A324-35FF-4701-8176-9546B385FB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973E959-E076-454F-8E6E-E9810E30FA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16FC5DF-3ADE-4FC6-BCEE-374077405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E18B35-E7BD-46BD-BE00-3199C5926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1DD9F7-EA92-4B23-8FF3-9F0AD04ED0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B280E15-5447-4ED2-8AD5-471FFAB27B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B9C26C-580D-47FA-BAE9-01DBF0F5E0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6AE0CF3-EBA6-452C-BAEC-6D8A8D2F70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F9F994-ECDE-4EE7-BCB2-21CD397F2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DED945-DA7F-4C17-916E-E1302D2B9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CF7007-476F-4AEE-9251-D4D11C22050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C7B541-FEBC-4FA9-B952-43EF88DDDE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B58FBBF-B652-4E13-8C91-7A39F120C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119CB5-FF83-4FB9-9BC2-E258D7C14A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C06A47-BDBF-48F9-A7E1-4C212013F5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803F7B-8880-4938-AF57-FDE13D92F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423300-0555-4F54-BB74-5DF04A03D2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D0BDAA-CDFA-450D-AAF9-4594354ED7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C658EE-E64D-4F04-B910-249FEE0A3F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CF9329-EFD4-423E-A55D-C428DDB34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373E76D-A5BE-400D-8C27-079C744F6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C365F2-1047-4316-8276-19BC03439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4F9E17-13EB-4209-9FE5-01934CD468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807D4A-70BD-4FDF-8D54-3585B6F307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A8DADE-67C6-487C-977F-FF2FBB684D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95171205b48f4" /><Relationship Type="http://schemas.openxmlformats.org/officeDocument/2006/relationships/slideLayout" Target="/ppt/slideLayouts/slideLayout1.xml" Id="R8cdd657cb8b440ad" /><Relationship Type="http://schemas.openxmlformats.org/officeDocument/2006/relationships/slideLayout" Target="/ppt/slideLayouts/slideLayout2.xml" Id="Rcb42a17ae4a443df" /><Relationship Type="http://schemas.openxmlformats.org/officeDocument/2006/relationships/slideLayout" Target="/ppt/slideLayouts/slideLayout3.xml" Id="R6794ec83e79448d7" /><Relationship Type="http://schemas.openxmlformats.org/officeDocument/2006/relationships/slideLayout" Target="/ppt/slideLayouts/slideLayout4.xml" Id="Rc585ed39f8ea41d3" /><Relationship Type="http://schemas.openxmlformats.org/officeDocument/2006/relationships/slideLayout" Target="/ppt/slideLayouts/slideLayout5.xml" Id="Re9e1d9578d484712" /><Relationship Type="http://schemas.openxmlformats.org/officeDocument/2006/relationships/slideLayout" Target="/ppt/slideLayouts/slideLayout6.xml" Id="Rb101c87acf1e4340" /><Relationship Type="http://schemas.openxmlformats.org/officeDocument/2006/relationships/slideLayout" Target="/ppt/slideLayouts/slideLayout7.xml" Id="Re00272be22f34b0d" /><Relationship Type="http://schemas.openxmlformats.org/officeDocument/2006/relationships/slideLayout" Target="/ppt/slideLayouts/slideLayout8.xml" Id="R26810985d28245eb" /><Relationship Type="http://schemas.openxmlformats.org/officeDocument/2006/relationships/slideLayout" Target="/ppt/slideLayouts/slideLayout9.xml" Id="R323aa15fe7dc4f24" /><Relationship Type="http://schemas.openxmlformats.org/officeDocument/2006/relationships/slideLayout" Target="/ppt/slideLayouts/slideLayout10.xml" Id="R5f491c988f204dc8" /><Relationship Type="http://schemas.openxmlformats.org/officeDocument/2006/relationships/slideLayout" Target="/ppt/slideLayouts/slideLayout11.xml" Id="Rabcc11e928e94b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6F4F50F-EB8A-4416-8EF6-AC3E33073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BDF1E3-3BB5-49E0-9E8B-BE2939E11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6B963C-E0B5-47CC-91FE-A51D8A20E9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E6F1D0-E4C8-40C0-9245-1382CCEA5D1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2F52A7-7F41-4DEC-8FFB-E2D588E471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d657cb8b440ad"/>
    <p:sldLayoutId xmlns:r="http://schemas.openxmlformats.org/officeDocument/2006/relationships" id="2147483650" r:id="Rcb42a17ae4a443df"/>
    <p:sldLayoutId xmlns:r="http://schemas.openxmlformats.org/officeDocument/2006/relationships" id="2147483651" r:id="R6794ec83e79448d7"/>
    <p:sldLayoutId xmlns:r="http://schemas.openxmlformats.org/officeDocument/2006/relationships" id="2147483652" r:id="Rc585ed39f8ea41d3"/>
    <p:sldLayoutId xmlns:r="http://schemas.openxmlformats.org/officeDocument/2006/relationships" id="2147483653" r:id="Re9e1d9578d484712"/>
    <p:sldLayoutId xmlns:r="http://schemas.openxmlformats.org/officeDocument/2006/relationships" id="2147483654" r:id="Rb101c87acf1e4340"/>
    <p:sldLayoutId xmlns:r="http://schemas.openxmlformats.org/officeDocument/2006/relationships" id="2147483655" r:id="Re00272be22f34b0d"/>
    <p:sldLayoutId xmlns:r="http://schemas.openxmlformats.org/officeDocument/2006/relationships" id="2147483656" r:id="R26810985d28245eb"/>
    <p:sldLayoutId xmlns:r="http://schemas.openxmlformats.org/officeDocument/2006/relationships" id="2147483657" r:id="R323aa15fe7dc4f24"/>
    <p:sldLayoutId xmlns:r="http://schemas.openxmlformats.org/officeDocument/2006/relationships" id="2147483658" r:id="R5f491c988f204dc8"/>
    <p:sldLayoutId xmlns:r="http://schemas.openxmlformats.org/officeDocument/2006/relationships" id="2147483659" r:id="Rabcc11e928e94b0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aa6c831eae4dec" /><Relationship Type="http://schemas.openxmlformats.org/officeDocument/2006/relationships/notesSlide" Target="/ppt/notesSlides/notesSlide1.xml" Id="R99631caf0d11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fc1df7a1914be0" /><Relationship Type="http://schemas.openxmlformats.org/officeDocument/2006/relationships/notesSlide" Target="/ppt/notesSlides/notesSlide2.xml" Id="Rb1deaa88e57e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8cb7e6061b42bb" /><Relationship Type="http://schemas.openxmlformats.org/officeDocument/2006/relationships/notesSlide" Target="/ppt/notesSlides/notesSlide3.xml" Id="R33cb105b0026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6e6b6d69574650" /><Relationship Type="http://schemas.openxmlformats.org/officeDocument/2006/relationships/notesSlide" Target="/ppt/notesSlides/notesSlide4.xml" Id="Rc020dd47d495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d37e73316d46f1" /><Relationship Type="http://schemas.openxmlformats.org/officeDocument/2006/relationships/notesSlide" Target="/ppt/notesSlides/notesSlide5.xml" Id="R5ddd18c26dda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f92430d5b947e8" /><Relationship Type="http://schemas.openxmlformats.org/officeDocument/2006/relationships/notesSlide" Target="/ppt/notesSlides/notesSlide6.xml" Id="Rb78618bf393947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c33b1250e64257" /><Relationship Type="http://schemas.openxmlformats.org/officeDocument/2006/relationships/notesSlide" Target="/ppt/notesSlides/notesSlide7.xml" Id="R7d6533e794db4a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d164a14ac44f31" /><Relationship Type="http://schemas.openxmlformats.org/officeDocument/2006/relationships/notesSlide" Target="/ppt/notesSlides/notesSlide8.xml" Id="Rd50580e8b6a44a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1ac53476634fbb" /><Relationship Type="http://schemas.openxmlformats.org/officeDocument/2006/relationships/chart" Target="/ppt/slides/charts/chart1.xml" Id="R1d216ba75939406b" /><Relationship Type="http://schemas.openxmlformats.org/officeDocument/2006/relationships/notesSlide" Target="/ppt/notesSlides/notesSlide9.xml" Id="R623ad3b8ab324a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89f3652d794a73" /><Relationship Type="http://schemas.openxmlformats.org/officeDocument/2006/relationships/chart" Target="/ppt/slides/charts/chart2.xml" Id="R139f255762574a4f" /><Relationship Type="http://schemas.openxmlformats.org/officeDocument/2006/relationships/notesSlide" Target="/ppt/notesSlides/notesSlide10.xml" Id="Ra7e232f52c1f4d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6250333f104754" /><Relationship Type="http://schemas.openxmlformats.org/officeDocument/2006/relationships/chart" Target="/ppt/slides/charts/chart3.xml" Id="Rdb83a10b2b314beb" /><Relationship Type="http://schemas.openxmlformats.org/officeDocument/2006/relationships/notesSlide" Target="/ppt/notesSlides/notesSlide11.xml" Id="R9305ce97edf14c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c07d0c98664c16" /><Relationship Type="http://schemas.openxmlformats.org/officeDocument/2006/relationships/notesSlide" Target="/ppt/notesSlides/notesSlide12.xml" Id="R000972f4f4134f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786ff9159c4bf0" /><Relationship Type="http://schemas.openxmlformats.org/officeDocument/2006/relationships/image" Target="/ppt/media/image.png" Id="R2f892051d0074944" /><Relationship Type="http://schemas.openxmlformats.org/officeDocument/2006/relationships/notesSlide" Target="/ppt/notesSlides/notesSlide13.xml" Id="Rab320e25e6ec4c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9550a59f564fe8" /><Relationship Type="http://schemas.openxmlformats.org/officeDocument/2006/relationships/notesSlide" Target="/ppt/notesSlides/notesSlide14.xml" Id="R6ce689eb548c4e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平均時間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16.6085</c:v>
                </c:pt>
                <c:pt idx="1">
                  <c:v>11.2933</c:v>
                </c:pt>
                <c:pt idx="2">
                  <c:v>4.2896</c:v>
                </c:pt>
                <c:pt idx="3">
                  <c:v>4.1009</c:v>
                </c:pt>
                <c:pt idx="4">
                  <c:v>2.9472</c:v>
                </c:pt>
                <c:pt idx="5">
                  <c:v>2.5016</c:v>
                </c:pt>
                <c:pt idx="6">
                  <c:v>0.4276</c:v>
                </c:pt>
                <c:pt idx="7">
                  <c:v>0.2453</c:v>
                </c:pt>
                <c:pt idx="8">
                  <c:v>0.1867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最大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106.4063</c:v>
                </c:pt>
                <c:pt idx="1">
                  <c:v>13.582</c:v>
                </c:pt>
                <c:pt idx="2">
                  <c:v>10.3633</c:v>
                </c:pt>
                <c:pt idx="3">
                  <c:v>10.6523</c:v>
                </c:pt>
                <c:pt idx="4">
                  <c:v>14.8633</c:v>
                </c:pt>
                <c:pt idx="5">
                  <c:v>9.3672</c:v>
                </c:pt>
                <c:pt idx="6">
                  <c:v>28.2031</c:v>
                </c:pt>
                <c:pt idx="7">
                  <c:v>13.8047</c:v>
                </c:pt>
                <c:pt idx="8">
                  <c:v>8.2969</c:v>
                </c:pt>
              </c:numCache>
            </c:numRef>
          </c:val>
        </c:ser>
        <c:ser>
          <c:idx val="1"/>
          <c:order val="1"/>
          <c:tx>
            <c:v>平均</c:v>
          </c:tx>
          <c:spPr>
            <a:solidFill xmlns:a="http://schemas.openxmlformats.org/drawingml/2006/main">
              <a:srgbClr val="B5CDE2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85.7062</c:v>
                </c:pt>
                <c:pt idx="1">
                  <c:v>10.6465</c:v>
                </c:pt>
                <c:pt idx="2">
                  <c:v>9.0189</c:v>
                </c:pt>
                <c:pt idx="3">
                  <c:v>9.0938</c:v>
                </c:pt>
                <c:pt idx="4">
                  <c:v>13.975</c:v>
                </c:pt>
                <c:pt idx="5">
                  <c:v>8.2612</c:v>
                </c:pt>
                <c:pt idx="6">
                  <c:v>25.2517</c:v>
                </c:pt>
                <c:pt idx="7">
                  <c:v>11.8201</c:v>
                </c:pt>
                <c:pt idx="8">
                  <c:v>7.7211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MiB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平均保存サイズ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Circom / snarkjs</c:v>
                </c:pt>
                <c:pt idx="1">
                  <c:v>Halo2 / IPA</c:v>
                </c:pt>
                <c:pt idx="2">
                  <c:v>Halo2 / KZG</c:v>
                </c:pt>
                <c:pt idx="3">
                  <c:v>Spartan</c:v>
                </c:pt>
                <c:pt idx="4">
                  <c:v>gnark / PLONK</c:v>
                </c:pt>
                <c:pt idx="5">
                  <c:v>Bulletproofs</c:v>
                </c:pt>
                <c:pt idx="6">
                  <c:v>Circom / Rapid</c:v>
                </c:pt>
                <c:pt idx="7">
                  <c:v>gnark / G16</c:v>
                </c:pt>
                <c:pt idx="8">
                  <c:v>arkworks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805.2381</c:v>
                </c:pt>
                <c:pt idx="1">
                  <c:v>2080</c:v>
                </c:pt>
                <c:pt idx="2">
                  <c:v>1312</c:v>
                </c:pt>
                <c:pt idx="3">
                  <c:v>29952</c:v>
                </c:pt>
                <c:pt idx="4">
                  <c:v>520</c:v>
                </c:pt>
                <c:pt idx="5">
                  <c:v>929</c:v>
                </c:pt>
                <c:pt idx="6">
                  <c:v>707.619</c:v>
                </c:pt>
                <c:pt idx="7">
                  <c:v>164</c:v>
                </c:pt>
                <c:pt idx="8">
                  <c:v>128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bytes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79A1960-2517-46CE-8394-1AD41E7A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7" y="2000250"/>
            <a:ext cx="7953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Week24</a:t>
            </a:r>
          </a:p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ZKP実機評価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916C97-FBF9-4210-9CAB-5B4A15A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2988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A342B3-41E7-4D58-BD36-F9B8C13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671999"/>
            <a:ext cx="7992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A8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1E7D4D-CA39-4951-88E7-3419BB1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888000"/>
            <a:ext cx="79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Raspberry Pi上でのフレームワーク比較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処理時間・メモリ使用量・証明サイズ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2026年10月18日</a:t>
            </a:r>
          </a:p>
        </p:txBody>
      </p:sp>
    </p:spTree>
    <p:extLst>
      <p:ext uri="{BB962C8B-B14F-4D97-AF65-F5344CB8AC3E}">
        <p14:creationId xmlns:p14="http://schemas.microsoft.com/office/powerpoint/2010/main" val="10151406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評価方法を説明した後、実測結果と比較上の限界を示す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4CE7-5BEA-44BD-B0FA-DBB5FF6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評価の目的と計算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今回確認したいこと／評価する計算と処理フロー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実験条件と実行記録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評価対象・測定方法・実行環境・実験所要時間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実測結果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処理時間・メモリ使用量・証明サイズ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Circomの比較／速度とメモリの関係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まとめ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今回分かったことと次の評価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今回確認したいこと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小型端末での実行可否と、計算コストの違いを調べる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F0A5-9ACF-4FDF-BB36-1DA7B10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実行できるか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Pi上で証明生成から検証まで完走するか確認する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ビルド成功と、実際の証明生成・検証成功は区別する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どの程度の資源を使うか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処理時間・メモリ使用量・証明サイズ</a:t>
            </a: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を記録する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平均だけでなく、ばらつきや最大メモリも確認する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次の実装へ進むための材料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同じ合成計算を複数構成で動かし、追加評価の候補を整理する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今回の比較だけで採用を確定しない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評価する計算と処理フロー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座標をWitnessに持ち、距離の計算が制約を満たすか検証する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D874A-33FC-4DC3-B248-22298FAC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4191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入力と公開値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非公開入力：2点の合成座標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各座標は16 bitの範囲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公開値：距離の二乗 d²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整数平方根 r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公開値自体には情報が残る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処理の順序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入力をもとにWitnessを生成する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証明生成の後、公開値と証明を検証する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0C987-E1D5-41FB-8B7C-31D7277D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362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回路で確認する関係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15953-5FAB-42E9-A4B0-2496A621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9775"/>
            <a:ext cx="376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d² = (x₁ − x₂)²</a:t>
            </a:r>
          </a:p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      + (y₁ − y₂)²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318DA-7B00-4571-80D7-7F22F60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r² ≤ d² &lt; (r + 1)²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668F1-B923-43A9-ABD3-C28E16F1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3762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座標の範囲と距離の関係を制約で確認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575A2-F9A9-431B-B2DA-86ABEFD8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処理フロー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入力 → Witness生成 → 証明生成 → 検証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評価対象と実行状況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完走した9構成を集計し、途中の実行は成功に含めない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3337-3339-494E-8240-94A59B6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今回の完走データ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98C37-CA98-4EEB-AAEF-2AEAD16087DB}"/>
              </a:ext>
            </a:extLst>
          </p:cNvPr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6858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333750"/>
                <a:gridCol w="1762125"/>
              </a:tblGrid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方式・実装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測定件数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 / PLONK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arkworks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IPA / KZG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804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RapidSnark / snarkjs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08945-C5CF-4EB6-BF2C-863DD11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8286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集計の扱い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9構成 × 21件 = 189件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Plonky3の前回実行は途中で接続断。完走として集計しない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未完了・未対応の方式を含めて、全方式が完了したとは扱わない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比較条件と測定方法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7入力を各3回測定し、ウォームアップは集計から除外する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704EB-105F-49C3-90DA-FC4A07DF1A94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6010275"/>
              </a:tblGrid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実行機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Raspberry Pi 4B / RAM 4GB / ARM64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CPU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quota 25%・1スレッド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測定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7入力 × 3回 = 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ウォームアップ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7入力を各1回（集計対象外）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9A0C6-8D5C-469B-AB3F-974E5D0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28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時間とメモリの範囲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時間：各実装が記録する生成・検証フロー（setup除外）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メモリ：準備・ウォームアップ・負例検査を含む全実行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反復の意味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同じ鍵・プロセス内での反復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独立した21回のcold start実験ではない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計測を継続するための実行環境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メモリ保護と順次実行を組み合わせ、途中状態も保存する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C492E-FFD7-4435-B386-0A2EF36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メモリ不足への対策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実験用の上限は256 MiB、Swap使用は禁止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親sliceの上限とOS用の空きメモリを事前確認する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SSHを保護し、実験用sliceの外でwatchdogを動かす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順次実行と保存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1方式ずつ実行し、CSV・JSON・ログを更新する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通信断後は重複実行を避け、残った結果を回収する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原因の扱い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SSH切断だけではOOMと判断しない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追加したCircom 2構成はOOM・Swap使用なしで完走した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実験にかかった時間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記録された実験工程の時間を示す（実装に要した作業時間とは別）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0FECD-D630-4647-AF2C-3C960E38A280}"/>
              </a:ext>
            </a:extLst>
          </p:cNvPr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8343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714500"/>
                <a:gridCol w="1962150"/>
              </a:tblGrid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実験工程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実行本体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工程の時間換算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arkworks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1分10秒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0分08秒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0.0194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Bulletproofs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2分38秒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1分35秒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0.0438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 / G16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1分12秒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0分10秒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0.0201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gnark / PLONK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2分23秒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1分21秒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0.0397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 / IPA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6分49秒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5分46秒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0.1135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Halo2 / KZG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3分20秒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2分18秒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0.0556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Spartan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3分03秒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2分00秒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0.0508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 / Rapid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1分25秒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0分22秒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0.0236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4766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Circom / snarkjs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9分18秒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8分16秒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0.1550 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4FD6-CA2C-4A59-B936-ECA448E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286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時間の範囲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実験工程：事前検査とSSH操作を含む、計測ステップの経過時間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実行本体：準備・ウォームアップ・負例検査を含むunit全体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完走9構成の工程合計は約31分17秒（0.522時間）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初回の環境構築・実装・再接続対応などの時間は含めない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処理時間の比較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今回の計算では、構成によって平均フロー時間に差がある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8F773-C2A8-4D6A-A56E-D44C578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棒：平均フロー時間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単位：秒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反復条件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各構成 n=21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7入力を各3回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比較の注意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Witness処理やCLI起動の範囲に差がある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ばらつき・中央値はCSVにも保存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1DCE5B5-BF90-465C-8229-3501A241176E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216ba75939406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5E700-24B6-481F-9158-6C13B95C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記録済みフローの平均（setup除外）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メモリ使用量の比較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平均値と最大値を分けて、実行全体のメモリを確認する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BA252-F3B5-471B-8BB4-363A0399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青：最大メモリ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薄い青：平均メモリ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単位：MiB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測定範囲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cgroup全体を対象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準備・負例検査なども含む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各証明の平均RSSではない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C228989-CF0E-4B90-B793-346E59CF6406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9f255762574a4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2F99C-E624-4D21-8A2F-A278FDF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全実行の時間平均とカーネル最大値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証明サイズの比較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実装固有の保存サイズを比較し、表現形式の差を区別する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BC0F8-00A3-4997-BE68-C1ED5DA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40982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棒：平均保存サイズ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単位：bytes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含むもの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シリアライズされた証明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CircomはJSON表現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保存形式が同じとは限らない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鍵・setupのサイズは含まない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1241F5C-2B52-4C67-9DC1-DC9269EDF29F}"/>
              </a:ext>
            </a:extLst>
          </p:cNvPr>
          <p:cNvGraphicFramePr/>
          <p:nvPr/>
        </p:nvGraphicFramePr>
        <p:xfrm>
          <a:off xmlns:a="http://schemas.openxmlformats.org/drawingml/2006/main" x="2895600" y="1381125"/>
          <a:ext xmlns:a="http://schemas.openxmlformats.org/drawingml/2006/main" cx="58674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3a10b2b314be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8596B-CCF9-4FE5-9BEF-5943929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62600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実装固有の証明データ保存バイト数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5D777-8817-40B0-88D5-121B3471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787BE8-3257-4A2E-AEF7-D6E36ED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Circomの証明生成方式を比較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41A47A-952C-43AA-80EF-E771C96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3D3121-7E9A-47B5-89D5-AC6727BE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共通の回路・鍵・入力・verifierで2つのproverを測定する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39253-CA41-4CE5-B4E8-54CE0AAE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t>■ 結果（各 n=21）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AC7B0-7212-49FE-B4D3-24AC996E1356}"/>
              </a:ext>
            </a:extLst>
          </p:cNvPr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8343900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9900"/>
                <a:gridCol w="2667000"/>
                <a:gridCol w="2667000"/>
              </a:tblGrid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RapidSnark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snarkjs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平均フロー時間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2F64A1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0.428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16.609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2F64A1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28.2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106.4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1481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平均証明サイズ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707.6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805.2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5D21C-34DF-4192-BF23-97F8513C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比較条件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同じ回路・鍵・入力を使い、検証は共通のnative verifierで行う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今回の平均フロー時間はRapidSnarkが約1/39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snarkjsはsingleThread APIを使用する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読み方の注意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時間の比はprover単体ではなくフロー全体の比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証明サイズの差にはJSONの書式差が含まれる</a:t>
            </a:r>
          </a:p>
        </p:txBody>
      </p:sp>
    </p:spTree>
    <p:extLst>
      <p:ext uri="{BB962C8B-B14F-4D97-AF65-F5344CB8AC3E}">
        <p14:creationId xmlns:p14="http://schemas.microsoft.com/office/powerpoint/2010/main" val="7038108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速度とメモリを合わせて考える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時間とメモリの関係を見て、追加評価の候補を整理する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C5B01-D3DB-4466-914D-73281F191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92051d0074944"/>
          <a:stretch xmlns:a="http://schemas.openxmlformats.org/drawingml/2006/main"/>
        </p:blipFill>
        <p:spPr>
          <a:xfrm xmlns:a="http://schemas.openxmlformats.org/drawingml/2006/main">
            <a:off x="1243013" y="1238250"/>
            <a:ext cx="6657975" cy="443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74294-EF96-496D-B7B3-5EDB9A3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軸は対数。左下ほど短時間・省メモリ。測定範囲や暗号方式は同一ではない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B77C56-E6AF-4F03-836E-4CB9B7C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C87102-8163-45C8-BC59-FA7925D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今回分かったことと次の評価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C7AED8-3840-427F-9DAC-850FF94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039804-B884-4659-AA30-9C922DD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9構成・189件を取得し、比較と再集計のための記録を残した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60E24-166E-4ADF-923A-40B6855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今回できたこと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9構成が各21件を完走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時間・メモリ・証明サイズをCSV／JSONに保存した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実行状態と途中結果を残す順次評価プログラムを用意した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比較上の限界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時間の測定範囲や証明の保存形式に差が残る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同じ鍵・プロセス内での反復であり、独立試行ではない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次の評価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測定範囲を揃え、独立した反復実験で再確認する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観測データの署名検証など、実際の処理へ接続する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268DF-9178-4D1D-AFBD-0D519FA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834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研究PoC。DRIP trust chain・センサの正直性・観測者ハードウェアの真正性は保証しない</a:t>
            </a:r>
          </a:p>
        </p:txBody>
      </p:sp>
    </p:spTree>
    <p:extLst>
      <p:ext uri="{BB962C8B-B14F-4D97-AF65-F5344CB8AC3E}">
        <p14:creationId xmlns:p14="http://schemas.microsoft.com/office/powerpoint/2010/main" val="5176674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2026-10-18T06:29:52.0470000Z</dcterms:created>
  <dcterms:modified xsi:type="dcterms:W3CDTF">2026-10-18T06:29:52.0470000Z</dcterms:modified>
</coreProperties>
</file>