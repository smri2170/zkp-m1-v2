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charts/chart4.xml" ContentType="application/vnd.openxmlformats-officedocument.drawingml.chart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charts/chart5.xml" ContentType="application/vnd.openxmlformats-officedocument.drawingml.chart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charts/chart6.xml" ContentType="application/vnd.openxmlformats-officedocument.drawingml.chart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charts/chart7.xml" ContentType="application/vnd.openxmlformats-officedocument.drawingml.chart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charts/chart8.xml" ContentType="application/vnd.openxmlformats-officedocument.drawingml.chart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charts/chart9.xml" ContentType="application/vnd.openxmlformats-officedocument.drawingml.chart+xml"/>
  <Override PartName="/ppt/slides/slide46.xml" ContentType="application/vnd.openxmlformats-officedocument.presentationml.slide+xml"/>
  <Override PartName="/ppt/slides/charts/chart10.xml" ContentType="application/vnd.openxmlformats-officedocument.drawingml.chart+xml"/>
  <Override PartName="/ppt/slides/slide47.xml" ContentType="application/vnd.openxmlformats-officedocument.presentationml.slide+xml"/>
  <Override PartName="/ppt/slides/charts/chart11.xml" ContentType="application/vnd.openxmlformats-officedocument.drawingml.chart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charts/chart12.xml" ContentType="application/vnd.openxmlformats-officedocument.drawingml.chart+xml"/>
  <Override PartName="/ppt/slides/slide51.xml" ContentType="application/vnd.openxmlformats-officedocument.presentationml.slide+xml"/>
  <Override PartName="/ppt/slides/charts/chart13.xml" ContentType="application/vnd.openxmlformats-officedocument.drawingml.chart+xml"/>
  <Override PartName="/ppt/slides/slide52.xml" ContentType="application/vnd.openxmlformats-officedocument.presentationml.slide+xml"/>
  <Override PartName="/ppt/slides/charts/chart14.xml" ContentType="application/vnd.openxmlformats-officedocument.drawingml.chart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charts/chart15.xml" ContentType="application/vnd.openxmlformats-officedocument.drawingml.chart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charts/chart16.xml" ContentType="application/vnd.openxmlformats-officedocument.drawingml.chart+xml"/>
  <Override PartName="/ppt/slides/slide57.xml" ContentType="application/vnd.openxmlformats-officedocument.presentationml.slide+xml"/>
  <Default Extension="xlsx" ContentType="application/vnd.openxmlformats-officedocument.spreadsheetml.sheet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/docProps/core.xml" Id="R9269a4861a23457f" /><ns0:Relationship Type="http://schemas.openxmlformats.org/officeDocument/2006/relationships/extended-properties" Target="/docProps/app.xml" Id="Ra1fe7490cefc4caa" /><ns0:Relationship Type="http://schemas.openxmlformats.org/officeDocument/2006/relationships/officeDocument" Target="/ppt/presentation.xml" Id="R055a204b85fd46e7" /></ns0:Relationships>
</file>

<file path=ppt/presentation.xml><?xml version="1.0" encoding="utf-8"?>
<p:presentation xmlns:a="http://schemas.openxmlformats.org/drawingml/2006/main" xmlns:ns1="http://schemas.openxmlformats.org/officeDocument/2006/relationships" xmlns:p="http://schemas.openxmlformats.org/presentationml/2006/main">
  <p:sldMasterIdLst>
    <p:sldMasterId id="2147483648" ns1:id="R09dfe3b0522e4bd4"/>
  </p:sldMasterIdLst>
  <p:sldIdLst>
    <p:sldId id="256" ns1:id="Rf2cb2392e6df4fb6"/>
    <p:sldId id="257" ns1:id="R944d0408a8284a0f"/>
    <p:sldId id="258" ns1:id="Rdfb13e2d212c45cc"/>
    <p:sldId id="259" ns1:id="R92d76103f27f41d0"/>
    <p:sldId id="260" ns1:id="R2dfc9e8f7c884ddf"/>
    <p:sldId id="261" ns1:id="Rfe63a8e433f84cd2"/>
    <p:sldId id="262" ns1:id="R38722d3a989d4d85"/>
    <p:sldId id="263" ns1:id="R0256f15e481448cd"/>
    <p:sldId id="264" ns1:id="R76bc8dccdfbe4000"/>
    <p:sldId id="265" ns1:id="Rd5b99a341b9e43c3"/>
    <p:sldId id="266" ns1:id="R9c870db4efd64def"/>
    <p:sldId id="267" ns1:id="R5440d205022e4f22"/>
    <p:sldId id="268" ns1:id="R5728aa26b32b4673"/>
    <p:sldId id="269" ns1:id="R6daf88c2dd1d4096"/>
    <p:sldId id="270" ns1:id="Re7d54c533f5a4fd9"/>
    <p:sldId id="271" ns1:id="R7efc6e1d2e8a4c93"/>
    <p:sldId id="272" ns1:id="Rbba7a0f14604473b"/>
    <p:sldId id="273" ns1:id="R32ffc1cc819f4e7e"/>
    <p:sldId id="274" ns1:id="R44a6f7710fbb4c4d"/>
    <p:sldId id="275" ns1:id="Re76fed42a3924fa7"/>
    <p:sldId id="276" ns1:id="Raa91cbaafdaf4d8d"/>
    <p:sldId id="277" ns1:id="Rc6607f9599ea4bda"/>
    <p:sldId id="278" ns1:id="R826657e2282b4df6"/>
    <p:sldId id="279" ns1:id="R87d435fdd4b94762"/>
    <p:sldId id="280" ns1:id="Rc774314228314815"/>
    <p:sldId id="281" ns1:id="R62133bf7b31b4e32"/>
    <p:sldId id="282" ns1:id="Rc1af1ec1a54b457a"/>
    <p:sldId id="283" ns1:id="Rc1cc2d6c27114dbe"/>
    <p:sldId id="284" ns1:id="R1338229708994dc5"/>
    <p:sldId id="285" ns1:id="R9ae8868e9a3348fe"/>
    <p:sldId id="286" ns1:id="R72df218b5e3a4507"/>
    <p:sldId id="287" ns1:id="Rab6e6f4ea3534a05"/>
    <p:sldId id="288" ns1:id="R13c04964d75a485d"/>
    <p:sldId id="289" ns1:id="R5696048438654d3f"/>
    <p:sldId id="290" ns1:id="R36bb0f31f7e646b6"/>
    <p:sldId id="291" ns1:id="R12a73f437d4e47c3"/>
    <p:sldId id="292" ns1:id="R7600475c11fe4cde"/>
    <p:sldId id="293" ns1:id="R1472b1b0ddfb4522"/>
    <p:sldId id="294" ns1:id="R73b8086be8774124"/>
    <p:sldId id="295" ns1:id="Rcfa871f67e694611"/>
    <p:sldId id="296" ns1:id="R56bfc91cf2aa4e65"/>
    <p:sldId id="297" ns1:id="Re9e1641612e0440b"/>
    <p:sldId id="298" ns1:id="Ra90843ed992c41ea"/>
    <p:sldId id="299" ns1:id="Rb8570b93075744af"/>
    <p:sldId id="300" ns1:id="R257064494e924ef3"/>
    <p:sldId id="301" ns1:id="R072fffdfb7e94cd0"/>
    <p:sldId id="302" ns1:id="Rcc7b5ae76dd14cfc"/>
    <p:sldId id="303" ns1:id="R84af3650c6484f9d"/>
    <p:sldId id="304" ns1:id="R8fdd49d9e38e47f9"/>
    <p:sldId id="305" ns1:id="Ra067a74656624ab5"/>
    <p:sldId id="306" ns1:id="Rb422163eafff4f5e"/>
    <p:sldId id="307" ns1:id="Rc8a478e9d79f4038"/>
    <p:sldId id="308" ns1:id="R44834900fe7f43d9"/>
    <p:sldId id="309" ns1:id="Rb1c972d7b1b140ee"/>
    <p:sldId id="310" ns1:id="Re2f2b17767814df2"/>
    <p:sldId id="311" ns1:id="Rdcb9f4fffa494ed9"/>
    <p:sldId id="312" ns1:id="R1318da31debc4081"/>
  </p:sldIdLst>
  <p:sldSz cx="9144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a3f0356541964759" /><ns0:Relationship Type="http://schemas.openxmlformats.org/officeDocument/2006/relationships/slideMaster" Target="/ppt/slideMasters/slideMaster1.xml" Id="R09dfe3b0522e4bd4" /><ns0:Relationship Type="http://schemas.openxmlformats.org/officeDocument/2006/relationships/presProps" Target="/ppt/presProps.xml" Id="R5462840c17314c88" /><ns0:Relationship Type="http://schemas.openxmlformats.org/officeDocument/2006/relationships/viewProps" Target="/ppt/viewProps.xml" Id="Rc156761916434395" /><ns0:Relationship Type="http://schemas.openxmlformats.org/officeDocument/2006/relationships/tableStyles" Target="/ppt/tableStyles.xml" Id="Reda5f65f494249af" /><ns0:Relationship Type="http://schemas.openxmlformats.org/officeDocument/2006/relationships/slide" Target="/ppt/slides/slide1.xml" Id="Rf2cb2392e6df4fb6" /><ns0:Relationship Type="http://schemas.openxmlformats.org/officeDocument/2006/relationships/slide" Target="/ppt/slides/slide2.xml" Id="R944d0408a8284a0f" /><ns0:Relationship Type="http://schemas.openxmlformats.org/officeDocument/2006/relationships/slide" Target="/ppt/slides/slide3.xml" Id="Rdfb13e2d212c45cc" /><ns0:Relationship Type="http://schemas.openxmlformats.org/officeDocument/2006/relationships/slide" Target="/ppt/slides/slide4.xml" Id="R92d76103f27f41d0" /><ns0:Relationship Type="http://schemas.openxmlformats.org/officeDocument/2006/relationships/slide" Target="/ppt/slides/slide5.xml" Id="R2dfc9e8f7c884ddf" /><ns0:Relationship Type="http://schemas.openxmlformats.org/officeDocument/2006/relationships/slide" Target="/ppt/slides/slide6.xml" Id="Rfe63a8e433f84cd2" /><ns0:Relationship Type="http://schemas.openxmlformats.org/officeDocument/2006/relationships/slide" Target="/ppt/slides/slide7.xml" Id="R38722d3a989d4d85" /><ns0:Relationship Type="http://schemas.openxmlformats.org/officeDocument/2006/relationships/slide" Target="/ppt/slides/slide8.xml" Id="R0256f15e481448cd" /><ns0:Relationship Type="http://schemas.openxmlformats.org/officeDocument/2006/relationships/slide" Target="/ppt/slides/slide9.xml" Id="R76bc8dccdfbe4000" /><ns0:Relationship Type="http://schemas.openxmlformats.org/officeDocument/2006/relationships/slide" Target="/ppt/slides/slide10.xml" Id="Rd5b99a341b9e43c3" /><ns0:Relationship Type="http://schemas.openxmlformats.org/officeDocument/2006/relationships/slide" Target="/ppt/slides/slide11.xml" Id="R9c870db4efd64def" /><ns0:Relationship Type="http://schemas.openxmlformats.org/officeDocument/2006/relationships/slide" Target="/ppt/slides/slide12.xml" Id="R5440d205022e4f22" /><ns0:Relationship Type="http://schemas.openxmlformats.org/officeDocument/2006/relationships/slide" Target="/ppt/slides/slide13.xml" Id="R5728aa26b32b4673" /><ns0:Relationship Type="http://schemas.openxmlformats.org/officeDocument/2006/relationships/slide" Target="/ppt/slides/slide14.xml" Id="R6daf88c2dd1d4096" /><ns0:Relationship Type="http://schemas.openxmlformats.org/officeDocument/2006/relationships/slide" Target="/ppt/slides/slide15.xml" Id="Re7d54c533f5a4fd9" /><ns0:Relationship Type="http://schemas.openxmlformats.org/officeDocument/2006/relationships/slide" Target="/ppt/slides/slide16.xml" Id="R7efc6e1d2e8a4c93" /><ns0:Relationship Type="http://schemas.openxmlformats.org/officeDocument/2006/relationships/slide" Target="/ppt/slides/slide17.xml" Id="Rbba7a0f14604473b" /><ns0:Relationship Type="http://schemas.openxmlformats.org/officeDocument/2006/relationships/slide" Target="/ppt/slides/slide18.xml" Id="R32ffc1cc819f4e7e" /><ns0:Relationship Type="http://schemas.openxmlformats.org/officeDocument/2006/relationships/slide" Target="/ppt/slides/slide19.xml" Id="R44a6f7710fbb4c4d" /><ns0:Relationship Type="http://schemas.openxmlformats.org/officeDocument/2006/relationships/slide" Target="/ppt/slides/slide20.xml" Id="Re76fed42a3924fa7" /><ns0:Relationship Type="http://schemas.openxmlformats.org/officeDocument/2006/relationships/slide" Target="/ppt/slides/slide21.xml" Id="Raa91cbaafdaf4d8d" /><ns0:Relationship Type="http://schemas.openxmlformats.org/officeDocument/2006/relationships/slide" Target="/ppt/slides/slide22.xml" Id="Rc6607f9599ea4bda" /><ns0:Relationship Type="http://schemas.openxmlformats.org/officeDocument/2006/relationships/slide" Target="/ppt/slides/slide23.xml" Id="R826657e2282b4df6" /><ns0:Relationship Type="http://schemas.openxmlformats.org/officeDocument/2006/relationships/slide" Target="/ppt/slides/slide24.xml" Id="R87d435fdd4b94762" /><ns0:Relationship Type="http://schemas.openxmlformats.org/officeDocument/2006/relationships/slide" Target="/ppt/slides/slide25.xml" Id="Rc774314228314815" /><ns0:Relationship Type="http://schemas.openxmlformats.org/officeDocument/2006/relationships/slide" Target="/ppt/slides/slide26.xml" Id="R62133bf7b31b4e32" /><ns0:Relationship Type="http://schemas.openxmlformats.org/officeDocument/2006/relationships/slide" Target="/ppt/slides/slide27.xml" Id="Rc1af1ec1a54b457a" /><ns0:Relationship Type="http://schemas.openxmlformats.org/officeDocument/2006/relationships/slide" Target="/ppt/slides/slide28.xml" Id="Rc1cc2d6c27114dbe" /><ns0:Relationship Type="http://schemas.openxmlformats.org/officeDocument/2006/relationships/slide" Target="/ppt/slides/slide29.xml" Id="R1338229708994dc5" /><ns0:Relationship Type="http://schemas.openxmlformats.org/officeDocument/2006/relationships/slide" Target="/ppt/slides/slide30.xml" Id="R9ae8868e9a3348fe" /><ns0:Relationship Type="http://schemas.openxmlformats.org/officeDocument/2006/relationships/slide" Target="/ppt/slides/slide31.xml" Id="R72df218b5e3a4507" /><ns0:Relationship Type="http://schemas.openxmlformats.org/officeDocument/2006/relationships/slide" Target="/ppt/slides/slide32.xml" Id="Rab6e6f4ea3534a05" /><ns0:Relationship Type="http://schemas.openxmlformats.org/officeDocument/2006/relationships/slide" Target="/ppt/slides/slide33.xml" Id="R13c04964d75a485d" /><ns0:Relationship Type="http://schemas.openxmlformats.org/officeDocument/2006/relationships/slide" Target="/ppt/slides/slide34.xml" Id="R5696048438654d3f" /><ns0:Relationship Type="http://schemas.openxmlformats.org/officeDocument/2006/relationships/slide" Target="/ppt/slides/slide35.xml" Id="R36bb0f31f7e646b6" /><ns0:Relationship Type="http://schemas.openxmlformats.org/officeDocument/2006/relationships/slide" Target="/ppt/slides/slide36.xml" Id="R12a73f437d4e47c3" /><ns0:Relationship Type="http://schemas.openxmlformats.org/officeDocument/2006/relationships/slide" Target="/ppt/slides/slide37.xml" Id="R7600475c11fe4cde" /><ns0:Relationship Type="http://schemas.openxmlformats.org/officeDocument/2006/relationships/slide" Target="/ppt/slides/slide38.xml" Id="R1472b1b0ddfb4522" /><ns0:Relationship Type="http://schemas.openxmlformats.org/officeDocument/2006/relationships/slide" Target="/ppt/slides/slide39.xml" Id="R73b8086be8774124" /><ns0:Relationship Type="http://schemas.openxmlformats.org/officeDocument/2006/relationships/slide" Target="/ppt/slides/slide40.xml" Id="Rcfa871f67e694611" /><ns0:Relationship Type="http://schemas.openxmlformats.org/officeDocument/2006/relationships/slide" Target="/ppt/slides/slide41.xml" Id="R56bfc91cf2aa4e65" /><ns0:Relationship Type="http://schemas.openxmlformats.org/officeDocument/2006/relationships/slide" Target="/ppt/slides/slide42.xml" Id="Re9e1641612e0440b" /><ns0:Relationship Type="http://schemas.openxmlformats.org/officeDocument/2006/relationships/slide" Target="/ppt/slides/slide43.xml" Id="Ra90843ed992c41ea" /><ns0:Relationship Type="http://schemas.openxmlformats.org/officeDocument/2006/relationships/slide" Target="/ppt/slides/slide44.xml" Id="Rb8570b93075744af" /><ns0:Relationship Type="http://schemas.openxmlformats.org/officeDocument/2006/relationships/slide" Target="/ppt/slides/slide45.xml" Id="R257064494e924ef3" /><ns0:Relationship Type="http://schemas.openxmlformats.org/officeDocument/2006/relationships/slide" Target="/ppt/slides/slide46.xml" Id="R072fffdfb7e94cd0" /><ns0:Relationship Type="http://schemas.openxmlformats.org/officeDocument/2006/relationships/slide" Target="/ppt/slides/slide47.xml" Id="Rcc7b5ae76dd14cfc" /><ns0:Relationship Type="http://schemas.openxmlformats.org/officeDocument/2006/relationships/slide" Target="/ppt/slides/slide48.xml" Id="R84af3650c6484f9d" /><ns0:Relationship Type="http://schemas.openxmlformats.org/officeDocument/2006/relationships/slide" Target="/ppt/slides/slide49.xml" Id="R8fdd49d9e38e47f9" /><ns0:Relationship Type="http://schemas.openxmlformats.org/officeDocument/2006/relationships/slide" Target="/ppt/slides/slide50.xml" Id="Ra067a74656624ab5" /><ns0:Relationship Type="http://schemas.openxmlformats.org/officeDocument/2006/relationships/slide" Target="/ppt/slides/slide51.xml" Id="Rb422163eafff4f5e" /><ns0:Relationship Type="http://schemas.openxmlformats.org/officeDocument/2006/relationships/slide" Target="/ppt/slides/slide52.xml" Id="Rc8a478e9d79f4038" /><ns0:Relationship Type="http://schemas.openxmlformats.org/officeDocument/2006/relationships/slide" Target="/ppt/slides/slide53.xml" Id="R44834900fe7f43d9" /><ns0:Relationship Type="http://schemas.openxmlformats.org/officeDocument/2006/relationships/slide" Target="/ppt/slides/slide54.xml" Id="Rb1c972d7b1b140ee" /><ns0:Relationship Type="http://schemas.openxmlformats.org/officeDocument/2006/relationships/slide" Target="/ppt/slides/slide55.xml" Id="Re2f2b17767814df2" /><ns0:Relationship Type="http://schemas.openxmlformats.org/officeDocument/2006/relationships/slide" Target="/ppt/slides/slide56.xml" Id="Rdcb9f4fffa494ed9" /><ns0:Relationship Type="http://schemas.openxmlformats.org/officeDocument/2006/relationships/slide" Target="/ppt/slides/slide57.xml" Id="R1318da31debc4081" /></ns0:Relationships>
</file>

<file path=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d87a873de832427c" /></ns0:Relationships>
</file>

<file path=ppt/slideLayouts/_rels/slideLayout2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c196ac20994f4ec4" /></ns0:Relationships>
</file>

<file path=ppt/slideLayouts/_rels/slideLayout3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91bef6c09e1f4322" /></ns0:Relationships>
</file>

<file path=ppt/slideLayouts/_rels/slideLayout4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20472e9de7fc4236" /></ns0:Relationships>
</file>

<file path=ppt/slideLayouts/_rels/slideLayout5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31d4dcff47324f84" /></ns0:Relationships>
</file>

<file path=ppt/slideLayouts/_rels/slideLayout6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e4bb84a3ab8b4848" /></ns0:Relationships>
</file>

<file path=ppt/slideLayouts/_rels/slideLayout7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98b09d68eaa747f0" /></ns0:Relationships>
</file>

<file path=ppt/slideLayouts/_rels/slideLayout8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566afc36f4f945ad" /></ns0:Relationships>
</file>

<file path=ppt/slideLayouts/_rels/slideLayout9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bddae3c1300747cd" /></ns0:Relationships>
</file>

<file path=ppt/slideLayouts/_rels/slideLayout10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d26b81c2b57d42a6" /></ns0:Relationships>
</file>

<file path=ppt/slideLayouts/_rels/slideLayout1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fc77ea253f7a4542" /></ns0: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1A3DC9-DA24-4A9A-8756-7A7D29D4C4B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8F90811-AA72-4B3A-A33B-1AE11FAFEE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C16364-86CA-4728-B217-B376008CBB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DBF6169-4B87-414F-ACBE-D5889A1B47A0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A182AC-24F0-4218-8AEB-A45FF68A22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CE96D-4DC6-4894-BAD6-44067E9D8B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2ABE3D-7530-4717-A298-38B53DEF72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912944-E2DD-4306-B5E8-29F31EE5D21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CED062-3A99-4666-8457-27A9728F8C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D8E8B8-C7E4-4618-ABC3-C399B7CCEC0D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588733-8A28-44C9-A6BB-5F124CD1F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EB0B2A-1A4A-4C16-AF0B-C1AB8E1409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076D84-672C-447D-AA0B-5F3B458CD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195AEDB-D3E1-4F02-9B02-0773BF0A8A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6C3BEE-701C-4F80-8624-83E9388959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C23AE2-2BBD-4FC2-B528-0BF2C1EBC75B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DBC5B5-573C-4218-8628-AC45C3E58A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DC7663-F10E-44C8-94E3-1336202FBC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486DAB-6AA6-48CC-9EED-B9A9092C69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AE6064-C9B0-4ED2-B836-773BFC88D9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58C39F0-1E1A-46F5-9AB6-E9CC3CAF55D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EFA5277-58AD-4200-9E49-D13B9CD7A7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DCF949-C1A3-4258-9A96-1DB5EE6F9CB2}" type="datetime1">
              <a:t>2026/10/19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E9FD05B-7E99-476D-85CD-AAC406532E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234D22A-46DC-4B00-8323-B3B250E474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91324C-86BD-407E-BD4B-7FDC35D2AF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2C5FAD-98DF-4ECF-93D6-F37194FED7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3364E0E-1C37-42E5-AC1B-4419747A05D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9175CB9-53DB-4CA8-9F84-9326531E9C9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15166CE-C91C-4429-852B-97E101969C2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9D49DDF-62F2-46E2-8D03-C387761C2D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8AFE064-A27A-41A2-B430-44850FEBCE26}" type="datetime1">
              <a:t>2026/10/19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9257547-E9ED-4D33-BBA7-65E9A46A5A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717A970-5F74-4493-AA93-9BECC400AD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2197A6-EB07-40F6-9412-372DF04F9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15F0C53-06F1-421A-8254-534DFE03F6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B04457F-2123-4F1E-BC61-D6013C4605FE}" type="datetime1">
              <a:t>2026/10/19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2E0BE3F-892B-4CCE-A466-55793FE876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E502C12-168B-4E2A-AB2D-AF951B8ECB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FABD391-129E-437A-B419-B228529244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F44EDF-6DC3-458C-A3A9-8D69B7CABB26}" type="datetime1">
              <a:t>2026/10/19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C03395A-02F5-45BE-AFA6-75904AFFEC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A13C7B6-DCC5-462D-A739-3E4B882B90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F60529A-30ED-4EB1-BCEB-F66554F22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9F47707-8EBD-4D88-A69A-71476BA3A0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6F7417-5E33-4BA4-BA7C-3992D0A75A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E46CA97-00D8-4224-A4BC-64A94AA244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4DDA704-12F4-46A3-A7C0-1069ADB40368}" type="datetime1">
              <a:t>2026/10/19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AC187D0-D0C3-4B59-88DD-7B2DF8D1E6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B504547-5A52-4444-A6A7-1F3FF93CD3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5F784C-269F-45F7-97AF-A45A3B1578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267C6B7-4096-4FA8-BE60-8C0FB5B6C2A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C78E12F-6B6A-45EC-AC12-8418DAB2AE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DF6F7A-E43C-48EA-8065-66050F3A83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6F2CB-8729-4C62-8C45-F10C053FAA70}" type="datetime1">
              <a:t>2026/10/19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70C4305-4E63-45A5-BE01-994ED191B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35BE83D-C2A9-45C9-BBBD-0AF7D83EEF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C32461-FD17-4F35-8E54-06FDD2DF34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CB851B-9832-4A6A-8699-423DAF73E4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F9F71B-F8D3-4B77-8C3A-703806346C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B1EAB77-6B53-47FF-89A2-6BC308EE4FAC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9B9FC0-BB91-43F1-8857-877726A93B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CD9A64-E61C-4280-8BA2-4668230ECE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9B453B3-5B2D-4CD2-A820-75C4C4AC7B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D88D68-5D37-4894-9DA0-853DBE3F32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4398DAF-7712-4AA5-B943-36BC70A584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BAB984-F660-4238-ACB0-EABC8C45DF5C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B692F1-4417-4A24-B468-A8B59FAB56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6A97B2-962C-4960-8F60-D111531BB7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/ppt/slideMasters/theme/theme2.xml" Id="R44e5fad1d24e4369" /><ns0:Relationship Type="http://schemas.openxmlformats.org/officeDocument/2006/relationships/slideLayout" Target="/ppt/slideLayouts/slideLayout1.xml" Id="R48ce1a9ec89e497c" /><ns0:Relationship Type="http://schemas.openxmlformats.org/officeDocument/2006/relationships/slideLayout" Target="/ppt/slideLayouts/slideLayout2.xml" Id="R186e43059dbe4084" /><ns0:Relationship Type="http://schemas.openxmlformats.org/officeDocument/2006/relationships/slideLayout" Target="/ppt/slideLayouts/slideLayout3.xml" Id="R3f7401bde06b4f1d" /><ns0:Relationship Type="http://schemas.openxmlformats.org/officeDocument/2006/relationships/slideLayout" Target="/ppt/slideLayouts/slideLayout4.xml" Id="R8a744f465b82487d" /><ns0:Relationship Type="http://schemas.openxmlformats.org/officeDocument/2006/relationships/slideLayout" Target="/ppt/slideLayouts/slideLayout5.xml" Id="Re51b641149ea45db" /><ns0:Relationship Type="http://schemas.openxmlformats.org/officeDocument/2006/relationships/slideLayout" Target="/ppt/slideLayouts/slideLayout6.xml" Id="R242ce8f6f50e40ef" /><ns0:Relationship Type="http://schemas.openxmlformats.org/officeDocument/2006/relationships/slideLayout" Target="/ppt/slideLayouts/slideLayout7.xml" Id="R96881f803b6844d2" /><ns0:Relationship Type="http://schemas.openxmlformats.org/officeDocument/2006/relationships/slideLayout" Target="/ppt/slideLayouts/slideLayout8.xml" Id="R76e4f30635d640eb" /><ns0:Relationship Type="http://schemas.openxmlformats.org/officeDocument/2006/relationships/slideLayout" Target="/ppt/slideLayouts/slideLayout9.xml" Id="R7c27031d42bf40c8" /><ns0:Relationship Type="http://schemas.openxmlformats.org/officeDocument/2006/relationships/slideLayout" Target="/ppt/slideLayouts/slideLayout10.xml" Id="Ref6ae549db334b77" /><ns0:Relationship Type="http://schemas.openxmlformats.org/officeDocument/2006/relationships/slideLayout" Target="/ppt/slideLayouts/slideLayout11.xml" Id="R9f45ebc03adb4215" /></ns0: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F6BCEC0-DDFA-411A-B5DA-1CC0BCBB50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A73F9A6-4572-46F5-A03D-D149C45D32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D56ABA-F6C1-49B5-94F4-0D239C9EC09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6F986E7-C570-46E9-AAFE-601416D6D202}" type="datetime1">
              <a:t>2026/10/19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359F38-C746-4A0A-AABE-DB27610D310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6228C8-4BE7-4A46-847A-30E670EA4F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ce1a9ec89e497c"/>
    <p:sldLayoutId xmlns:r="http://schemas.openxmlformats.org/officeDocument/2006/relationships" id="2147483650" r:id="R186e43059dbe4084"/>
    <p:sldLayoutId xmlns:r="http://schemas.openxmlformats.org/officeDocument/2006/relationships" id="2147483651" r:id="R3f7401bde06b4f1d"/>
    <p:sldLayoutId xmlns:r="http://schemas.openxmlformats.org/officeDocument/2006/relationships" id="2147483652" r:id="R8a744f465b82487d"/>
    <p:sldLayoutId xmlns:r="http://schemas.openxmlformats.org/officeDocument/2006/relationships" id="2147483653" r:id="Re51b641149ea45db"/>
    <p:sldLayoutId xmlns:r="http://schemas.openxmlformats.org/officeDocument/2006/relationships" id="2147483654" r:id="R242ce8f6f50e40ef"/>
    <p:sldLayoutId xmlns:r="http://schemas.openxmlformats.org/officeDocument/2006/relationships" id="2147483655" r:id="R96881f803b6844d2"/>
    <p:sldLayoutId xmlns:r="http://schemas.openxmlformats.org/officeDocument/2006/relationships" id="2147483656" r:id="R76e4f30635d640eb"/>
    <p:sldLayoutId xmlns:r="http://schemas.openxmlformats.org/officeDocument/2006/relationships" id="2147483657" r:id="R7c27031d42bf40c8"/>
    <p:sldLayoutId xmlns:r="http://schemas.openxmlformats.org/officeDocument/2006/relationships" id="2147483658" r:id="Ref6ae549db334b77"/>
    <p:sldLayoutId xmlns:r="http://schemas.openxmlformats.org/officeDocument/2006/relationships" id="2147483659" r:id="R9f45ebc03adb4215"/>
  </p:sldLayoutIdLst>
  <p:hf hdr="0" ftr="0" dt="0"/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580bfaad2584169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787cf1f87df14417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d02abe55ea54c4b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762d22984f44aa7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f5deb762b9f34e2c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7231f7f1b1d45c5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3687473115e44267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85b031049d344fd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60c601071d0424a" /><ns0:Relationship Type="http://schemas.openxmlformats.org/officeDocument/2006/relationships/chart" Target="/ppt/slides/charts/chart1.xml" Id="R87bc33b2971f4fba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d2f1fb6d7194561" /><ns0:Relationship Type="http://schemas.openxmlformats.org/officeDocument/2006/relationships/chart" Target="/ppt/slides/charts/chart2.xml" Id="R1bd0f5b962514d47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7ed4b2bb9c444e9e" /><ns0:Relationship Type="http://schemas.openxmlformats.org/officeDocument/2006/relationships/chart" Target="/ppt/slides/charts/chart3.xml" Id="R165fc07c574749d5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e3cd3ca0040480a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3cdd38953cf4d2e" /><ns0:Relationship Type="http://schemas.openxmlformats.org/officeDocument/2006/relationships/chart" Target="/ppt/slides/charts/chart4.xml" Id="R9b37bf1b36e04964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f251950fb5dd4c24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26122fd6a804183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8472eba9b8d4126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ddfc19abf944839" /><ns0:Relationship Type="http://schemas.openxmlformats.org/officeDocument/2006/relationships/chart" Target="/ppt/slides/charts/chart5.xml" Id="R85def85344384923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1d87e0607d146e0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191dd87fb774ecd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b9ba1899e4d040f9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74611046ab94c25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09e46ec71a8499a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103ed9ace234b79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13dc9e17de84bc8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0f2223eb4b65475b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b418ba9b88d48f2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3677295b156a4a84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e7fbc1702b54696" /></ns0:Relationships>
</file>

<file path=ppt/slides/_rels/slide2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ab8b918fe0a4d60" /></ns0:Relationships>
</file>

<file path=ppt/slides/_rels/slide3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2e371000142b4f9f" /></ns0:Relationships>
</file>

<file path=ppt/slides/_rels/slide3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a0f79bb59444b0f" /></ns0:Relationships>
</file>

<file path=ppt/slides/_rels/slide3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3f2d36d88cdd4f08" /></ns0:Relationships>
</file>

<file path=ppt/slides/_rels/slide3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66a26e3883c4095" /></ns0:Relationships>
</file>

<file path=ppt/slides/_rels/slide3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638d7f775f84126" /></ns0:Relationships>
</file>

<file path=ppt/slides/_rels/slide3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37356aeafdb4986" /><ns0:Relationship Type="http://schemas.openxmlformats.org/officeDocument/2006/relationships/chart" Target="/ppt/slides/charts/chart6.xml" Id="Rfa7df7f6128c4248" /></ns0:Relationships>
</file>

<file path=ppt/slides/_rels/slide3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31ddc7c61514801" /></ns0:Relationships>
</file>

<file path=ppt/slides/_rels/slide3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709e7bd76a694347" /></ns0:Relationships>
</file>

<file path=ppt/slides/_rels/slide3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3c41e161aae4710" /></ns0:Relationships>
</file>

<file path=ppt/slides/_rels/slide3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8308c01230a4126" /></ns0:Relationships>
</file>

<file path=ppt/slides/_rels/slide4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19a35ccf181d45ad" /></ns0:Relationships>
</file>

<file path=ppt/slides/_rels/slide4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f5b1a592af54798" /><ns0:Relationship Type="http://schemas.openxmlformats.org/officeDocument/2006/relationships/chart" Target="/ppt/slides/charts/chart7.xml" Id="R01cb51c911e34ca6" /></ns0:Relationships>
</file>

<file path=ppt/slides/_rels/slide4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45918cae3fc7430c" /></ns0:Relationships>
</file>

<file path=ppt/slides/_rels/slide4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38846dcb437848ac" /><ns0:Relationship Type="http://schemas.openxmlformats.org/officeDocument/2006/relationships/chart" Target="/ppt/slides/charts/chart8.xml" Id="R486325573d434141" /></ns0:Relationships>
</file>

<file path=ppt/slides/_rels/slide4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e2bba9487a8f46cd" /></ns0:Relationships>
</file>

<file path=ppt/slides/_rels/slide4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8c6fee7b845f4617" /><ns0:Relationship Type="http://schemas.openxmlformats.org/officeDocument/2006/relationships/chart" Target="/ppt/slides/charts/chart9.xml" Id="Rae9854b4f2d04f96" /></ns0:Relationships>
</file>

<file path=ppt/slides/_rels/slide4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3189e5600e944cb3" /><ns0:Relationship Type="http://schemas.openxmlformats.org/officeDocument/2006/relationships/chart" Target="/ppt/slides/charts/chart10.xml" Id="R0b232445c6f1428d" /></ns0:Relationships>
</file>

<file path=ppt/slides/_rels/slide4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3eb0154fefb4c7a" /><ns0:Relationship Type="http://schemas.openxmlformats.org/officeDocument/2006/relationships/chart" Target="/ppt/slides/charts/chart11.xml" Id="R8f7b3111904447ee" /></ns0:Relationships>
</file>

<file path=ppt/slides/_rels/slide4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9a2afd5b16af4488" /></ns0:Relationships>
</file>

<file path=ppt/slides/_rels/slide4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df365652c254da8" /></ns0:Relationships>
</file>

<file path=ppt/slides/_rels/slide5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6d100498d10a44c0" /><ns0:Relationship Type="http://schemas.openxmlformats.org/officeDocument/2006/relationships/chart" Target="/ppt/slides/charts/chart12.xml" Id="R5a5c1bf347b3450f" /></ns0:Relationships>
</file>

<file path=ppt/slides/_rels/slide5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c77ff98f10549f3" /><ns0:Relationship Type="http://schemas.openxmlformats.org/officeDocument/2006/relationships/chart" Target="/ppt/slides/charts/chart13.xml" Id="R964a3997e01d48a7" /></ns0:Relationships>
</file>

<file path=ppt/slides/_rels/slide5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c677933150a64a6c" /><ns0:Relationship Type="http://schemas.openxmlformats.org/officeDocument/2006/relationships/chart" Target="/ppt/slides/charts/chart14.xml" Id="Reccc727492264100" /></ns0:Relationships>
</file>

<file path=ppt/slides/_rels/slide5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dd0988a74a15429d" /></ns0:Relationships>
</file>

<file path=ppt/slides/_rels/slide5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e7f163ee3374f34" /><ns0:Relationship Type="http://schemas.openxmlformats.org/officeDocument/2006/relationships/chart" Target="/ppt/slides/charts/chart15.xml" Id="R9dbe00afc29d4901" /></ns0:Relationships>
</file>

<file path=ppt/slides/_rels/slide5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abd48cbd03c04f39" /></ns0:Relationships>
</file>

<file path=ppt/slides/_rels/slide5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50ffd3b05ea24b03" /><ns0:Relationship Type="http://schemas.openxmlformats.org/officeDocument/2006/relationships/chart" Target="/ppt/slides/charts/chart16.xml" Id="R68e2ccae3b714a5d" /></ns0:Relationships>
</file>

<file path=ppt/slides/_rels/slide5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7.xml" Id="Rf04039e2b2694312" /></ns0: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真距離帯ごとの警報率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正常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真距離20〜40m</c:v>
                </c:pt>
                <c:pt idx="1">
                  <c:v>真距離80〜120m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10.951009</c:v>
                </c:pt>
                <c:pt idx="1">
                  <c:v>3.289083</c:v>
                </c:pt>
              </c:numCache>
            </c:numRef>
          </c:val>
        </c:ser>
        <c:ser>
          <c:idx val="1"/>
          <c:order val="1"/>
          <c:tx>
            <c:v>外向き30m改変</c:v>
          </c:tx>
          <c:spPr>
            <a:solidFill xmlns:a="http://schemas.openxmlformats.org/drawingml/2006/main">
              <a:srgbClr val="E02B2B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真距離20〜40m</c:v>
                </c:pt>
                <c:pt idx="1">
                  <c:v>真距離80〜120m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14.121037</c:v>
                </c:pt>
                <c:pt idx="1">
                  <c:v>5.884684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全送信を分母にして未受信も表示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警報</c:v>
          </c:tx>
          <c:spPr>
            <a:solidFill xmlns:a="http://schemas.openxmlformats.org/drawingml/2006/main">
              <a:srgbClr val="E02B2B"/>
            </a:solidFill>
          </c:spPr>
          <c:invertIfNegative val="0"/>
          <c:dLbls>
            <c:dLbl>
              <c:idx val="0"/>
              <c:showVal val="0"/>
            </c:dLbl>
            <c:dLbl>
              <c:idx val="2"/>
              <c:showVal val="0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FFFFFF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正常</c:v>
                </c:pt>
                <c:pt idx="1">
                  <c:v>申告+100m</c:v>
                </c:pt>
                <c:pt idx="2">
                  <c:v>電力も連動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4.355556</c:v>
                </c:pt>
                <c:pt idx="1">
                  <c:v>20.727778</c:v>
                </c:pt>
                <c:pt idx="2">
                  <c:v>1.655556</c:v>
                </c:pt>
              </c:numCache>
            </c:numRef>
          </c:val>
        </c:ser>
        <c:ser>
          <c:idx val="1"/>
          <c:order val="1"/>
          <c:tx>
            <c:v>受信・警報なし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FFFFFF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正常</c:v>
                </c:pt>
                <c:pt idx="1">
                  <c:v>申告+100m</c:v>
                </c:pt>
                <c:pt idx="2">
                  <c:v>電力も連動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82.444444</c:v>
                </c:pt>
                <c:pt idx="1">
                  <c:v>66.072222</c:v>
                </c:pt>
                <c:pt idx="2">
                  <c:v>66.644444</c:v>
                </c:pt>
              </c:numCache>
            </c:numRef>
          </c:val>
        </c:ser>
        <c:ser>
          <c:idx val="2"/>
          <c:order val="2"/>
          <c:tx>
            <c:v>未受信</c:v>
          </c:tx>
          <c:spPr>
            <a:solidFill xmlns:a="http://schemas.openxmlformats.org/drawingml/2006/main">
              <a:srgbClr val="BDC5CF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Data'!$E$2:$E$4</c:f>
              <c:strCache>
                <c:ptCount val="3"/>
                <c:pt idx="0">
                  <c:v>正常</c:v>
                </c:pt>
                <c:pt idx="1">
                  <c:v>申告+100m</c:v>
                </c:pt>
                <c:pt idx="2">
                  <c:v>電力も連動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13.2</c:v>
                </c:pt>
                <c:pt idx="1">
                  <c:v>13.2</c:v>
                </c:pt>
                <c:pt idx="2">
                  <c:v>31.7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全送信に対する割合（%）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受信機ラベルの割当て台数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正常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Data'!$A$2:$A$6</c:f>
              <c:strCache>
                <c:ptCount val="5"/>
                <c:pt idx="0">
                  <c:v>1台</c:v>
                </c:pt>
                <c:pt idx="1">
                  <c:v>2台</c:v>
                </c:pt>
                <c:pt idx="2">
                  <c:v>3台</c:v>
                </c:pt>
                <c:pt idx="3">
                  <c:v>5台</c:v>
                </c:pt>
                <c:pt idx="4">
                  <c:v>10台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5.242447</c:v>
                </c:pt>
                <c:pt idx="1">
                  <c:v>5.202053</c:v>
                </c:pt>
                <c:pt idx="2">
                  <c:v>5.254736</c:v>
                </c:pt>
                <c:pt idx="3">
                  <c:v>5.451056</c:v>
                </c:pt>
                <c:pt idx="4">
                  <c:v>5.391782</c:v>
                </c:pt>
              </c:numCache>
            </c:numRef>
          </c:val>
        </c:ser>
        <c:ser>
          <c:idx val="1"/>
          <c:order val="1"/>
          <c:tx>
            <c:v>申告+30m</c:v>
          </c:tx>
          <c:spPr>
            <a:solidFill xmlns:a="http://schemas.openxmlformats.org/drawingml/2006/main">
              <a:srgbClr val="E02B2B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Data'!$C$2:$C$6</c:f>
              <c:strCache>
                <c:ptCount val="5"/>
                <c:pt idx="0">
                  <c:v>1台</c:v>
                </c:pt>
                <c:pt idx="1">
                  <c:v>2台</c:v>
                </c:pt>
                <c:pt idx="2">
                  <c:v>3台</c:v>
                </c:pt>
                <c:pt idx="3">
                  <c:v>5台</c:v>
                </c:pt>
                <c:pt idx="4">
                  <c:v>10台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7.457477</c:v>
                </c:pt>
                <c:pt idx="1">
                  <c:v>7.703656</c:v>
                </c:pt>
                <c:pt idx="2">
                  <c:v>7.622888</c:v>
                </c:pt>
                <c:pt idx="3">
                  <c:v>7.799104</c:v>
                </c:pt>
                <c:pt idx="4">
                  <c:v>7.9122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正常時の距離MAE。偽装の検知率とは別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履歴なし</c:v>
          </c:tx>
          <c:spPr>
            <a:solidFill xmlns:a="http://schemas.openxmlformats.org/drawingml/2006/main">
              <a:srgbClr val="7B8591"/>
            </a:solidFill>
            <a:ln xmlns:a="http://schemas.openxmlformats.org/drawingml/2006/main" w="19050">
              <a:solidFill>
                <a:srgbClr val="7B859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3秒</c:v>
                </c:pt>
                <c:pt idx="1">
                  <c:v>1分</c:v>
                </c:pt>
                <c:pt idx="2">
                  <c:v>5分</c:v>
                </c:pt>
                <c:pt idx="3">
                  <c:v>1時間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38.252564</c:v>
                </c:pt>
                <c:pt idx="1">
                  <c:v>38.178152</c:v>
                </c:pt>
                <c:pt idx="2">
                  <c:v>38.166431</c:v>
                </c:pt>
                <c:pt idx="3">
                  <c:v>38.415973</c:v>
                </c:pt>
              </c:numCache>
            </c:numRef>
          </c:val>
          <c:smooth val="0"/>
        </c:ser>
        <c:ser>
          <c:idx val="1"/>
          <c:order val="1"/>
          <c:tx>
            <c:v>過去値維持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Data'!$C$2:$C$5</c:f>
              <c:strCache>
                <c:ptCount val="4"/>
                <c:pt idx="0">
                  <c:v>3秒</c:v>
                </c:pt>
                <c:pt idx="1">
                  <c:v>1分</c:v>
                </c:pt>
                <c:pt idx="2">
                  <c:v>5分</c:v>
                </c:pt>
                <c:pt idx="3">
                  <c:v>1時間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20.942248</c:v>
                </c:pt>
                <c:pt idx="1">
                  <c:v>24.685529</c:v>
                </c:pt>
                <c:pt idx="2">
                  <c:v>36.000075</c:v>
                </c:pt>
                <c:pt idx="3">
                  <c:v>58.665257</c:v>
                </c:pt>
              </c:numCache>
            </c:numRef>
          </c:val>
          <c:smooth val="0"/>
        </c:ser>
        <c:ser>
          <c:idx val="2"/>
          <c:order val="2"/>
          <c:tx>
            <c:v>相関に合う予測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Data'!$E$2:$E$5</c:f>
              <c:strCache>
                <c:ptCount val="4"/>
                <c:pt idx="0">
                  <c:v>3秒</c:v>
                </c:pt>
                <c:pt idx="1">
                  <c:v>1分</c:v>
                </c:pt>
                <c:pt idx="2">
                  <c:v>5分</c:v>
                </c:pt>
                <c:pt idx="3">
                  <c:v>1時間</c:v>
                </c:pt>
              </c:strCache>
            </c:strRef>
          </c:cat>
          <c:val>
            <c:numRef>
              <c:f>'Chart Data'!$F$2:$F$5</c:f>
              <c:numCache>
                <c:formatCode>0</c:formatCode>
                <c:ptCount val="4"/>
                <c:pt idx="0">
                  <c:v>20.676876</c:v>
                </c:pt>
                <c:pt idx="1">
                  <c:v>23.903388</c:v>
                </c:pt>
                <c:pt idx="2">
                  <c:v>31.867271</c:v>
                </c:pt>
                <c:pt idx="3">
                  <c:v>38.41134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距離MAE（m）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5台・水平位置の申告改変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雑音SD2dB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Data'!$A$2:$A$6</c:f>
              <c:strCache>
                <c:ptCount val="5"/>
                <c:pt idx="0">
                  <c:v>0m</c:v>
                </c:pt>
                <c:pt idx="1">
                  <c:v>10m</c:v>
                </c:pt>
                <c:pt idx="2">
                  <c:v>30m</c:v>
                </c:pt>
                <c:pt idx="3">
                  <c:v>50m</c:v>
                </c:pt>
                <c:pt idx="4">
                  <c:v>100m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4.984722</c:v>
                </c:pt>
                <c:pt idx="1">
                  <c:v>6.334722</c:v>
                </c:pt>
                <c:pt idx="2">
                  <c:v>19.522222</c:v>
                </c:pt>
                <c:pt idx="3">
                  <c:v>41.658333</c:v>
                </c:pt>
                <c:pt idx="4">
                  <c:v>73.677778</c:v>
                </c:pt>
              </c:numCache>
            </c:numRef>
          </c:val>
          <c:smooth val="0"/>
        </c:ser>
        <c:ser>
          <c:idx val="1"/>
          <c:order val="1"/>
          <c:tx>
            <c:v>雑音SD6dB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Data'!$C$2:$C$6</c:f>
              <c:strCache>
                <c:ptCount val="5"/>
                <c:pt idx="0">
                  <c:v>0m</c:v>
                </c:pt>
                <c:pt idx="1">
                  <c:v>10m</c:v>
                </c:pt>
                <c:pt idx="2">
                  <c:v>30m</c:v>
                </c:pt>
                <c:pt idx="3">
                  <c:v>50m</c:v>
                </c:pt>
                <c:pt idx="4">
                  <c:v>100m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4.875</c:v>
                </c:pt>
                <c:pt idx="1">
                  <c:v>5.019444</c:v>
                </c:pt>
                <c:pt idx="2">
                  <c:v>6.323611</c:v>
                </c:pt>
                <c:pt idx="3">
                  <c:v>9.018056</c:v>
                </c:pt>
                <c:pt idx="4">
                  <c:v>18.729167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同じ地点・ビーコンの中央値差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設定値の差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設定−8→−4dBm</c:v>
                </c:pt>
                <c:pt idx="1">
                  <c:v>設定−4→0dBm</c:v>
                </c:pt>
                <c:pt idx="2">
                  <c:v>設定−8→0dBm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</c:ser>
        <c:ser>
          <c:idx val="1"/>
          <c:order val="1"/>
          <c:tx>
            <c:v>RSSI中央値の差</c:v>
          </c:tx>
          <c:spPr>
            <a:solidFill xmlns:a="http://schemas.openxmlformats.org/drawingml/2006/main">
              <a:srgbClr val="E02B2B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設定−8→−4dBm</c:v>
                </c:pt>
                <c:pt idx="1">
                  <c:v>設定−4→0dBm</c:v>
                </c:pt>
                <c:pt idx="2">
                  <c:v>設定−8→0dBm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</c:v>
                </c:pt>
                <c:pt idx="1">
                  <c:v>2.5</c:v>
                </c:pt>
                <c:pt idx="2">
                  <c:v>4.75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差（dB）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独立真距離30ラベル／RID、ID差SD6dB・飛行差SD1dB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共通モデル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通常の同じ送信機</c:v>
                </c:pt>
                <c:pt idx="1">
                  <c:v>同名の別送信機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41.352592</c:v>
                </c:pt>
                <c:pt idx="1">
                  <c:v>40.963708</c:v>
                </c:pt>
              </c:numCache>
            </c:numRef>
          </c:val>
        </c:ser>
        <c:ser>
          <c:idx val="1"/>
          <c:order val="1"/>
          <c:tx>
            <c:v>RID別補正</c:v>
          </c:tx>
          <c:spPr>
            <a:solidFill xmlns:a="http://schemas.openxmlformats.org/drawingml/2006/main">
              <a:srgbClr val="E02B2B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通常の同じ送信機</c:v>
                </c:pt>
                <c:pt idx="1">
                  <c:v>同名の別送信機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19.165759</c:v>
                </c:pt>
                <c:pt idx="1">
                  <c:v>54.334929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距離MAE（m）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同じ評価時刻で比較した正常誤警報率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正常誤警報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0秒ずれ</c:v>
                </c:pt>
                <c:pt idx="1">
                  <c:v>1秒ずれ</c:v>
                </c:pt>
                <c:pt idx="2">
                  <c:v>5秒ずれ</c:v>
                </c:pt>
                <c:pt idx="3">
                  <c:v>15秒ずれ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4.868765</c:v>
                </c:pt>
                <c:pt idx="1">
                  <c:v>5.658682</c:v>
                </c:pt>
                <c:pt idx="2">
                  <c:v>10.656232</c:v>
                </c:pt>
                <c:pt idx="3">
                  <c:v>23.22114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独立リンク雑音 SD2dB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2台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5.041667</c:v>
                </c:pt>
                <c:pt idx="1">
                  <c:v>5.756944</c:v>
                </c:pt>
                <c:pt idx="2">
                  <c:v>11.458333</c:v>
                </c:pt>
                <c:pt idx="3">
                  <c:v>20.329167</c:v>
                </c:pt>
                <c:pt idx="4">
                  <c:v>37.595833</c:v>
                </c:pt>
              </c:numCache>
            </c:numRef>
          </c:yVal>
          <c:smooth val="0"/>
        </c:ser>
        <c:ser>
          <c:idx val="1"/>
          <c:order val="1"/>
          <c:tx>
            <c:v>3台</c:v>
          </c:tx>
          <c:spPr>
            <a:solidFill xmlns:a="http://schemas.openxmlformats.org/drawingml/2006/main">
              <a:srgbClr val="8CA7C3"/>
            </a:solidFill>
            <a:ln xmlns:a="http://schemas.openxmlformats.org/drawingml/2006/main" w="19050">
              <a:solidFill>
                <a:srgbClr val="8CA7C3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Data'!$D$2:$D$6</c:f>
              <c:numCache>
                <c:formatCode>0</c:formatCode>
                <c:ptCount val="5"/>
                <c:pt idx="0">
                  <c:v>4.958333</c:v>
                </c:pt>
                <c:pt idx="1">
                  <c:v>5.968056</c:v>
                </c:pt>
                <c:pt idx="2">
                  <c:v>14.276389</c:v>
                </c:pt>
                <c:pt idx="3">
                  <c:v>28.965278</c:v>
                </c:pt>
                <c:pt idx="4">
                  <c:v>56.893056</c:v>
                </c:pt>
              </c:numCache>
            </c:numRef>
          </c:yVal>
          <c:smooth val="0"/>
        </c:ser>
        <c:ser>
          <c:idx val="2"/>
          <c:order val="2"/>
          <c:tx>
            <c:v>5台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Data'!$F$2:$F$6</c:f>
              <c:numCache>
                <c:formatCode>0</c:formatCode>
                <c:ptCount val="5"/>
                <c:pt idx="0">
                  <c:v>4.984722</c:v>
                </c:pt>
                <c:pt idx="1">
                  <c:v>6.334722</c:v>
                </c:pt>
                <c:pt idx="2">
                  <c:v>19.522222</c:v>
                </c:pt>
                <c:pt idx="3">
                  <c:v>41.658333</c:v>
                </c:pt>
                <c:pt idx="4">
                  <c:v>73.677778</c:v>
                </c:pt>
              </c:numCache>
            </c:numRef>
          </c:y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majorUnit val="20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水平位置の改変量（m）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独立リンク雑音 SD6dB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2台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5.009722</c:v>
                </c:pt>
                <c:pt idx="1">
                  <c:v>5.119444</c:v>
                </c:pt>
                <c:pt idx="2">
                  <c:v>5.813889</c:v>
                </c:pt>
                <c:pt idx="3">
                  <c:v>7.047222</c:v>
                </c:pt>
                <c:pt idx="4">
                  <c:v>11.248611</c:v>
                </c:pt>
              </c:numCache>
            </c:numRef>
          </c:yVal>
          <c:smooth val="0"/>
        </c:ser>
        <c:ser>
          <c:idx val="1"/>
          <c:order val="1"/>
          <c:tx>
            <c:v>3台</c:v>
          </c:tx>
          <c:spPr>
            <a:solidFill xmlns:a="http://schemas.openxmlformats.org/drawingml/2006/main">
              <a:srgbClr val="8CA7C3"/>
            </a:solidFill>
            <a:ln xmlns:a="http://schemas.openxmlformats.org/drawingml/2006/main" w="19050">
              <a:solidFill>
                <a:srgbClr val="8CA7C3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Data'!$D$2:$D$6</c:f>
              <c:numCache>
                <c:formatCode>0</c:formatCode>
                <c:ptCount val="5"/>
                <c:pt idx="0">
                  <c:v>4.902778</c:v>
                </c:pt>
                <c:pt idx="1">
                  <c:v>5.034722</c:v>
                </c:pt>
                <c:pt idx="2">
                  <c:v>5.913889</c:v>
                </c:pt>
                <c:pt idx="3">
                  <c:v>7.866667</c:v>
                </c:pt>
                <c:pt idx="4">
                  <c:v>14.541667</c:v>
                </c:pt>
              </c:numCache>
            </c:numRef>
          </c:yVal>
          <c:smooth val="0"/>
        </c:ser>
        <c:ser>
          <c:idx val="2"/>
          <c:order val="2"/>
          <c:tx>
            <c:v>5台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30</c:v>
                </c:pt>
                <c:pt idx="3">
                  <c:v>50</c:v>
                </c:pt>
                <c:pt idx="4">
                  <c:v>100</c:v>
                </c:pt>
              </c:numCache>
            </c:numRef>
          </c:xVal>
          <c:yVal>
            <c:numRef>
              <c:f>'Chart Data'!$F$2:$F$6</c:f>
              <c:numCache>
                <c:formatCode>0</c:formatCode>
                <c:ptCount val="5"/>
                <c:pt idx="0">
                  <c:v>4.875</c:v>
                </c:pt>
                <c:pt idx="1">
                  <c:v>5.019444</c:v>
                </c:pt>
                <c:pt idx="2">
                  <c:v>6.323611</c:v>
                </c:pt>
                <c:pt idx="3">
                  <c:v>9.018056</c:v>
                </c:pt>
                <c:pt idx="4">
                  <c:v>18.729167</c:v>
                </c:pt>
              </c:numCache>
            </c:numRef>
          </c:y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majorUnit val="20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水平位置の改変量（m）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雑音SD2dB・申告100m改変・全送信を分母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警報</c:v>
          </c:tx>
          <c:spPr>
            <a:solidFill xmlns:a="http://schemas.openxmlformats.org/drawingml/2006/main">
              <a:srgbClr val="E02B2B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FFFFFF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常に5台</c:v>
                </c:pt>
                <c:pt idx="1">
                  <c:v>一部重複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73.677778</c:v>
                </c:pt>
                <c:pt idx="1">
                  <c:v>49.35</c:v>
                </c:pt>
              </c:numCache>
            </c:numRef>
          </c:val>
        </c:ser>
        <c:ser>
          <c:idx val="1"/>
          <c:order val="1"/>
          <c:tx>
            <c:v>判定・警報なし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FFFFFF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常に5台</c:v>
                </c:pt>
                <c:pt idx="1">
                  <c:v>一部重複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26.322222</c:v>
                </c:pt>
                <c:pt idx="1">
                  <c:v>27.756944</c:v>
                </c:pt>
              </c:numCache>
            </c:numRef>
          </c:val>
        </c:ser>
        <c:ser>
          <c:idx val="2"/>
          <c:order val="2"/>
          <c:tx>
            <c:v>保留</c:v>
          </c:tx>
          <c:spPr>
            <a:solidFill xmlns:a="http://schemas.openxmlformats.org/drawingml/2006/main">
              <a:srgbClr val="BDC5CF"/>
            </a:solidFill>
          </c:spPr>
          <c:invertIfNegative val="0"/>
          <c:dLbls>
            <c:dLbl>
              <c:idx val="0"/>
              <c:showVal val="0"/>
            </c:dLbl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Data'!$E$2:$E$3</c:f>
              <c:strCache>
                <c:ptCount val="2"/>
                <c:pt idx="0">
                  <c:v>常に5台</c:v>
                </c:pt>
                <c:pt idx="1">
                  <c:v>一部重複</c:v>
                </c:pt>
              </c:strCache>
            </c:strRef>
          </c:cat>
          <c:val>
            <c:numRef>
              <c:f>'Chart Data'!$F$2:$F$3</c:f>
              <c:numCache>
                <c:formatCode>0</c:formatCode>
                <c:ptCount val="2"/>
                <c:pt idx="0">
                  <c:v>0</c:v>
                </c:pt>
                <c:pt idx="1">
                  <c:v>22.893056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全送信に対する割合（%）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通常条件の距離MAE。各飛行は1受信機に割当て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PathLoss</c:v>
                </c:pt>
                <c:pt idx="1">
                  <c:v>Bayesian</c:v>
                </c:pt>
                <c:pt idx="2">
                  <c:v>GP</c:v>
                </c:pt>
                <c:pt idx="3">
                  <c:v>MLP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56.616402</c:v>
                </c:pt>
                <c:pt idx="1">
                  <c:v>39.107837</c:v>
                </c:pt>
                <c:pt idx="2">
                  <c:v>25.598528</c:v>
                </c:pt>
                <c:pt idx="3">
                  <c:v>25.493642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距離MAE（m）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雑音を変えたときの警報率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正常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ガウスSD2dB</c:v>
                </c:pt>
                <c:pt idx="1">
                  <c:v>RMS整合ガウス</c:v>
                </c:pt>
                <c:pt idx="2">
                  <c:v>屋内BLE残差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5.01</c:v>
                </c:pt>
                <c:pt idx="1">
                  <c:v>5.063333</c:v>
                </c:pt>
                <c:pt idx="2">
                  <c:v>5.11</c:v>
                </c:pt>
              </c:numCache>
            </c:numRef>
          </c:val>
        </c:ser>
        <c:ser>
          <c:idx val="1"/>
          <c:order val="1"/>
          <c:tx>
            <c:v>100m改変</c:v>
          </c:tx>
          <c:spPr>
            <a:solidFill xmlns:a="http://schemas.openxmlformats.org/drawingml/2006/main">
              <a:srgbClr val="E02B2B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ガウスSD2dB</c:v>
                </c:pt>
                <c:pt idx="1">
                  <c:v>RMS整合ガウス</c:v>
                </c:pt>
                <c:pt idx="2">
                  <c:v>屋内BLE残差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85.821667</c:v>
                </c:pt>
                <c:pt idx="1">
                  <c:v>19.613333</c:v>
                </c:pt>
                <c:pt idx="2">
                  <c:v>10.415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誤ラベル比率と距離MAE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平均補正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Data'!$A$2:$A$6</c:f>
              <c:strCache>
                <c:ptCount val="5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  <c:pt idx="3">
                  <c:v>50%</c:v>
                </c:pt>
                <c:pt idx="4">
                  <c:v>70%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18.97681</c:v>
                </c:pt>
                <c:pt idx="1">
                  <c:v>22.809172</c:v>
                </c:pt>
                <c:pt idx="2">
                  <c:v>37.599058</c:v>
                </c:pt>
                <c:pt idx="3">
                  <c:v>62.24451</c:v>
                </c:pt>
                <c:pt idx="4">
                  <c:v>97.196241</c:v>
                </c:pt>
              </c:numCache>
            </c:numRef>
          </c:val>
          <c:smooth val="0"/>
        </c:ser>
        <c:ser>
          <c:idx val="1"/>
          <c:order val="1"/>
          <c:tx>
            <c:v>中央値補正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Data'!$C$2:$C$6</c:f>
              <c:strCache>
                <c:ptCount val="5"/>
                <c:pt idx="0">
                  <c:v>0%</c:v>
                </c:pt>
                <c:pt idx="1">
                  <c:v>10%</c:v>
                </c:pt>
                <c:pt idx="2">
                  <c:v>30%</c:v>
                </c:pt>
                <c:pt idx="3">
                  <c:v>50%</c:v>
                </c:pt>
                <c:pt idx="4">
                  <c:v>70%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19.03096</c:v>
                </c:pt>
                <c:pt idx="1">
                  <c:v>20.389678</c:v>
                </c:pt>
                <c:pt idx="2">
                  <c:v>26.901341</c:v>
                </c:pt>
                <c:pt idx="3">
                  <c:v>63.179677</c:v>
                </c:pt>
                <c:pt idx="4">
                  <c:v>125.857105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距離MAE（m）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20件を集める時間幅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時間幅の中央値平均</c:v>
          </c:tx>
          <c:spPr>
            <a:solidFill xmlns:a="http://schemas.openxmlformats.org/drawingml/2006/main">
              <a:srgbClr val="2F64A1"/>
            </a:solidFill>
          </c:spPr>
          <c:invertIfNegative val="0"/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0%削除</c:v>
                </c:pt>
                <c:pt idx="1">
                  <c:v>25%削除</c:v>
                </c:pt>
                <c:pt idx="2">
                  <c:v>50%削除</c:v>
                </c:pt>
                <c:pt idx="3">
                  <c:v>75%削除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4.005437</c:v>
                </c:pt>
                <c:pt idx="1">
                  <c:v>5.317398</c:v>
                </c:pt>
                <c:pt idx="2">
                  <c:v>7.896351</c:v>
                </c:pt>
                <c:pt idx="3">
                  <c:v>13.163107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時間幅（秒）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受信機から外向きの申告改変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真距離 20-40m</c:v>
          </c:tx>
          <c:spPr>
            <a:solidFill xmlns:a="http://schemas.openxmlformats.org/drawingml/2006/main">
              <a:srgbClr val="2F64A1"/>
            </a:solidFill>
            <a:ln xmlns:a="http://schemas.openxmlformats.org/drawingml/2006/main" w="19050">
              <a:solidFill>
                <a:srgbClr val="2F64A1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Data'!$A$2:$A$5</c:f>
              <c:strCache>
                <c:ptCount val="4"/>
                <c:pt idx="0">
                  <c:v>0m</c:v>
                </c:pt>
                <c:pt idx="1">
                  <c:v>30m</c:v>
                </c:pt>
                <c:pt idx="2">
                  <c:v>100m</c:v>
                </c:pt>
                <c:pt idx="3">
                  <c:v>200m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10.951009</c:v>
                </c:pt>
                <c:pt idx="1">
                  <c:v>14.121037</c:v>
                </c:pt>
                <c:pt idx="2">
                  <c:v>47.838617</c:v>
                </c:pt>
                <c:pt idx="3">
                  <c:v>74.279539</c:v>
                </c:pt>
              </c:numCache>
            </c:numRef>
          </c:val>
          <c:smooth val="0"/>
        </c:ser>
        <c:ser>
          <c:idx val="1"/>
          <c:order val="1"/>
          <c:tx>
            <c:v>真距離 80-120m</c:v>
          </c:tx>
          <c:spPr>
            <a:solidFill xmlns:a="http://schemas.openxmlformats.org/drawingml/2006/main">
              <a:srgbClr val="E02B2B"/>
            </a:solidFill>
            <a:ln xmlns:a="http://schemas.openxmlformats.org/drawingml/2006/main" w="19050">
              <a:solidFill>
                <a:srgbClr val="E02B2B"/>
              </a:solidFill>
            </a:ln>
          </c:spPr>
          <c:marker>
            <c:symbol val="circle"/>
            <c:size val="6"/>
          </c:marker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Hiragino Kaku Gothic ProN W3"/>
                    <a:ea typeface="Hiragino Kaku Gothic ProN W3"/>
                    <a:cs typeface="Hiragino Kaku Gothic ProN W3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Data'!$C$2:$C$5</c:f>
              <c:strCache>
                <c:ptCount val="4"/>
                <c:pt idx="0">
                  <c:v>0m</c:v>
                </c:pt>
                <c:pt idx="1">
                  <c:v>30m</c:v>
                </c:pt>
                <c:pt idx="2">
                  <c:v>100m</c:v>
                </c:pt>
                <c:pt idx="3">
                  <c:v>200m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3.289083</c:v>
                </c:pt>
                <c:pt idx="1">
                  <c:v>5.884684</c:v>
                </c:pt>
                <c:pt idx="2">
                  <c:v>17.416287</c:v>
                </c:pt>
                <c:pt idx="3">
                  <c:v>36.55637</c:v>
                </c:pt>
              </c:numCache>
            </c:numRef>
          </c:val>
          <c:smooth val="0"/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9D0D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8EC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282629"/>
                    </a:solidFill>
                    <a:latin typeface="Hiragino Kaku Gothic ProN W3"/>
                    <a:ea typeface="Hiragino Kaku Gothic ProN W3"/>
                    <a:cs typeface="Hiragino Kaku Gothic ProN W3"/>
                  </a:rPr>
                  <a:t>警報率（%）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82629"/>
                  </a:solidFill>
                  <a:latin typeface="Hiragino Kaku Gothic ProN W3"/>
                  <a:ea typeface="Hiragino Kaku Gothic ProN W3"/>
                  <a:cs typeface="Hiragino Kaku Gothic ProN W3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</a:p>
        </c:txPr>
        <c:crossAx val="48650112"/>
        <c:crossesAt val="0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282629"/>
              </a:solidFill>
              <a:latin typeface="Hiragino Kaku Gothic ProN W3"/>
              <a:ea typeface="Hiragino Kaku Gothic ProN W3"/>
              <a:cs typeface="Hiragino Kaku Gothic ProN W3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第26回進捗報告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RSSIから位置偽装を検知できるか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1642a8b5-b08a-5e2b-8fe7-35c73ca86856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</a:t>
            </a:fld>
          </a:p>
        </p:txBody>
      </p:sp>
      <p:sp>
        <p:nvSpPr>
          <p:cNvPr id="8" name="">
            <a:extLst>
              <a:ext uri="{FF2B5EF4-FFF2-40B4-BE49-F238E27FC236}">
                <ns2:creationId id="{37FEC6FB-F181-4773-B722-33E9924D6750}"/>
              </a:ext>
            </a:extLst>
          </p:cNvPr>
          <p:cNvSpPr>
            <a:spLocks noGrp="1"/>
          </p:cNvSpPr>
          <p:nvPr/>
        </p:nvSpPr>
        <p:spPr>
          <a:xfrm>
            <a:off x="619125" y="2286000"/>
            <a:ext cx="79533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27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27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27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27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27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27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27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27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27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27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7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非同期観測・未知送信電力下の</a:t>
            </a:r>
          </a:p>
          <a:p>
            <a:pPr algn="l">
              <a:defRPr sz="27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7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検出可能性と限界</a:t>
            </a:r>
          </a:p>
        </p:txBody>
      </p:sp>
      <p:sp>
        <p:nvSpPr>
          <p:cNvPr id="9" name="">
            <a:extLst>
              <a:ext uri="{FF2B5EF4-FFF2-40B4-BE49-F238E27FC236}">
                <ns2:creationId id="{E25B32DB-3583-4384-B23A-9CBFE8A84ABD}"/>
              </a:ext>
            </a:extLst>
          </p:cNvPr>
          <p:cNvSpPr>
            <a:spLocks noGrp="1"/>
          </p:cNvSpPr>
          <p:nvPr/>
        </p:nvSpPr>
        <p:spPr>
          <a:xfrm>
            <a:off x="619125" y="4143375"/>
            <a:ext cx="795337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論文の成立条件と、独立した合成評価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目次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本編20枚。論文・実験の詳細は21枚目以降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ea43348e-b7b5-5782-a8f0-8946a1c15c5c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6B464328-D3E9-41BF-8CFC-54E08C462389}"/>
              </a:ext>
            </a:extLst>
          </p:cNvPr>
          <p:cNvGraphicFramePr/>
          <p:nvPr/>
        </p:nvGraphicFramePr>
        <p:xfrm>
          <a:off x="400050" y="1524000"/>
          <a:ext cx="8343900" cy="3476625"/>
        </p:xfrm>
        <a:graphic>
          <a:graphicData uri="http://schemas.openxmlformats.org/drawingml/2006/table">
            <a:tbl>
              <a:tblPr/>
              <a:tblGrid>
                <a:gridCol w="1619250"/>
                <a:gridCol w="6724650"/>
              </a:tblGrid>
              <a:tr h="579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ページ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説明する内容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79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3〜7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教授の問い、識別の難しさ、論文と評価条件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8〜13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単独受信：改変・電力・台数・履歴の影響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79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14〜18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追加条件：同一送信の複数受信と、残る限界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19〜20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まとめと今後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79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21以降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論文、実測解析、全条件、再現手順の補足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3:creationId val="1512234166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教授の問いと元の観測条件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別時刻・別送信を観測し、1送信につきRSSIは1値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fea61ab-6696-5a4c-93cf-7326cc505e2b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54BEDDB7-49FB-40A5-821C-9521C6902BAD}"/>
              </a:ext>
            </a:extLst>
          </p:cNvPr>
          <p:cNvGraphicFramePr/>
          <p:nvPr/>
        </p:nvGraphicFramePr>
        <p:xfrm>
          <a:off x="400050" y="1524000"/>
          <a:ext cx="8343900" cy="2762250"/>
        </p:xfrm>
        <a:graphic>
          <a:graphicData uri="http://schemas.openxmlformats.org/drawingml/2006/table">
            <a:tbl>
              <a:tblPr/>
              <a:tblGrid>
                <a:gridCol w="3714750"/>
                <a:gridCol w="4629150"/>
              </a:tblGrid>
              <a:tr h="690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観測例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確認したいこと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90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Aは10時、Bは11時、Cは翌日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機体の申告位置と送信電力は不信頼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問い①：単独受信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未知電力でも、RSSIから距離を識別できるか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90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問い②：追加の情報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台数・履歴・同じ送信の複数受信で何が変わるか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720BBBA4-BF82-4897-A96B-EFDC51CBFCCE}"/>
              </a:ext>
            </a:extLst>
          </p:cNvPr>
          <p:cNvSpPr>
            <a:spLocks noGrp="1"/>
          </p:cNvSpPr>
          <p:nvPr/>
        </p:nvSpPr>
        <p:spPr>
          <a:xfrm>
            <a:off x="419100" y="4857750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研究の境界</a:t>
            </a:r>
          </a:p>
        </p:txBody>
      </p:sp>
      <p:sp>
        <p:nvSpPr>
          <p:cNvPr id="10" name="">
            <a:extLst>
              <a:ext uri="{FF2B5EF4-FFF2-40B4-BE49-F238E27FC236}">
                <ns2:creationId id="{182A0842-815E-4E6F-8275-321B6D088516}"/>
              </a:ext>
            </a:extLst>
          </p:cNvPr>
          <p:cNvSpPr>
            <a:spLocks noGrp="1"/>
          </p:cNvSpPr>
          <p:nvPr/>
        </p:nvSpPr>
        <p:spPr>
          <a:xfrm>
            <a:off x="447675" y="5238750"/>
            <a:ext cx="8210550" cy="9094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観測者の位置・RSSI報告が適切という前提は別に必要</a:t>
            </a:r>
          </a:p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同じRID文字列でも同じ物理機体とは限らない</a:t>
            </a:r>
          </a:p>
        </p:txBody>
      </p:sp>
      <p:sp>
        <p:nvSpPr>
          <p:cNvPr id="11" name="">
            <a:extLst>
              <a:ext uri="{FF2B5EF4-FFF2-40B4-BE49-F238E27FC236}">
                <ns2:creationId id="{D5082D60-E158-49F7-8106-6ACD99AD168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問いの出典：week25/01_asynchronous_remote_id_rssi_research_notes.md（議論の整理。逐語録ではない）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RSSIだけでは距離を一つに決められない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距離と送信電力は、同じ観測値へ影響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4b49eba-f7eb-539b-9637-6c5b5aa06afc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</a:t>
            </a:fld>
          </a:p>
        </p:txBody>
      </p:sp>
      <p:sp>
        <p:nvSpPr>
          <p:cNvPr id="8" name="">
            <a:extLst>
              <a:ext uri="{FF2B5EF4-FFF2-40B4-BE49-F238E27FC236}">
                <ns2:creationId id="{F9611917-3F12-4AC3-B303-C68C4543A52E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809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4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24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24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24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24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24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24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24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24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24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24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4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R = P₀ − 10n log₁₀(d / 1m) + ε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37DED700-2A65-4528-A9E0-AAD55C0107EF}"/>
              </a:ext>
            </a:extLst>
          </p:cNvPr>
          <p:cNvGraphicFramePr/>
          <p:nvPr/>
        </p:nvGraphicFramePr>
        <p:xfrm>
          <a:off x="400050" y="2571750"/>
          <a:ext cx="8343900" cy="2190750"/>
        </p:xfrm>
        <a:graphic>
          <a:graphicData uri="http://schemas.openxmlformats.org/drawingml/2006/table">
            <a:tbl>
              <a:tblPr/>
              <a:tblGrid>
                <a:gridCol w="1524000"/>
                <a:gridCol w="6819900"/>
              </a:tblGrid>
              <a:tr h="54768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意味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4768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P₀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基準距離1mでの実効受信電力。実EIRPそのものではない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d・n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実際の距離と、距離による弱まり方の係数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4768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遮蔽・反射・向き・受信機差などの誤差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AC68D0B2-71C5-49D9-AA55-33D258184F35}"/>
              </a:ext>
            </a:extLst>
          </p:cNvPr>
          <p:cNvSpPr>
            <a:spLocks noGrp="1"/>
          </p:cNvSpPr>
          <p:nvPr/>
        </p:nvSpPr>
        <p:spPr>
          <a:xfrm>
            <a:off x="457200" y="5191125"/>
            <a:ext cx="8191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例：n=2なら、10mから100mへの距離増加を</a:t>
            </a:r>
          </a:p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基準電力+20dBで相殺可能。同じRSSIを作れる理想モデル。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電力の条件と識別できる範囲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「未知の電力」と「毎送信で自由な電力」を分離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ed90d8ec-bb66-56a4-860a-e4d26bb8f7f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5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ECB10610-367D-434B-BD29-CEF022BE0C0C}"/>
              </a:ext>
            </a:extLst>
          </p:cNvPr>
          <p:cNvGraphicFramePr/>
          <p:nvPr/>
        </p:nvGraphicFramePr>
        <p:xfrm>
          <a:off x="400050" y="1524000"/>
          <a:ext cx="8343900" cy="3048000"/>
        </p:xfrm>
        <a:graphic>
          <a:graphicData uri="http://schemas.openxmlformats.org/drawingml/2006/table">
            <a:tbl>
              <a:tblPr/>
              <a:tblGrid>
                <a:gridCol w="3048000"/>
                <a:gridCol w="5295900"/>
              </a:tblGrid>
              <a:tr h="7620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電力の条件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距離推定・位置照合の条件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7620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未知だが共通・安定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複数リンクや校正等の拘束があれば条件付き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変動幅・分布・相関を仮定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その仮定の下で統計的に推定・不整合を検査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7620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毎送信が自由、1送信1 RSSI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一般には識別不能。別距離と別電力で同じ観測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57E96E68-C57A-442F-B9B7-8A23B3067E36}"/>
              </a:ext>
            </a:extLst>
          </p:cNvPr>
          <p:cNvSpPr>
            <a:spLocks noGrp="1"/>
          </p:cNvSpPr>
          <p:nvPr/>
        </p:nvSpPr>
        <p:spPr>
          <a:xfrm>
            <a:off x="428625" y="5095875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電力が一定という条件だけで、真位置を認証できるとは限らない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確率変動の通常モデルと、無制約の攻撃者モデルも区別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論文が扱う条件と今回の評価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論文の着眼点に基づく独立評価。原アルゴリズムの追試ではない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1eac72a-18cd-50a0-b822-acb6f0fd0925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6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ADFCFEBC-9F5A-425D-B3BD-C3F37E3EC797}"/>
              </a:ext>
            </a:extLst>
          </p:cNvPr>
          <p:cNvGraphicFramePr/>
          <p:nvPr/>
        </p:nvGraphicFramePr>
        <p:xfrm>
          <a:off x="400050" y="1524000"/>
          <a:ext cx="8343900" cy="3286125"/>
        </p:xfrm>
        <a:graphic>
          <a:graphicData uri="http://schemas.openxmlformats.org/drawingml/2006/table">
            <a:tbl>
              <a:tblPr/>
              <a:tblGrid>
                <a:gridCol w="2524125"/>
                <a:gridCol w="5819775"/>
              </a:tblGrid>
              <a:tr h="6572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研究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成立条件・得られるもの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572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GhostBuster（2024）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電波推定とRID申告の照合。実測モデルから複数受信へ拡張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Hu・Leus（2017）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共通電力を差で除くDRSS。独立な電力差は残る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572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CTUP（2024）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複数リンクで位置・電力等を共同推定。BLE 50ノード実験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Santosほか（2018）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確率モデルと履歴からRSSI場を推定。真位置の証明ではない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FF1B0765-954F-4BD8-A075-575457F19A43}"/>
              </a:ext>
            </a:extLst>
          </p:cNvPr>
          <p:cNvSpPr>
            <a:spLocks noGrp="1"/>
          </p:cNvSpPr>
          <p:nvPr/>
        </p:nvSpPr>
        <p:spPr>
          <a:xfrm>
            <a:off x="428625" y="53816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元の「別送信・単独受信・毎回自由電力」の一般的解決とは扱わない</a:t>
            </a:r>
          </a:p>
        </p:txBody>
      </p:sp>
      <p:sp>
        <p:nvSpPr>
          <p:cNvPr id="10" name="">
            <a:extLst>
              <a:ext uri="{FF2B5EF4-FFF2-40B4-BE49-F238E27FC236}">
                <ns2:creationId id="{C20251F4-4A91-439F-9510-D021A403B7E7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Keizer et al., DOI:10.1109/CCNC51664.2024.10454860 / Hu &amp; Leus, DOI:10.1109/TSP.2017.2684741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Li et al., DOI:10.1109/TWC.2024.3441643 / Santos et al., arXiv:1806.02530v2。詳細は補足。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今回の評価と分母の読み方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本編の検知率は合成評価。実測再解析は補足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7390b17-b2f2-5dee-bc09-451cae278e4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7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F8B48603-C842-45B9-855A-183AF4F0FCB8}"/>
              </a:ext>
            </a:extLst>
          </p:cNvPr>
          <p:cNvGraphicFramePr/>
          <p:nvPr/>
        </p:nvGraphicFramePr>
        <p:xfrm>
          <a:off x="400050" y="1524000"/>
          <a:ext cx="8343900" cy="3238500"/>
        </p:xfrm>
        <a:graphic>
          <a:graphicData uri="http://schemas.openxmlformats.org/drawingml/2006/table">
            <a:tbl>
              <a:tblPr/>
              <a:tblGrid>
                <a:gridCol w="3095625"/>
                <a:gridCol w="5248275"/>
              </a:tblGrid>
              <a:tr h="6477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指標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例：100送信、20保留、40警報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477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判定できた部分の警報率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40 ÷ 80 = 50%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全送信中の警報割合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40 ÷ 100 = 40%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477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判定保留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20 ÷ 100 = 20%。正常と認定しない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正常誤警報との比較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同じ条件の正常にも、どれだけ警報が出るか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01033AEB-1EC7-4029-A948-5F6C1231FB28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SDは揺らぎの標準偏差、MAEは真距離との平均絶対誤差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seedは乱数条件。未受信・保留は正常と認定しない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集計は実験ごとに異なる。補足の集計規則を参照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実験①：別送信を単独受信する条件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確率変動モデルでの感度評価。無制約攻撃全体の再現ではない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e163b390-6baa-5599-8d94-691d36c990eb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8</a:t>
            </a:fld>
          </a:p>
        </p:txBody>
      </p:sp>
      <p:sp>
        <p:nvSpPr>
          <p:cNvPr id="8" name="">
            <a:extLst>
              <a:ext uri="{FF2B5EF4-FFF2-40B4-BE49-F238E27FC236}">
                <ns2:creationId id="{CC579057-F37D-41C6-8097-3D1C96CA7CB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position-summary.csv / async-base-config.json（今回の独立した合成10 seed。先行論文の再現ではない）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69A40730-871C-4B01-81D9-E442BFE4BE77}"/>
              </a:ext>
            </a:extLst>
          </p:cNvPr>
          <p:cNvGraphicFramePr/>
          <p:nvPr/>
        </p:nvGraphicFramePr>
        <p:xfrm>
          <a:off x="400050" y="1524000"/>
          <a:ext cx="8343900" cy="3381375"/>
        </p:xfrm>
        <a:graphic>
          <a:graphicData uri="http://schemas.openxmlformats.org/drawingml/2006/table">
            <a:tbl>
              <a:tblPr/>
              <a:tblGrid>
                <a:gridCol w="1857375"/>
                <a:gridCol w="6486525"/>
              </a:tblGrid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仮定と変更点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40イベント／飛行、各送信1 RSSI、10 seed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位置・電波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高度3〜70m。電力変動SD3dB、遮蔽・受信感度を導入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申告の改変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真位置を維持し、申告距離だけ外向きに追加30／100m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正常の校正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校正26飛行で閾値設定。評価45飛行とは分離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攻撃の比較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位置のみ／位置と電力を連動。後者は電力変更上限なし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B3841145-4402-4864-B15B-956BAD6B2B09}"/>
              </a:ext>
            </a:extLst>
          </p:cNvPr>
          <p:cNvSpPr>
            <a:spLocks noGrp="1"/>
          </p:cNvSpPr>
          <p:nvPr/>
        </p:nvSpPr>
        <p:spPr>
          <a:xfrm>
            <a:off x="428625" y="542925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改変量は申告距離への追加量。30m安全離隔を判定した実験ではない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実験①：30m改変と正常誤警報の差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確率変動モデル、受信できた記録を分母にした比較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fbf5e8d-38ec-57da-a333-96c7b3b9443f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9</a:t>
            </a:fld>
          </a:p>
        </p:txBody>
      </p:sp>
      <p:sp>
        <p:nvSpPr>
          <p:cNvPr id="8" name="">
            <a:extLst>
              <a:ext uri="{FF2B5EF4-FFF2-40B4-BE49-F238E27FC236}">
                <ns2:creationId id="{517E4317-69B0-489E-97DD-7B67B4D26117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position-summary.csv（今回の独立した合成10 seed。先行論文の再現ではない）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8C554AFC-8387-426F-8C33-151FDF88D70A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87bc33b2971f4fba"/>
          </a:graphicData>
        </a:graphic>
      </p:graphicFrame>
      <p:sp>
        <p:nvSpPr>
          <p:cNvPr id="10" name="">
            <a:extLst>
              <a:ext uri="{FF2B5EF4-FFF2-40B4-BE49-F238E27FC236}">
                <ns2:creationId id="{F1C765BF-78C4-4EEB-A607-7D34AB45AFEE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近距離：10.95%から14.12%。増加は3.17ポイント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遠距離：3.29%から5.88%。増加は2.59ポイント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同じ30mでも距離比が異なる。正常との分離は小さい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実験①：電力連動と受信選択の変化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受信機位置・伝搬モデルを攻撃側が既知。電力変更は無制限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ec5d7df-341b-5c5b-ade4-693bded45995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10</a:t>
            </a:fld>
          </a:p>
        </p:txBody>
      </p:sp>
      <p:graphicFrame>
        <p:nvGraphicFramePr>
          <p:cNvPr id="8" name="Chart">
            <a:extLst>
              <a:ext uri="{FF2B5EF4-FFF2-40B4-BE49-F238E27FC236}">
                <ns2:creationId id="{726E0609-116C-4E9A-A5A3-D7F9B56AD89C}"/>
              </a:ext>
            </a:extLst>
          </p:cNvPr>
          <p:cNvGraphicFramePr/>
          <p:nvPr/>
        </p:nvGraphicFramePr>
        <p:xfrm>
          <a:off x="571500" y="1428750"/>
          <a:ext cx="8001000" cy="2762250"/>
        </p:xfrm>
        <a:graphic>
          <a:graphicData uri="http://schemas.openxmlformats.org/drawingml/2006/chart">
            <ns3:chart ns4:id="R1bd0f5b962514d47"/>
          </a:graphicData>
        </a:graphic>
      </p:graphicFrame>
      <p:graphicFrame>
        <p:nvGraphicFramePr>
          <p:cNvPr id="9" name="">
            <a:extLst>
              <a:ext uri="{FF2B5EF4-FFF2-40B4-BE49-F238E27FC236}">
                <ns2:creationId id="{586AAEFE-76BD-4C5D-AEFA-0FB0AB118129}"/>
              </a:ext>
            </a:extLst>
          </p:cNvPr>
          <p:cNvGraphicFramePr/>
          <p:nvPr/>
        </p:nvGraphicFramePr>
        <p:xfrm>
          <a:off x="400050" y="4476750"/>
          <a:ext cx="8343900" cy="1485900"/>
        </p:xfrm>
        <a:graphic>
          <a:graphicData uri="http://schemas.openxmlformats.org/drawingml/2006/table">
            <a:tbl>
              <a:tblPr/>
              <a:tblGrid>
                <a:gridCol w="2286000"/>
                <a:gridCol w="2019300"/>
                <a:gridCol w="2019300"/>
                <a:gridCol w="2019300"/>
              </a:tblGrid>
              <a:tr h="3714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条件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警報／受信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警報／全送信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受信率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3714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5.02%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4.36%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86.8%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申告+100m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23.88%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20.73%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86.8%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3714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電力も連動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2.42%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1.66%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68.3%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1377F1C3-8D8B-4D34-8FF9-B7B8D2E2B42F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未受信は検査対象なし。受信選択の影響も含むため、警報低下の全てを検出器への欺瞞と断定しない。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position-summary.csv（合成10 seed）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総観測数固定の割当て比較：効果は小差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新規RSSIなし・1送信1 RSSI・位置拘束追加なしという限定条件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f6d82281-1170-5430-b530-1bbf58b7e68c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11</a:t>
            </a:fld>
          </a:p>
        </p:txBody>
      </p:sp>
      <p:sp>
        <p:nvSpPr>
          <p:cNvPr id="8" name="">
            <a:extLst>
              <a:ext uri="{FF2B5EF4-FFF2-40B4-BE49-F238E27FC236}">
                <ns2:creationId id="{B7E8355E-42E4-4F39-87C7-8A0F483A385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asynchronous-summary.csv（今回の独立した合成10 seed。先行論文の再現ではない）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6BE2C699-7D13-4011-B99A-1F21913C6AC3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165fc07c574749d5"/>
          </a:graphicData>
        </a:graphic>
      </p:graphicFrame>
      <p:sp>
        <p:nvSpPr>
          <p:cNvPr id="10" name="">
            <a:extLst>
              <a:ext uri="{FF2B5EF4-FFF2-40B4-BE49-F238E27FC236}">
                <ns2:creationId id="{D8000347-4D88-44EB-80AC-6494CDDBEA9C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正常5.2〜5.5%、改変7.5〜7.9%。各送信から得る情報は増えていない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受信機増設の一般的な限界を示す結果ではない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カバー範囲・総観測数・同一送信の追加受信は別に評価が必要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自由電力モデルの識別不能性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1000件の統計試験ではなく、同じ観測を作る構成的反例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eb56f8d-1066-5a57-aed0-ad093b51f195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12</a:t>
            </a:fld>
          </a:p>
        </p:txBody>
      </p:sp>
      <p:sp>
        <p:nvSpPr>
          <p:cNvPr id="8" name="">
            <a:extLst>
              <a:ext uri="{FF2B5EF4-FFF2-40B4-BE49-F238E27FC236}">
                <ns2:creationId id="{A15DC85F-5DD2-40C8-8A82-6B6F8CE201E5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出典：identifiability_minimal.py。理想的な距離減衰、n=2、雑音なし</a:t>
            </a:r>
          </a:p>
        </p:txBody>
      </p:sp>
      <p:sp>
        <p:nvSpPr>
          <p:cNvPr id="9" name="">
            <a:extLst>
              <a:ext uri="{FF2B5EF4-FFF2-40B4-BE49-F238E27FC236}">
                <ns2:creationId id="{CD76AA02-D169-47F9-BE97-B3EA484D9EA1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7620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25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R = a − 20 log₁₀d</a:t>
            </a:r>
          </a:p>
        </p:txBody>
      </p:sp>
      <p:sp>
        <p:nvSpPr>
          <p:cNvPr id="10" name="">
            <a:extLst>
              <a:ext uri="{FF2B5EF4-FFF2-40B4-BE49-F238E27FC236}">
                <ns2:creationId id="{EA3B1612-A8A3-410D-8BD5-E07F024D1E88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7620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1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a′ = a + 20 log₁₀4、d′ = 4d</a:t>
            </a:r>
          </a:p>
        </p:txBody>
      </p:sp>
      <p:sp>
        <p:nvSpPr>
          <p:cNvPr id="11" name="">
            <a:extLst>
              <a:ext uri="{FF2B5EF4-FFF2-40B4-BE49-F238E27FC236}">
                <ns2:creationId id="{287662EB-432B-415B-9FF6-26FEB0C1B7AE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7620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ctr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ctr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ctr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ctr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ctr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ctr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ctr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ctr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ctr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ctr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a′ − 20 log₁₀d′ = a − 20 log₁₀d</a:t>
            </a:r>
          </a:p>
        </p:txBody>
      </p:sp>
      <p:graphicFrame>
        <p:nvGraphicFramePr>
          <p:cNvPr id="12" name="">
            <a:extLst>
              <a:ext uri="{FF2B5EF4-FFF2-40B4-BE49-F238E27FC236}">
                <ns2:creationId id="{B6BD3B7A-B882-4715-ACEA-907E0E44CDED}"/>
              </a:ext>
            </a:extLst>
          </p:cNvPr>
          <p:cNvGraphicFramePr/>
          <p:nvPr/>
        </p:nvGraphicFramePr>
        <p:xfrm>
          <a:off x="400050" y="3952875"/>
          <a:ext cx="8343900" cy="1428750"/>
        </p:xfrm>
        <a:graphic>
          <a:graphicData uri="http://schemas.openxmlformats.org/drawingml/2006/table">
            <a:tbl>
              <a:tblPr/>
              <a:tblGrid>
                <a:gridCol w="4286250"/>
                <a:gridCol w="4057650"/>
              </a:tblGrid>
              <a:tr h="4762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構成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確認結果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762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1000件の距離履歴を4倍に変更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各基準電力を+12.0412dB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2つの世界のRSSI差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最大1.42×10⁻¹⁴dB（数値丸めの範囲）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>
              <a:ext uri="{FF2B5EF4-FFF2-40B4-BE49-F238E27FC236}">
                <ns2:creationId id="{81A0EFF9-C267-42DC-9576-6EB90304AE55}"/>
              </a:ext>
            </a:extLst>
          </p:cNvPr>
          <p:cNvSpPr>
            <a:spLocks noGrp="1"/>
          </p:cNvSpPr>
          <p:nvPr/>
        </p:nvSpPr>
        <p:spPr>
          <a:xfrm>
            <a:off x="428625" y="571500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観測数だけでは識別不能性は解消しない。実機の電力制約は別検証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履歴の効果：古い真値付き点検への依存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独立な過去真距離と、正しい電力相関時間10分を仮定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92485ef-d8b9-5f91-91b4-70d26870efa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13</a:t>
            </a:fld>
          </a:p>
        </p:txBody>
      </p:sp>
      <p:sp>
        <p:nvSpPr>
          <p:cNvPr id="8" name="">
            <a:extLst>
              <a:ext uri="{FF2B5EF4-FFF2-40B4-BE49-F238E27FC236}">
                <ns2:creationId id="{97C0F162-C60C-4E33-91B4-B33A92422D15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time-summary.csv（今回の独立した合成10 seed。先行論文の再現ではない）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7C698B72-E728-4D2F-BABD-BBAD38213757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9b37bf1b36e04964"/>
          </a:graphicData>
        </a:graphic>
      </p:graphicFrame>
      <p:sp>
        <p:nvSpPr>
          <p:cNvPr id="10" name="">
            <a:extLst>
              <a:ext uri="{FF2B5EF4-FFF2-40B4-BE49-F238E27FC236}">
                <ns2:creationId id="{702015BF-1EB9-4FDF-BD0C-6FB303A7923F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速い電力変動の相関ρ=exp(−時間差/600秒)、1時間後≈0.0025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過去値の維持は58.67m。履歴なし38.42mより悪化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速い電力変動の相関がほぼ失われ、過去値を維持すると外れる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追加条件：観測差と申告からの予測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同じ物理送信を複数受信。元の非同時条件へ観測を追加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5f138b4c-9458-5c72-b782-14000c67ae98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14</a:t>
            </a:fld>
          </a:p>
        </p:txBody>
      </p:sp>
      <p:sp>
        <p:nvSpPr>
          <p:cNvPr id="8" name="">
            <a:extLst>
              <a:ext uri="{FF2B5EF4-FFF2-40B4-BE49-F238E27FC236}">
                <ns2:creationId id="{64F1F35E-C861-4544-8558-FE2D6DDA510A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Hu &amp; Leus, Robust Differential Received Signal Strength-Based Localization, IEEE TSP 65(12), 2017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DOI:10.1109/TSP.2017.2684741, II・式(1)–(2)</a:t>
            </a:r>
          </a:p>
        </p:txBody>
      </p:sp>
      <p:sp>
        <p:nvSpPr>
          <p:cNvPr id="9" name="">
            <a:extLst>
              <a:ext uri="{FF2B5EF4-FFF2-40B4-BE49-F238E27FC236}">
                <ns2:creationId id="{5120A511-5FA5-4E99-AA81-FB61DCE83804}"/>
              </a:ext>
            </a:extLst>
          </p:cNvPr>
          <p:cNvSpPr>
            <a:spLocks noGrp="1"/>
          </p:cNvSpPr>
          <p:nvPr/>
        </p:nvSpPr>
        <p:spPr>
          <a:xfrm>
            <a:off x="571500" y="161925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20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20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20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20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20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20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20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20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20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20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実際：Rᵢ = P₀ − 10n log₁₀dᵢ + εᵢ</a:t>
            </a:r>
          </a:p>
        </p:txBody>
      </p:sp>
      <p:sp>
        <p:nvSpPr>
          <p:cNvPr id="10" name="">
            <a:extLst>
              <a:ext uri="{FF2B5EF4-FFF2-40B4-BE49-F238E27FC236}">
                <ns2:creationId id="{8473AD42-4FF4-451F-A71D-2F92C8D5377C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809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dᵢ = ‖p − xᵢ‖：未知の真位置pからの距離</a:t>
            </a:r>
          </a:p>
        </p:txBody>
      </p:sp>
      <p:sp>
        <p:nvSpPr>
          <p:cNvPr id="11" name="">
            <a:extLst>
              <a:ext uri="{FF2B5EF4-FFF2-40B4-BE49-F238E27FC236}">
                <ns2:creationId id="{76E5BDCD-6F1E-40DE-BE04-064450A0A91D}"/>
              </a:ext>
            </a:extLst>
          </p:cNvPr>
          <p:cNvSpPr>
            <a:spLocks noGrp="1"/>
          </p:cNvSpPr>
          <p:nvPr/>
        </p:nvSpPr>
        <p:spPr>
          <a:xfrm>
            <a:off x="571500" y="2809875"/>
            <a:ext cx="8096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観測差：ΔRobs = R_A − R_B</a:t>
            </a:r>
          </a:p>
        </p:txBody>
      </p:sp>
      <p:sp>
        <p:nvSpPr>
          <p:cNvPr id="12" name="">
            <a:extLst>
              <a:ext uri="{FF2B5EF4-FFF2-40B4-BE49-F238E27FC236}">
                <ns2:creationId id="{833A9B34-C4F5-4BF2-8632-6B1594A67E60}"/>
              </a:ext>
            </a:extLst>
          </p:cNvPr>
          <p:cNvSpPr>
            <a:spLocks noGrp="1"/>
          </p:cNvSpPr>
          <p:nvPr/>
        </p:nvSpPr>
        <p:spPr>
          <a:xfrm>
            <a:off x="571500" y="3429000"/>
            <a:ext cx="809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7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申告qの予測：ΔRpred(q) = −10n log₁₀(‖q−x_A‖ / ‖q−x_B‖)</a:t>
            </a:r>
          </a:p>
        </p:txBody>
      </p:sp>
      <p:sp>
        <p:nvSpPr>
          <p:cNvPr id="13" name="">
            <a:extLst>
              <a:ext uri="{FF2B5EF4-FFF2-40B4-BE49-F238E27FC236}">
                <ns2:creationId id="{4280790B-8304-40F9-B33F-CCD9BE48D6BD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809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1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検査する残差：E(q) = ΔRobs − ΔRpred(q)</a:t>
            </a:r>
          </a:p>
        </p:txBody>
      </p:sp>
      <p:sp>
        <p:nvSpPr>
          <p:cNvPr id="14" name="">
            <a:extLst>
              <a:ext uri="{FF2B5EF4-FFF2-40B4-BE49-F238E27FC236}">
                <ns2:creationId id="{24F33688-B8B9-4D6D-AF58-D18AA107044F}"/>
              </a:ext>
            </a:extLst>
          </p:cNvPr>
          <p:cNvSpPr>
            <a:spLocks noGrp="1"/>
          </p:cNvSpPr>
          <p:nvPr/>
        </p:nvSpPr>
        <p:spPr>
          <a:xfrm>
            <a:off x="428625" y="5286375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同一送信ならP₀は差で消える。真の距離dと、申告qからの距離は別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p・q：真位置・申告位置、x：受信機位置。共通の距離単位を使用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5台の配置と共通3D軌跡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編集可能な平面図。A〜Eは異なる5座標、高度は右表へ記載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81c9cb9-646c-5d22-a0ff-c09b35aac9b8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15</a:t>
            </a:fld>
          </a:p>
        </p:txBody>
      </p:sp>
      <p:sp>
        <p:nvSpPr>
          <p:cNvPr id="8" name="">
            <a:extLst>
              <a:ext uri="{FF2B5EF4-FFF2-40B4-BE49-F238E27FC236}">
                <ns2:creationId id="{FFCB2C62-FFC3-4FDB-B8FE-752AE23E6AE9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config.json（合成10 seed）</a:t>
            </a:r>
          </a:p>
        </p:txBody>
      </p:sp>
      <p:sp>
        <p:nvSpPr>
          <p:cNvPr id="9" name="">
            <a:extLst>
              <a:ext uri="{FF2B5EF4-FFF2-40B4-BE49-F238E27FC236}">
                <ns2:creationId id="{33770F74-9770-4700-BF6D-597886717F86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3810000" cy="953"/>
          </a:xfrm>
          <a:prstGeom prst="line">
            <a:avLst/>
          </a:prstGeom>
          <a:noFill/>
          <a:ln w="9525">
            <a:solidFill>
              <a:srgbClr val="AAB4C0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26B71D03-40B2-45ED-9A53-FE9E054FC908}"/>
              </a:ext>
            </a:extLst>
          </p:cNvPr>
          <p:cNvSpPr>
            <a:spLocks noGrp="1"/>
          </p:cNvSpPr>
          <p:nvPr/>
        </p:nvSpPr>
        <p:spPr>
          <a:xfrm>
            <a:off x="2571750" y="1476375"/>
            <a:ext cx="953" cy="3667125"/>
          </a:xfrm>
          <a:prstGeom prst="line">
            <a:avLst/>
          </a:prstGeom>
          <a:noFill/>
          <a:ln w="9525">
            <a:solidFill>
              <a:srgbClr val="AAB4C0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0B4288E0-67E1-4858-9B51-F4619ECDC53F}"/>
              </a:ext>
            </a:extLst>
          </p:cNvPr>
          <p:cNvSpPr>
            <a:spLocks noGrp="1"/>
          </p:cNvSpPr>
          <p:nvPr/>
        </p:nvSpPr>
        <p:spPr>
          <a:xfrm>
            <a:off x="3381375" y="5286375"/>
            <a:ext cx="14763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東西（m）</a:t>
            </a:r>
          </a:p>
        </p:txBody>
      </p:sp>
      <p:sp>
        <p:nvSpPr>
          <p:cNvPr id="12" name="">
            <a:extLst>
              <a:ext uri="{FF2B5EF4-FFF2-40B4-BE49-F238E27FC236}">
                <ns2:creationId id="{B32B91AC-A7AD-4A4E-BB9B-69C76B47356C}"/>
              </a:ext>
            </a:extLst>
          </p:cNvPr>
          <p:cNvSpPr>
            <a:spLocks noGrp="1"/>
          </p:cNvSpPr>
          <p:nvPr/>
        </p:nvSpPr>
        <p:spPr>
          <a:xfrm>
            <a:off x="428625" y="1428750"/>
            <a:ext cx="14763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42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南北（m）</a:t>
            </a:r>
          </a:p>
        </p:txBody>
      </p:sp>
      <p:sp>
        <p:nvSpPr>
          <p:cNvPr id="13" name="">
            <a:extLst>
              <a:ext uri="{FF2B5EF4-FFF2-40B4-BE49-F238E27FC236}">
                <ns2:creationId id="{E563AD41-6015-49B6-8FAB-403AD0D4BA42}"/>
              </a:ext>
            </a:extLst>
          </p:cNvPr>
          <p:cNvSpPr>
            <a:spLocks noGrp="1"/>
          </p:cNvSpPr>
          <p:nvPr/>
        </p:nvSpPr>
        <p:spPr>
          <a:xfrm>
            <a:off x="1362075" y="3429000"/>
            <a:ext cx="5238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-100</a:t>
            </a:r>
          </a:p>
        </p:txBody>
      </p:sp>
      <p:sp>
        <p:nvSpPr>
          <p:cNvPr id="14" name="">
            <a:extLst>
              <a:ext uri="{FF2B5EF4-FFF2-40B4-BE49-F238E27FC236}">
                <ns2:creationId id="{ADD975F2-4FE7-4C50-BC36-0D631EFEBD64}"/>
              </a:ext>
            </a:extLst>
          </p:cNvPr>
          <p:cNvSpPr>
            <a:spLocks noGrp="1"/>
          </p:cNvSpPr>
          <p:nvPr/>
        </p:nvSpPr>
        <p:spPr>
          <a:xfrm>
            <a:off x="428625" y="4219575"/>
            <a:ext cx="476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-100</a:t>
            </a:r>
          </a:p>
        </p:txBody>
      </p:sp>
      <p:sp>
        <p:nvSpPr>
          <p:cNvPr id="15" name="">
            <a:extLst>
              <a:ext uri="{FF2B5EF4-FFF2-40B4-BE49-F238E27FC236}">
                <ns2:creationId id="{23B92F20-65E4-4CA8-B119-E93E9746C284}"/>
              </a:ext>
            </a:extLst>
          </p:cNvPr>
          <p:cNvSpPr>
            <a:spLocks noGrp="1"/>
          </p:cNvSpPr>
          <p:nvPr/>
        </p:nvSpPr>
        <p:spPr>
          <a:xfrm>
            <a:off x="2362200" y="3429000"/>
            <a:ext cx="5238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0</a:t>
            </a:r>
          </a:p>
        </p:txBody>
      </p:sp>
      <p:sp>
        <p:nvSpPr>
          <p:cNvPr id="16" name="">
            <a:extLst>
              <a:ext uri="{FF2B5EF4-FFF2-40B4-BE49-F238E27FC236}">
                <ns2:creationId id="{46607990-8632-47CE-A735-E6D688921D95}"/>
              </a:ext>
            </a:extLst>
          </p:cNvPr>
          <p:cNvSpPr>
            <a:spLocks noGrp="1"/>
          </p:cNvSpPr>
          <p:nvPr/>
        </p:nvSpPr>
        <p:spPr>
          <a:xfrm>
            <a:off x="428625" y="3219450"/>
            <a:ext cx="476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0</a:t>
            </a:r>
          </a:p>
        </p:txBody>
      </p:sp>
      <p:sp>
        <p:nvSpPr>
          <p:cNvPr id="17" name="">
            <a:extLst>
              <a:ext uri="{FF2B5EF4-FFF2-40B4-BE49-F238E27FC236}">
                <ns2:creationId id="{FCC6E6DA-B212-4F6B-9EBB-ABF818171205}"/>
              </a:ext>
            </a:extLst>
          </p:cNvPr>
          <p:cNvSpPr>
            <a:spLocks noGrp="1"/>
          </p:cNvSpPr>
          <p:nvPr/>
        </p:nvSpPr>
        <p:spPr>
          <a:xfrm>
            <a:off x="3362325" y="3429000"/>
            <a:ext cx="5238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100</a:t>
            </a:r>
          </a:p>
        </p:txBody>
      </p:sp>
      <p:sp>
        <p:nvSpPr>
          <p:cNvPr id="18" name="">
            <a:extLst>
              <a:ext uri="{FF2B5EF4-FFF2-40B4-BE49-F238E27FC236}">
                <ns2:creationId id="{BA7A3EE7-0010-4303-9C8F-41E01DD9FE3B}"/>
              </a:ext>
            </a:extLst>
          </p:cNvPr>
          <p:cNvSpPr>
            <a:spLocks noGrp="1"/>
          </p:cNvSpPr>
          <p:nvPr/>
        </p:nvSpPr>
        <p:spPr>
          <a:xfrm>
            <a:off x="428625" y="2219325"/>
            <a:ext cx="476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27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100</a:t>
            </a:r>
          </a:p>
        </p:txBody>
      </p:sp>
      <p:sp>
        <p:nvSpPr>
          <p:cNvPr id="19" name="">
            <a:extLst>
              <a:ext uri="{FF2B5EF4-FFF2-40B4-BE49-F238E27FC236}">
                <ns2:creationId id="{0F1A604F-E39A-408D-9A63-304C2FA9ACD4}"/>
              </a:ext>
            </a:extLst>
          </p:cNvPr>
          <p:cNvSpPr>
            <a:spLocks noGrp="1"/>
          </p:cNvSpPr>
          <p:nvPr/>
        </p:nvSpPr>
        <p:spPr>
          <a:xfrm>
            <a:off x="2206560" y="1570737"/>
            <a:ext cx="42694" cy="83081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CF34A1E0-0E7E-4151-9F67-EE790705277A}"/>
              </a:ext>
            </a:extLst>
          </p:cNvPr>
          <p:cNvSpPr>
            <a:spLocks noGrp="1"/>
          </p:cNvSpPr>
          <p:nvPr/>
        </p:nvSpPr>
        <p:spPr>
          <a:xfrm>
            <a:off x="2249254" y="1653818"/>
            <a:ext cx="42123" cy="83209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07154587-6A3C-49EC-9495-DDA1D9BB13EA}"/>
              </a:ext>
            </a:extLst>
          </p:cNvPr>
          <p:cNvSpPr>
            <a:spLocks noGrp="1"/>
          </p:cNvSpPr>
          <p:nvPr/>
        </p:nvSpPr>
        <p:spPr>
          <a:xfrm>
            <a:off x="2291378" y="1737027"/>
            <a:ext cx="40995" cy="83461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6E616BFB-B0AB-468F-B0F1-4C7F316BD030}"/>
              </a:ext>
            </a:extLst>
          </p:cNvPr>
          <p:cNvSpPr>
            <a:spLocks noGrp="1"/>
          </p:cNvSpPr>
          <p:nvPr/>
        </p:nvSpPr>
        <p:spPr>
          <a:xfrm>
            <a:off x="2332373" y="1820487"/>
            <a:ext cx="39339" cy="83830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ns2:creationId id="{68EDCD68-76E6-4AF1-9F70-96C0FCC006D1}"/>
              </a:ext>
            </a:extLst>
          </p:cNvPr>
          <p:cNvSpPr>
            <a:spLocks noGrp="1"/>
          </p:cNvSpPr>
          <p:nvPr/>
        </p:nvSpPr>
        <p:spPr>
          <a:xfrm>
            <a:off x="2371712" y="1904318"/>
            <a:ext cx="37194" cy="84309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ns2:creationId id="{AFCD5F67-EA58-45DC-B8CA-C0F3E998E69F}"/>
              </a:ext>
            </a:extLst>
          </p:cNvPr>
          <p:cNvSpPr>
            <a:spLocks noGrp="1"/>
          </p:cNvSpPr>
          <p:nvPr/>
        </p:nvSpPr>
        <p:spPr>
          <a:xfrm>
            <a:off x="2408906" y="1988627"/>
            <a:ext cx="34615" cy="84885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C9714503-04FD-4F9F-88B1-DCA00D0B0254}"/>
              </a:ext>
            </a:extLst>
          </p:cNvPr>
          <p:cNvSpPr>
            <a:spLocks noGrp="1"/>
          </p:cNvSpPr>
          <p:nvPr/>
        </p:nvSpPr>
        <p:spPr>
          <a:xfrm>
            <a:off x="2443521" y="2073512"/>
            <a:ext cx="31666" cy="85544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6" name="">
            <a:extLst>
              <a:ext uri="{FF2B5EF4-FFF2-40B4-BE49-F238E27FC236}">
                <ns2:creationId id="{DB0D22B8-8AD9-41FA-948A-9B1EF3B6DBE4}"/>
              </a:ext>
            </a:extLst>
          </p:cNvPr>
          <p:cNvSpPr>
            <a:spLocks noGrp="1"/>
          </p:cNvSpPr>
          <p:nvPr/>
        </p:nvSpPr>
        <p:spPr>
          <a:xfrm>
            <a:off x="2475186" y="2159055"/>
            <a:ext cx="28419" cy="86268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7" name="">
            <a:extLst>
              <a:ext uri="{FF2B5EF4-FFF2-40B4-BE49-F238E27FC236}">
                <ns2:creationId id="{3A1F00C0-A58B-43B9-8E78-BECE54546E55}"/>
              </a:ext>
            </a:extLst>
          </p:cNvPr>
          <p:cNvSpPr>
            <a:spLocks noGrp="1"/>
          </p:cNvSpPr>
          <p:nvPr/>
        </p:nvSpPr>
        <p:spPr>
          <a:xfrm>
            <a:off x="2503605" y="2245324"/>
            <a:ext cx="24956" cy="87042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ns2:creationId id="{1FD19EBB-1775-49F9-A944-0A96081AFB0A}"/>
              </a:ext>
            </a:extLst>
          </p:cNvPr>
          <p:cNvSpPr>
            <a:spLocks noGrp="1"/>
          </p:cNvSpPr>
          <p:nvPr/>
        </p:nvSpPr>
        <p:spPr>
          <a:xfrm>
            <a:off x="2528561" y="2332365"/>
            <a:ext cx="21362" cy="87844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9C1C10F0-0A3F-49A9-BB92-54733A4AB8C8}"/>
              </a:ext>
            </a:extLst>
          </p:cNvPr>
          <p:cNvSpPr>
            <a:spLocks noGrp="1"/>
          </p:cNvSpPr>
          <p:nvPr/>
        </p:nvSpPr>
        <p:spPr>
          <a:xfrm>
            <a:off x="2549922" y="2420209"/>
            <a:ext cx="17726" cy="88656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0" name="">
            <a:extLst>
              <a:ext uri="{FF2B5EF4-FFF2-40B4-BE49-F238E27FC236}">
                <ns2:creationId id="{6856817B-0AAA-4700-878C-1C8BC051DFC3}"/>
              </a:ext>
            </a:extLst>
          </p:cNvPr>
          <p:cNvSpPr>
            <a:spLocks noGrp="1"/>
          </p:cNvSpPr>
          <p:nvPr/>
        </p:nvSpPr>
        <p:spPr>
          <a:xfrm>
            <a:off x="2567649" y="2508865"/>
            <a:ext cx="14140" cy="89456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ns2:creationId id="{E4E4C92A-8CBD-40D1-AE94-C7581342CDAE}"/>
              </a:ext>
            </a:extLst>
          </p:cNvPr>
          <p:cNvSpPr>
            <a:spLocks noGrp="1"/>
          </p:cNvSpPr>
          <p:nvPr/>
        </p:nvSpPr>
        <p:spPr>
          <a:xfrm>
            <a:off x="2581789" y="2598321"/>
            <a:ext cx="10691" cy="90226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C513F6F9-8FF6-4157-90A8-9618A44DB610}"/>
              </a:ext>
            </a:extLst>
          </p:cNvPr>
          <p:cNvSpPr>
            <a:spLocks noGrp="1"/>
          </p:cNvSpPr>
          <p:nvPr/>
        </p:nvSpPr>
        <p:spPr>
          <a:xfrm>
            <a:off x="2592480" y="2688547"/>
            <a:ext cx="7467" cy="90946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3" name="">
            <a:extLst>
              <a:ext uri="{FF2B5EF4-FFF2-40B4-BE49-F238E27FC236}">
                <ns2:creationId id="{16A9C9B7-76EA-4C89-9C37-4C64F7A5A2C4}"/>
              </a:ext>
            </a:extLst>
          </p:cNvPr>
          <p:cNvSpPr>
            <a:spLocks noGrp="1"/>
          </p:cNvSpPr>
          <p:nvPr/>
        </p:nvSpPr>
        <p:spPr>
          <a:xfrm>
            <a:off x="2599947" y="2779494"/>
            <a:ext cx="4545" cy="91598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4" name="">
            <a:extLst>
              <a:ext uri="{FF2B5EF4-FFF2-40B4-BE49-F238E27FC236}">
                <ns2:creationId id="{C5131B05-380C-4E06-8C8B-1302D873C908}"/>
              </a:ext>
            </a:extLst>
          </p:cNvPr>
          <p:cNvSpPr>
            <a:spLocks noGrp="1"/>
          </p:cNvSpPr>
          <p:nvPr/>
        </p:nvSpPr>
        <p:spPr>
          <a:xfrm>
            <a:off x="2604492" y="2871092"/>
            <a:ext cx="2000" cy="92167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5" name="">
            <a:extLst>
              <a:ext uri="{FF2B5EF4-FFF2-40B4-BE49-F238E27FC236}">
                <ns2:creationId id="{ABE599B3-8992-4859-B352-07C4B9768970}"/>
              </a:ext>
            </a:extLst>
          </p:cNvPr>
          <p:cNvSpPr>
            <a:spLocks noGrp="1"/>
          </p:cNvSpPr>
          <p:nvPr/>
        </p:nvSpPr>
        <p:spPr>
          <a:xfrm flipV="1">
            <a:off x="2606386" y="2963259"/>
            <a:ext cx="106" cy="92637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6" name="">
            <a:extLst>
              <a:ext uri="{FF2B5EF4-FFF2-40B4-BE49-F238E27FC236}">
                <ns2:creationId id="{1533C9E9-ED67-4162-A4E0-4DB37CDD0C1C}"/>
              </a:ext>
            </a:extLst>
          </p:cNvPr>
          <p:cNvSpPr>
            <a:spLocks noGrp="1"/>
          </p:cNvSpPr>
          <p:nvPr/>
        </p:nvSpPr>
        <p:spPr>
          <a:xfrm flipV="1">
            <a:off x="2604667" y="3055895"/>
            <a:ext cx="1720" cy="92997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7" name="">
            <a:extLst>
              <a:ext uri="{FF2B5EF4-FFF2-40B4-BE49-F238E27FC236}">
                <ns2:creationId id="{387965B2-FD42-48FF-8B59-4434E700CEE8}"/>
              </a:ext>
            </a:extLst>
          </p:cNvPr>
          <p:cNvSpPr>
            <a:spLocks noGrp="1"/>
          </p:cNvSpPr>
          <p:nvPr/>
        </p:nvSpPr>
        <p:spPr>
          <a:xfrm flipV="1">
            <a:off x="2601864" y="3148892"/>
            <a:ext cx="2802" cy="93239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8" name="">
            <a:extLst>
              <a:ext uri="{FF2B5EF4-FFF2-40B4-BE49-F238E27FC236}">
                <ns2:creationId id="{E46E330A-3475-4A5B-80A7-B8AC82C1220D}"/>
              </a:ext>
            </a:extLst>
          </p:cNvPr>
          <p:cNvSpPr>
            <a:spLocks noGrp="1"/>
          </p:cNvSpPr>
          <p:nvPr/>
        </p:nvSpPr>
        <p:spPr>
          <a:xfrm flipV="1">
            <a:off x="2598538" y="3242131"/>
            <a:ext cx="3326" cy="93356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39" name="">
            <a:extLst>
              <a:ext uri="{FF2B5EF4-FFF2-40B4-BE49-F238E27FC236}">
                <ns2:creationId id="{A16C4D45-C230-4939-850C-913EF15C1EE8}"/>
              </a:ext>
            </a:extLst>
          </p:cNvPr>
          <p:cNvSpPr>
            <a:spLocks noGrp="1"/>
          </p:cNvSpPr>
          <p:nvPr/>
        </p:nvSpPr>
        <p:spPr>
          <a:xfrm flipV="1">
            <a:off x="2595260" y="3335487"/>
            <a:ext cx="3278" cy="93345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0" name="">
            <a:extLst>
              <a:ext uri="{FF2B5EF4-FFF2-40B4-BE49-F238E27FC236}">
                <ns2:creationId id="{E41E61F1-CACD-4EF0-9169-900168F9929E}"/>
              </a:ext>
            </a:extLst>
          </p:cNvPr>
          <p:cNvSpPr>
            <a:spLocks noGrp="1"/>
          </p:cNvSpPr>
          <p:nvPr/>
        </p:nvSpPr>
        <p:spPr>
          <a:xfrm flipV="1">
            <a:off x="2592600" y="3428832"/>
            <a:ext cx="2660" cy="93207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1" name="">
            <a:extLst>
              <a:ext uri="{FF2B5EF4-FFF2-40B4-BE49-F238E27FC236}">
                <ns2:creationId id="{CC439190-D95C-468C-BB1E-00D64DECA5A0}"/>
              </a:ext>
            </a:extLst>
          </p:cNvPr>
          <p:cNvSpPr>
            <a:spLocks noGrp="1"/>
          </p:cNvSpPr>
          <p:nvPr/>
        </p:nvSpPr>
        <p:spPr>
          <a:xfrm flipV="1">
            <a:off x="2591113" y="3522039"/>
            <a:ext cx="1487" cy="92945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2" name="">
            <a:extLst>
              <a:ext uri="{FF2B5EF4-FFF2-40B4-BE49-F238E27FC236}">
                <ns2:creationId id="{5D179307-E1EF-4282-BFE5-F3CBE5EEBE69}"/>
              </a:ext>
            </a:extLst>
          </p:cNvPr>
          <p:cNvSpPr>
            <a:spLocks noGrp="1"/>
          </p:cNvSpPr>
          <p:nvPr/>
        </p:nvSpPr>
        <p:spPr>
          <a:xfrm>
            <a:off x="2591113" y="3614984"/>
            <a:ext cx="212" cy="92566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3" name="">
            <a:extLst>
              <a:ext uri="{FF2B5EF4-FFF2-40B4-BE49-F238E27FC236}">
                <ns2:creationId id="{02061CD2-EE72-420F-AF38-33EC846A7C40}"/>
              </a:ext>
            </a:extLst>
          </p:cNvPr>
          <p:cNvSpPr>
            <a:spLocks noGrp="1"/>
          </p:cNvSpPr>
          <p:nvPr/>
        </p:nvSpPr>
        <p:spPr>
          <a:xfrm>
            <a:off x="2591326" y="3707550"/>
            <a:ext cx="2395" cy="92078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4" name="">
            <a:extLst>
              <a:ext uri="{FF2B5EF4-FFF2-40B4-BE49-F238E27FC236}">
                <ns2:creationId id="{74E60697-5CA0-40AD-AB85-AC398E8973D0}"/>
              </a:ext>
            </a:extLst>
          </p:cNvPr>
          <p:cNvSpPr>
            <a:spLocks noGrp="1"/>
          </p:cNvSpPr>
          <p:nvPr/>
        </p:nvSpPr>
        <p:spPr>
          <a:xfrm>
            <a:off x="2593721" y="3799628"/>
            <a:ext cx="5008" cy="91495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5" name="">
            <a:extLst>
              <a:ext uri="{FF2B5EF4-FFF2-40B4-BE49-F238E27FC236}">
                <ns2:creationId id="{9A72A951-4EE8-4562-94FA-C4A08AC9C359}"/>
              </a:ext>
            </a:extLst>
          </p:cNvPr>
          <p:cNvSpPr>
            <a:spLocks noGrp="1"/>
          </p:cNvSpPr>
          <p:nvPr/>
        </p:nvSpPr>
        <p:spPr>
          <a:xfrm>
            <a:off x="2598729" y="3891123"/>
            <a:ext cx="7985" cy="90830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6" name="">
            <a:extLst>
              <a:ext uri="{FF2B5EF4-FFF2-40B4-BE49-F238E27FC236}">
                <ns2:creationId id="{038928C5-59BE-474F-8117-8166DA8AD0B9}"/>
              </a:ext>
            </a:extLst>
          </p:cNvPr>
          <p:cNvSpPr>
            <a:spLocks noGrp="1"/>
          </p:cNvSpPr>
          <p:nvPr/>
        </p:nvSpPr>
        <p:spPr>
          <a:xfrm>
            <a:off x="2606714" y="3981954"/>
            <a:ext cx="11253" cy="90101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7" name="">
            <a:extLst>
              <a:ext uri="{FF2B5EF4-FFF2-40B4-BE49-F238E27FC236}">
                <ns2:creationId id="{21DDAC86-57D2-46EE-B5DA-31C9CBBCA078}"/>
              </a:ext>
            </a:extLst>
          </p:cNvPr>
          <p:cNvSpPr>
            <a:spLocks noGrp="1"/>
          </p:cNvSpPr>
          <p:nvPr/>
        </p:nvSpPr>
        <p:spPr>
          <a:xfrm>
            <a:off x="2617967" y="4072055"/>
            <a:ext cx="14730" cy="89324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8" name="">
            <a:extLst>
              <a:ext uri="{FF2B5EF4-FFF2-40B4-BE49-F238E27FC236}">
                <ns2:creationId id="{D1076C5F-F1E5-4FCE-912E-98F93A1915D0}"/>
              </a:ext>
            </a:extLst>
          </p:cNvPr>
          <p:cNvSpPr>
            <a:spLocks noGrp="1"/>
          </p:cNvSpPr>
          <p:nvPr/>
        </p:nvSpPr>
        <p:spPr>
          <a:xfrm>
            <a:off x="2632698" y="4161379"/>
            <a:ext cx="18331" cy="88521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49" name="">
            <a:extLst>
              <a:ext uri="{FF2B5EF4-FFF2-40B4-BE49-F238E27FC236}">
                <ns2:creationId id="{63670262-C0D6-4F2D-BEE7-5A02417C6A90}"/>
              </a:ext>
            </a:extLst>
          </p:cNvPr>
          <p:cNvSpPr>
            <a:spLocks noGrp="1"/>
          </p:cNvSpPr>
          <p:nvPr/>
        </p:nvSpPr>
        <p:spPr>
          <a:xfrm>
            <a:off x="2651029" y="4249900"/>
            <a:ext cx="21966" cy="87709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0" name="">
            <a:extLst>
              <a:ext uri="{FF2B5EF4-FFF2-40B4-BE49-F238E27FC236}">
                <ns2:creationId id="{66D8D3D9-9355-4948-9246-08684F84520B}"/>
              </a:ext>
            </a:extLst>
          </p:cNvPr>
          <p:cNvSpPr>
            <a:spLocks noGrp="1"/>
          </p:cNvSpPr>
          <p:nvPr/>
        </p:nvSpPr>
        <p:spPr>
          <a:xfrm>
            <a:off x="2672995" y="4337609"/>
            <a:ext cx="25544" cy="86910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1" name="">
            <a:extLst>
              <a:ext uri="{FF2B5EF4-FFF2-40B4-BE49-F238E27FC236}">
                <ns2:creationId id="{CE26D4D2-E43E-4818-8E8A-4501B77D2FA5}"/>
              </a:ext>
            </a:extLst>
          </p:cNvPr>
          <p:cNvSpPr>
            <a:spLocks noGrp="1"/>
          </p:cNvSpPr>
          <p:nvPr/>
        </p:nvSpPr>
        <p:spPr>
          <a:xfrm>
            <a:off x="2698539" y="4424519"/>
            <a:ext cx="28977" cy="86144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2" name="">
            <a:extLst>
              <a:ext uri="{FF2B5EF4-FFF2-40B4-BE49-F238E27FC236}">
                <ns2:creationId id="{A0FD5E38-1082-4B9D-89E1-06CEC0540D57}"/>
              </a:ext>
            </a:extLst>
          </p:cNvPr>
          <p:cNvSpPr>
            <a:spLocks noGrp="1"/>
          </p:cNvSpPr>
          <p:nvPr/>
        </p:nvSpPr>
        <p:spPr>
          <a:xfrm>
            <a:off x="2727516" y="4510663"/>
            <a:ext cx="32180" cy="85429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3" name="">
            <a:extLst>
              <a:ext uri="{FF2B5EF4-FFF2-40B4-BE49-F238E27FC236}">
                <ns2:creationId id="{51330047-B0B4-47EF-9D68-B2CBF675AA11}"/>
              </a:ext>
            </a:extLst>
          </p:cNvPr>
          <p:cNvSpPr>
            <a:spLocks noGrp="1"/>
          </p:cNvSpPr>
          <p:nvPr/>
        </p:nvSpPr>
        <p:spPr>
          <a:xfrm>
            <a:off x="2759696" y="4596091"/>
            <a:ext cx="35072" cy="84783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4" name="">
            <a:extLst>
              <a:ext uri="{FF2B5EF4-FFF2-40B4-BE49-F238E27FC236}">
                <ns2:creationId id="{FF05D3CF-1757-4AFC-978E-04EE337DCF87}"/>
              </a:ext>
            </a:extLst>
          </p:cNvPr>
          <p:cNvSpPr>
            <a:spLocks noGrp="1"/>
          </p:cNvSpPr>
          <p:nvPr/>
        </p:nvSpPr>
        <p:spPr>
          <a:xfrm>
            <a:off x="2794768" y="4680874"/>
            <a:ext cx="37583" cy="84222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5" name="">
            <a:extLst>
              <a:ext uri="{FF2B5EF4-FFF2-40B4-BE49-F238E27FC236}">
                <ns2:creationId id="{529BC113-E02D-4540-8B09-4F946534863C}"/>
              </a:ext>
            </a:extLst>
          </p:cNvPr>
          <p:cNvSpPr>
            <a:spLocks noGrp="1"/>
          </p:cNvSpPr>
          <p:nvPr/>
        </p:nvSpPr>
        <p:spPr>
          <a:xfrm>
            <a:off x="2832352" y="4765097"/>
            <a:ext cx="39650" cy="83761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6" name="">
            <a:extLst>
              <a:ext uri="{FF2B5EF4-FFF2-40B4-BE49-F238E27FC236}">
                <ns2:creationId id="{88144D58-6F55-4899-B674-89107495EE73}"/>
              </a:ext>
            </a:extLst>
          </p:cNvPr>
          <p:cNvSpPr>
            <a:spLocks noGrp="1"/>
          </p:cNvSpPr>
          <p:nvPr/>
        </p:nvSpPr>
        <p:spPr>
          <a:xfrm>
            <a:off x="2872002" y="4848857"/>
            <a:ext cx="41221" cy="83410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7" name="">
            <a:extLst>
              <a:ext uri="{FF2B5EF4-FFF2-40B4-BE49-F238E27FC236}">
                <ns2:creationId id="{036B3A79-EF17-49E2-9830-6A5CFAA522F4}"/>
              </a:ext>
            </a:extLst>
          </p:cNvPr>
          <p:cNvSpPr>
            <a:spLocks noGrp="1"/>
          </p:cNvSpPr>
          <p:nvPr/>
        </p:nvSpPr>
        <p:spPr>
          <a:xfrm>
            <a:off x="2913223" y="4932268"/>
            <a:ext cx="42258" cy="83179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58" name="">
            <a:extLst>
              <a:ext uri="{FF2B5EF4-FFF2-40B4-BE49-F238E27FC236}">
                <ns2:creationId id="{6085A5F2-9431-438D-A65D-1D3F57B9D8DF}"/>
              </a:ext>
            </a:extLst>
          </p:cNvPr>
          <p:cNvSpPr>
            <a:spLocks noGrp="1"/>
          </p:cNvSpPr>
          <p:nvPr/>
        </p:nvSpPr>
        <p:spPr>
          <a:xfrm>
            <a:off x="1485900" y="3948113"/>
            <a:ext cx="171450" cy="1714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59" name="">
            <a:extLst>
              <a:ext uri="{FF2B5EF4-FFF2-40B4-BE49-F238E27FC236}">
                <ns2:creationId id="{AF403D10-B086-410E-ADC2-0B0F13FF6189}"/>
              </a:ext>
            </a:extLst>
          </p:cNvPr>
          <p:cNvSpPr>
            <a:spLocks noGrp="1"/>
          </p:cNvSpPr>
          <p:nvPr/>
        </p:nvSpPr>
        <p:spPr>
          <a:xfrm>
            <a:off x="1695450" y="3890963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A</a:t>
            </a:r>
          </a:p>
        </p:txBody>
      </p:sp>
      <p:sp>
        <p:nvSpPr>
          <p:cNvPr id="60" name="">
            <a:extLst>
              <a:ext uri="{FF2B5EF4-FFF2-40B4-BE49-F238E27FC236}">
                <ns2:creationId id="{F238B668-6072-4FCC-92A9-E0D5BEFCD65F}"/>
              </a:ext>
            </a:extLst>
          </p:cNvPr>
          <p:cNvSpPr>
            <a:spLocks noGrp="1"/>
          </p:cNvSpPr>
          <p:nvPr/>
        </p:nvSpPr>
        <p:spPr>
          <a:xfrm>
            <a:off x="3336131" y="4148138"/>
            <a:ext cx="171450" cy="1714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61" name="">
            <a:extLst>
              <a:ext uri="{FF2B5EF4-FFF2-40B4-BE49-F238E27FC236}">
                <ns2:creationId id="{A6AF74F5-D735-4A84-B4C9-DD69A98EA335}"/>
              </a:ext>
            </a:extLst>
          </p:cNvPr>
          <p:cNvSpPr>
            <a:spLocks noGrp="1"/>
          </p:cNvSpPr>
          <p:nvPr/>
        </p:nvSpPr>
        <p:spPr>
          <a:xfrm>
            <a:off x="3545681" y="4090988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B</a:t>
            </a:r>
          </a:p>
        </p:txBody>
      </p:sp>
      <p:sp>
        <p:nvSpPr>
          <p:cNvPr id="62" name="">
            <a:extLst>
              <a:ext uri="{FF2B5EF4-FFF2-40B4-BE49-F238E27FC236}">
                <ns2:creationId id="{8233B144-6EF2-4239-906A-36EEAF33E0F2}"/>
              </a:ext>
            </a:extLst>
          </p:cNvPr>
          <p:cNvSpPr>
            <a:spLocks noGrp="1"/>
          </p:cNvSpPr>
          <p:nvPr/>
        </p:nvSpPr>
        <p:spPr>
          <a:xfrm>
            <a:off x="3586163" y="2447925"/>
            <a:ext cx="171450" cy="1714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63" name="">
            <a:extLst>
              <a:ext uri="{FF2B5EF4-FFF2-40B4-BE49-F238E27FC236}">
                <ns2:creationId id="{14972134-051C-4AF2-83DE-86F42013E353}"/>
              </a:ext>
            </a:extLst>
          </p:cNvPr>
          <p:cNvSpPr>
            <a:spLocks noGrp="1"/>
          </p:cNvSpPr>
          <p:nvPr/>
        </p:nvSpPr>
        <p:spPr>
          <a:xfrm>
            <a:off x="3795713" y="2390775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C</a:t>
            </a:r>
          </a:p>
        </p:txBody>
      </p:sp>
      <p:sp>
        <p:nvSpPr>
          <p:cNvPr id="64" name="">
            <a:extLst>
              <a:ext uri="{FF2B5EF4-FFF2-40B4-BE49-F238E27FC236}">
                <ns2:creationId id="{4353A1ED-B07A-46B3-8F45-49D4F0F91F4B}"/>
              </a:ext>
            </a:extLst>
          </p:cNvPr>
          <p:cNvSpPr>
            <a:spLocks noGrp="1"/>
          </p:cNvSpPr>
          <p:nvPr/>
        </p:nvSpPr>
        <p:spPr>
          <a:xfrm>
            <a:off x="1685925" y="2147888"/>
            <a:ext cx="171450" cy="1714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65" name="">
            <a:extLst>
              <a:ext uri="{FF2B5EF4-FFF2-40B4-BE49-F238E27FC236}">
                <ns2:creationId id="{C3BC3C5D-8364-4AA1-8A10-D6A6847A067F}"/>
              </a:ext>
            </a:extLst>
          </p:cNvPr>
          <p:cNvSpPr>
            <a:spLocks noGrp="1"/>
          </p:cNvSpPr>
          <p:nvPr/>
        </p:nvSpPr>
        <p:spPr>
          <a:xfrm>
            <a:off x="1895475" y="2090738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D</a:t>
            </a:r>
          </a:p>
        </p:txBody>
      </p:sp>
      <p:sp>
        <p:nvSpPr>
          <p:cNvPr id="66" name="">
            <a:extLst>
              <a:ext uri="{FF2B5EF4-FFF2-40B4-BE49-F238E27FC236}">
                <ns2:creationId id="{FE4D6438-2739-42AC-8BA0-88A1152402C0}"/>
              </a:ext>
            </a:extLst>
          </p:cNvPr>
          <p:cNvSpPr>
            <a:spLocks noGrp="1"/>
          </p:cNvSpPr>
          <p:nvPr/>
        </p:nvSpPr>
        <p:spPr>
          <a:xfrm>
            <a:off x="2586038" y="3098006"/>
            <a:ext cx="171450" cy="1714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67" name="">
            <a:extLst>
              <a:ext uri="{FF2B5EF4-FFF2-40B4-BE49-F238E27FC236}">
                <ns2:creationId id="{1127510A-4F09-43FD-A75A-B4944D274576}"/>
              </a:ext>
            </a:extLst>
          </p:cNvPr>
          <p:cNvSpPr>
            <a:spLocks noGrp="1"/>
          </p:cNvSpPr>
          <p:nvPr/>
        </p:nvSpPr>
        <p:spPr>
          <a:xfrm>
            <a:off x="2795588" y="3040856"/>
            <a:ext cx="428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72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E</a:t>
            </a:r>
          </a:p>
        </p:txBody>
      </p:sp>
      <p:graphicFrame>
        <p:nvGraphicFramePr>
          <p:cNvPr id="68" name="">
            <a:extLst>
              <a:ext uri="{FF2B5EF4-FFF2-40B4-BE49-F238E27FC236}">
                <ns2:creationId id="{EBA8E971-E54C-4B34-B0A2-3B812A644EDB}"/>
              </a:ext>
            </a:extLst>
          </p:cNvPr>
          <p:cNvGraphicFramePr/>
          <p:nvPr/>
        </p:nvGraphicFramePr>
        <p:xfrm>
          <a:off x="4953000" y="1666875"/>
          <a:ext cx="3714750" cy="2714625"/>
        </p:xfrm>
        <a:graphic>
          <a:graphicData uri="http://schemas.openxmlformats.org/drawingml/2006/table">
            <a:tbl>
              <a:tblPr/>
              <a:tblGrid>
                <a:gridCol w="952500"/>
                <a:gridCol w="904875"/>
                <a:gridCol w="904875"/>
                <a:gridCol w="952500"/>
              </a:tblGrid>
              <a:tr h="452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ノード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x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z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52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-100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-70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-90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52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110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-80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110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524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" name="">
            <a:extLst>
              <a:ext uri="{FF2B5EF4-FFF2-40B4-BE49-F238E27FC236}">
                <ns2:creationId id="{9E222E9C-F6AA-4580-9C50-0A6FF364B4A7}"/>
              </a:ext>
            </a:extLst>
          </p:cNvPr>
          <p:cNvSpPr>
            <a:spLocks noGrp="1"/>
          </p:cNvSpPr>
          <p:nvPr/>
        </p:nvSpPr>
        <p:spPr>
          <a:xfrm>
            <a:off x="4953000" y="4619625"/>
            <a:ext cx="376237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全座標は架空、単位m</a:t>
            </a:r>
          </a:p>
          <a:p>
            <a: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機体高度：基準20〜60mに±3mの変動</a:t>
            </a:r>
          </a:p>
          <a:p>
            <a:pPr algn="l">
              <a:def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5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青四角：受信機、薄青線：軌跡の平面図</a:t>
            </a:r>
          </a:p>
        </p:txBody>
      </p:sp>
      <p:sp>
        <p:nvSpPr>
          <p:cNvPr id="70" name="">
            <a:extLst>
              <a:ext uri="{FF2B5EF4-FFF2-40B4-BE49-F238E27FC236}">
                <ns2:creationId id="{0305B126-B76E-4095-9F64-CB9BF160DB5F}"/>
              </a:ext>
            </a:extLst>
          </p:cNvPr>
          <p:cNvSpPr>
            <a:spLocks noGrp="1"/>
          </p:cNvSpPr>
          <p:nvPr/>
        </p:nvSpPr>
        <p:spPr>
          <a:xfrm>
            <a:off x="428625" y="585787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共通の1飛行を5台で観測。受信機を全て同じ場所には置いていない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追加実験：実装したスコアと閾値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ペア別ではなく、受信ノードの集合Sごとに校正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ea484030-2eda-5011-bb2d-14db55d0efe3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16</a:t>
            </a:fld>
          </a:p>
        </p:txBody>
      </p:sp>
      <p:sp>
        <p:nvSpPr>
          <p:cNvPr id="8" name="">
            <a:extLst>
              <a:ext uri="{FF2B5EF4-FFF2-40B4-BE49-F238E27FC236}">
                <ns2:creationId id="{2630FCB3-2B03-40D2-92F9-75D029E71770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event_scenarios.py / config.json（合成10 seed）</a:t>
            </a:r>
          </a:p>
        </p:txBody>
      </p:sp>
      <p:sp>
        <p:nvSpPr>
          <p:cNvPr id="9" name="">
            <a:extLst>
              <a:ext uri="{FF2B5EF4-FFF2-40B4-BE49-F238E27FC236}">
                <ns2:creationId id="{7CA972DE-5927-4BC5-B90D-BC4467D820AA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809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1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uᵢ(q) = Rᵢ + 10n log₁₀‖q−xᵢ‖</a:t>
            </a:r>
          </a:p>
        </p:txBody>
      </p:sp>
      <p:sp>
        <p:nvSpPr>
          <p:cNvPr id="10" name="">
            <a:extLst>
              <a:ext uri="{FF2B5EF4-FFF2-40B4-BE49-F238E27FC236}">
                <ns2:creationId id="{F37EBCB1-83BF-45EB-851D-925E801A42C6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809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s(q) = RMS［uᵢ(q) − 集合S内の平均u］</a:t>
            </a:r>
          </a:p>
        </p:txBody>
      </p:sp>
      <p:graphicFrame>
        <p:nvGraphicFramePr>
          <p:cNvPr id="11" name="">
            <a:extLst>
              <a:ext uri="{FF2B5EF4-FFF2-40B4-BE49-F238E27FC236}">
                <ns2:creationId id="{C2B06EDF-4318-4171-8314-F007EAD192C9}"/>
              </a:ext>
            </a:extLst>
          </p:cNvPr>
          <p:cNvGraphicFramePr/>
          <p:nvPr/>
        </p:nvGraphicFramePr>
        <p:xfrm>
          <a:off x="400050" y="2952750"/>
          <a:ext cx="8343900" cy="2381250"/>
        </p:xfrm>
        <a:graphic>
          <a:graphicData uri="http://schemas.openxmlformats.org/drawingml/2006/table">
            <a:tbl>
              <a:tblPr/>
              <a:tblGrid>
                <a:gridCol w="2095500"/>
                <a:gridCol w="6248400"/>
              </a:tblGrid>
              <a:tr h="4762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処理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762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正常校正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20飛行×240送信／seed。正常q=pでsを計算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閾値の設定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集合Sが同じ正常スコア40件以上で95%点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762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独立評価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30飛行×240送信／seed、乱数条件10通り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判定と保留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2台以上かつ閾値ありなら判定。不足なら保留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>
              <a:ext uri="{FF2B5EF4-FFF2-40B4-BE49-F238E27FC236}">
                <ns2:creationId id="{2F88343B-EF59-44BE-9BEF-76270A34C1FB}"/>
              </a:ext>
            </a:extLst>
          </p:cNvPr>
          <p:cNvSpPr>
            <a:spLocks noGrp="1"/>
          </p:cNvSpPr>
          <p:nvPr/>
        </p:nvSpPr>
        <p:spPr>
          <a:xfrm>
            <a:off x="428625" y="5572125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共通電力を平均で除く。受信機ごとの誤差は残る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元の非同時条件ではない。対応付けは既知、伝搬係数2.2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追加実験：雑音で位置改変の検知率が変化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同じ5台の配置・正常校正・共通送信。変えるのは独立リンク雑音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2c04d6d5-50cd-5c31-ab6e-2003124b7036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17</a:t>
            </a:fld>
          </a:p>
        </p:txBody>
      </p:sp>
      <p:sp>
        <p:nvSpPr>
          <p:cNvPr id="8" name="">
            <a:extLst>
              <a:ext uri="{FF2B5EF4-FFF2-40B4-BE49-F238E27FC236}">
                <ns2:creationId id="{5035A97A-0B8E-4721-9FAF-F73DCA436629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curves-summary.csv（合成10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61048567-11EB-49C9-9A97-3D7F90A26B4E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85def85344384923"/>
          </a:graphicData>
        </a:graphic>
      </p:graphicFrame>
      <p:sp>
        <p:nvSpPr>
          <p:cNvPr id="10" name="">
            <a:extLst>
              <a:ext uri="{FF2B5EF4-FFF2-40B4-BE49-F238E27FC236}">
                <ns2:creationId id="{DB6FECE3-6D91-43F7-974D-AEF179DE3E22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正常は約5%。30m改変：SD2dBでも19.52%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100m改変：SD2dBで73.68%、SD6dBで18.73%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共通電力は消えても、受信機ごとの独立雑音ε_A−ε_Bは残る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4台でも識別できない対称配置の反例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半径100mの円周上に地上4台。2つの候補は円の中心上空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7e90e97d-2d4e-587e-a3a5-f7753be460ec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18</a:t>
            </a:fld>
          </a:p>
        </p:txBody>
      </p:sp>
      <p:sp>
        <p:nvSpPr>
          <p:cNvPr id="8" name="">
            <a:extLst>
              <a:ext uri="{FF2B5EF4-FFF2-40B4-BE49-F238E27FC236}">
                <ns2:creationId id="{68F704B4-E044-4632-B562-2D4000A4F609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summary.json / counterexamples（雑音なしの構成的反例、n=2.2）</a:t>
            </a:r>
          </a:p>
        </p:txBody>
      </p:sp>
      <p:sp>
        <p:nvSpPr>
          <p:cNvPr id="9" name="">
            <a:extLst>
              <a:ext uri="{FF2B5EF4-FFF2-40B4-BE49-F238E27FC236}">
                <ns2:creationId id="{1298FAB4-5664-483B-867D-380D389B3CBA}"/>
              </a:ext>
            </a:extLst>
          </p:cNvPr>
          <p:cNvSpPr>
            <a:spLocks noGrp="1"/>
          </p:cNvSpPr>
          <p:nvPr/>
        </p:nvSpPr>
        <p:spPr>
          <a:xfrm>
            <a:off x="714375" y="2238375"/>
            <a:ext cx="2190750" cy="2190750"/>
          </a:xfrm>
          <a:prstGeom prst="ellipse">
            <a:avLst/>
          </a:prstGeom>
          <a:noFill/>
          <a:ln w="19050">
            <a:solidFill>
              <a:srgbClr val="ADBCCC"/>
            </a:solidFill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A839EBD8-A396-48F9-8A39-5FE61C12449C}"/>
              </a:ext>
            </a:extLst>
          </p:cNvPr>
          <p:cNvSpPr>
            <a:spLocks noGrp="1"/>
          </p:cNvSpPr>
          <p:nvPr/>
        </p:nvSpPr>
        <p:spPr>
          <a:xfrm>
            <a:off x="2828925" y="3257550"/>
            <a:ext cx="152400" cy="1524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1182BBB7-8057-478A-901A-00D6A58970CF}"/>
              </a:ext>
            </a:extLst>
          </p:cNvPr>
          <p:cNvSpPr>
            <a:spLocks noGrp="1"/>
          </p:cNvSpPr>
          <p:nvPr/>
        </p:nvSpPr>
        <p:spPr>
          <a:xfrm>
            <a:off x="3019425" y="320040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A</a:t>
            </a:r>
          </a:p>
        </p:txBody>
      </p:sp>
      <p:sp>
        <p:nvSpPr>
          <p:cNvPr id="12" name="">
            <a:extLst>
              <a:ext uri="{FF2B5EF4-FFF2-40B4-BE49-F238E27FC236}">
                <ns2:creationId id="{D661BDD7-8F5B-4337-B18E-833D2A613DC8}"/>
              </a:ext>
            </a:extLst>
          </p:cNvPr>
          <p:cNvSpPr>
            <a:spLocks noGrp="1"/>
          </p:cNvSpPr>
          <p:nvPr/>
        </p:nvSpPr>
        <p:spPr>
          <a:xfrm>
            <a:off x="1733550" y="2162175"/>
            <a:ext cx="152400" cy="1524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67C507AA-C8DB-4B29-B9FD-69A6A324D469}"/>
              </a:ext>
            </a:extLst>
          </p:cNvPr>
          <p:cNvSpPr>
            <a:spLocks noGrp="1"/>
          </p:cNvSpPr>
          <p:nvPr/>
        </p:nvSpPr>
        <p:spPr>
          <a:xfrm>
            <a:off x="1924050" y="2105025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B</a:t>
            </a:r>
          </a:p>
        </p:txBody>
      </p:sp>
      <p:sp>
        <p:nvSpPr>
          <p:cNvPr id="14" name="">
            <a:extLst>
              <a:ext uri="{FF2B5EF4-FFF2-40B4-BE49-F238E27FC236}">
                <ns2:creationId id="{F8E7CCE2-5599-4AA9-BA0E-D33929949D0D}"/>
              </a:ext>
            </a:extLst>
          </p:cNvPr>
          <p:cNvSpPr>
            <a:spLocks noGrp="1"/>
          </p:cNvSpPr>
          <p:nvPr/>
        </p:nvSpPr>
        <p:spPr>
          <a:xfrm>
            <a:off x="638175" y="3257550"/>
            <a:ext cx="152400" cy="1524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6E7022C6-3B42-4C83-B64E-028766BF1646}"/>
              </a:ext>
            </a:extLst>
          </p:cNvPr>
          <p:cNvSpPr>
            <a:spLocks noGrp="1"/>
          </p:cNvSpPr>
          <p:nvPr/>
        </p:nvSpPr>
        <p:spPr>
          <a:xfrm>
            <a:off x="828675" y="3200400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C</a:t>
            </a:r>
          </a:p>
        </p:txBody>
      </p:sp>
      <p:sp>
        <p:nvSpPr>
          <p:cNvPr id="16" name="">
            <a:extLst>
              <a:ext uri="{FF2B5EF4-FFF2-40B4-BE49-F238E27FC236}">
                <ns2:creationId id="{CA17164D-9756-4403-81EE-FB7B628108C3}"/>
              </a:ext>
            </a:extLst>
          </p:cNvPr>
          <p:cNvSpPr>
            <a:spLocks noGrp="1"/>
          </p:cNvSpPr>
          <p:nvPr/>
        </p:nvSpPr>
        <p:spPr>
          <a:xfrm>
            <a:off x="1733550" y="4352925"/>
            <a:ext cx="152400" cy="15240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34CAC4F3-6527-4D28-AE22-86B98C2ED964}"/>
              </a:ext>
            </a:extLst>
          </p:cNvPr>
          <p:cNvSpPr>
            <a:spLocks noGrp="1"/>
          </p:cNvSpPr>
          <p:nvPr/>
        </p:nvSpPr>
        <p:spPr>
          <a:xfrm>
            <a:off x="1924050" y="4295775"/>
            <a:ext cx="333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D</a:t>
            </a:r>
          </a:p>
        </p:txBody>
      </p:sp>
      <p:sp>
        <p:nvSpPr>
          <p:cNvPr id="18" name="">
            <a:extLst>
              <a:ext uri="{FF2B5EF4-FFF2-40B4-BE49-F238E27FC236}">
                <ns2:creationId id="{4240392A-022C-4FBC-8A6F-DF1089B3D7CA}"/>
              </a:ext>
            </a:extLst>
          </p:cNvPr>
          <p:cNvSpPr>
            <a:spLocks noGrp="1"/>
          </p:cNvSpPr>
          <p:nvPr/>
        </p:nvSpPr>
        <p:spPr>
          <a:xfrm>
            <a:off x="1714500" y="3238500"/>
            <a:ext cx="190500" cy="190500"/>
          </a:xfrm>
          <a:prstGeom prst="ellipse">
            <a:avLst/>
          </a:prstGeom>
          <a:solidFill>
            <a:srgbClr val="E02B2B"/>
          </a:solidFill>
          <a:ln w="0">
            <a:noFill/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FC39558C-AE46-44D9-9829-9309E74706E5}"/>
              </a:ext>
            </a:extLst>
          </p:cNvPr>
          <p:cNvSpPr>
            <a:spLocks noGrp="1"/>
          </p:cNvSpPr>
          <p:nvPr/>
        </p:nvSpPr>
        <p:spPr>
          <a:xfrm>
            <a:off x="1162050" y="34956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rPr>
              <a:t>中心上空</a:t>
            </a:r>
          </a:p>
        </p:txBody>
      </p:sp>
      <p:sp>
        <p:nvSpPr>
          <p:cNvPr id="20" name="">
            <a:extLst>
              <a:ext uri="{FF2B5EF4-FFF2-40B4-BE49-F238E27FC236}">
                <ns2:creationId id="{627E6F14-3EF3-4BD4-A91E-1EC9C95903D3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平面図：全台で同じ距離比</a:t>
            </a:r>
          </a:p>
        </p:txBody>
      </p:sp>
      <p:sp>
        <p:nvSpPr>
          <p:cNvPr id="21" name="">
            <a:extLst>
              <a:ext uri="{FF2B5EF4-FFF2-40B4-BE49-F238E27FC236}">
                <ns2:creationId id="{CC954A07-A31B-4E87-93E8-A4F047967393}"/>
              </a:ext>
            </a:extLst>
          </p:cNvPr>
          <p:cNvSpPr>
            <a:spLocks noGrp="1"/>
          </p:cNvSpPr>
          <p:nvPr/>
        </p:nvSpPr>
        <p:spPr>
          <a:xfrm>
            <a:off x="3952875" y="1619250"/>
            <a:ext cx="4619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各受信機までの距離</a:t>
            </a:r>
          </a:p>
        </p:txBody>
      </p:sp>
      <p:sp>
        <p:nvSpPr>
          <p:cNvPr id="22" name="">
            <a:extLst>
              <a:ext uri="{FF2B5EF4-FFF2-40B4-BE49-F238E27FC236}">
                <ns2:creationId id="{6CC786A0-C628-400A-A3DE-2BC934C13990}"/>
              </a:ext>
            </a:extLst>
          </p:cNvPr>
          <p:cNvSpPr>
            <a:spLocks noGrp="1"/>
          </p:cNvSpPr>
          <p:nvPr/>
        </p:nvSpPr>
        <p:spPr>
          <a:xfrm>
            <a:off x="3952875" y="2143125"/>
            <a:ext cx="46196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d₈₀ = √(100²+80²) ≈ 128.06m</a:t>
            </a:r>
          </a:p>
          <a:p>
            <a:pPr algn="l">
              <a:def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95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d₂₀ = √(100²+20²) ≈ 101.98m</a:t>
            </a:r>
          </a:p>
        </p:txBody>
      </p:sp>
      <p:sp>
        <p:nvSpPr>
          <p:cNvPr id="23" name="">
            <a:extLst>
              <a:ext uri="{FF2B5EF4-FFF2-40B4-BE49-F238E27FC236}">
                <ns2:creationId id="{F4084922-8DFA-43E8-9207-9FA94344B125}"/>
              </a:ext>
            </a:extLst>
          </p:cNvPr>
          <p:cNvSpPr>
            <a:spLocks noGrp="1"/>
          </p:cNvSpPr>
          <p:nvPr/>
        </p:nvSpPr>
        <p:spPr>
          <a:xfrm>
            <a:off x="3952875" y="3476625"/>
            <a:ext cx="4619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全4台で d₂₀ / d₈₀ が等しい</a:t>
            </a:r>
          </a:p>
        </p:txBody>
      </p:sp>
      <p:sp>
        <p:nvSpPr>
          <p:cNvPr id="24" name="">
            <a:extLst>
              <a:ext uri="{FF2B5EF4-FFF2-40B4-BE49-F238E27FC236}">
                <ns2:creationId id="{91809A28-D04E-4C6D-BE30-8561FE06423C}"/>
              </a:ext>
            </a:extLst>
          </p:cNvPr>
          <p:cNvSpPr>
            <a:spLocks noGrp="1"/>
          </p:cNvSpPr>
          <p:nvPr/>
        </p:nvSpPr>
        <p:spPr>
          <a:xfrm>
            <a:off x="3952875" y="4048125"/>
            <a:ext cx="4619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P₂₀ − P₈₀ = 22 log₁₀(d₂₀/d₈₀)</a:t>
            </a:r>
          </a:p>
          <a:p>
            <a:pPr algn="l">
              <a:def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                  ≈ −2.18dB</a:t>
            </a:r>
          </a:p>
        </p:txBody>
      </p:sp>
      <p:sp>
        <p:nvSpPr>
          <p:cNvPr id="25" name="">
            <a:extLst>
              <a:ext uri="{FF2B5EF4-FFF2-40B4-BE49-F238E27FC236}">
                <ns2:creationId id="{F82FCA02-7B1B-4F40-85B5-2392F14A69F1}"/>
              </a:ext>
            </a:extLst>
          </p:cNvPr>
          <p:cNvSpPr>
            <a:spLocks noGrp="1"/>
          </p:cNvSpPr>
          <p:nvPr/>
        </p:nvSpPr>
        <p:spPr>
          <a:xfrm>
            <a:off x="428625" y="571500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距離比が全台共通なので、1つの電力補償で全RSSIが一致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この対称配置では、未知電力と高度20m／80mの違いを識別できない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まとめ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検知できる条件と、位置を保証できない条件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dac8b3ae-5716-561f-a730-f3a71f350627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19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CEEF85F7-DAC5-4831-B9F8-3D2E57638CCE}"/>
              </a:ext>
            </a:extLst>
          </p:cNvPr>
          <p:cNvGraphicFramePr/>
          <p:nvPr/>
        </p:nvGraphicFramePr>
        <p:xfrm>
          <a:off x="400050" y="1524000"/>
          <a:ext cx="8343900" cy="3286125"/>
        </p:xfrm>
        <a:graphic>
          <a:graphicData uri="http://schemas.openxmlformats.org/drawingml/2006/table">
            <a:tbl>
              <a:tblPr/>
              <a:tblGrid>
                <a:gridCol w="2952750"/>
                <a:gridCol w="5391150"/>
              </a:tblGrid>
              <a:tr h="6572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条件・根拠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今回言えること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572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非同時・単独RSSI・自由電力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別距離・別電力で同じ履歴を構成。件数だけで識別不可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確率変動モデルの単独受信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真距離20〜40m：改変14.12%、正常10.95%。分離は小さい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572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同一送信の5台受信を追加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100m改変で73.68%／18.73%。雑音SD2／6dBに依存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対称配置の4台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全RSSIが同じ反例。台数だけで真位置を保証しない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949C5186-9D00-4D4D-8832-D26A2F68861B}"/>
              </a:ext>
            </a:extLst>
          </p:cNvPr>
          <p:cNvSpPr>
            <a:spLocks noGrp="1"/>
          </p:cNvSpPr>
          <p:nvPr/>
        </p:nvSpPr>
        <p:spPr>
          <a:xfrm>
            <a:off x="428625" y="53816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警報はモデル不整合。真位置・実放射電力・機体の身元は認証しない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今後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元のRSSI監視で成立条件を満たせるかを確認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e99863bd-432b-5801-ac27-9080b6c9df06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20</a:t>
            </a:fld>
          </a:p>
        </p:txBody>
      </p:sp>
      <p:sp>
        <p:nvSpPr>
          <p:cNvPr id="8" name="">
            <a:extLst>
              <a:ext uri="{FF2B5EF4-FFF2-40B4-BE49-F238E27FC236}">
                <ns2:creationId id="{C99114B4-86B2-46F8-B34D-6248AB795414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実測で確認するもの</a:t>
            </a:r>
          </a:p>
        </p:txBody>
      </p:sp>
      <p:sp>
        <p:nvSpPr>
          <p:cNvPr id="9" name="">
            <a:extLst>
              <a:ext uri="{FF2B5EF4-FFF2-40B4-BE49-F238E27FC236}">
                <ns2:creationId id="{43177F55-598B-472E-9811-2CD0FED7797B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電力の変動幅・持続時間、受信選択、伝搬の揺らぎ</a:t>
            </a:r>
          </a:p>
        </p:txBody>
      </p:sp>
      <p:sp>
        <p:nvSpPr>
          <p:cNvPr id="10" name="">
            <a:extLst>
              <a:ext uri="{FF2B5EF4-FFF2-40B4-BE49-F238E27FC236}">
                <ns2:creationId id="{BEFC6CA4-B0E0-4DFA-9333-2593FDCA7324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元の非同時シナリオの拡張</a:t>
            </a:r>
          </a:p>
        </p:txBody>
      </p:sp>
      <p:sp>
        <p:nvSpPr>
          <p:cNvPr id="11" name="">
            <a:extLst>
              <a:ext uri="{FF2B5EF4-FFF2-40B4-BE49-F238E27FC236}">
                <ns2:creationId id="{C0DDA2F7-13F2-41A2-B840-D03CF857270F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独立真値付き評価、観測件数・時間幅、同名送信機の混入</a:t>
            </a:r>
          </a:p>
        </p:txBody>
      </p:sp>
      <p:sp>
        <p:nvSpPr>
          <p:cNvPr id="12" name="">
            <a:extLst>
              <a:ext uri="{FF2B5EF4-FFF2-40B4-BE49-F238E27FC236}">
                <ns2:creationId id="{16CF75BB-0742-48D6-9065-B0986F7B7983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別方式との比較</a:t>
            </a:r>
          </a:p>
        </p:txBody>
      </p:sp>
      <p:sp>
        <p:nvSpPr>
          <p:cNvPr id="13" name="">
            <a:extLst>
              <a:ext uri="{FF2B5EF4-FFF2-40B4-BE49-F238E27FC236}">
                <ns2:creationId id="{98EDFDCF-D3BD-488D-B1B2-022856F5EECF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方向・画像は追加証拠を導入する別構成。主方式の成立とは分離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第26回の作業内容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実測再解析と合成実験を分離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ee3feeae-a71f-5519-8598-7da27044cadb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21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A53A0370-C974-4671-8C6F-3322159102B8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2095500"/>
                <a:gridCol w="6248400"/>
              </a:tblGrid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区分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実施した内容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文献調査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4論文の観測条件・未知量・適用範囲の照合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実測データ再解析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屋内BLE、固定LoRa送信機をUAVで受信した公開記録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合成シミュレーション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非同時の単独受信、同一送信の複数受信、数理反例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集計と資料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正常誤警報・受信率・保留、CSVと設定の対応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496AACE9-BB94-4A3D-B72A-6ABB022FDE65}"/>
              </a:ext>
            </a:extLst>
          </p:cNvPr>
          <p:cNvSpPr>
            <a:spLocks noGrp="1"/>
          </p:cNvSpPr>
          <p:nvPr/>
        </p:nvSpPr>
        <p:spPr>
          <a:xfrm>
            <a:off x="428625" y="53816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今回の実RID実測や、新しいZKP回路の実装ではない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補足：元の非同時観測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1送信につき1 RSSI。別時刻・別送信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54dc0cea-49ff-5fb6-a564-9fc8e3de44b7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22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DEBCA2DE-B810-45DC-B587-90CA96243F07}"/>
              </a:ext>
            </a:extLst>
          </p:cNvPr>
          <p:cNvGraphicFramePr/>
          <p:nvPr/>
        </p:nvGraphicFramePr>
        <p:xfrm>
          <a:off x="400050" y="1524000"/>
          <a:ext cx="8343900" cy="2809875"/>
        </p:xfrm>
        <a:graphic>
          <a:graphicData uri="http://schemas.openxmlformats.org/drawingml/2006/table">
            <a:tbl>
              <a:tblPr/>
              <a:tblGrid>
                <a:gridCol w="1428750"/>
                <a:gridCol w="2000250"/>
                <a:gridCol w="4914900"/>
              </a:tblGrid>
              <a:tr h="702469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観測者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時刻の例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対応する観測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702469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当日10時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送信e1の申告位置と、e1のRSSI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当日11時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送信e2の申告位置と、e2のRSSI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702469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翌日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送信e3の申告位置と、e3のRSSI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CFCAEAAF-57D5-4006-8323-DB4CE02E1790}"/>
              </a:ext>
            </a:extLst>
          </p:cNvPr>
          <p:cNvSpPr>
            <a:spLocks noGrp="1"/>
          </p:cNvSpPr>
          <p:nvPr/>
        </p:nvSpPr>
        <p:spPr>
          <a:xfrm>
            <a:off x="428625" y="5000625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それぞれ正しい時刻の位置とRSSIを対応させる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別時刻の観測と、誤った時刻同士を結ぶ操作は区別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補足：現実の未知量と実験の正解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正解を知る実験プログラムと、検出器を分離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8404b588-6fac-59c7-827e-550c9ad8ab2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23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D050A8FF-3C6A-432B-9740-CC9BE7BB51CD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2190750"/>
                <a:gridCol w="3048000"/>
                <a:gridCol w="3105150"/>
              </a:tblGrid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情報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現実の観測者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合成実験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RID・申告位置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不信頼な入力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改変する入力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RSSI・観測地点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受信側の観測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生成した入力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真位置・実際の電力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通常は未知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生成器が保持する正解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検出器への真値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通常は渡せない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評価時に参照。予測入力とは分離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C82ACF17-C59C-464E-AF33-E32714EA66E6}"/>
              </a:ext>
            </a:extLst>
          </p:cNvPr>
          <p:cNvSpPr>
            <a:spLocks noGrp="1"/>
          </p:cNvSpPr>
          <p:nvPr/>
        </p:nvSpPr>
        <p:spPr>
          <a:xfrm>
            <a:off x="428625" y="53816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真距離付き校正を使う実験は、その追加情報を明示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補足：距離と電力が違う同じRSSI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理想モデル：n=2、雑音なし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985c4c42-c52c-5e60-b9fb-6d6c3928116d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24</a:t>
            </a:fld>
          </a:p>
        </p:txBody>
      </p:sp>
      <p:sp>
        <p:nvSpPr>
          <p:cNvPr id="8" name="">
            <a:extLst>
              <a:ext uri="{FF2B5EF4-FFF2-40B4-BE49-F238E27FC236}">
                <ns2:creationId id="{7E1E23F2-2A57-475C-87F0-D152E452B96C}"/>
              </a:ext>
            </a:extLst>
          </p:cNvPr>
          <p:cNvSpPr>
            <a:spLocks noGrp="1"/>
          </p:cNvSpPr>
          <p:nvPr/>
        </p:nvSpPr>
        <p:spPr>
          <a:xfrm>
            <a:off x="619125" y="1666875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遠い場所から強く送信</a:t>
            </a:r>
          </a:p>
        </p:txBody>
      </p:sp>
      <p:sp>
        <p:nvSpPr>
          <p:cNvPr id="9" name="">
            <a:extLst>
              <a:ext uri="{FF2B5EF4-FFF2-40B4-BE49-F238E27FC236}">
                <ns2:creationId id="{8050E3A6-3BEA-4567-B881-2D1C125C3112}"/>
              </a:ext>
            </a:extLst>
          </p:cNvPr>
          <p:cNvSpPr>
            <a:spLocks noGrp="1"/>
          </p:cNvSpPr>
          <p:nvPr/>
        </p:nvSpPr>
        <p:spPr>
          <a:xfrm>
            <a:off x="1143000" y="2143125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C84BC0CC-DB3F-4AFA-818F-14789CC11EA3}"/>
              </a:ext>
            </a:extLst>
          </p:cNvPr>
          <p:cNvSpPr>
            <a:spLocks noGrp="1"/>
          </p:cNvSpPr>
          <p:nvPr/>
        </p:nvSpPr>
        <p:spPr>
          <a:xfrm>
            <a:off x="590550" y="2400300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機体</a:t>
            </a:r>
          </a:p>
        </p:txBody>
      </p:sp>
      <p:sp>
        <p:nvSpPr>
          <p:cNvPr id="11" name="">
            <a:extLst>
              <a:ext uri="{FF2B5EF4-FFF2-40B4-BE49-F238E27FC236}">
                <ns2:creationId id="{6A4085BF-C465-4D1C-BC11-C7505A7DE028}"/>
              </a:ext>
            </a:extLst>
          </p:cNvPr>
          <p:cNvSpPr>
            <a:spLocks noGrp="1"/>
          </p:cNvSpPr>
          <p:nvPr/>
        </p:nvSpPr>
        <p:spPr>
          <a:xfrm>
            <a:off x="3095625" y="3810000"/>
            <a:ext cx="381000" cy="2857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4EC1F387-42B3-4569-88CA-DA0B36F9EFA5}"/>
              </a:ext>
            </a:extLst>
          </p:cNvPr>
          <p:cNvSpPr>
            <a:spLocks noGrp="1"/>
          </p:cNvSpPr>
          <p:nvPr/>
        </p:nvSpPr>
        <p:spPr>
          <a:xfrm>
            <a:off x="2714625" y="4238625"/>
            <a:ext cx="1285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受信機</a:t>
            </a:r>
          </a:p>
        </p:txBody>
      </p:sp>
      <p:sp>
        <p:nvSpPr>
          <p:cNvPr id="13" name="">
            <a:extLst>
              <a:ext uri="{FF2B5EF4-FFF2-40B4-BE49-F238E27FC236}">
                <ns2:creationId id="{DF923320-D57D-4545-83AB-72B7B829E0B3}"/>
              </a:ext>
            </a:extLst>
          </p:cNvPr>
          <p:cNvSpPr>
            <a:spLocks noGrp="1"/>
          </p:cNvSpPr>
          <p:nvPr/>
        </p:nvSpPr>
        <p:spPr>
          <a:xfrm>
            <a:off x="1381125" y="2381250"/>
            <a:ext cx="1857375" cy="1333500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7A61B7C9-0282-491C-AFE0-336857575C46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3619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同じ受信強度になる場合</a:t>
            </a:r>
          </a:p>
        </p:txBody>
      </p:sp>
      <p:sp>
        <p:nvSpPr>
          <p:cNvPr id="15" name="">
            <a:extLst>
              <a:ext uri="{FF2B5EF4-FFF2-40B4-BE49-F238E27FC236}">
                <ns2:creationId id="{C7330E02-13D2-4AC8-99B0-69D3D78BBED0}"/>
              </a:ext>
            </a:extLst>
          </p:cNvPr>
          <p:cNvSpPr>
            <a:spLocks noGrp="1"/>
          </p:cNvSpPr>
          <p:nvPr/>
        </p:nvSpPr>
        <p:spPr>
          <a:xfrm>
            <a:off x="4905375" y="1666875"/>
            <a:ext cx="361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近い場所から弱く送信</a:t>
            </a:r>
          </a:p>
        </p:txBody>
      </p:sp>
      <p:sp>
        <p:nvSpPr>
          <p:cNvPr id="16" name="">
            <a:extLst>
              <a:ext uri="{FF2B5EF4-FFF2-40B4-BE49-F238E27FC236}">
                <ns2:creationId id="{9067031A-2779-411B-9BEB-D8B3866B3493}"/>
              </a:ext>
            </a:extLst>
          </p:cNvPr>
          <p:cNvSpPr>
            <a:spLocks noGrp="1"/>
          </p:cNvSpPr>
          <p:nvPr/>
        </p:nvSpPr>
        <p:spPr>
          <a:xfrm>
            <a:off x="5429250" y="3048000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E710A9CA-853B-4AD6-9CB8-42D5D1A7D409}"/>
              </a:ext>
            </a:extLst>
          </p:cNvPr>
          <p:cNvSpPr>
            <a:spLocks noGrp="1"/>
          </p:cNvSpPr>
          <p:nvPr/>
        </p:nvSpPr>
        <p:spPr>
          <a:xfrm>
            <a:off x="4876800" y="330517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機体</a:t>
            </a:r>
          </a:p>
        </p:txBody>
      </p:sp>
      <p:sp>
        <p:nvSpPr>
          <p:cNvPr id="18" name="">
            <a:extLst>
              <a:ext uri="{FF2B5EF4-FFF2-40B4-BE49-F238E27FC236}">
                <ns2:creationId id="{8A3E1226-178F-4E77-927C-BC6C83CD5D76}"/>
              </a:ext>
            </a:extLst>
          </p:cNvPr>
          <p:cNvSpPr>
            <a:spLocks noGrp="1"/>
          </p:cNvSpPr>
          <p:nvPr/>
        </p:nvSpPr>
        <p:spPr>
          <a:xfrm>
            <a:off x="7381875" y="3810000"/>
            <a:ext cx="381000" cy="2857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FFADD52B-74AE-4FD3-97F5-C59C62FD6D80}"/>
              </a:ext>
            </a:extLst>
          </p:cNvPr>
          <p:cNvSpPr>
            <a:spLocks noGrp="1"/>
          </p:cNvSpPr>
          <p:nvPr/>
        </p:nvSpPr>
        <p:spPr>
          <a:xfrm>
            <a:off x="7000875" y="4238625"/>
            <a:ext cx="1285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受信機</a:t>
            </a:r>
          </a:p>
        </p:txBody>
      </p:sp>
      <p:sp>
        <p:nvSpPr>
          <p:cNvPr id="20" name="">
            <a:extLst>
              <a:ext uri="{FF2B5EF4-FFF2-40B4-BE49-F238E27FC236}">
                <ns2:creationId id="{46CA502D-7F4F-48E9-B73F-F83719B7FA09}"/>
              </a:ext>
            </a:extLst>
          </p:cNvPr>
          <p:cNvSpPr>
            <a:spLocks noGrp="1"/>
          </p:cNvSpPr>
          <p:nvPr/>
        </p:nvSpPr>
        <p:spPr>
          <a:xfrm>
            <a:off x="5667375" y="3238500"/>
            <a:ext cx="1857375" cy="476250"/>
          </a:xfrm>
          <a:prstGeom prst="line">
            <a:avLst/>
          </a:prstGeom>
          <a:noFill/>
          <a:ln w="19050">
            <a:solidFill>
              <a:srgbClr val="8CA7C3"/>
            </a:solidFill>
            <a:prstDash val="solid"/>
          </a:ln>
        </p:spPr>
      </p:sp>
      <p:sp>
        <p:nvSpPr>
          <p:cNvPr id="21" name="">
            <a:extLst>
              <a:ext uri="{FF2B5EF4-FFF2-40B4-BE49-F238E27FC236}">
                <ns2:creationId id="{6F5072AD-3A78-4B3C-93C7-9605455B240B}"/>
              </a:ext>
            </a:extLst>
          </p:cNvPr>
          <p:cNvSpPr>
            <a:spLocks noGrp="1"/>
          </p:cNvSpPr>
          <p:nvPr/>
        </p:nvSpPr>
        <p:spPr>
          <a:xfrm>
            <a:off x="4905375" y="4810125"/>
            <a:ext cx="3619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同じ受信強度になる場合</a:t>
            </a:r>
          </a:p>
        </p:txBody>
      </p:sp>
      <p:sp>
        <p:nvSpPr>
          <p:cNvPr id="22" name="">
            <a:extLst>
              <a:ext uri="{FF2B5EF4-FFF2-40B4-BE49-F238E27FC236}">
                <ns2:creationId id="{0D06F412-36BA-45E9-B164-7E0E989BC370}"/>
              </a:ext>
            </a:extLst>
          </p:cNvPr>
          <p:cNvSpPr>
            <a:spLocks noGrp="1"/>
          </p:cNvSpPr>
          <p:nvPr/>
        </p:nvSpPr>
        <p:spPr>
          <a:xfrm>
            <a:off x="428625" y="55721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RSSIが同じでも、距離と送信電力の組合せは一つに決まらない</a:t>
            </a:r>
          </a:p>
        </p:txBody>
      </p:sp>
      <p:sp>
        <p:nvSpPr>
          <p:cNvPr id="23" name="">
            <a:extLst>
              <a:ext uri="{FF2B5EF4-FFF2-40B4-BE49-F238E27FC236}">
                <ns2:creationId id="{A744656A-15C8-4E0F-8E9A-9AD950A1DA00}"/>
              </a:ext>
            </a:extLst>
          </p:cNvPr>
          <p:cNvSpPr>
            <a:spLocks noGrp="1"/>
          </p:cNvSpPr>
          <p:nvPr/>
        </p:nvSpPr>
        <p:spPr>
          <a:xfrm>
            <a:off x="590550" y="1333500"/>
            <a:ext cx="3667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100m・基準電力+20dB</a:t>
            </a:r>
          </a:p>
        </p:txBody>
      </p:sp>
      <p:sp>
        <p:nvSpPr>
          <p:cNvPr id="24" name="">
            <a:extLst>
              <a:ext uri="{FF2B5EF4-FFF2-40B4-BE49-F238E27FC236}">
                <ns2:creationId id="{61CA284B-B4BC-4312-8479-D437B0428724}"/>
              </a:ext>
            </a:extLst>
          </p:cNvPr>
          <p:cNvSpPr>
            <a:spLocks noGrp="1"/>
          </p:cNvSpPr>
          <p:nvPr/>
        </p:nvSpPr>
        <p:spPr>
          <a:xfrm>
            <a:off x="4876800" y="1333500"/>
            <a:ext cx="3667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10m・元の基準電力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補足：GhostBusterの実測と仮想評価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実飛行のRF測定から、仮想的な複数観測者の評価へ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e9c1a96-cb2c-593e-ba78-6dc65bc0443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25</a:t>
            </a:fld>
          </a:p>
        </p:txBody>
      </p:sp>
      <p:sp>
        <p:nvSpPr>
          <p:cNvPr id="8" name="">
            <a:extLst>
              <a:ext uri="{FF2B5EF4-FFF2-40B4-BE49-F238E27FC236}">
                <ns2:creationId id="{7DBC43C9-B894-4980-967E-D2D28D36C3C8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Keizer, Sciancalepore &amp; Oligeri, GhostBuster, IEEE CCNC 2024, pp.324–332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DOI:10.1109/CCNC51664.2024.10454860（原論文の報告。今回の追試ではない）</a:t>
            </a:r>
          </a:p>
        </p:txBody>
      </p:sp>
      <p:sp>
        <p:nvSpPr>
          <p:cNvPr id="9" name="">
            <a:extLst>
              <a:ext uri="{FF2B5EF4-FFF2-40B4-BE49-F238E27FC236}">
                <ns2:creationId id="{653B0310-3A4B-48AD-9310-0F212054B114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2571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実測</a:t>
            </a:r>
          </a:p>
        </p:txBody>
      </p:sp>
      <p:sp>
        <p:nvSpPr>
          <p:cNvPr id="10" name="">
            <a:extLst>
              <a:ext uri="{FF2B5EF4-FFF2-40B4-BE49-F238E27FC236}">
                <ns2:creationId id="{29507CDE-B3BC-4B19-8A75-BAAE1F323654}"/>
              </a:ext>
            </a:extLst>
          </p:cNvPr>
          <p:cNvSpPr>
            <a:spLocks noGrp="1"/>
          </p:cNvSpPr>
          <p:nvPr/>
        </p:nvSpPr>
        <p:spPr>
          <a:xfrm>
            <a:off x="457200" y="2619375"/>
            <a:ext cx="2571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単一RFセンサの</a:t>
            </a:r>
          </a:p>
          <a:p>
            <a: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実飛行記録</a:t>
            </a:r>
          </a:p>
        </p:txBody>
      </p:sp>
      <p:sp>
        <p:nvSpPr>
          <p:cNvPr id="11" name="">
            <a:extLst>
              <a:ext uri="{FF2B5EF4-FFF2-40B4-BE49-F238E27FC236}">
                <ns2:creationId id="{4FB1C64E-5BF6-4107-9911-22A414BF898D}"/>
              </a:ext>
            </a:extLst>
          </p:cNvPr>
          <p:cNvSpPr>
            <a:spLocks noGrp="1"/>
          </p:cNvSpPr>
          <p:nvPr/>
        </p:nvSpPr>
        <p:spPr>
          <a:xfrm>
            <a:off x="2790825" y="2286000"/>
            <a:ext cx="476250" cy="953"/>
          </a:xfrm>
          <a:prstGeom prst="line">
            <a:avLst/>
          </a:prstGeom>
          <a:noFill/>
          <a:ln w="19050">
            <a:solidFill>
              <a:srgbClr val="7B8591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9CFCAB5D-1F12-46BD-B0AA-CD6F2A7F8692}"/>
              </a:ext>
            </a:extLst>
          </p:cNvPr>
          <p:cNvSpPr>
            <a:spLocks noGrp="1"/>
          </p:cNvSpPr>
          <p:nvPr/>
        </p:nvSpPr>
        <p:spPr>
          <a:xfrm>
            <a:off x="3314700" y="1905000"/>
            <a:ext cx="2571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モデル化</a:t>
            </a:r>
          </a:p>
        </p:txBody>
      </p:sp>
      <p:sp>
        <p:nvSpPr>
          <p:cNvPr id="13" name="">
            <a:extLst>
              <a:ext uri="{FF2B5EF4-FFF2-40B4-BE49-F238E27FC236}">
                <ns2:creationId id="{6DADEE24-85E5-448E-A5A7-EC60B1933609}"/>
              </a:ext>
            </a:extLst>
          </p:cNvPr>
          <p:cNvSpPr>
            <a:spLocks noGrp="1"/>
          </p:cNvSpPr>
          <p:nvPr/>
        </p:nvSpPr>
        <p:spPr>
          <a:xfrm>
            <a:off x="3314700" y="2619375"/>
            <a:ext cx="2571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機体ごとの</a:t>
            </a:r>
          </a:p>
          <a:p>
            <a: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伝搬特性を推定</a:t>
            </a:r>
          </a:p>
        </p:txBody>
      </p:sp>
      <p:sp>
        <p:nvSpPr>
          <p:cNvPr id="14" name="">
            <a:extLst>
              <a:ext uri="{FF2B5EF4-FFF2-40B4-BE49-F238E27FC236}">
                <ns2:creationId id="{9583C0FF-AAC0-4C6D-B15A-201BA35CA0BF}"/>
              </a:ext>
            </a:extLst>
          </p:cNvPr>
          <p:cNvSpPr>
            <a:spLocks noGrp="1"/>
          </p:cNvSpPr>
          <p:nvPr/>
        </p:nvSpPr>
        <p:spPr>
          <a:xfrm>
            <a:off x="5648325" y="2286000"/>
            <a:ext cx="476250" cy="953"/>
          </a:xfrm>
          <a:prstGeom prst="line">
            <a:avLst/>
          </a:prstGeom>
          <a:noFill/>
          <a:ln w="19050">
            <a:solidFill>
              <a:srgbClr val="7B8591"/>
            </a:solidFill>
            <a:prstDash val="solid"/>
          </a:ln>
        </p:spPr>
      </p:sp>
      <p:sp>
        <p:nvSpPr>
          <p:cNvPr id="15" name="">
            <a:extLst>
              <a:ext uri="{FF2B5EF4-FFF2-40B4-BE49-F238E27FC236}">
                <ns2:creationId id="{7E1D7490-57A7-454D-B27C-E1EEAE9E9F1E}"/>
              </a:ext>
            </a:extLst>
          </p:cNvPr>
          <p:cNvSpPr>
            <a:spLocks noGrp="1"/>
          </p:cNvSpPr>
          <p:nvPr/>
        </p:nvSpPr>
        <p:spPr>
          <a:xfrm>
            <a:off x="6172200" y="1905000"/>
            <a:ext cx="2571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仮想評価</a:t>
            </a:r>
          </a:p>
        </p:txBody>
      </p:sp>
      <p:sp>
        <p:nvSpPr>
          <p:cNvPr id="16" name="">
            <a:extLst>
              <a:ext uri="{FF2B5EF4-FFF2-40B4-BE49-F238E27FC236}">
                <ns2:creationId id="{0B1E8697-42A4-493B-89A7-213032D522E6}"/>
              </a:ext>
            </a:extLst>
          </p:cNvPr>
          <p:cNvSpPr>
            <a:spLocks noGrp="1"/>
          </p:cNvSpPr>
          <p:nvPr/>
        </p:nvSpPr>
        <p:spPr>
          <a:xfrm>
            <a:off x="6172200" y="2619375"/>
            <a:ext cx="2571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複数受信機を配置し</a:t>
            </a:r>
          </a:p>
          <a:p>
            <a:pPr algn="l">
              <a:def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位置推定と照合</a:t>
            </a:r>
          </a:p>
        </p:txBody>
      </p:sp>
      <p:sp>
        <p:nvSpPr>
          <p:cNvPr id="17" name="">
            <a:extLst>
              <a:ext uri="{FF2B5EF4-FFF2-40B4-BE49-F238E27FC236}">
                <ns2:creationId id="{C7B2F839-9C07-446F-9380-551E889D9C86}"/>
              </a:ext>
            </a:extLst>
          </p:cNvPr>
          <p:cNvSpPr>
            <a:spLocks noGrp="1"/>
          </p:cNvSpPr>
          <p:nvPr/>
        </p:nvSpPr>
        <p:spPr>
          <a:xfrm>
            <a:off x="419100" y="4476750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実測で取得していないもの</a:t>
            </a:r>
          </a:p>
        </p:txBody>
      </p:sp>
      <p:sp>
        <p:nvSpPr>
          <p:cNvPr id="18" name="">
            <a:extLst>
              <a:ext uri="{FF2B5EF4-FFF2-40B4-BE49-F238E27FC236}">
                <ns2:creationId id="{7B176879-80E9-46F8-976C-4671599041EF}"/>
              </a:ext>
            </a:extLst>
          </p:cNvPr>
          <p:cNvSpPr>
            <a:spLocks noGrp="1"/>
          </p:cNvSpPr>
          <p:nvPr/>
        </p:nvSpPr>
        <p:spPr>
          <a:xfrm>
            <a:off x="447675" y="4857750"/>
            <a:ext cx="8210550" cy="5118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12台を同時に置いて取得したRID受信記録そのものではない</a:t>
            </a:r>
          </a:p>
        </p:txBody>
      </p:sp>
      <p:sp>
        <p:nvSpPr>
          <p:cNvPr id="19" name="">
            <a:extLst>
              <a:ext uri="{FF2B5EF4-FFF2-40B4-BE49-F238E27FC236}">
                <ns2:creationId id="{281280CD-DF84-4B37-AE85-5D7B16BDB0A9}"/>
              </a:ext>
            </a:extLst>
          </p:cNvPr>
          <p:cNvSpPr>
            <a:spLocks noGrp="1"/>
          </p:cNvSpPr>
          <p:nvPr/>
        </p:nvSpPr>
        <p:spPr>
          <a:xfrm>
            <a:off x="428625" y="55721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今回の実装はこの原アルゴリズムの追試ではない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補足：GhostBusterの検知距離の意味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UA1・UA3は、実飛行データ中の別の無人機・伝搬モデル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53df8631-e86d-54d2-9da0-78c64d0a7656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26</a:t>
            </a:fld>
          </a:p>
        </p:txBody>
      </p:sp>
      <p:sp>
        <p:nvSpPr>
          <p:cNvPr id="8" name="">
            <a:extLst>
              <a:ext uri="{FF2B5EF4-FFF2-40B4-BE49-F238E27FC236}">
                <ns2:creationId id="{AA2188FA-49D3-414E-A81E-8745E49C3047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Keizer, Sciancalepore &amp; Oligeri, GhostBuster, IEEE CCNC 2024, pp.324–332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DOI:10.1109/CCNC51664.2024.10454860（原論文の報告。今回の追試ではない）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6BFF19F6-F162-43FE-AF2E-3F05C95CC59F}"/>
              </a:ext>
            </a:extLst>
          </p:cNvPr>
          <p:cNvGraphicFramePr/>
          <p:nvPr/>
        </p:nvGraphicFramePr>
        <p:xfrm>
          <a:off x="400050" y="1524000"/>
          <a:ext cx="8343900" cy="1952625"/>
        </p:xfrm>
        <a:graphic>
          <a:graphicData uri="http://schemas.openxmlformats.org/drawingml/2006/table">
            <a:tbl>
              <a:tblPr/>
              <a:tblGrid>
                <a:gridCol w="4476750"/>
                <a:gridCol w="3867150"/>
              </a:tblGrid>
              <a:tr h="650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本文VI-Cの条件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95%の攻撃を検知した偽装変位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50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仮想12受信機、5パケット：UA1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364m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同条件：UA3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1,175m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7225B506-D9D0-4F5A-9095-3298D5F971DF}"/>
              </a:ext>
            </a:extLst>
          </p:cNvPr>
          <p:cNvSpPr>
            <a:spLocks noGrp="1"/>
          </p:cNvSpPr>
          <p:nvPr/>
        </p:nvSpPr>
        <p:spPr>
          <a:xfrm>
            <a:off x="419100" y="4191000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数値を左右する条件</a:t>
            </a:r>
          </a:p>
        </p:txBody>
      </p:sp>
      <p:sp>
        <p:nvSpPr>
          <p:cNvPr id="11" name="">
            <a:extLst>
              <a:ext uri="{FF2B5EF4-FFF2-40B4-BE49-F238E27FC236}">
                <ns2:creationId id="{8B06628A-89DB-4FB0-AADC-9F57AA458D61}"/>
              </a:ext>
            </a:extLst>
          </p:cNvPr>
          <p:cNvSpPr>
            <a:spLocks noGrp="1"/>
          </p:cNvSpPr>
          <p:nvPr/>
        </p:nvSpPr>
        <p:spPr>
          <a:xfrm>
            <a:off x="447675" y="4572000"/>
            <a:ext cx="8210550" cy="9094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正常位置推定の誤差分布上端から閾値を選ぶ設計</a:t>
            </a:r>
          </a:p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伝搬条件・位置推定誤差が大きいと、小さい偽装は分離しにくい</a:t>
            </a:r>
          </a:p>
        </p:txBody>
      </p:sp>
      <p:sp>
        <p:nvSpPr>
          <p:cNvPr id="12" name="">
            <a:extLst>
              <a:ext uri="{FF2B5EF4-FFF2-40B4-BE49-F238E27FC236}">
                <ns2:creationId id="{454AAD76-6E3F-4EB0-BBC0-7AC4B730FAE9}"/>
              </a:ext>
            </a:extLst>
          </p:cNvPr>
          <p:cNvSpPr>
            <a:spLocks noGrp="1"/>
          </p:cNvSpPr>
          <p:nvPr/>
        </p:nvSpPr>
        <p:spPr>
          <a:xfrm>
            <a:off x="428625" y="5619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95%は当該モデルでの攻撃検知率。受信半径ではない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正常評価の誤警報が独立に常に5%という条件とは異なる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補足：DRSSで共通電力が消える理由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今回は同じ物理送信を条件にして、共通のP₀を置く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20d11b-6e9c-5d40-8411-32d0d34fdfb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27</a:t>
            </a:fld>
          </a:p>
        </p:txBody>
      </p:sp>
      <p:sp>
        <p:nvSpPr>
          <p:cNvPr id="8" name="">
            <a:extLst>
              <a:ext uri="{FF2B5EF4-FFF2-40B4-BE49-F238E27FC236}">
                <ns2:creationId id="{6BA5EE94-3BFA-4138-BCBF-843BE2FB3D0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Hu &amp; Leus, Robust Differential Received Signal Strength-Based Localization, IEEE TSP 65(12), 2017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DOI:10.1109/TSP.2017.2684741, II・式(1)–(2)</a:t>
            </a:r>
          </a:p>
        </p:txBody>
      </p:sp>
      <p:sp>
        <p:nvSpPr>
          <p:cNvPr id="9" name="">
            <a:extLst>
              <a:ext uri="{FF2B5EF4-FFF2-40B4-BE49-F238E27FC236}">
                <ns2:creationId id="{710E8B44-CCC0-495E-975F-B2169BFC522E}"/>
              </a:ext>
            </a:extLst>
          </p:cNvPr>
          <p:cNvSpPr>
            <a:spLocks noGrp="1"/>
          </p:cNvSpPr>
          <p:nvPr/>
        </p:nvSpPr>
        <p:spPr>
          <a:xfrm>
            <a:off x="619125" y="1714500"/>
            <a:ext cx="79533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21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21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21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21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21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21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21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21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21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21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1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R_A = P₀ − 10n log₁₀d_A + ε_A</a:t>
            </a:r>
          </a:p>
          <a:p>
            <a:pPr algn="l">
              <a:defRPr sz="21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175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R_B = P₀ − 10n log₁₀d_B + ε_B</a:t>
            </a:r>
          </a:p>
        </p:txBody>
      </p:sp>
      <p:sp>
        <p:nvSpPr>
          <p:cNvPr id="10" name="">
            <a:extLst>
              <a:ext uri="{FF2B5EF4-FFF2-40B4-BE49-F238E27FC236}">
                <ns2:creationId id="{2F14F195-35BA-4729-927F-42DF900653A0}"/>
              </a:ext>
            </a:extLst>
          </p:cNvPr>
          <p:cNvSpPr>
            <a:spLocks noGrp="1"/>
          </p:cNvSpPr>
          <p:nvPr/>
        </p:nvSpPr>
        <p:spPr>
          <a:xfrm>
            <a:off x="619125" y="3333750"/>
            <a:ext cx="79533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1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R_A−R_B = −10n log₁₀(d_A/d_B) + ε_A−ε_B</a:t>
            </a:r>
          </a:p>
        </p:txBody>
      </p:sp>
      <p:sp>
        <p:nvSpPr>
          <p:cNvPr id="11" name="">
            <a:extLst>
              <a:ext uri="{FF2B5EF4-FFF2-40B4-BE49-F238E27FC236}">
                <ns2:creationId id="{63375D0C-77A3-40EE-92CD-C172786FE7DA}"/>
              </a:ext>
            </a:extLst>
          </p:cNvPr>
          <p:cNvSpPr>
            <a:spLocks noGrp="1"/>
          </p:cNvSpPr>
          <p:nvPr/>
        </p:nvSpPr>
        <p:spPr>
          <a:xfrm>
            <a:off x="419100" y="4572000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残る未知量</a:t>
            </a:r>
          </a:p>
        </p:txBody>
      </p:sp>
      <p:sp>
        <p:nvSpPr>
          <p:cNvPr id="12" name="">
            <a:extLst>
              <a:ext uri="{FF2B5EF4-FFF2-40B4-BE49-F238E27FC236}">
                <ns2:creationId id="{1DEF0EE7-1D57-4695-8412-47B02CAD5935}"/>
              </a:ext>
            </a:extLst>
          </p:cNvPr>
          <p:cNvSpPr>
            <a:spLocks noGrp="1"/>
          </p:cNvSpPr>
          <p:nvPr/>
        </p:nvSpPr>
        <p:spPr>
          <a:xfrm>
            <a:off x="447675" y="4953000"/>
            <a:ext cx="8210550" cy="9094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dは真の送信位置からの距離。雑音・遮蔽・受信機差は残る</a:t>
            </a:r>
          </a:p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別送信のP_AとP_Bが異なれば、電力差P_A−P_Bも残る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補足：CTUPが共同推定するもの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CTUP：Cooperative Localization Techniques with Unknown Parameters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17935ccf-14bc-59b4-9c03-1f11b0ea309a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28</a:t>
            </a:fld>
          </a:p>
        </p:txBody>
      </p:sp>
      <p:sp>
        <p:nvSpPr>
          <p:cNvPr id="8" name="">
            <a:extLst>
              <a:ext uri="{FF2B5EF4-FFF2-40B4-BE49-F238E27FC236}">
                <ns2:creationId id="{924B5103-F781-404D-AAB5-F58C0727D58D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Li, Mukhopadhyay, Xu &amp; Alouini, Experimental Validation of Cooperative RSS-based Localization…, IEEE TWC 2024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DOI:10.1109/TWC.2024.3441643, II・V-C（原論文の結果）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EAAD7ECD-6E9B-4B7C-88FA-E973CD2FB22C}"/>
              </a:ext>
            </a:extLst>
          </p:cNvPr>
          <p:cNvGraphicFramePr/>
          <p:nvPr/>
        </p:nvGraphicFramePr>
        <p:xfrm>
          <a:off x="400050" y="1524000"/>
          <a:ext cx="8343900" cy="3381375"/>
        </p:xfrm>
        <a:graphic>
          <a:graphicData uri="http://schemas.openxmlformats.org/drawingml/2006/table">
            <a:tbl>
              <a:tblPr/>
              <a:tblGrid>
                <a:gridCol w="1905000"/>
                <a:gridCol w="6438900"/>
              </a:tblGrid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区分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論文の構成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位置既知の基準ノードと対象、対象同士のRSSリンク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未知量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対象位置、対象ごとの共有電力、伝搬係数等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実験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BLE 50ノード。位置既知の基準と未知の対象を分けて評価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独立基準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RTK-GPSの位置真値。通常GPSの位置誤差も考慮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6356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基準ノードを増やすと位置誤差が減る傾向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C9F32CC1-9FED-4121-9A69-5427A74B6289}"/>
              </a:ext>
            </a:extLst>
          </p:cNvPr>
          <p:cNvSpPr>
            <a:spLocks noGrp="1"/>
          </p:cNvSpPr>
          <p:nvPr/>
        </p:nvSpPr>
        <p:spPr>
          <a:xfrm>
            <a:off x="428625" y="542925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複数リンクで同じ未知量を拘束。観測ごとに独立な自由電力とは異なる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補足：GPの入力と出力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GP：位置・時刻の近い観測の関係を使う確率的な回帰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35f8308-59a1-50eb-ac7e-aa14833c7604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29</a:t>
            </a:fld>
          </a:p>
        </p:txBody>
      </p:sp>
      <p:sp>
        <p:nvSpPr>
          <p:cNvPr id="8" name="">
            <a:extLst>
              <a:ext uri="{FF2B5EF4-FFF2-40B4-BE49-F238E27FC236}">
                <ns2:creationId id="{17E8D4F3-18BA-4B8A-83B9-585A610383DD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Santos, Murillo-Fuentes &amp; Djurić, Recursive Estimation of Dynamic RSS Fields…, arXiv:1806.02530v2, 2018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VI・VII-D・VIII（原論文の結果）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CCC2525B-8FBD-48CF-B5F9-54A738B41DD0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1905000"/>
                <a:gridCol w="6438900"/>
              </a:tblGrid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区分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SantosほかのRSSI場推定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入力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観測者の位置とRSSI、過去の推定分布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仮定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電力・伝搬係数の事前分布、空間的な相関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出力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未観測地点でのRSSI分布と不確実性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論文の結果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合成で逐次更新・電力変化への追従、GSM実測で検証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032D501D-C2A8-4E6C-ACD0-A4F8982BF2CF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出力はRSSIの空間分布。RID申告の真位置を証明するものではない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移動スマホのGSM実測を、攻撃ドローンの実験と呼ばない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関連研究から今回の実験へ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文献の成立条件を、一つずつ分けて検証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87f3e513-9875-5978-81d1-ca9c9c21e23d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30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8ABC3DEF-1DF5-4FDB-95AA-BBAFF49B6B41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3238500"/>
                <a:gridCol w="5105400"/>
              </a:tblGrid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論文からの着眼点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今回評価する項目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位置申告と電波の照合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正常誤警報と、位置改変への警報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未知電力の扱い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位置だけの改変と、電力を連動させた改変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複数観測の共有条件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別送信の台数追加と、同じ送信の複数受信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履歴と確率モデル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観測間の時間差、RID別補正の効果と失敗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2EB04300-340F-4944-BC71-A2C9F56A2AA1}"/>
              </a:ext>
            </a:extLst>
          </p:cNvPr>
          <p:cNvSpPr>
            <a:spLocks noGrp="1"/>
          </p:cNvSpPr>
          <p:nvPr/>
        </p:nvSpPr>
        <p:spPr>
          <a:xfrm>
            <a:off x="428625" y="53816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以下は今回の独立した評価。4論文のアルゴリズムの追試ではない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補足：誤差と集計の定義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10 seedの単純平均と、全標本の合算比率を区別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52730f8-f8f2-5613-9bff-a243dcb8779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31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2BE242E8-C2CF-4BE7-AB29-3A02D056EF44}"/>
              </a:ext>
            </a:extLst>
          </p:cNvPr>
          <p:cNvGraphicFramePr/>
          <p:nvPr/>
        </p:nvGraphicFramePr>
        <p:xfrm>
          <a:off x="400050" y="1524000"/>
          <a:ext cx="8343900" cy="3524250"/>
        </p:xfrm>
        <a:graphic>
          <a:graphicData uri="http://schemas.openxmlformats.org/drawingml/2006/table">
            <a:tbl>
              <a:tblPr/>
              <a:tblGrid>
                <a:gridCol w="2667000"/>
                <a:gridCol w="5676900"/>
              </a:tblGrid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実際の集計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MAE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独立した真距離との絶対誤差の平均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非同期・感度・汚染評価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10 seedの誤差和／標本数、警報数／受信数を合算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共通軌跡の複数受信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seedごとの率を計算して10 seedの単純平均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公開LoRa再解析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16条件×3分割＝48分割を等重み平均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873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SD・seed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SDは揺らぎの標準偏差、seedは乱数生成条件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368FD18C-6F5E-4B22-9207-1176917D0439}"/>
              </a:ext>
            </a:extLst>
          </p:cNvPr>
          <p:cNvSpPr>
            <a:spLocks noGrp="1"/>
          </p:cNvSpPr>
          <p:nvPr/>
        </p:nvSpPr>
        <p:spPr>
          <a:xfrm>
            <a:off x="428625" y="547687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連続イベント数を独立試行数とみなさない。MAE改善と検知率改善も区別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検知・誤警報・判定保留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警報が出た割合だけでなく、判定できた割合も評価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200d46aa-e258-557f-b4bd-6d24cbbc88ab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32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E01F5E05-011A-49D0-9B2E-E8EB31EE2E2C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3714750"/>
                <a:gridCol w="4629150"/>
              </a:tblGrid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入力と出力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意味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位置を改変した入力 → 警報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合成実験での位置偽装の検知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正常な入力 → 警報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正常時の誤警報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観測・校正が不足 → 保留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位置が正しいとも、偽装とも判断しない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判定可能部分の検知率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判定できたイベントだけを分母にする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全送信中の検知割合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保留を含む全送信を分母にする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C8DD83C5-5B6C-4FBA-9599-B9E47FBFC261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正常校正の95%点を閾値に設定。評価飛行とは分離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今回使用したデータの区分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実測で確認する注意点と、合成で検証する成立条件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419df78-ce8d-5dd6-b810-4f14927c033e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33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3D1F0CCF-A816-4D9C-A688-F6BED2F8451D}"/>
              </a:ext>
            </a:extLst>
          </p:cNvPr>
          <p:cNvGraphicFramePr/>
          <p:nvPr/>
        </p:nvGraphicFramePr>
        <p:xfrm>
          <a:off x="400050" y="1524000"/>
          <a:ext cx="8343900" cy="3000375"/>
        </p:xfrm>
        <a:graphic>
          <a:graphicData uri="http://schemas.openxmlformats.org/drawingml/2006/table">
            <a:tbl>
              <a:tblPr/>
              <a:tblGrid>
                <a:gridCol w="1905000"/>
                <a:gridCol w="3095625"/>
                <a:gridCol w="3343275"/>
              </a:tblGrid>
              <a:tr h="75009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データ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実際に測った内容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今回確認すること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75009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屋内BLE実測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固定ビーコン→スマホのRSSI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揺らぎ・出力設定差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LoRa実測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固定送信機→移動するUAV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時刻対応・観測集約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750094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複数ノード合成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架空の機体軌跡とRSSI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位置改変の検知・保留・反例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71B382F7-BCB5-4241-A3EC-4CACADF23FBD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実UAVのBLE／Wi-Fi RIDを複数台で同時取得した実測ではない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補足：BLE実測再解析の条件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固定BLEビーコンからスマートフォンへの受信記録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5d18d421-9d33-5b5c-ae52-5128b97bc75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34</a:t>
            </a:fld>
          </a:p>
        </p:txBody>
      </p:sp>
      <p:sp>
        <p:nvSpPr>
          <p:cNvPr id="8" name="">
            <a:extLst>
              <a:ext uri="{FF2B5EF4-FFF2-40B4-BE49-F238E27FC236}">
                <ns2:creationId id="{CD5C4799-3001-4258-97CD-D79162097ED9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公開データ：github.com/manwestc/ble-rssi-indoor-localization-dataset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commit b38a9a4a53a01f52136f4e9b29b5045f61655a06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400FE186-8C95-4FD8-BBB2-D6D8629B12D8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2095500"/>
                <a:gridCol w="6248400"/>
              </a:tblGrid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設定と限界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送受信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屋内の固定6ビーコンからスマートフォン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入力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3 CSV、50,400 RSSI値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出力設定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−8／−4／0dBmというビーコンの設定値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実際の電力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RF計測器による実EIRPの独立実測ではない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比較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同じ地点・ビーコンのRSSI中央値。別セッションを含む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1C326B9E-4E3D-492D-B8AD-7230688967ED}"/>
              </a:ext>
            </a:extLst>
          </p:cNvPr>
          <p:cNvSpPr>
            <a:spLocks noGrp="1"/>
          </p:cNvSpPr>
          <p:nvPr/>
        </p:nvSpPr>
        <p:spPr>
          <a:xfrm>
            <a:off x="428625" y="542925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実ドローンのRemote IDを測定したデータではない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補足：設定差とRSSI差が一致しない例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環境や端末状態も変化。電力設定だけの因果効果を分離できない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40486473-1e26-50f3-9cde-c1f28c98f9c7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35</a:t>
            </a:fld>
          </a:p>
        </p:txBody>
      </p:sp>
      <p:sp>
        <p:nvSpPr>
          <p:cNvPr id="8" name="">
            <a:extLst>
              <a:ext uri="{FF2B5EF4-FFF2-40B4-BE49-F238E27FC236}">
                <ns2:creationId id="{C05C5BDF-C7B0-4ADB-A699-C07F6DC0CDD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公開BLE再解析：mac-recheck-20261101 / summary.json。固定版 b38a9a4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8A4E7F23-4434-4667-9002-ECF619F34A9B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fa7df7f6128c4248"/>
          </a:graphicData>
        </a:graphic>
      </p:graphicFrame>
      <p:sp>
        <p:nvSpPr>
          <p:cNvPr id="10" name="">
            <a:extLst>
              <a:ext uri="{FF2B5EF4-FFF2-40B4-BE49-F238E27FC236}">
                <ns2:creationId id="{94041679-C049-46D0-AF56-219415B2E921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設定差8dBに対し、RSSI中央値差は約4.75dB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温度・反射・受信状態等の寄与を、このデータだけで個別に断定しない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設定差をそのまま受信強度差とみなす校正は避ける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3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補足：申告距離だけを外向きへ変更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真の機体位置は維持。申告の受信機からの距離にΔを追加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9bd8221a-d747-5543-adca-b550976ed6d4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36</a:t>
            </a:fld>
          </a:p>
        </p:txBody>
      </p:sp>
      <p:sp>
        <p:nvSpPr>
          <p:cNvPr id="8" name="">
            <a:extLst>
              <a:ext uri="{FF2B5EF4-FFF2-40B4-BE49-F238E27FC236}">
                <ns2:creationId id="{40B82743-5A82-4E78-8843-6DF4ED86E6B2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position-summary.csv（今回の独立した合成10 seed。先行論文の再現ではない）</a:t>
            </a:r>
          </a:p>
        </p:txBody>
      </p:sp>
      <p:sp>
        <p:nvSpPr>
          <p:cNvPr id="9" name="">
            <a:extLst>
              <a:ext uri="{FF2B5EF4-FFF2-40B4-BE49-F238E27FC236}">
                <ns2:creationId id="{C1028C49-248B-4784-B1AC-F216D0160AF0}"/>
              </a:ext>
            </a:extLst>
          </p:cNvPr>
          <p:cNvSpPr>
            <a:spLocks noGrp="1"/>
          </p:cNvSpPr>
          <p:nvPr/>
        </p:nvSpPr>
        <p:spPr>
          <a:xfrm>
            <a:off x="809625" y="2714625"/>
            <a:ext cx="285750" cy="285750"/>
          </a:xfrm>
          <a:prstGeom prst="rect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0" name="">
            <a:extLst>
              <a:ext uri="{FF2B5EF4-FFF2-40B4-BE49-F238E27FC236}">
                <ns2:creationId id="{06D4507A-3170-49E6-885E-0382E76423B9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受信機</a:t>
            </a:r>
          </a:p>
        </p:txBody>
      </p:sp>
      <p:sp>
        <p:nvSpPr>
          <p:cNvPr id="11" name="">
            <a:extLst>
              <a:ext uri="{FF2B5EF4-FFF2-40B4-BE49-F238E27FC236}">
                <ns2:creationId id="{B3EF72E5-031F-4366-AB28-BE12AE77ACCC}"/>
              </a:ext>
            </a:extLst>
          </p:cNvPr>
          <p:cNvSpPr>
            <a:spLocks noGrp="1"/>
          </p:cNvSpPr>
          <p:nvPr/>
        </p:nvSpPr>
        <p:spPr>
          <a:xfrm>
            <a:off x="3571875" y="2762250"/>
            <a:ext cx="190500" cy="190500"/>
          </a:xfrm>
          <a:prstGeom prst="ellipse">
            <a:avLst/>
          </a:prstGeom>
          <a:solidFill>
            <a:srgbClr val="2F64A1"/>
          </a:solidFill>
          <a:ln w="0">
            <a:noFill/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9B7353D3-BA9F-4073-A295-3290549E000F}"/>
              </a:ext>
            </a:extLst>
          </p:cNvPr>
          <p:cNvSpPr>
            <a:spLocks noGrp="1"/>
          </p:cNvSpPr>
          <p:nvPr/>
        </p:nvSpPr>
        <p:spPr>
          <a:xfrm>
            <a:off x="3019425" y="301942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元の申告</a:t>
            </a:r>
          </a:p>
        </p:txBody>
      </p:sp>
      <p:sp>
        <p:nvSpPr>
          <p:cNvPr id="13" name="">
            <a:extLst>
              <a:ext uri="{FF2B5EF4-FFF2-40B4-BE49-F238E27FC236}">
                <ns2:creationId id="{B036ABE1-836B-4577-B835-2BE0F1BF9F9C}"/>
              </a:ext>
            </a:extLst>
          </p:cNvPr>
          <p:cNvSpPr>
            <a:spLocks noGrp="1"/>
          </p:cNvSpPr>
          <p:nvPr/>
        </p:nvSpPr>
        <p:spPr>
          <a:xfrm>
            <a:off x="7096125" y="2762250"/>
            <a:ext cx="190500" cy="190500"/>
          </a:xfrm>
          <a:prstGeom prst="ellipse">
            <a:avLst/>
          </a:prstGeom>
          <a:solidFill>
            <a:srgbClr val="E02B2B"/>
          </a:solidFill>
          <a:ln w="0">
            <a:noFill/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14EF37E5-01B1-46D1-ADA3-3D4D4B2FD258}"/>
              </a:ext>
            </a:extLst>
          </p:cNvPr>
          <p:cNvSpPr>
            <a:spLocks noGrp="1"/>
          </p:cNvSpPr>
          <p:nvPr/>
        </p:nvSpPr>
        <p:spPr>
          <a:xfrm>
            <a:off x="6543675" y="3019425"/>
            <a:ext cx="133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ctr">
              <a:def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E02B2B"/>
                </a:solidFill>
                <a:latin typeface="Hiragino Kaku Gothic ProN W3"/>
                <a:ea typeface="Hiragino Kaku Gothic ProN W3"/>
                <a:cs typeface="Hiragino Kaku Gothic ProN W3"/>
              </a:rPr>
              <a:t>改変後の申告</a:t>
            </a:r>
          </a:p>
        </p:txBody>
      </p:sp>
      <p:sp>
        <p:nvSpPr>
          <p:cNvPr id="15" name="">
            <a:extLst>
              <a:ext uri="{FF2B5EF4-FFF2-40B4-BE49-F238E27FC236}">
                <ns2:creationId id="{56FD558D-B8C9-46C8-8380-C50A93EB35BD}"/>
              </a:ext>
            </a:extLst>
          </p:cNvPr>
          <p:cNvSpPr>
            <a:spLocks noGrp="1"/>
          </p:cNvSpPr>
          <p:nvPr/>
        </p:nvSpPr>
        <p:spPr>
          <a:xfrm>
            <a:off x="1095375" y="2857500"/>
            <a:ext cx="2476500" cy="953"/>
          </a:xfrm>
          <a:prstGeom prst="line">
            <a:avLst/>
          </a:prstGeom>
          <a:noFill/>
          <a:ln w="19050">
            <a:solidFill>
              <a:srgbClr val="2F64A1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0DBBF384-2DFB-4939-885D-70C2393FDA39}"/>
              </a:ext>
            </a:extLst>
          </p:cNvPr>
          <p:cNvSpPr>
            <a:spLocks noGrp="1"/>
          </p:cNvSpPr>
          <p:nvPr/>
        </p:nvSpPr>
        <p:spPr>
          <a:xfrm>
            <a:off x="3810000" y="2857500"/>
            <a:ext cx="3238500" cy="953"/>
          </a:xfrm>
          <a:prstGeom prst="line">
            <a:avLst/>
          </a:prstGeom>
          <a:noFill/>
          <a:ln w="19050">
            <a:solidFill>
              <a:srgbClr val="E02B2B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3AC90C26-FD03-4611-8BCB-F586B2DAB1B6}"/>
              </a:ext>
            </a:extLst>
          </p:cNvPr>
          <p:cNvSpPr>
            <a:spLocks noGrp="1"/>
          </p:cNvSpPr>
          <p:nvPr/>
        </p:nvSpPr>
        <p:spPr>
          <a:xfrm>
            <a:off x="4048125" y="2333625"/>
            <a:ext cx="3000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 algn="l">
              <a:defRPr sz="19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 algn="l">
              <a:defRPr sz="19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 algn="l">
              <a:defRPr sz="19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 algn="l">
              <a:defRPr sz="19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 algn="l">
              <a:defRPr sz="19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 algn="l">
              <a:defRPr sz="19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 algn="l">
              <a:defRPr sz="19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 algn="l">
              <a:defRPr sz="19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 algn="l">
              <a:defRPr sz="19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defRPr sz="19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950" b="1">
                <a:solidFill>
                  <a:srgbClr val="E02B2B"/>
                </a:solidFill>
                <a:latin typeface="Hiragino Kaku Gothic ProN W6"/>
                <a:ea typeface="Hiragino Kaku Gothic ProN W6"/>
                <a:cs typeface="Hiragino Kaku Gothic ProN W6"/>
              </a:rPr>
              <a:t>追加Δ：5〜200m</a:t>
            </a:r>
          </a:p>
        </p:txBody>
      </p:sp>
      <p:sp>
        <p:nvSpPr>
          <p:cNvPr id="18" name="">
            <a:extLst>
              <a:ext uri="{FF2B5EF4-FFF2-40B4-BE49-F238E27FC236}">
                <ns2:creationId id="{762130AD-0D4A-4546-9701-48BF770093B1}"/>
              </a:ext>
            </a:extLst>
          </p:cNvPr>
          <p:cNvSpPr>
            <a:spLocks noGrp="1"/>
          </p:cNvSpPr>
          <p:nvPr/>
        </p:nvSpPr>
        <p:spPr>
          <a:xfrm>
            <a:off x="571500" y="4191000"/>
            <a:ext cx="809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9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真位置・観測RSSIは位置のみの改変では不変</a:t>
            </a:r>
          </a:p>
        </p:txBody>
      </p:sp>
      <p:sp>
        <p:nvSpPr>
          <p:cNvPr id="19" name="">
            <a:extLst>
              <a:ext uri="{FF2B5EF4-FFF2-40B4-BE49-F238E27FC236}">
                <ns2:creationId id="{AF16CACA-6964-402A-998C-83011F297155}"/>
              </a:ext>
            </a:extLst>
          </p:cNvPr>
          <p:cNvSpPr>
            <a:spLocks noGrp="1"/>
          </p:cNvSpPr>
          <p:nvPr/>
        </p:nvSpPr>
        <p:spPr>
          <a:xfrm>
            <a:off x="428625" y="5286375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通常の申告位置誤差もあるため、元の申告と真位置は完全一致とは限らない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Δ=30mは安全離隔の判定とは別。受信機からの距離方向への申告改変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補足：通常の確率変動モデル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電力が相関しながら変動する仮定。毎回自由な攻撃モデルとは別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b8614ab-b7de-578b-a3a1-8e13e3b2c30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37</a:t>
            </a:fld>
          </a:p>
        </p:txBody>
      </p:sp>
      <p:sp>
        <p:nvSpPr>
          <p:cNvPr id="8" name="">
            <a:extLst>
              <a:ext uri="{FF2B5EF4-FFF2-40B4-BE49-F238E27FC236}">
                <ns2:creationId id="{C218FDDA-8919-479E-BE94-2E918EDAAE1B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async-base-config.json（今回の独立した合成10 seed。先行論文の再現ではない）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8DA6A54F-AEE5-4974-8E3C-CC78E50C521B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1619250"/>
                <a:gridCol w="6724650"/>
              </a:tblGrid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要素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合成条件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水平半径6〜140m、高度3〜70m、申告誤差SD2m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飛行差SD2dB、送信変動SD3dB、時間相関0.85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伝搬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係数2.2、相関する遮蔽変動SD4dB、NLOS減衰12dB等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感度−100dBm、量子化1dB、独立追加欠測3%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ACCB1938-88E6-4993-962C-546CDD45DC2B}"/>
              </a:ext>
            </a:extLst>
          </p:cNvPr>
          <p:cNvSpPr>
            <a:spLocks noGrp="1"/>
          </p:cNvSpPr>
          <p:nvPr/>
        </p:nvSpPr>
        <p:spPr>
          <a:xfrm>
            <a:off x="428625" y="523875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数値は事前に置いた仮定。実機の電力変動を推定した値ではない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位置と電力の連動攻撃は、ここに別の改変として加える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補足：通常の受信機増設と異なる対照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新しい独立RSSIを追加せず、既存観測の受信機割当てを変更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f480ad5c-c165-5a4d-8df5-2fdd1915ae73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38</a:t>
            </a:fld>
          </a:p>
        </p:txBody>
      </p:sp>
      <p:sp>
        <p:nvSpPr>
          <p:cNvPr id="8" name="">
            <a:extLst>
              <a:ext uri="{FF2B5EF4-FFF2-40B4-BE49-F238E27FC236}">
                <ns2:creationId id="{4868022B-004D-4369-B332-0B20728BAFB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asynchronous-summary.csv（今回の独立した合成10 seed。先行論文の再現ではない）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24F611CC-DF5E-410A-A40A-5D1D4C1981EB}"/>
              </a:ext>
            </a:extLst>
          </p:cNvPr>
          <p:cNvGraphicFramePr/>
          <p:nvPr/>
        </p:nvGraphicFramePr>
        <p:xfrm>
          <a:off x="400050" y="1524000"/>
          <a:ext cx="8343900" cy="2571750"/>
        </p:xfrm>
        <a:graphic>
          <a:graphicData uri="http://schemas.openxmlformats.org/drawingml/2006/table">
            <a:tbl>
              <a:tblPr/>
              <a:tblGrid>
                <a:gridCol w="4286250"/>
                <a:gridCol w="4057650"/>
              </a:tblGrid>
              <a:tr h="6429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固定するもの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変更するもの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429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総データ数、真距離、真電力、時刻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受信機ラベルと校正差：1〜10台へ割当て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1イベントにつき1 RSSI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同じ位置への追加拘束は与えない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429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70学習・26校正・45評価飛行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各seedで同じ観測実現を使用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1AEE90F2-C10B-4B56-9DFB-FEC85EB0D6FE}"/>
              </a:ext>
            </a:extLst>
          </p:cNvPr>
          <p:cNvSpPr>
            <a:spLocks noGrp="1"/>
          </p:cNvSpPr>
          <p:nvPr/>
        </p:nvSpPr>
        <p:spPr>
          <a:xfrm>
            <a:off x="419100" y="4857750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測っていない効果</a:t>
            </a:r>
          </a:p>
        </p:txBody>
      </p:sp>
      <p:sp>
        <p:nvSpPr>
          <p:cNvPr id="11" name="">
            <a:extLst>
              <a:ext uri="{FF2B5EF4-FFF2-40B4-BE49-F238E27FC236}">
                <ns2:creationId id="{3E240A12-BF87-402D-B0F6-C9BA5F64EEE2}"/>
              </a:ext>
            </a:extLst>
          </p:cNvPr>
          <p:cNvSpPr>
            <a:spLocks noGrp="1"/>
          </p:cNvSpPr>
          <p:nvPr/>
        </p:nvSpPr>
        <p:spPr>
          <a:xfrm>
            <a:off x="447675" y="5238750"/>
            <a:ext cx="8210550" cy="51187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受信カバー範囲の拡大、観測数増加、同一送信の追加受信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3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補足：過去の真距離という追加情報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通常のRID監視だけでは得られない、独立な真値付き点検を仮定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1ec46b50-9062-570a-a5f2-b41fec9e9715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39</a:t>
            </a:fld>
          </a:p>
        </p:txBody>
      </p:sp>
      <p:sp>
        <p:nvSpPr>
          <p:cNvPr id="8" name="">
            <a:extLst>
              <a:ext uri="{FF2B5EF4-FFF2-40B4-BE49-F238E27FC236}">
                <ns2:creationId id="{D76071C9-3DAB-4F6B-9525-DD4C1101A00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time-summary.csv（今回の独立した合成10 seed。先行論文の再現ではない）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998E8401-FA2E-4BEF-865C-CFDB8B554B90}"/>
              </a:ext>
            </a:extLst>
          </p:cNvPr>
          <p:cNvGraphicFramePr/>
          <p:nvPr/>
        </p:nvGraphicFramePr>
        <p:xfrm>
          <a:off x="400050" y="1524000"/>
          <a:ext cx="8343900" cy="3048000"/>
        </p:xfrm>
        <a:graphic>
          <a:graphicData uri="http://schemas.openxmlformats.org/drawingml/2006/table">
            <a:tbl>
              <a:tblPr/>
              <a:tblGrid>
                <a:gridCol w="2095500"/>
                <a:gridCol w="6248400"/>
              </a:tblGrid>
              <a:tr h="6096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096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過去の点検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独立測位などで真距離が既知。ここでは合成真値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電力推定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真距離とRSSIから、過去の実効電力を推定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096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現在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RSSI 1値と、過去の電力特性から距離を推定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変化の仮定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電力の相関時間10分。値は実機測定ではない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BE07172F-5728-4BE7-B949-E2291C622709}"/>
              </a:ext>
            </a:extLst>
          </p:cNvPr>
          <p:cNvSpPr>
            <a:spLocks noGrp="1"/>
          </p:cNvSpPr>
          <p:nvPr/>
        </p:nvSpPr>
        <p:spPr>
          <a:xfrm>
            <a:off x="428625" y="53816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不信頼なRID申告位置を、正解として電力推定へ使わない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4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補足：RID別モデルの追加情報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独立した研究用真距離ラベルを各RIDへ30件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99299af5-b5b7-56e0-ba4d-0477e9b9b984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40</a:t>
            </a:fld>
          </a:p>
        </p:txBody>
      </p:sp>
      <p:sp>
        <p:nvSpPr>
          <p:cNvPr id="8" name="">
            <a:extLst>
              <a:ext uri="{FF2B5EF4-FFF2-40B4-BE49-F238E27FC236}">
                <ns2:creationId id="{F5A3AAD5-242B-467F-B490-C38F5FC1A58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personalization-summary.csv（今回の独立した合成10 seed。先行論文の再現ではない）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F5CE00D1-3AF6-485D-8687-36AEBDDE3092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2095500"/>
                <a:gridCol w="6248400"/>
              </a:tblGrid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仮定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正解ラベル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独立測位等が必要。実験では合成真距離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学習元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保護された外部30 ID、対象20 IDを個別化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電波特性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ID固有差SD6dB、飛行差SD1dB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評価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別の10飛行／ID、乱数条件10通り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RIDの意味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文字列による分類。機体・無線機の認証ではない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D2C8F97D-1C5A-4CA5-997D-D93500102108}"/>
              </a:ext>
            </a:extLst>
          </p:cNvPr>
          <p:cNvSpPr>
            <a:spLocks noGrp="1"/>
          </p:cNvSpPr>
          <p:nvPr/>
        </p:nvSpPr>
        <p:spPr>
          <a:xfrm>
            <a:off x="428625" y="542925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RID申告位置を真距離として学習していない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41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補足：別送信機へ誤った個別補正を適用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同じRIDでも、過去と違う送信機の電波特性なら悪化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c847f7aa-3422-5de6-b386-451a3174a9a9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41</a:t>
            </a:fld>
          </a:p>
        </p:txBody>
      </p:sp>
      <p:sp>
        <p:nvSpPr>
          <p:cNvPr id="8" name="">
            <a:extLst>
              <a:ext uri="{FF2B5EF4-FFF2-40B4-BE49-F238E27FC236}">
                <ns2:creationId id="{2E963DFB-6191-4052-ACC8-8D6CB3B3BD98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personalization-summary.csv（今回の独立した合成10 seed。先行論文の再現ではない）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B7C15FF1-C59C-46CD-9CDA-628B25592DF6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01cb51c911e34ca6"/>
          </a:graphicData>
        </a:graphic>
      </p:graphicFrame>
      <p:sp>
        <p:nvSpPr>
          <p:cNvPr id="10" name="">
            <a:extLst>
              <a:ext uri="{FF2B5EF4-FFF2-40B4-BE49-F238E27FC236}">
                <ns2:creationId id="{24A1F84D-DE71-4F38-800E-E5D01342614E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通常は41.35→19.17m。同名の別送信機では40.96→54.33m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別送信機へ、以前の送信機の補正を適用してしまうため悪化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個別化による距離誤差改善を、位置偽装の検知性能とは呼ばない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4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補足：公開UAV・LoRaデータの使用範囲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固定LoRa送信機から、移動するUAV受信機への公開実測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21aeeda2-f4d5-5965-8234-d86adebd66b6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42</a:t>
            </a:fld>
          </a:p>
        </p:txBody>
      </p:sp>
      <p:sp>
        <p:nvSpPr>
          <p:cNvPr id="8" name="">
            <a:extLst>
              <a:ext uri="{FF2B5EF4-FFF2-40B4-BE49-F238E27FC236}">
                <ns2:creationId id="{0E7EEDD0-5CD0-4400-81D4-202228A7F1FD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Mavilia et al., Data in Brief 2025, DOI:10.1016/j.dib.2025.112243</a:t>
            </a:r>
          </a:p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Zenodo v2, https://zenodo.org/records/17339095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7F2BF902-5816-421A-8078-1828CBA10BB0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2095500"/>
                <a:gridCol w="6248400"/>
              </a:tblGrid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範囲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件数と用途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取得した全体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19条件、142,039 RSSI記録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比較へ使う部分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19条件のうち3 runを持つ16条件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データ分離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各条件で学習／校正／評価runを交代。計48分割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距離の基準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位置・高度等から平坦地の斜距離を近似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55562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対象の違い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868MHz LoRa。BLE／Wi-Fi Remote IDではない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3EF354E0-BF7B-4FB0-AF4B-A3956D505ABD}"/>
              </a:ext>
            </a:extLst>
          </p:cNvPr>
          <p:cNvSpPr>
            <a:spLocks noGrp="1"/>
          </p:cNvSpPr>
          <p:nvPr/>
        </p:nvSpPr>
        <p:spPr>
          <a:xfrm>
            <a:off x="428625" y="542925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複数地上ノードによる実RIDの同時受信実測ではない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43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RSSIと位置の誤った時刻対応による誤警報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過去R(t−Δt)を現在位置q(t)へ誤対応。正しい別時刻観測とは異なる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2132b3d7-228c-54e4-95cd-959c0a762b5f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43</a:t>
            </a:fld>
          </a:p>
        </p:txBody>
      </p:sp>
      <p:sp>
        <p:nvSpPr>
          <p:cNvPr id="8" name="">
            <a:extLst>
              <a:ext uri="{FF2B5EF4-FFF2-40B4-BE49-F238E27FC236}">
                <ns2:creationId id="{E2550394-F414-49DB-8C85-94F5D772876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出典：mac-public-lora-20261101 / delay-summary.csv（実測系列への人工時刻ずれ）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689C342D-87AA-4C7F-8F3C-A76E5EE08500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486325573d434141"/>
          </a:graphicData>
        </a:graphic>
      </p:graphicFrame>
      <p:sp>
        <p:nvSpPr>
          <p:cNvPr id="10" name="">
            <a:extLst>
              <a:ext uri="{FF2B5EF4-FFF2-40B4-BE49-F238E27FC236}">
                <ns2:creationId id="{D218B9D8-82A8-4505-BF6E-F7846E888B6D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正しい組合せR(t−Δt)とq(t−Δt)を使う非同期観測は、この操作とは別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0秒4.87%から15秒23.22%。移動により別地点のRSSIを比較した影響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「観測が1時間離れると必ず誤警報」という結果ではない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4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補足：証拠の種類ごとに分かること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数学・合成・実測再解析を区別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a6695fb-78f5-5127-9a2e-0197c9015671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44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04BD809D-E4CE-48E4-A0CC-211513FC2DB5}"/>
              </a:ext>
            </a:extLst>
          </p:cNvPr>
          <p:cNvGraphicFramePr/>
          <p:nvPr/>
        </p:nvGraphicFramePr>
        <p:xfrm>
          <a:off x="400050" y="1524000"/>
          <a:ext cx="8343900" cy="3333750"/>
        </p:xfrm>
        <a:graphic>
          <a:graphicData uri="http://schemas.openxmlformats.org/drawingml/2006/table">
            <a:tbl>
              <a:tblPr/>
              <a:tblGrid>
                <a:gridCol w="2381250"/>
                <a:gridCol w="5962650"/>
              </a:tblGrid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根拠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確認したこと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数理反例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自由電力なら、別の距離で同じRSSI履歴を構成可能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非同期の合成評価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正常と位置改変の警報率の差は小さい条件がある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履歴・個別化の合成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真距離校正と特性の持続性があれば距離誤差を改善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実測BLE・LoRa再解析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RSSIの揺らぎ、誤った時刻対応の影響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AABFECCD-F684-4973-88D6-3725F61962F6}"/>
              </a:ext>
            </a:extLst>
          </p:cNvPr>
          <p:cNvSpPr>
            <a:spLocks noGrp="1"/>
          </p:cNvSpPr>
          <p:nvPr/>
        </p:nvSpPr>
        <p:spPr>
          <a:xfrm>
            <a:off x="428625" y="53816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公開実測から、実RIDの敵対的偽装検知率を得たわけではない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45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位置改変量と受信ノード数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位置をどれだけ変えると検知できるか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be8ddd9e-ed98-5562-9135-fb5c0269867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45</a:t>
            </a:fld>
          </a:p>
        </p:txBody>
      </p:sp>
      <p:sp>
        <p:nvSpPr>
          <p:cNvPr id="8" name="">
            <a:extLst>
              <a:ext uri="{FF2B5EF4-FFF2-40B4-BE49-F238E27FC236}">
                <ns2:creationId id="{6BC870E7-DAFA-4CA4-BF51-FCFF5A39C72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curves-summary.csv（合成10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8CC6E8DC-E2EC-4F5B-8446-06EE296997A9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ae9854b4f2d04f96"/>
          </a:graphicData>
        </a:graphic>
      </p:graphicFrame>
      <p:sp>
        <p:nvSpPr>
          <p:cNvPr id="10" name="">
            <a:extLst>
              <a:ext uri="{FF2B5EF4-FFF2-40B4-BE49-F238E27FC236}">
                <ns2:creationId id="{44BB412E-3C79-4FF5-AE44-FB51D23362BC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100m改変でも、5台の検知率は約73.7%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0mは正常誤警報。台数の変更とともに使う配置も変化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位置100m＋共通電力補償でも、同じ73.7%（5台）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46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雑音増加による検知率の低下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同じ配置・同じ改変でも、電波の揺らぎで見逃しが増加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da8d3032-0e2d-5052-a61b-cc683ff4ec81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46</a:t>
            </a:fld>
          </a:p>
        </p:txBody>
      </p:sp>
      <p:sp>
        <p:nvSpPr>
          <p:cNvPr id="8" name="">
            <a:extLst>
              <a:ext uri="{FF2B5EF4-FFF2-40B4-BE49-F238E27FC236}">
                <ns2:creationId id="{E1E68213-D39D-4900-840A-412439C52ACB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curves-summary.csv（合成10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9A949573-11D5-405C-BB98-9039F44C6FDA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0b232445c6f1428d"/>
          </a:graphicData>
        </a:graphic>
      </p:graphicFrame>
      <p:sp>
        <p:nvSpPr>
          <p:cNvPr id="10" name="">
            <a:extLst>
              <a:ext uri="{FF2B5EF4-FFF2-40B4-BE49-F238E27FC236}">
                <ns2:creationId id="{A34A12F2-97AC-4DD2-B460-777D01BBE947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8831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雑音SD6dBでは、100m改変・5台でも約18.7%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0mは正常誤警報。台数の変更とともに使う配置も変化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47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補足：一部重複と判定保留の条件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距離160m以内かつスキャン欠測15%を免れたノードが受信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50f34179-207e-51de-9404-8cc9ad8055f2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47</a:t>
            </a:fld>
          </a:p>
        </p:txBody>
      </p:sp>
      <p:sp>
        <p:nvSpPr>
          <p:cNvPr id="8" name="">
            <a:extLst>
              <a:ext uri="{FF2B5EF4-FFF2-40B4-BE49-F238E27FC236}">
                <ns2:creationId id="{F5B827F7-061A-4B03-AAEE-6D62E41ACB79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cases-summary.csv / config.json（合成10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EA352117-73E0-4E58-949B-D8D855EE4E70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8f7b3111904447ee"/>
          </a:graphicData>
        </a:graphic>
      </p:graphicFrame>
      <p:sp>
        <p:nvSpPr>
          <p:cNvPr id="10" name="">
            <a:extLst>
              <a:ext uri="{FF2B5EF4-FFF2-40B4-BE49-F238E27FC236}">
                <ns2:creationId id="{5840A1F9-F8CA-47F0-9CD8-4DF267AFBE94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判定は2台以上＋その集合の正常校正40件以上。それ以外は保留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判定可能77.1%、その中で検知64.0%、全送信で警報49.35%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電力依存の受信感度ではなく、幾何と独立欠測による簡略条件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4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補足：反例の2世界を表で比較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2系列の線が重なるため、全ノードの数値を並記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51cd260d-38a7-583a-9425-b77c8804ec9d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48</a:t>
            </a:fld>
          </a:p>
        </p:txBody>
      </p:sp>
      <p:sp>
        <p:nvSpPr>
          <p:cNvPr id="8" name="">
            <a:extLst>
              <a:ext uri="{FF2B5EF4-FFF2-40B4-BE49-F238E27FC236}">
                <ns2:creationId id="{8889AA9B-CB02-4A80-AC79-43671B1AF40B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出典：mac-event-scenarios-20261101 / summary.json / counterexamples（雑音なしの数理反例）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5B4A826C-D246-496E-98A7-305C6D3035ED}"/>
              </a:ext>
            </a:extLst>
          </p:cNvPr>
          <p:cNvGraphicFramePr/>
          <p:nvPr/>
        </p:nvGraphicFramePr>
        <p:xfrm>
          <a:off x="400050" y="1524000"/>
          <a:ext cx="8343900" cy="3857625"/>
        </p:xfrm>
        <a:graphic>
          <a:graphicData uri="http://schemas.openxmlformats.org/drawingml/2006/table">
            <a:tbl>
              <a:tblPr/>
              <a:tblGrid>
                <a:gridCol w="2571750"/>
                <a:gridCol w="2886075"/>
                <a:gridCol w="2886075"/>
              </a:tblGrid>
              <a:tr h="48220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世界A：正常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世界B：申告偽装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48220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実際の高度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80m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20m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RIDの申告高度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80m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80m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8220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基準電力の差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基準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−2.18dB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受信機A RSSI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-88.363282dBm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-88.363282dBm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8220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受信機B RSSI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-88.363282dBm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-88.363282dBm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20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受信機C RSSI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-88.363282dBm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-88.363282dBm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482203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受信機D RSSI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-88.363282dBm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-88.363282dBm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158E1B35-2A5B-4E1C-9598-D8BB8278DA47}"/>
              </a:ext>
            </a:extLst>
          </p:cNvPr>
          <p:cNvSpPr>
            <a:spLocks noGrp="1"/>
          </p:cNvSpPr>
          <p:nvPr/>
        </p:nvSpPr>
        <p:spPr>
          <a:xfrm>
            <a:off x="428625" y="571500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円周4台への距離比が共通なので、全台を同時に補償できる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4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警報から判断できること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示せるのは、位置申告と観測の不整合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a2aaaca9-da65-5ce6-9db0-ef31a320ae1b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49</a:t>
            </a:fld>
          </a:p>
        </p:txBody>
      </p:sp>
      <p:sp>
        <p:nvSpPr>
          <p:cNvPr id="8" name="">
            <a:extLst>
              <a:ext uri="{FF2B5EF4-FFF2-40B4-BE49-F238E27FC236}">
                <ns2:creationId id="{2EB9C065-59C0-4E29-BE60-8B45AB7D9F7B}"/>
              </a:ext>
            </a:extLst>
          </p:cNvPr>
          <p:cNvSpPr>
            <a:spLocks noGrp="1"/>
          </p:cNvSpPr>
          <p:nvPr/>
        </p:nvSpPr>
        <p:spPr>
          <a:xfrm>
            <a:off x="419100" y="1571625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警報が出た場合</a:t>
            </a:r>
          </a:p>
        </p:txBody>
      </p:sp>
      <p:sp>
        <p:nvSpPr>
          <p:cNvPr id="9" name="">
            <a:extLst>
              <a:ext uri="{FF2B5EF4-FFF2-40B4-BE49-F238E27FC236}">
                <ns2:creationId id="{82B96800-C819-4997-8687-06D5CB17CF1D}"/>
              </a:ext>
            </a:extLst>
          </p:cNvPr>
          <p:cNvSpPr>
            <a:spLocks noGrp="1"/>
          </p:cNvSpPr>
          <p:nvPr/>
        </p:nvSpPr>
        <p:spPr>
          <a:xfrm>
            <a:off x="447675" y="1952625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位置偽装の疑い。ただし遮蔽・向き・受信誤差も候補</a:t>
            </a:r>
          </a:p>
        </p:txBody>
      </p:sp>
      <p:sp>
        <p:nvSpPr>
          <p:cNvPr id="10" name="">
            <a:extLst>
              <a:ext uri="{FF2B5EF4-FFF2-40B4-BE49-F238E27FC236}">
                <ns2:creationId id="{79E70483-44D5-462D-8E66-B26CB1B7B2F5}"/>
              </a:ext>
            </a:extLst>
          </p:cNvPr>
          <p:cNvSpPr>
            <a:spLocks noGrp="1"/>
          </p:cNvSpPr>
          <p:nvPr/>
        </p:nvSpPr>
        <p:spPr>
          <a:xfrm>
            <a:off x="419100" y="2649093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警報が出なかった場合</a:t>
            </a:r>
          </a:p>
        </p:txBody>
      </p:sp>
      <p:sp>
        <p:nvSpPr>
          <p:cNvPr id="11" name="">
            <a:extLst>
              <a:ext uri="{FF2B5EF4-FFF2-40B4-BE49-F238E27FC236}">
                <ns2:creationId id="{C9D9B3C7-6F6C-4534-8466-76FF8671D8D0}"/>
              </a:ext>
            </a:extLst>
          </p:cNvPr>
          <p:cNvSpPr>
            <a:spLocks noGrp="1"/>
          </p:cNvSpPr>
          <p:nvPr/>
        </p:nvSpPr>
        <p:spPr>
          <a:xfrm>
            <a:off x="447675" y="3030093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位置が正しい証明ではない。見逃しや識別不能配置が残る</a:t>
            </a:r>
          </a:p>
        </p:txBody>
      </p:sp>
      <p:sp>
        <p:nvSpPr>
          <p:cNvPr id="12" name="">
            <a:extLst>
              <a:ext uri="{FF2B5EF4-FFF2-40B4-BE49-F238E27FC236}">
                <ns2:creationId id="{2DF633C8-F8CB-47C4-9832-B38D85B07349}"/>
              </a:ext>
            </a:extLst>
          </p:cNvPr>
          <p:cNvSpPr>
            <a:spLocks noGrp="1"/>
          </p:cNvSpPr>
          <p:nvPr/>
        </p:nvSpPr>
        <p:spPr>
          <a:xfrm>
            <a:off x="419100" y="3726561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電力について</a:t>
            </a:r>
          </a:p>
        </p:txBody>
      </p:sp>
      <p:sp>
        <p:nvSpPr>
          <p:cNvPr id="13" name="">
            <a:extLst>
              <a:ext uri="{FF2B5EF4-FFF2-40B4-BE49-F238E27FC236}">
                <ns2:creationId id="{6DF16710-294F-48D4-9CD0-2F295D19B6A7}"/>
              </a:ext>
            </a:extLst>
          </p:cNvPr>
          <p:cNvSpPr>
            <a:spLocks noGrp="1"/>
          </p:cNvSpPr>
          <p:nvPr/>
        </p:nvSpPr>
        <p:spPr>
          <a:xfrm>
            <a:off x="447675" y="4107561"/>
            <a:ext cx="8210550" cy="5250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80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実際の放射電力や、電力申告の真偽を測った方式ではない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50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補足：別条件の単一RSSIモデル比較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既往の本格評価とは別の独立合成実験。距離分布・生成条件も区別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17918fe7-e93d-5736-9569-46ac2eb67942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50</a:t>
            </a:fld>
          </a:p>
        </p:txBody>
      </p:sp>
      <p:sp>
        <p:nvSpPr>
          <p:cNvPr id="8" name="">
            <a:extLst>
              <a:ext uri="{FF2B5EF4-FFF2-40B4-BE49-F238E27FC236}">
                <ns2:creationId id="{D3A6D318-DA9A-435B-AE2B-FBC18C769D5C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mac-independent3d-20261101 / summary.json、config.json。実測校正ではない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EFDA4972-2C98-4335-B818-167D1F303666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5a5c1bf347b3450f"/>
          </a:graphicData>
        </a:graphic>
      </p:graphicFrame>
      <p:sp>
        <p:nvSpPr>
          <p:cNvPr id="10" name="">
            <a:extLst>
              <a:ext uri="{FF2B5EF4-FFF2-40B4-BE49-F238E27FC236}">
                <ns2:creationId id="{BD48B836-D1C6-4A91-A8ED-11A7890AF3A6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距離範囲は水平6〜140m・高度3〜70m、電力・NLOS・受信感度を仮定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GPは25.60m。別実験の数値と、モデルの優劣を直接比較しない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GP：確率回帰、MLP：ニューラルネット。真距離付き学習を使用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51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補足：雑音分布ごとの検知と正常誤警報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仮想10受信機、100m改変。雑音条件ごとに正常校正95%点を設定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437ca8de-a0e8-599c-9f54-842b868f8383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51</a:t>
            </a:fld>
          </a:p>
        </p:txBody>
      </p:sp>
      <p:sp>
        <p:nvSpPr>
          <p:cNvPr id="8" name="">
            <a:extLst>
              <a:ext uri="{FF2B5EF4-FFF2-40B4-BE49-F238E27FC236}">
                <ns2:creationId id="{DF094F26-6133-42CE-BC4C-CBCFEEC8FC64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出典：mac-robustness-20261101 / empirical_sync-summary.csv（屋内BLE残差の独立抽出による合成）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1C5163EC-CF66-4B98-8782-8FC982F7ACE7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964a3997e01d48a7"/>
          </a:graphicData>
        </a:graphic>
      </p:graphicFrame>
      <p:sp>
        <p:nvSpPr>
          <p:cNvPr id="10" name="">
            <a:extLst>
              <a:ext uri="{FF2B5EF4-FFF2-40B4-BE49-F238E27FC236}">
                <ns2:creationId id="{7E2FB92E-F6D2-4418-9C27-DC203504F89A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攻撃時85.82／19.61／10.42%、正常時5.01／5.06／5.11%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全リンク受信を仮定（モデル上100%）。RFの受信率を実測していない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正常校正と評価はセクター分離。実UAVの検知率ではない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52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補足：誤ラベルと中央値の限界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独立真距離の一部を4倍に改変。外部共通モデルは保護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28e26219-2071-5c30-a6a2-602e96b97be1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52</a:t>
            </a:fld>
          </a:p>
        </p:txBody>
      </p:sp>
      <p:sp>
        <p:nvSpPr>
          <p:cNvPr id="8" name="">
            <a:extLst>
              <a:ext uri="{FF2B5EF4-FFF2-40B4-BE49-F238E27FC236}">
                <ns2:creationId id="{D51B7CCF-AE6F-4677-8C99-FC69111A4060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出典：mac-robustness-20261101 / poisoning-summary.csv（合成10 seed）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580055D9-0310-42B9-8528-AA9159AA4FC8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eccc727492264100"/>
          </a:graphicData>
        </a:graphic>
      </p:graphicFrame>
      <p:sp>
        <p:nvSpPr>
          <p:cNvPr id="10" name="">
            <a:extLst>
              <a:ext uri="{FF2B5EF4-FFF2-40B4-BE49-F238E27FC236}">
                <ns2:creationId id="{F1BCFB8E-2F24-4E43-A10D-A5014C9E53C9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例：[0,0,0,0,10]の平均は2、中央値は0。少数外れ値には頑健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例：[0,0,10,10,10]の中央値は10。多数が誤ると正解側へ戻せない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グラフの補正値は電波残差から計算。上の数列は仕組みの説明例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5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補足：履歴の過信で区間が狭すぎる例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真の相関時間10分、1時間後。90%予測区間の実包含率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5762a7cf-eb85-50b7-b4a6-eebb5fc119d6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53</a:t>
            </a:fld>
          </a:p>
        </p:txBody>
      </p:sp>
      <p:sp>
        <p:nvSpPr>
          <p:cNvPr id="8" name="">
            <a:extLst>
              <a:ext uri="{FF2B5EF4-FFF2-40B4-BE49-F238E27FC236}">
                <ns2:creationId id="{2B82FEC2-8692-4B85-8303-90483BA19182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出典：mac-robustness-20261101 / time_mismatch-summary.csv（合成10 seed）</a:t>
            </a:r>
          </a:p>
        </p:txBody>
      </p:sp>
      <p:graphicFrame>
        <p:nvGraphicFramePr>
          <p:cNvPr id="9" name="">
            <a:extLst>
              <a:ext uri="{FF2B5EF4-FFF2-40B4-BE49-F238E27FC236}">
                <ns2:creationId id="{7154CA5B-38AC-4EB4-8F4A-B7D67EE8107B}"/>
              </a:ext>
            </a:extLst>
          </p:cNvPr>
          <p:cNvGraphicFramePr/>
          <p:nvPr/>
        </p:nvGraphicFramePr>
        <p:xfrm>
          <a:off x="400050" y="1524000"/>
          <a:ext cx="8343900" cy="2571750"/>
        </p:xfrm>
        <a:graphic>
          <a:graphicData uri="http://schemas.openxmlformats.org/drawingml/2006/table">
            <a:tbl>
              <a:tblPr/>
              <a:tblGrid>
                <a:gridCol w="3905250"/>
                <a:gridCol w="2190750"/>
                <a:gridCol w="2247900"/>
              </a:tblGrid>
              <a:tr h="6429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仮定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実包含率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平均区間幅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429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履歴なし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90.38%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222.70m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正しい相関時間10分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90.38%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222.58m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42938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誤った相関時間1日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60.82%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146.06m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>
              <a:ext uri="{FF2B5EF4-FFF2-40B4-BE49-F238E27FC236}">
                <ns2:creationId id="{22D7A101-3341-498D-A0CB-FF0ED1782102}"/>
              </a:ext>
            </a:extLst>
          </p:cNvPr>
          <p:cNvSpPr>
            <a:spLocks noGrp="1"/>
          </p:cNvSpPr>
          <p:nvPr/>
        </p:nvSpPr>
        <p:spPr>
          <a:xfrm>
            <a:off x="419100" y="4667250"/>
            <a:ext cx="828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marL="254000" indent="-254000">
              <a:spcAft>
                <a:spcPts val="0"/>
              </a:spcAft>
              <a:buChar char="■"/>
              <a:def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75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起きたこと</a:t>
            </a:r>
          </a:p>
        </p:txBody>
      </p:sp>
      <p:sp>
        <p:nvSpPr>
          <p:cNvPr id="11" name="">
            <a:extLst>
              <a:ext uri="{FF2B5EF4-FFF2-40B4-BE49-F238E27FC236}">
                <ns2:creationId id="{9BB0BF9C-AE58-4C52-BA3C-07E0126FC416}"/>
              </a:ext>
            </a:extLst>
          </p:cNvPr>
          <p:cNvSpPr>
            <a:spLocks noGrp="1"/>
          </p:cNvSpPr>
          <p:nvPr/>
        </p:nvSpPr>
        <p:spPr>
          <a:xfrm>
            <a:off x="447675" y="5048250"/>
            <a:ext cx="8210550" cy="9094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古い電力を長く信頼しすぎて、平均区間幅が222.58mから146.06mへ縮小</a:t>
            </a:r>
          </a:p>
          <a:p>
            <a:pPr marL="285750" indent="-190500">
              <a:spcAft>
                <a:spcPts val="600"/>
              </a:spcAft>
              <a:buChar char="•"/>
              <a:def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725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真距離を含む割合も90.38%から60.82%へ低下。確信を過大評価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54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補足：受信済み記録の人工削除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公開LoRaの受信済み記録を削除。元のRFパケット損失率は不明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19d5ab9a-766a-507d-ba6a-ab05055d44f4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54</a:t>
            </a:fld>
          </a:p>
        </p:txBody>
      </p:sp>
      <p:sp>
        <p:nvSpPr>
          <p:cNvPr id="8" name="">
            <a:extLst>
              <a:ext uri="{FF2B5EF4-FFF2-40B4-BE49-F238E27FC236}">
                <ns2:creationId id="{DE20BFAA-CD6E-4F50-8725-DBEFA2CA9CBD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出典：mac-public-lora-20261101 / dropout-summary.csv（実測系列への人工欠測）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7FC8C093-2172-4D9B-927D-AE539F002926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9dbe00afc29d4901"/>
          </a:graphicData>
        </a:graphic>
      </p:graphicFrame>
      <p:sp>
        <p:nvSpPr>
          <p:cNvPr id="10" name="">
            <a:extLst>
              <a:ext uri="{FF2B5EF4-FFF2-40B4-BE49-F238E27FC236}">
                <ns2:creationId id="{CC15367D-CC12-4DDE-A5A4-65655A0DE4BD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確認したこと：固定20件でも、欠測時は古い観測まで混ざる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時間幅の増加を伴う集約を、同一時点の観測として扱わない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完全な20件を作れない場合は除外数を記録し、誤差ゼロにしない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5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補足：公開入力のURLと固定版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原データの取得先と、今回の再解析を区別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8902f73c-e479-5484-ba21-d9f0ff5d91e0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55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85653E23-1B7B-4A81-867A-1E2B31109D17}"/>
              </a:ext>
            </a:extLst>
          </p:cNvPr>
          <p:cNvGraphicFramePr/>
          <p:nvPr/>
        </p:nvGraphicFramePr>
        <p:xfrm>
          <a:off x="400050" y="1524000"/>
          <a:ext cx="8343900" cy="3381375"/>
        </p:xfrm>
        <a:graphic>
          <a:graphicData uri="http://schemas.openxmlformats.org/drawingml/2006/table">
            <a:tbl>
              <a:tblPr/>
              <a:tblGrid>
                <a:gridCol w="2190750"/>
                <a:gridCol w="6153150"/>
              </a:tblGrid>
              <a:tr h="6762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入力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取得先・版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6762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屋内BLE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github.com/manwestc/ble-rssi-indoor-localization-dataset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commit b38a9a4a53a01f52136f4e9b29b5045f61655a06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UAV受信LoRa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zenodo.org/records/17339095、v2、CC-BY 4.0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6762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GhostBuster元データ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Kaggle icmcis-drone-tracking。認証が必要で今回未取得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今回の検知率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独立した合成コードから生成。原論文の追試ではない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CA22EB3F-5EAE-4A6A-B5FA-C9C79A74D4F1}"/>
              </a:ext>
            </a:extLst>
          </p:cNvPr>
          <p:cNvSpPr>
            <a:spLocks noGrp="1"/>
          </p:cNvSpPr>
          <p:nvPr/>
        </p:nvSpPr>
        <p:spPr>
          <a:xfrm>
            <a:off x="428625" y="5429250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取得できない原データを、再現済みの実験として使用しない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slides/slide56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実験①の結果：位置だけを改変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同じ30mのずれでも、元の距離で警報率が異なる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53736242-6e23-547a-bf66-319914490541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56</a:t>
            </a:fld>
          </a:p>
        </p:txBody>
      </p:sp>
      <p:sp>
        <p:nvSpPr>
          <p:cNvPr id="8" name="">
            <a:extLst>
              <a:ext uri="{FF2B5EF4-FFF2-40B4-BE49-F238E27FC236}">
                <ns2:creationId id="{E75E5E72-3542-4F7C-B947-174F76588228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885" b="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出典：mac-sensitivity-20261101-v2 / position-summary.csv（今回の独立した合成10 seed。先行論文の再現ではない）</a:t>
            </a:r>
          </a:p>
        </p:txBody>
      </p:sp>
      <p:graphicFrame>
        <p:nvGraphicFramePr>
          <p:cNvPr id="9" name="Chart">
            <a:extLst>
              <a:ext uri="{FF2B5EF4-FFF2-40B4-BE49-F238E27FC236}">
                <ns2:creationId id="{670BFA52-2A3D-49FD-951F-5BE7820ADEE4}"/>
              </a:ext>
            </a:extLst>
          </p:cNvPr>
          <p:cNvGraphicFramePr/>
          <p:nvPr/>
        </p:nvGraphicFramePr>
        <p:xfrm>
          <a:off x="571500" y="1457325"/>
          <a:ext cx="8001000" cy="3524250"/>
        </p:xfrm>
        <a:graphic>
          <a:graphicData uri="http://schemas.openxmlformats.org/drawingml/2006/chart">
            <ns3:chart ns4:id="R68e2ccae3b714a5d"/>
          </a:graphicData>
        </a:graphic>
      </p:graphicFrame>
      <p:sp>
        <p:nvSpPr>
          <p:cNvPr id="10" name="">
            <a:extLst>
              <a:ext uri="{FF2B5EF4-FFF2-40B4-BE49-F238E27FC236}">
                <ns2:creationId id="{27A439FF-C70B-4017-953A-57FAEC058AA9}"/>
              </a:ext>
            </a:extLst>
          </p:cNvPr>
          <p:cNvSpPr>
            <a:spLocks noGrp="1"/>
          </p:cNvSpPr>
          <p:nvPr/>
        </p:nvSpPr>
        <p:spPr>
          <a:xfrm>
            <a:off x="428625" y="5143500"/>
            <a:ext cx="8258175" cy="12675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0mは正常対照。近距離帯では正常誤警報も10.95%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30m改変の警報14.12%だけでは、高い検知性能とは言えない</a:t>
            </a:r>
          </a:p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全方向の3D変位ではなく、受信機からの距離を変えた評価</a:t>
            </a:r>
          </a:p>
        </p:txBody>
      </p:sp>
    </p:spTree>
    <p:extLst>
      <p:ext uri="{BB962C8B-B14F-4D97-AF65-F5344CB8AC3E}">
        <ns5:creationId val="1512234166"/>
      </p:ext>
    </p:extLst>
  </p:cSld>
</p:sld>
</file>

<file path=ppt/slides/slide5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Rectangle 1">
            <a:extLst>
              <a:ext uri="{FF2B5EF4-FFF2-40B4-BE49-F238E27FC236}">
                <ns2:creationId id="{DA6274BA-1D5B-41C6-968A-6C320EC142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61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ns2:creationId id="{8357DBC7-3B0F-4E0A-B98B-2700CA06381B}"/>
              </a:ext>
            </a:extLst>
          </p:cNvPr>
          <p:cNvSpPr>
            <a:spLocks noGrp="1"/>
          </p:cNvSpPr>
          <p:nvPr/>
        </p:nvSpPr>
        <p:spPr>
          <a:xfrm>
            <a:off x="400050" y="95250"/>
            <a:ext cx="8343900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260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2550" b="1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2550" b="1" spc="300">
                <a:solidFill>
                  <a:srgbClr val="282629"/>
                </a:solidFill>
                <a:latin typeface="Hiragino Kaku Gothic ProN W6"/>
                <a:ea typeface="Hiragino Kaku Gothic ProN W6"/>
                <a:cs typeface="Hiragino Kaku Gothic ProN W6"/>
              </a:rPr>
              <a:t>補足：設定・seed・実行コマンド</a:t>
            </a:r>
            <a:endParaRPr sz="2600" b="1" spc="300">
              <a:solidFill>
                <a:srgbClr val="282629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4" name="Rectangle 3">
            <a:extLst>
              <a:ext uri="{FF2B5EF4-FFF2-40B4-BE49-F238E27FC236}">
                <ns2:creationId id="{D509BA2D-1B48-40A8-A5B5-79FA467D4B21}"/>
              </a:ext>
            </a:extLst>
          </p:cNvPr>
          <p:cNvSpPr>
            <a:spLocks noGrp="1"/>
          </p:cNvSpPr>
          <p:nvPr/>
        </p:nvSpPr>
        <p:spPr>
          <a:xfrm>
            <a:off x="396000" y="810000"/>
            <a:ext cx="64800" cy="270000"/>
          </a:xfrm>
          <a:prstGeom prst="rect">
            <a:avLst/>
          </a:prstGeom>
          <a:solidFill>
            <a:srgbClr val="2F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ns2:creationId id="{751FD6E5-C751-4799-9318-7C20F8CC7906}"/>
              </a:ext>
            </a:extLst>
          </p:cNvPr>
          <p:cNvSpPr>
            <a:spLocks noGrp="1"/>
          </p:cNvSpPr>
          <p:nvPr/>
        </p:nvSpPr>
        <p:spPr>
          <a:xfrm>
            <a:off x="571500" y="790575"/>
            <a:ext cx="809625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defPPr>
            <a:lvl1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1pPr>
            <a:lvl2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2pPr>
            <a:lvl3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3pPr>
            <a:lvl4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4pPr>
            <a:lvl5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5pPr>
            <a:lvl6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6pPr>
            <a:lvl7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7pPr>
            <a:lvl8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8pPr>
            <a:lvl9pPr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lvl9pPr>
          </a:lstStyle>
          <a:p>
            <a:pPr algn="l">
              <a:buNone/>
              <a:defRPr sz="18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defRPr>
            </a:pPr>
            <a:r>
              <a:rPr sz="1800" b="1" spc="100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>保存済みCSVの可視化と、実験の再実行は別の処理</a:t>
            </a:r>
          </a:p>
        </p:txBody>
      </p:sp>
      <p:sp>
        <p:nvSpPr>
          <p:cNvPr id="7" name="正方形/長方形 6">
            <a:extLst>
              <a:ext uri="{FF2B5EF4-FFF2-40B4-BE49-F238E27FC236}">
                <ns2:creationId id="{C366706F-839C-46D3-B302-CB9C01B6A09B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8286750" cy="466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>
              <a:spcBef>
                <a:spcPts val="800"/>
              </a:spcBef>
              <a:spcAft>
                <a:spcPts val="250"/>
              </a:spcAft>
              <a:buNone/>
              <a:defRPr sz="1600" b="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2000" b="1">
                <a:solidFill>
                  <a:srgbClr val="2F64A1"/>
                </a:solidFill>
                <a:latin typeface="Hiragino Kaku Gothic ProN W6"/>
                <a:ea typeface="Hiragino Kaku Gothic ProN W6"/>
                <a:cs typeface="Hiragino Kaku Gothic ProN W6"/>
              </a:rPr>
              <a:t/>
            </a:r>
            <a:endParaRPr sz="2000" b="1">
              <a:solidFill>
                <a:srgbClr val="2F64A1"/>
              </a:solidFill>
              <a:latin typeface="Hiragino Kaku Gothic ProN W6"/>
              <a:ea typeface="Hiragino Kaku Gothic ProN W6"/>
              <a:cs typeface="Hiragino Kaku Gothic ProN W6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ns2:creationId id="{69FADE42-8F8C-F9A6-305A-DC4B200FB6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877281d2-1d0b-52aa-ac4a-04b9f23518f5}" type="slidenum">
              <a:rPr lang="ja-JP" sz="1100">
                <a:solidFill>
                  <a:srgbClr val="7B8591"/>
                </a:solidFill>
                <a:latin typeface="Hiragino Kaku Gothic ProN W3"/>
                <a:ea typeface="Hiragino Kaku Gothic ProN W3"/>
                <a:cs typeface="Hiragino Kaku Gothic ProN W3"/>
              </a:rPr>
              <a:t>57</a:t>
            </a:fld>
          </a:p>
        </p:txBody>
      </p:sp>
      <p:graphicFrame>
        <p:nvGraphicFramePr>
          <p:cNvPr id="8" name="">
            <a:extLst>
              <a:ext uri="{FF2B5EF4-FFF2-40B4-BE49-F238E27FC236}">
                <ns2:creationId id="{EE5452AB-4EE8-4109-9C0B-494A099CD33D}"/>
              </a:ext>
            </a:extLst>
          </p:cNvPr>
          <p:cNvGraphicFramePr/>
          <p:nvPr/>
        </p:nvGraphicFramePr>
        <p:xfrm>
          <a:off x="400050" y="1524000"/>
          <a:ext cx="8343900" cy="3095625"/>
        </p:xfrm>
        <a:graphic>
          <a:graphicData uri="http://schemas.openxmlformats.org/drawingml/2006/table">
            <a:tbl>
              <a:tblPr/>
              <a:tblGrid>
                <a:gridCol w="2286000"/>
                <a:gridCol w="6057900"/>
              </a:tblGrid>
              <a:tr h="773906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実験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Hiragino Kaku Gothic ProN W6"/>
                          <a:ea typeface="Hiragino Kaku Gothic ProN W6"/>
                          <a:cs typeface="Hiragino Kaku Gothic ProN W6"/>
                        </a:rPr>
                        <a:t>設定と実行（リポジトリルートから）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T w="5715">
                      <a:solidFill>
                        <a:srgbClr val="B7BEC7"/>
                      </a:solidFill>
                      <a:prstDash val="solid"/>
                    </a:lnT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2B5581"/>
                    </a:solidFill>
                  </a:tcPr>
                </a:tc>
              </a:tr>
              <a:tr h="773906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非同期の感度評価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experiments/week26-rssi-privacy/sensitivity_suite.py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設定：sensitivity_config.json、10 seedsを固定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共通軌跡の複数受信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experiments/week26-rssi-privacy/event_scenarios.py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設定：event_scenarios_config.json、10 seedsを固定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</a:tr>
              <a:tr h="773906"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雑音・失効・汚染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B7BEC7"/>
                      </a:solidFill>
                      <a:prstDash val="solid"/>
                    </a:lnL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66675" rIns="76200" bIns="47625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experiments/week26-rssi-privacy/robustness_suite.py</a:t>
                      </a:r>
                    </a:p>
                    <a:p>
                      <a:pPr algn="l"/>
                      <a:r>
                        <a:rPr sz="1575" b="0">
                          <a:solidFill>
                            <a:srgbClr val="282629"/>
                          </a:solidFill>
                          <a:latin typeface="Hiragino Kaku Gothic ProN W3"/>
                          <a:ea typeface="Hiragino Kaku Gothic ProN W3"/>
                          <a:cs typeface="Hiragino Kaku Gothic ProN W3"/>
                        </a:rPr>
                        <a:t>設定：robustness_config.json、公開BLE入力が必要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B7BEC7"/>
                      </a:solidFill>
                      <a:prstDash val="solid"/>
                    </a:lnR>
                    <a:lnB w="5715">
                      <a:solidFill>
                        <a:srgbClr val="B7BE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1620C265-61F0-45FD-AA9C-93D1E524033D}"/>
              </a:ext>
            </a:extLst>
          </p:cNvPr>
          <p:cNvSpPr>
            <a:spLocks noGrp="1"/>
          </p:cNvSpPr>
          <p:nvPr/>
        </p:nvSpPr>
        <p:spPr>
          <a:xfrm>
            <a:off x="457200" y="5095875"/>
            <a:ext cx="8239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algn="l">
              <a:def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 b="0">
                <a:solidFill>
                  <a:srgbClr val="2F64A1"/>
                </a:solidFill>
                <a:latin typeface="Hiragino Kaku Gothic ProN W3"/>
                <a:ea typeface="Hiragino Kaku Gothic ProN W3"/>
                <a:cs typeface="Hiragino Kaku Gothic ProN W3"/>
              </a:rPr>
              <a:t>python &lt;上記スクリプト&gt; --config &lt;設定JSON&gt; --out &lt;新規出力先&gt;</a:t>
            </a:r>
          </a:p>
        </p:txBody>
      </p:sp>
      <p:sp>
        <p:nvSpPr>
          <p:cNvPr id="10" name="">
            <a:extLst>
              <a:ext uri="{FF2B5EF4-FFF2-40B4-BE49-F238E27FC236}">
                <ns2:creationId id="{1472F59E-C6D9-44D1-8934-B8F39A272635}"/>
              </a:ext>
            </a:extLst>
          </p:cNvPr>
          <p:cNvSpPr>
            <a:spLocks noGrp="1"/>
          </p:cNvSpPr>
          <p:nvPr/>
        </p:nvSpPr>
        <p:spPr>
          <a:xfrm>
            <a:off x="428625" y="5762625"/>
            <a:ext cx="8258175" cy="4987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defPPr>
            <a:lvl1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1pPr>
            <a:lvl2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2pPr>
            <a:lvl3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3pPr>
            <a:lvl4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4pPr>
            <a:lvl5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5pPr>
            <a:lvl6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6pPr>
            <a:lvl7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7pPr>
            <a:lvl8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8pPr>
            <a:lvl9pPr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lvl9pPr>
          </a:lstStyle>
          <a:p>
            <a:pPr marL="285750" indent="-190500">
              <a:spcAft>
                <a:spcPts val="600"/>
              </a:spcAft>
              <a:buChar char="•"/>
              <a:def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defRPr>
            </a:pPr>
            <a:r>
              <a:rPr sz="1650">
                <a:solidFill>
                  <a:srgbClr val="282629"/>
                </a:solidFill>
                <a:latin typeface="Hiragino Kaku Gothic ProN W3"/>
                <a:ea typeface="Hiragino Kaku Gothic ProN W3"/>
                <a:cs typeface="Hiragino Kaku Gothic ProN W3"/>
              </a:rPr>
              <a:t>原データのハッシュ、完全なコマンド、環境は同梱MDへ記載</a:t>
            </a:r>
          </a:p>
        </p:txBody>
      </p:sp>
    </p:spTree>
    <p:extLst>
      <p:ext uri="{BB962C8B-B14F-4D97-AF65-F5344CB8AC3E}">
        <ns3:creationId val="15122341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2026-11-01T15:01:45.6620000Z</dcterms:created>
  <dcterms:modified xsi:type="dcterms:W3CDTF">2026-11-01T15:01:45.6620000Z</dcterms:modified>
</coreProperties>
</file>