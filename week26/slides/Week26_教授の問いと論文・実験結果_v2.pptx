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charts/chart1.xml" ContentType="application/vnd.openxmlformats-officedocument.drawingml.chart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charts/chart2.xml" ContentType="application/vnd.openxmlformats-officedocument.drawingml.chart+xml"/>
  <Override PartName="/ppt/slides/slide24.xml" ContentType="application/vnd.openxmlformats-officedocument.presentationml.slide+xml"/>
  <Override PartName="/ppt/slides/charts/chart3.xml" ContentType="application/vnd.openxmlformats-officedocument.drawingml.chart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charts/chart4.xml" ContentType="application/vnd.openxmlformats-officedocument.drawingml.chart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charts/chart5.xml" ContentType="application/vnd.openxmlformats-officedocument.drawingml.chart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charts/chart6.xml" ContentType="application/vnd.openxmlformats-officedocument.drawingml.chart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charts/chart7.xml" ContentType="application/vnd.openxmlformats-officedocument.drawingml.chart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charts/chart8.xml" ContentType="application/vnd.openxmlformats-officedocument.drawingml.chart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charts/chart9.xml" ContentType="application/vnd.openxmlformats-officedocument.drawingml.chart+xml"/>
  <Override PartName="/ppt/slides/slide39.xml" ContentType="application/vnd.openxmlformats-officedocument.presentationml.slide+xml"/>
  <Override PartName="/ppt/slides/charts/chart10.xml" ContentType="application/vnd.openxmlformats-officedocument.drawingml.chart+xml"/>
  <Override PartName="/ppt/slides/slide40.xml" ContentType="application/vnd.openxmlformats-officedocument.presentationml.slide+xml"/>
  <Override PartName="/ppt/slides/charts/chart11.xml" ContentType="application/vnd.openxmlformats-officedocument.drawingml.chart+xml"/>
  <Override PartName="/ppt/slides/slide41.xml" ContentType="application/vnd.openxmlformats-officedocument.presentationml.slide+xml"/>
  <Override PartName="/ppt/slides/charts/chart12.xml" ContentType="application/vnd.openxmlformats-officedocument.drawingml.chart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charts/chart13.xml" ContentType="application/vnd.openxmlformats-officedocument.drawingml.chart+xml"/>
  <Override PartName="/ppt/slides/slide46.xml" ContentType="application/vnd.openxmlformats-officedocument.presentationml.slide+xml"/>
  <Override PartName="/ppt/slides/charts/chart14.xml" ContentType="application/vnd.openxmlformats-officedocument.drawingml.chart+xml"/>
  <Override PartName="/ppt/slides/slide47.xml" ContentType="application/vnd.openxmlformats-officedocument.presentationml.slide+xml"/>
  <Override PartName="/ppt/slides/charts/chart15.xml" ContentType="application/vnd.openxmlformats-officedocument.drawingml.chart+xml"/>
  <Override PartName="/ppt/slides/slide48.xml" ContentType="application/vnd.openxmlformats-officedocument.presentationml.slide+xml"/>
  <Override PartName="/ppt/slides/charts/chart16.xml" ContentType="application/vnd.openxmlformats-officedocument.drawingml.chart+xml"/>
  <Override PartName="/ppt/slides/slide49.xml" ContentType="application/vnd.openxmlformats-officedocument.presentationml.slide+xml"/>
  <Override PartName="/ppt/slides/charts/chart17.xml" ContentType="application/vnd.openxmlformats-officedocument.drawingml.chart+xml"/>
  <Override PartName="/ppt/slides/slide50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b1e024cb3582412d" /><ns0:Relationship Type="http://schemas.openxmlformats.org/officeDocument/2006/relationships/extended-properties" Target="/docProps/app.xml" Id="Rf20f711113d04508" /><ns0:Relationship Type="http://schemas.openxmlformats.org/officeDocument/2006/relationships/officeDocument" Target="/ppt/presentation.xml" Id="R2998ce44ebc4445f" /></ns0:Relationships>
</file>

<file path=ppt/presentation.xml><?xml version="1.0" encoding="utf-8"?>
<p:presentation xmlns:a="http://schemas.openxmlformats.org/drawingml/2006/main" xmlns:ns1="http://schemas.openxmlformats.org/officeDocument/2006/relationships" xmlns:p="http://schemas.openxmlformats.org/presentationml/2006/main">
  <p:sldMasterIdLst>
    <p:sldMasterId id="2147483648" ns1:id="Reb5bec3f4b7d4bed"/>
  </p:sldMasterIdLst>
  <p:sldIdLst>
    <p:sldId id="256" ns1:id="R5ae6c34c7cd24e30"/>
    <p:sldId id="257" ns1:id="Ra13f2afd416342a5"/>
    <p:sldId id="258" ns1:id="R055f454009ee44c8"/>
    <p:sldId id="259" ns1:id="Rc53252122eaa43a2"/>
    <p:sldId id="260" ns1:id="R510f9eb43c3141ca"/>
    <p:sldId id="261" ns1:id="Rb6ccad0733494929"/>
    <p:sldId id="262" ns1:id="Rd8a71743606146a0"/>
    <p:sldId id="263" ns1:id="Rd55f72bf83e14e80"/>
    <p:sldId id="264" ns1:id="R4bea419aa0054a4e"/>
    <p:sldId id="265" ns1:id="R3502a398635e4f1e"/>
    <p:sldId id="266" ns1:id="Rd78fbe07bae74b7a"/>
    <p:sldId id="267" ns1:id="R1c5d3db1bf9c4621"/>
    <p:sldId id="268" ns1:id="Rbda20bb5accf4c5b"/>
    <p:sldId id="269" ns1:id="Recbbd180e6c04f79"/>
    <p:sldId id="270" ns1:id="R1ef1e47c7b8e4efd"/>
    <p:sldId id="271" ns1:id="Ra1a8b35bbeb745a3"/>
    <p:sldId id="272" ns1:id="Rf6e20d8bb49a40e0"/>
    <p:sldId id="273" ns1:id="R3f87395cc5234482"/>
    <p:sldId id="274" ns1:id="R57cc0c68c1d94e6f"/>
    <p:sldId id="275" ns1:id="R223a7772a3cd4370"/>
    <p:sldId id="276" ns1:id="R1d885bcf88564d53"/>
    <p:sldId id="277" ns1:id="R9c6f81b433934d73"/>
    <p:sldId id="278" ns1:id="Rf1245527f6354a48"/>
    <p:sldId id="279" ns1:id="Re2339109e79b446a"/>
    <p:sldId id="280" ns1:id="R3865ffc652334818"/>
    <p:sldId id="281" ns1:id="Rd4264263378b4757"/>
    <p:sldId id="282" ns1:id="R5211962d3ac74643"/>
    <p:sldId id="283" ns1:id="R4b00cf64970a4104"/>
    <p:sldId id="284" ns1:id="R216797d0b9e7425f"/>
    <p:sldId id="285" ns1:id="R00f901f9aac04e58"/>
    <p:sldId id="286" ns1:id="R66f6b74e7bd74327"/>
    <p:sldId id="287" ns1:id="Radb230fb7cd04bd4"/>
    <p:sldId id="288" ns1:id="Ra3b19a09415e48e0"/>
    <p:sldId id="289" ns1:id="R808ee7e9c9214931"/>
    <p:sldId id="290" ns1:id="Re218caf3b6594288"/>
    <p:sldId id="291" ns1:id="R678b7b6b840040ba"/>
    <p:sldId id="292" ns1:id="R3f37636cabfb4a49"/>
    <p:sldId id="293" ns1:id="Ra8cd221b817c4b0f"/>
    <p:sldId id="294" ns1:id="Rf45b7121823b4a30"/>
    <p:sldId id="295" ns1:id="R80eec8bd5f0d45f5"/>
    <p:sldId id="296" ns1:id="Rbdf92463ade54f88"/>
    <p:sldId id="297" ns1:id="R6a146448f09c49a3"/>
    <p:sldId id="298" ns1:id="R16a8bf3168cd4223"/>
    <p:sldId id="299" ns1:id="R75e3c03412e843ce"/>
    <p:sldId id="300" ns1:id="Rca3456edae634681"/>
    <p:sldId id="301" ns1:id="Rab2e9841270e4beb"/>
    <p:sldId id="302" ns1:id="R6baf9f23029c4a94"/>
    <p:sldId id="303" ns1:id="Ra6ea2e00e6e44d62"/>
    <p:sldId id="304" ns1:id="R86b3a5116e7d4dcc"/>
    <p:sldId id="305" ns1:id="R89dd8708dbc144d1"/>
  </p:sldIdLst>
  <p:sldSz cx="9144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7dd3b69fe0444a23" /><ns0:Relationship Type="http://schemas.openxmlformats.org/officeDocument/2006/relationships/slideMaster" Target="/ppt/slideMasters/slideMaster1.xml" Id="Reb5bec3f4b7d4bed" /><ns0:Relationship Type="http://schemas.openxmlformats.org/officeDocument/2006/relationships/presProps" Target="/ppt/presProps.xml" Id="Rc378bd25c22a4d89" /><ns0:Relationship Type="http://schemas.openxmlformats.org/officeDocument/2006/relationships/viewProps" Target="/ppt/viewProps.xml" Id="Rf23012675f8740c8" /><ns0:Relationship Type="http://schemas.openxmlformats.org/officeDocument/2006/relationships/tableStyles" Target="/ppt/tableStyles.xml" Id="R710f36b322fe4c1a" /><ns0:Relationship Type="http://schemas.openxmlformats.org/officeDocument/2006/relationships/slide" Target="/ppt/slides/slide1.xml" Id="R5ae6c34c7cd24e30" /><ns0:Relationship Type="http://schemas.openxmlformats.org/officeDocument/2006/relationships/slide" Target="/ppt/slides/slide2.xml" Id="Ra13f2afd416342a5" /><ns0:Relationship Type="http://schemas.openxmlformats.org/officeDocument/2006/relationships/slide" Target="/ppt/slides/slide3.xml" Id="R055f454009ee44c8" /><ns0:Relationship Type="http://schemas.openxmlformats.org/officeDocument/2006/relationships/slide" Target="/ppt/slides/slide4.xml" Id="Rc53252122eaa43a2" /><ns0:Relationship Type="http://schemas.openxmlformats.org/officeDocument/2006/relationships/slide" Target="/ppt/slides/slide5.xml" Id="R510f9eb43c3141ca" /><ns0:Relationship Type="http://schemas.openxmlformats.org/officeDocument/2006/relationships/slide" Target="/ppt/slides/slide6.xml" Id="Rb6ccad0733494929" /><ns0:Relationship Type="http://schemas.openxmlformats.org/officeDocument/2006/relationships/slide" Target="/ppt/slides/slide7.xml" Id="Rd8a71743606146a0" /><ns0:Relationship Type="http://schemas.openxmlformats.org/officeDocument/2006/relationships/slide" Target="/ppt/slides/slide8.xml" Id="Rd55f72bf83e14e80" /><ns0:Relationship Type="http://schemas.openxmlformats.org/officeDocument/2006/relationships/slide" Target="/ppt/slides/slide9.xml" Id="R4bea419aa0054a4e" /><ns0:Relationship Type="http://schemas.openxmlformats.org/officeDocument/2006/relationships/slide" Target="/ppt/slides/slide10.xml" Id="R3502a398635e4f1e" /><ns0:Relationship Type="http://schemas.openxmlformats.org/officeDocument/2006/relationships/slide" Target="/ppt/slides/slide11.xml" Id="Rd78fbe07bae74b7a" /><ns0:Relationship Type="http://schemas.openxmlformats.org/officeDocument/2006/relationships/slide" Target="/ppt/slides/slide12.xml" Id="R1c5d3db1bf9c4621" /><ns0:Relationship Type="http://schemas.openxmlformats.org/officeDocument/2006/relationships/slide" Target="/ppt/slides/slide13.xml" Id="Rbda20bb5accf4c5b" /><ns0:Relationship Type="http://schemas.openxmlformats.org/officeDocument/2006/relationships/slide" Target="/ppt/slides/slide14.xml" Id="Recbbd180e6c04f79" /><ns0:Relationship Type="http://schemas.openxmlformats.org/officeDocument/2006/relationships/slide" Target="/ppt/slides/slide15.xml" Id="R1ef1e47c7b8e4efd" /><ns0:Relationship Type="http://schemas.openxmlformats.org/officeDocument/2006/relationships/slide" Target="/ppt/slides/slide16.xml" Id="Ra1a8b35bbeb745a3" /><ns0:Relationship Type="http://schemas.openxmlformats.org/officeDocument/2006/relationships/slide" Target="/ppt/slides/slide17.xml" Id="Rf6e20d8bb49a40e0" /><ns0:Relationship Type="http://schemas.openxmlformats.org/officeDocument/2006/relationships/slide" Target="/ppt/slides/slide18.xml" Id="R3f87395cc5234482" /><ns0:Relationship Type="http://schemas.openxmlformats.org/officeDocument/2006/relationships/slide" Target="/ppt/slides/slide19.xml" Id="R57cc0c68c1d94e6f" /><ns0:Relationship Type="http://schemas.openxmlformats.org/officeDocument/2006/relationships/slide" Target="/ppt/slides/slide20.xml" Id="R223a7772a3cd4370" /><ns0:Relationship Type="http://schemas.openxmlformats.org/officeDocument/2006/relationships/slide" Target="/ppt/slides/slide21.xml" Id="R1d885bcf88564d53" /><ns0:Relationship Type="http://schemas.openxmlformats.org/officeDocument/2006/relationships/slide" Target="/ppt/slides/slide22.xml" Id="R9c6f81b433934d73" /><ns0:Relationship Type="http://schemas.openxmlformats.org/officeDocument/2006/relationships/slide" Target="/ppt/slides/slide23.xml" Id="Rf1245527f6354a48" /><ns0:Relationship Type="http://schemas.openxmlformats.org/officeDocument/2006/relationships/slide" Target="/ppt/slides/slide24.xml" Id="Re2339109e79b446a" /><ns0:Relationship Type="http://schemas.openxmlformats.org/officeDocument/2006/relationships/slide" Target="/ppt/slides/slide25.xml" Id="R3865ffc652334818" /><ns0:Relationship Type="http://schemas.openxmlformats.org/officeDocument/2006/relationships/slide" Target="/ppt/slides/slide26.xml" Id="Rd4264263378b4757" /><ns0:Relationship Type="http://schemas.openxmlformats.org/officeDocument/2006/relationships/slide" Target="/ppt/slides/slide27.xml" Id="R5211962d3ac74643" /><ns0:Relationship Type="http://schemas.openxmlformats.org/officeDocument/2006/relationships/slide" Target="/ppt/slides/slide28.xml" Id="R4b00cf64970a4104" /><ns0:Relationship Type="http://schemas.openxmlformats.org/officeDocument/2006/relationships/slide" Target="/ppt/slides/slide29.xml" Id="R216797d0b9e7425f" /><ns0:Relationship Type="http://schemas.openxmlformats.org/officeDocument/2006/relationships/slide" Target="/ppt/slides/slide30.xml" Id="R00f901f9aac04e58" /><ns0:Relationship Type="http://schemas.openxmlformats.org/officeDocument/2006/relationships/slide" Target="/ppt/slides/slide31.xml" Id="R66f6b74e7bd74327" /><ns0:Relationship Type="http://schemas.openxmlformats.org/officeDocument/2006/relationships/slide" Target="/ppt/slides/slide32.xml" Id="Radb230fb7cd04bd4" /><ns0:Relationship Type="http://schemas.openxmlformats.org/officeDocument/2006/relationships/slide" Target="/ppt/slides/slide33.xml" Id="Ra3b19a09415e48e0" /><ns0:Relationship Type="http://schemas.openxmlformats.org/officeDocument/2006/relationships/slide" Target="/ppt/slides/slide34.xml" Id="R808ee7e9c9214931" /><ns0:Relationship Type="http://schemas.openxmlformats.org/officeDocument/2006/relationships/slide" Target="/ppt/slides/slide35.xml" Id="Re218caf3b6594288" /><ns0:Relationship Type="http://schemas.openxmlformats.org/officeDocument/2006/relationships/slide" Target="/ppt/slides/slide36.xml" Id="R678b7b6b840040ba" /><ns0:Relationship Type="http://schemas.openxmlformats.org/officeDocument/2006/relationships/slide" Target="/ppt/slides/slide37.xml" Id="R3f37636cabfb4a49" /><ns0:Relationship Type="http://schemas.openxmlformats.org/officeDocument/2006/relationships/slide" Target="/ppt/slides/slide38.xml" Id="Ra8cd221b817c4b0f" /><ns0:Relationship Type="http://schemas.openxmlformats.org/officeDocument/2006/relationships/slide" Target="/ppt/slides/slide39.xml" Id="Rf45b7121823b4a30" /><ns0:Relationship Type="http://schemas.openxmlformats.org/officeDocument/2006/relationships/slide" Target="/ppt/slides/slide40.xml" Id="R80eec8bd5f0d45f5" /><ns0:Relationship Type="http://schemas.openxmlformats.org/officeDocument/2006/relationships/slide" Target="/ppt/slides/slide41.xml" Id="Rbdf92463ade54f88" /><ns0:Relationship Type="http://schemas.openxmlformats.org/officeDocument/2006/relationships/slide" Target="/ppt/slides/slide42.xml" Id="R6a146448f09c49a3" /><ns0:Relationship Type="http://schemas.openxmlformats.org/officeDocument/2006/relationships/slide" Target="/ppt/slides/slide43.xml" Id="R16a8bf3168cd4223" /><ns0:Relationship Type="http://schemas.openxmlformats.org/officeDocument/2006/relationships/slide" Target="/ppt/slides/slide44.xml" Id="R75e3c03412e843ce" /><ns0:Relationship Type="http://schemas.openxmlformats.org/officeDocument/2006/relationships/slide" Target="/ppt/slides/slide45.xml" Id="Rca3456edae634681" /><ns0:Relationship Type="http://schemas.openxmlformats.org/officeDocument/2006/relationships/slide" Target="/ppt/slides/slide46.xml" Id="Rab2e9841270e4beb" /><ns0:Relationship Type="http://schemas.openxmlformats.org/officeDocument/2006/relationships/slide" Target="/ppt/slides/slide47.xml" Id="R6baf9f23029c4a94" /><ns0:Relationship Type="http://schemas.openxmlformats.org/officeDocument/2006/relationships/slide" Target="/ppt/slides/slide48.xml" Id="Ra6ea2e00e6e44d62" /><ns0:Relationship Type="http://schemas.openxmlformats.org/officeDocument/2006/relationships/slide" Target="/ppt/slides/slide49.xml" Id="R86b3a5116e7d4dcc" /><ns0:Relationship Type="http://schemas.openxmlformats.org/officeDocument/2006/relationships/slide" Target="/ppt/slides/slide50.xml" Id="R89dd8708dbc144d1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b14e5117408944bb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9924a1a18354d63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4923e6f7a02544d2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ffae7d23aa6440d5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09c4c8be779d4ca2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eeb80e3a183a4282" /></ns0:Relationships>
</file>

<file path=ppt/slideLayouts/_rels/slideLayout7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fe7e1fa78764a35" /></ns0:Relationships>
</file>

<file path=ppt/slideLayouts/_rels/slideLayout8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abf1052d8184aac" /></ns0:Relationships>
</file>

<file path=ppt/slideLayouts/_rels/slideLayout9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e72cb1cf7dab4dff" /></ns0:Relationships>
</file>

<file path=ppt/slideLayouts/_rels/slideLayout10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c72e655e017f4d36" /></ns0:Relationships>
</file>

<file path=ppt/slideLayouts/_rels/slideLayout1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219c9059b7ee459c" /></ns0: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1A3DC9-DA24-4A9A-8756-7A7D29D4C4B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F90811-AA72-4B3A-A33B-1AE11FAFEE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C16364-86CA-4728-B217-B376008CBB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BF6169-4B87-414F-ACBE-D5889A1B47A0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A182AC-24F0-4218-8AEB-A45FF68A22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CE96D-4DC6-4894-BAD6-44067E9D8B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2ABE3D-7530-4717-A298-38B53DEF7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912944-E2DD-4306-B5E8-29F31EE5D2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CED062-3A99-4666-8457-27A9728F8C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D8E8B8-C7E4-4618-ABC3-C399B7CCEC0D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588733-8A28-44C9-A6BB-5F124CD1F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EB0B2A-1A4A-4C16-AF0B-C1AB8E140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076D84-672C-447D-AA0B-5F3B458CD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95AEDB-D3E1-4F02-9B02-0773BF0A8A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6C3BEE-701C-4F80-8624-83E9388959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C23AE2-2BBD-4FC2-B528-0BF2C1EBC75B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DBC5B5-573C-4218-8628-AC45C3E58A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DC7663-F10E-44C8-94E3-1336202FB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86DAB-6AA6-48CC-9EED-B9A9092C6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AE6064-C9B0-4ED2-B836-773BFC88D9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58C39F0-1E1A-46F5-9AB6-E9CC3CAF55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FA5277-58AD-4200-9E49-D13B9CD7A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CF949-C1A3-4258-9A96-1DB5EE6F9CB2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9FD05B-7E99-476D-85CD-AAC406532E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234D22A-46DC-4B00-8323-B3B250E474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91324C-86BD-407E-BD4B-7FDC35D2A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2C5FAD-98DF-4ECF-93D6-F37194FED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364E0E-1C37-42E5-AC1B-4419747A05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9175CB9-53DB-4CA8-9F84-9326531E9C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5166CE-C91C-4429-852B-97E101969C2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9D49DDF-62F2-46E2-8D03-C387761C2D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8AFE064-A27A-41A2-B430-44850FEBCE26}" type="datetime1">
              <a:t>2026/10/19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9257547-E9ED-4D33-BBA7-65E9A46A5A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717A970-5F74-4493-AA93-9BECC400AD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2197A6-EB07-40F6-9412-372DF04F9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15F0C53-06F1-421A-8254-534DFE03F6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B04457F-2123-4F1E-BC61-D6013C4605FE}" type="datetime1">
              <a:t>2026/10/19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E0BE3F-892B-4CCE-A466-55793FE876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E502C12-168B-4E2A-AB2D-AF951B8ECB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FABD391-129E-437A-B419-B228529244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F44EDF-6DC3-458C-A3A9-8D69B7CABB26}" type="datetime1">
              <a:t>2026/10/19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C03395A-02F5-45BE-AFA6-75904AFF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A13C7B6-DCC5-462D-A739-3E4B882B90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60529A-30ED-4EB1-BCEB-F66554F22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F47707-8EBD-4D88-A69A-71476BA3A0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F7417-5E33-4BA4-BA7C-3992D0A75A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46CA97-00D8-4224-A4BC-64A94AA244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4DDA704-12F4-46A3-A7C0-1069ADB40368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AC187D0-D0C3-4B59-88DD-7B2DF8D1E6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B504547-5A52-4444-A6A7-1F3FF93CD3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5F784C-269F-45F7-97AF-A45A3B157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267C6B7-4096-4FA8-BE60-8C0FB5B6C2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78E12F-6B6A-45EC-AC12-8418DAB2AE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DF6F7A-E43C-48EA-8065-66050F3A83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6F2CB-8729-4C62-8C45-F10C053FAA70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0C4305-4E63-45A5-BE01-994ED191B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35BE83D-C2A9-45C9-BBBD-0AF7D83EE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C32461-FD17-4F35-8E54-06FDD2DF3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CB851B-9832-4A6A-8699-423DAF73E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F9F71B-F8D3-4B77-8C3A-703806346C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1EAB77-6B53-47FF-89A2-6BC308EE4FA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9B9FC0-BB91-43F1-8857-877726A93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CD9A64-E61C-4280-8BA2-4668230ECE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9B453B3-5B2D-4CD2-A820-75C4C4AC7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D88D68-5D37-4894-9DA0-853DBE3F32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398DAF-7712-4AA5-B943-36BC70A584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AB984-F660-4238-ACB0-EABC8C45DF5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692F1-4417-4A24-B468-A8B59FAB56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6A97B2-962C-4960-8F60-D111531BB7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98959d6deba748e4" /><ns0:Relationship Type="http://schemas.openxmlformats.org/officeDocument/2006/relationships/slideLayout" Target="/ppt/slideLayouts/slideLayout1.xml" Id="R9007838a2728423a" /><ns0:Relationship Type="http://schemas.openxmlformats.org/officeDocument/2006/relationships/slideLayout" Target="/ppt/slideLayouts/slideLayout2.xml" Id="R96c64c34eaaa48ce" /><ns0:Relationship Type="http://schemas.openxmlformats.org/officeDocument/2006/relationships/slideLayout" Target="/ppt/slideLayouts/slideLayout3.xml" Id="R3a911c6589e9474f" /><ns0:Relationship Type="http://schemas.openxmlformats.org/officeDocument/2006/relationships/slideLayout" Target="/ppt/slideLayouts/slideLayout4.xml" Id="R15bacf9d71bf434e" /><ns0:Relationship Type="http://schemas.openxmlformats.org/officeDocument/2006/relationships/slideLayout" Target="/ppt/slideLayouts/slideLayout5.xml" Id="R82a32a856f1f4f27" /><ns0:Relationship Type="http://schemas.openxmlformats.org/officeDocument/2006/relationships/slideLayout" Target="/ppt/slideLayouts/slideLayout6.xml" Id="Rae9fc866a2724d2c" /><ns0:Relationship Type="http://schemas.openxmlformats.org/officeDocument/2006/relationships/slideLayout" Target="/ppt/slideLayouts/slideLayout7.xml" Id="Rec9138657fca4843" /><ns0:Relationship Type="http://schemas.openxmlformats.org/officeDocument/2006/relationships/slideLayout" Target="/ppt/slideLayouts/slideLayout8.xml" Id="Ref664264b2e84633" /><ns0:Relationship Type="http://schemas.openxmlformats.org/officeDocument/2006/relationships/slideLayout" Target="/ppt/slideLayouts/slideLayout9.xml" Id="Rc1439a57ac2d4331" /><ns0:Relationship Type="http://schemas.openxmlformats.org/officeDocument/2006/relationships/slideLayout" Target="/ppt/slideLayouts/slideLayout10.xml" Id="R9cbce7e71f444df6" /><ns0:Relationship Type="http://schemas.openxmlformats.org/officeDocument/2006/relationships/slideLayout" Target="/ppt/slideLayouts/slideLayout11.xml" Id="R595e4126581644c3" /></ns0: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F6BCEC0-DDFA-411A-B5DA-1CC0BCBB5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73F9A6-4572-46F5-A03D-D149C45D3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D56ABA-F6C1-49B5-94F4-0D239C9EC09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F986E7-C570-46E9-AAFE-601416D6D202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359F38-C746-4A0A-AABE-DB27610D31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6228C8-4BE7-4A46-847A-30E670EA4F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7838a2728423a"/>
    <p:sldLayoutId xmlns:r="http://schemas.openxmlformats.org/officeDocument/2006/relationships" id="2147483650" r:id="R96c64c34eaaa48ce"/>
    <p:sldLayoutId xmlns:r="http://schemas.openxmlformats.org/officeDocument/2006/relationships" id="2147483651" r:id="R3a911c6589e9474f"/>
    <p:sldLayoutId xmlns:r="http://schemas.openxmlformats.org/officeDocument/2006/relationships" id="2147483652" r:id="R15bacf9d71bf434e"/>
    <p:sldLayoutId xmlns:r="http://schemas.openxmlformats.org/officeDocument/2006/relationships" id="2147483653" r:id="R82a32a856f1f4f27"/>
    <p:sldLayoutId xmlns:r="http://schemas.openxmlformats.org/officeDocument/2006/relationships" id="2147483654" r:id="Rae9fc866a2724d2c"/>
    <p:sldLayoutId xmlns:r="http://schemas.openxmlformats.org/officeDocument/2006/relationships" id="2147483655" r:id="Rec9138657fca4843"/>
    <p:sldLayoutId xmlns:r="http://schemas.openxmlformats.org/officeDocument/2006/relationships" id="2147483656" r:id="Ref664264b2e84633"/>
    <p:sldLayoutId xmlns:r="http://schemas.openxmlformats.org/officeDocument/2006/relationships" id="2147483657" r:id="Rc1439a57ac2d4331"/>
    <p:sldLayoutId xmlns:r="http://schemas.openxmlformats.org/officeDocument/2006/relationships" id="2147483658" r:id="R9cbce7e71f444df6"/>
    <p:sldLayoutId xmlns:r="http://schemas.openxmlformats.org/officeDocument/2006/relationships" id="2147483659" r:id="R595e4126581644c3"/>
  </p:sldLayoutIdLst>
  <p:hf hdr="0" ftr="0" dt="0"/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5b961f791a14b13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45f76a2ef844c82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c3f2ddcda324ea5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bc25f84a8b241d2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37abe83d0fe4cd6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51b41b5b3894e3b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a198135980f4ee2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9f74bb2432b47fe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5492094589b45c4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1e71847eb9a4359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93dd5c6dde74073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c6158f5acf74844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f090d31f495421f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43cc92dc2034d11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b359cd026004e2e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9da64eaec5341ca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ed8ea2b3ed2423e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d2191a584a34114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5c976f898554d67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db40ba2432e46ee" /><ns0:Relationship Type="http://schemas.openxmlformats.org/officeDocument/2006/relationships/chart" Target="/ppt/slides/charts/chart1.xml" Id="R042f6656930f490a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b1d459a3ed9460b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d3a077fbf2c4181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858421dcedb4a6e" /><ns0:Relationship Type="http://schemas.openxmlformats.org/officeDocument/2006/relationships/chart" Target="/ppt/slides/charts/chart2.xml" Id="R0b865c3228994c1f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8c2ff95479f4b36" /><ns0:Relationship Type="http://schemas.openxmlformats.org/officeDocument/2006/relationships/chart" Target="/ppt/slides/charts/chart3.xml" Id="Rf6503c94b4ab48ac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8f3591603a14ed7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1afa7fdaf214c67" /><ns0:Relationship Type="http://schemas.openxmlformats.org/officeDocument/2006/relationships/chart" Target="/ppt/slides/charts/chart4.xml" Id="Rd9caa433117547a8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18f41c6b0b14721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d62cf077fa143b8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57dbbaeb7d7445a" /><ns0:Relationship Type="http://schemas.openxmlformats.org/officeDocument/2006/relationships/chart" Target="/ppt/slides/charts/chart5.xml" Id="R7227a396c05e4050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5c5eb3a2d06440a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38c459ad98440eb" /><ns0:Relationship Type="http://schemas.openxmlformats.org/officeDocument/2006/relationships/chart" Target="/ppt/slides/charts/chart6.xml" Id="Rc3d4c8985eab4762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7886e61c9a5457c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7a7636c7da44132" /><ns0:Relationship Type="http://schemas.openxmlformats.org/officeDocument/2006/relationships/chart" Target="/ppt/slides/charts/chart7.xml" Id="R766912aa60204b85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edd8f3372ce4939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c04ac82ff2845e7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ba72a93a00f4b1c" /><ns0:Relationship Type="http://schemas.openxmlformats.org/officeDocument/2006/relationships/chart" Target="/ppt/slides/charts/chart8.xml" Id="R7f6b3e60d74d4c5a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ec8e02712c24d7c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ece21d4024d47f5" /><ns0:Relationship Type="http://schemas.openxmlformats.org/officeDocument/2006/relationships/chart" Target="/ppt/slides/charts/chart9.xml" Id="R71b2e0a1e1c649c6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0e659523905428e" /><ns0:Relationship Type="http://schemas.openxmlformats.org/officeDocument/2006/relationships/chart" Target="/ppt/slides/charts/chart10.xml" Id="R6013bf9e52f24712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e1c68a23fc54d0b" /><ns0:Relationship Type="http://schemas.openxmlformats.org/officeDocument/2006/relationships/chart" Target="/ppt/slides/charts/chart11.xml" Id="R4c4e384e02324562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6aef352553b431a" /><ns0:Relationship Type="http://schemas.openxmlformats.org/officeDocument/2006/relationships/chart" Target="/ppt/slides/charts/chart12.xml" Id="R3531ee7f73494964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8ee578a2a6a4ad9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152a7f4813049d2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8a2548e93f548d3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6b33db60c764f71" /><ns0:Relationship Type="http://schemas.openxmlformats.org/officeDocument/2006/relationships/chart" Target="/ppt/slides/charts/chart13.xml" Id="R156461b207b24e66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69c612f7625499e" /><ns0:Relationship Type="http://schemas.openxmlformats.org/officeDocument/2006/relationships/chart" Target="/ppt/slides/charts/chart14.xml" Id="Re59225a59cc94c25" /></ns0:Relationships>
</file>

<file path=ppt/slides/_rels/slide4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d5d34869905401a" /><ns0:Relationship Type="http://schemas.openxmlformats.org/officeDocument/2006/relationships/chart" Target="/ppt/slides/charts/chart15.xml" Id="R8cd2a1e178fe4251" /></ns0:Relationships>
</file>

<file path=ppt/slides/_rels/slide4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aa8905cd9024c53" /><ns0:Relationship Type="http://schemas.openxmlformats.org/officeDocument/2006/relationships/chart" Target="/ppt/slides/charts/chart16.xml" Id="R1c50b344715f4699" /></ns0:Relationships>
</file>

<file path=ppt/slides/_rels/slide4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6d485fbbedc4682" /><ns0:Relationship Type="http://schemas.openxmlformats.org/officeDocument/2006/relationships/chart" Target="/ppt/slides/charts/chart17.xml" Id="R828e641e88284c09" /></ns0:Relationships>
</file>

<file path=ppt/slides/_rels/slide5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2f8e181f4b8495c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出力設定差と、RSSI中央値差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出力設定差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−8 → −4dBm</c:v>
                </c:pt>
                <c:pt idx="1">
                  <c:v>−4 → 0dBm</c:v>
                </c:pt>
                <c:pt idx="2">
                  <c:v>−8 → 0dBm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v>RSSI中央値差</c:v>
          </c:tx>
          <c:spPr>
            <a:solidFill xmlns:a="http://schemas.openxmlformats.org/drawingml/2006/main">
              <a:srgbClr val="8CA7C3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−8 → −4dBm</c:v>
                </c:pt>
                <c:pt idx="1">
                  <c:v>−4 → 0dBm</c:v>
                </c:pt>
                <c:pt idx="2">
                  <c:v>−8 → 0dBm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</c:v>
                </c:pt>
                <c:pt idx="1">
                  <c:v>2.5</c:v>
                </c:pt>
                <c:pt idx="2">
                  <c:v>4.75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差（dB）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受信機から外向きの申告改変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真距離 20-40m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0m</c:v>
                </c:pt>
                <c:pt idx="1">
                  <c:v>30m</c:v>
                </c:pt>
                <c:pt idx="2">
                  <c:v>100m</c:v>
                </c:pt>
                <c:pt idx="3">
                  <c:v>200m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10.951009</c:v>
                </c:pt>
                <c:pt idx="1">
                  <c:v>14.121037</c:v>
                </c:pt>
                <c:pt idx="2">
                  <c:v>47.838617</c:v>
                </c:pt>
                <c:pt idx="3">
                  <c:v>74.279539</c:v>
                </c:pt>
              </c:numCache>
            </c:numRef>
          </c:val>
          <c:smooth val="0"/>
        </c:ser>
        <c:ser>
          <c:idx val="1"/>
          <c:order val="1"/>
          <c:tx>
            <c:v>真距離 80-120m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0m</c:v>
                </c:pt>
                <c:pt idx="1">
                  <c:v>30m</c:v>
                </c:pt>
                <c:pt idx="2">
                  <c:v>100m</c:v>
                </c:pt>
                <c:pt idx="3">
                  <c:v>200m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3.289083</c:v>
                </c:pt>
                <c:pt idx="1">
                  <c:v>5.884684</c:v>
                </c:pt>
                <c:pt idx="2">
                  <c:v>17.416287</c:v>
                </c:pt>
                <c:pt idx="3">
                  <c:v>36.55637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外向き100m改変・受信記録を分母にした警報率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警報率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正常</c:v>
                </c:pt>
                <c:pt idx="1">
                  <c:v>位置だけ改変</c:v>
                </c:pt>
                <c:pt idx="2">
                  <c:v>電力も連動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5.017921</c:v>
                </c:pt>
                <c:pt idx="1">
                  <c:v>23.879928</c:v>
                </c:pt>
                <c:pt idx="2">
                  <c:v>2.423947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正常と、外向き30mの位置改変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正常誤警報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1台</c:v>
                </c:pt>
                <c:pt idx="1">
                  <c:v>2台</c:v>
                </c:pt>
                <c:pt idx="2">
                  <c:v>3台</c:v>
                </c:pt>
                <c:pt idx="3">
                  <c:v>5台</c:v>
                </c:pt>
                <c:pt idx="4">
                  <c:v>10台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5.242447</c:v>
                </c:pt>
                <c:pt idx="1">
                  <c:v>5.202053</c:v>
                </c:pt>
                <c:pt idx="2">
                  <c:v>5.254736</c:v>
                </c:pt>
                <c:pt idx="3">
                  <c:v>5.451056</c:v>
                </c:pt>
                <c:pt idx="4">
                  <c:v>5.391782</c:v>
                </c:pt>
              </c:numCache>
            </c:numRef>
          </c:val>
        </c:ser>
        <c:ser>
          <c:idx val="1"/>
          <c:order val="1"/>
          <c:tx>
            <c:v>改変時の警報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1台</c:v>
                </c:pt>
                <c:pt idx="1">
                  <c:v>2台</c:v>
                </c:pt>
                <c:pt idx="2">
                  <c:v>3台</c:v>
                </c:pt>
                <c:pt idx="3">
                  <c:v>5台</c:v>
                </c:pt>
                <c:pt idx="4">
                  <c:v>10台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7.457477</c:v>
                </c:pt>
                <c:pt idx="1">
                  <c:v>7.703656</c:v>
                </c:pt>
                <c:pt idx="2">
                  <c:v>7.622888</c:v>
                </c:pt>
                <c:pt idx="3">
                  <c:v>7.799104</c:v>
                </c:pt>
                <c:pt idx="4">
                  <c:v>7.9122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電力の相関時間10分・正常時の距離MAE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履歴なし</c:v>
          </c:tx>
          <c:spPr>
            <a:solidFill xmlns:a="http://schemas.openxmlformats.org/drawingml/2006/main">
              <a:srgbClr val="7B8591"/>
            </a:solidFill>
            <a:ln xmlns:a="http://schemas.openxmlformats.org/drawingml/2006/main" w="19050">
              <a:solidFill>
                <a:srgbClr val="7B859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3秒</c:v>
                </c:pt>
                <c:pt idx="1">
                  <c:v>1分</c:v>
                </c:pt>
                <c:pt idx="2">
                  <c:v>5分</c:v>
                </c:pt>
                <c:pt idx="3">
                  <c:v>1時間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38.252564</c:v>
                </c:pt>
                <c:pt idx="1">
                  <c:v>38.178152</c:v>
                </c:pt>
                <c:pt idx="2">
                  <c:v>38.166431</c:v>
                </c:pt>
                <c:pt idx="3">
                  <c:v>38.415973</c:v>
                </c:pt>
              </c:numCache>
            </c:numRef>
          </c:val>
          <c:smooth val="0"/>
        </c:ser>
        <c:ser>
          <c:idx val="1"/>
          <c:order val="1"/>
          <c:tx>
            <c:v>過去値を維持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3秒</c:v>
                </c:pt>
                <c:pt idx="1">
                  <c:v>1分</c:v>
                </c:pt>
                <c:pt idx="2">
                  <c:v>5分</c:v>
                </c:pt>
                <c:pt idx="3">
                  <c:v>1時間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20.942248</c:v>
                </c:pt>
                <c:pt idx="1">
                  <c:v>24.685529</c:v>
                </c:pt>
                <c:pt idx="2">
                  <c:v>36.000075</c:v>
                </c:pt>
                <c:pt idx="3">
                  <c:v>58.665257</c:v>
                </c:pt>
              </c:numCache>
            </c:numRef>
          </c:val>
          <c:smooth val="0"/>
        </c:ser>
        <c:ser>
          <c:idx val="2"/>
          <c:order val="2"/>
          <c:tx>
            <c:v>相関に合った予測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Data'!$E$2:$E$5</c:f>
              <c:strCache>
                <c:ptCount val="4"/>
                <c:pt idx="0">
                  <c:v>3秒</c:v>
                </c:pt>
                <c:pt idx="1">
                  <c:v>1分</c:v>
                </c:pt>
                <c:pt idx="2">
                  <c:v>5分</c:v>
                </c:pt>
                <c:pt idx="3">
                  <c:v>1時間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20.676876</c:v>
                </c:pt>
                <c:pt idx="1">
                  <c:v>23.903388</c:v>
                </c:pt>
                <c:pt idx="2">
                  <c:v>31.867271</c:v>
                </c:pt>
                <c:pt idx="3">
                  <c:v>38.41134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30ラベル／RID・ID差SD6dB・飛行差SD1dB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共通モデル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通常の送信機</c:v>
                </c:pt>
                <c:pt idx="1">
                  <c:v>同じRIDを名乗る別送信機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41.352592</c:v>
                </c:pt>
                <c:pt idx="1">
                  <c:v>40.963708</c:v>
                </c:pt>
              </c:numCache>
            </c:numRef>
          </c:val>
        </c:ser>
        <c:ser>
          <c:idx val="1"/>
          <c:order val="1"/>
          <c:tx>
            <c:v>RID別補正</c:v>
          </c:tx>
          <c:spPr>
            <a:solidFill xmlns:a="http://schemas.openxmlformats.org/drawingml/2006/main">
              <a:srgbClr val="8CA7C3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通常の送信機</c:v>
                </c:pt>
                <c:pt idx="1">
                  <c:v>同じRIDを名乗る別送信機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19.165759</c:v>
                </c:pt>
                <c:pt idx="1">
                  <c:v>54.334929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RSSIの古さと正常誤警報率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正常誤警報率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0秒</c:v>
                </c:pt>
                <c:pt idx="1">
                  <c:v>1秒</c:v>
                </c:pt>
                <c:pt idx="2">
                  <c:v>5秒</c:v>
                </c:pt>
                <c:pt idx="3">
                  <c:v>15秒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4.868765</c:v>
                </c:pt>
                <c:pt idx="1">
                  <c:v>5.658682</c:v>
                </c:pt>
                <c:pt idx="2">
                  <c:v>10.656232</c:v>
                </c:pt>
                <c:pt idx="3">
                  <c:v>23.22114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正常誤警報率（%）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共通の架空軌跡と5台配置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観測ノード</c:v>
          </c:tx>
          <c:spPr>
            <a:ln xmlns:a="http://schemas.openxmlformats.org/drawingml/2006/main" w="0">
              <a:noFill/>
            </a:ln>
          </c:spPr>
          <c:marker>
            <c:symbol val="square"/>
            <c:size val="9"/>
            <c:spPr>
              <a:solidFill xmlns:a="http://schemas.openxmlformats.org/drawingml/2006/main">
                <a:srgbClr val="2F64A1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-100</c:v>
                </c:pt>
                <c:pt idx="1">
                  <c:v>85</c:v>
                </c:pt>
                <c:pt idx="2">
                  <c:v>110</c:v>
                </c:pt>
                <c:pt idx="3">
                  <c:v>-80</c:v>
                </c:pt>
                <c:pt idx="4">
                  <c:v>10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-70</c:v>
                </c:pt>
                <c:pt idx="1">
                  <c:v>-90</c:v>
                </c:pt>
                <c:pt idx="2">
                  <c:v>80</c:v>
                </c:pt>
                <c:pt idx="3">
                  <c:v>110</c:v>
                </c:pt>
                <c:pt idx="4">
                  <c:v>15</c:v>
                </c:pt>
              </c:numCache>
            </c:numRef>
          </c:yVal>
        </c:ser>
        <c:ser>
          <c:idx val="1"/>
          <c:order val="1"/>
          <c:tx>
            <c:v>機体の軌跡例</c:v>
          </c:tx>
          <c:spPr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none"/>
          </c:marker>
          <c:xVal>
            <c:numRef>
              <c:f>'Chart Data'!$C$2:$C$41</c:f>
              <c:numCache>
                <c:formatCode>General</c:formatCode>
                <c:ptCount val="40"/>
                <c:pt idx="0">
                  <c:v>-36.514435</c:v>
                </c:pt>
                <c:pt idx="1">
                  <c:v>-32.245529</c:v>
                </c:pt>
                <c:pt idx="2">
                  <c:v>-28.033721</c:v>
                </c:pt>
                <c:pt idx="3">
                  <c:v>-23.934693</c:v>
                </c:pt>
                <c:pt idx="4">
                  <c:v>-20.001325</c:v>
                </c:pt>
                <c:pt idx="5">
                  <c:v>-16.282384</c:v>
                </c:pt>
                <c:pt idx="6">
                  <c:v>-12.821314</c:v>
                </c:pt>
                <c:pt idx="7">
                  <c:v>-9.655155</c:v>
                </c:pt>
                <c:pt idx="8">
                  <c:v>-6.813625</c:v>
                </c:pt>
                <c:pt idx="9">
                  <c:v>-4.318382</c:v>
                </c:pt>
                <c:pt idx="10">
                  <c:v>-2.182485</c:v>
                </c:pt>
                <c:pt idx="11">
                  <c:v>-0.410072</c:v>
                </c:pt>
                <c:pt idx="12">
                  <c:v>1.003744</c:v>
                </c:pt>
                <c:pt idx="13">
                  <c:v>2.072757</c:v>
                </c:pt>
                <c:pt idx="14">
                  <c:v>2.819317</c:v>
                </c:pt>
                <c:pt idx="15">
                  <c:v>3.273786</c:v>
                </c:pt>
                <c:pt idx="16">
                  <c:v>3.473773</c:v>
                </c:pt>
                <c:pt idx="17">
                  <c:v>3.463209</c:v>
                </c:pt>
                <c:pt idx="18">
                  <c:v>3.291252</c:v>
                </c:pt>
                <c:pt idx="19">
                  <c:v>3.011068</c:v>
                </c:pt>
                <c:pt idx="20">
                  <c:v>2.678509</c:v>
                </c:pt>
                <c:pt idx="21">
                  <c:v>2.350728</c:v>
                </c:pt>
                <c:pt idx="22">
                  <c:v>2.084758</c:v>
                </c:pt>
                <c:pt idx="23">
                  <c:v>1.936101</c:v>
                </c:pt>
                <c:pt idx="24">
                  <c:v>1.957342</c:v>
                </c:pt>
                <c:pt idx="25">
                  <c:v>2.19685</c:v>
                </c:pt>
                <c:pt idx="26">
                  <c:v>2.697573</c:v>
                </c:pt>
                <c:pt idx="27">
                  <c:v>3.495976</c:v>
                </c:pt>
                <c:pt idx="28">
                  <c:v>4.621128</c:v>
                </c:pt>
                <c:pt idx="29">
                  <c:v>6.093991</c:v>
                </c:pt>
                <c:pt idx="30">
                  <c:v>7.926888</c:v>
                </c:pt>
                <c:pt idx="31">
                  <c:v>10.123207</c:v>
                </c:pt>
                <c:pt idx="32">
                  <c:v>12.677308</c:v>
                </c:pt>
                <c:pt idx="33">
                  <c:v>15.574673</c:v>
                </c:pt>
                <c:pt idx="34">
                  <c:v>18.792255</c:v>
                </c:pt>
                <c:pt idx="35">
                  <c:v>22.299061</c:v>
                </c:pt>
                <c:pt idx="36">
                  <c:v>26.056915</c:v>
                </c:pt>
                <c:pt idx="37">
                  <c:v>30.021407</c:v>
                </c:pt>
                <c:pt idx="38">
                  <c:v>34.142996</c:v>
                </c:pt>
                <c:pt idx="39">
                  <c:v>38.368242</c:v>
                </c:pt>
              </c:numCache>
            </c:numRef>
          </c:xVal>
          <c:yVal>
            <c:numRef>
              <c:f>'Chart Data'!$D$2:$D$41</c:f>
              <c:numCache>
                <c:formatCode>General</c:formatCode>
                <c:ptCount val="40"/>
                <c:pt idx="0">
                  <c:v>176.27929</c:v>
                </c:pt>
                <c:pt idx="1">
                  <c:v>167.972208</c:v>
                </c:pt>
                <c:pt idx="2">
                  <c:v>159.652378</c:v>
                </c:pt>
                <c:pt idx="3">
                  <c:v>151.307369</c:v>
                </c:pt>
                <c:pt idx="4">
                  <c:v>142.925375</c:v>
                </c:pt>
                <c:pt idx="5">
                  <c:v>134.495507</c:v>
                </c:pt>
                <c:pt idx="6">
                  <c:v>126.008067</c:v>
                </c:pt>
                <c:pt idx="7">
                  <c:v>117.454785</c:v>
                </c:pt>
                <c:pt idx="8">
                  <c:v>108.829026</c:v>
                </c:pt>
                <c:pt idx="9">
                  <c:v>100.125955</c:v>
                </c:pt>
                <c:pt idx="10">
                  <c:v>91.342657</c:v>
                </c:pt>
                <c:pt idx="11">
                  <c:v>82.478206</c:v>
                </c:pt>
                <c:pt idx="12">
                  <c:v>73.533696</c:v>
                </c:pt>
                <c:pt idx="13">
                  <c:v>64.512204</c:v>
                </c:pt>
                <c:pt idx="14">
                  <c:v>55.418722</c:v>
                </c:pt>
                <c:pt idx="15">
                  <c:v>46.260026</c:v>
                </c:pt>
                <c:pt idx="16">
                  <c:v>37.044516</c:v>
                </c:pt>
                <c:pt idx="17">
                  <c:v>27.781997</c:v>
                </c:pt>
                <c:pt idx="18">
                  <c:v>18.483446</c:v>
                </c:pt>
                <c:pt idx="19">
                  <c:v>9.160732</c:v>
                </c:pt>
                <c:pt idx="20">
                  <c:v>-0.173675</c:v>
                </c:pt>
                <c:pt idx="21">
                  <c:v>-9.507015</c:v>
                </c:pt>
                <c:pt idx="22">
                  <c:v>-18.826556</c:v>
                </c:pt>
                <c:pt idx="23">
                  <c:v>-28.119905</c:v>
                </c:pt>
                <c:pt idx="24">
                  <c:v>-37.375323</c:v>
                </c:pt>
                <c:pt idx="25">
                  <c:v>-46.58201</c:v>
                </c:pt>
                <c:pt idx="26">
                  <c:v>-55.730378</c:v>
                </c:pt>
                <c:pt idx="27">
                  <c:v>-64.812286</c:v>
                </c:pt>
                <c:pt idx="28">
                  <c:v>-73.821244</c:v>
                </c:pt>
                <c:pt idx="29">
                  <c:v>-82.752572</c:v>
                </c:pt>
                <c:pt idx="30">
                  <c:v>-91.603519</c:v>
                </c:pt>
                <c:pt idx="31">
                  <c:v>-100.373328</c:v>
                </c:pt>
                <c:pt idx="32">
                  <c:v>-109.063258</c:v>
                </c:pt>
                <c:pt idx="33">
                  <c:v>-117.676551</c:v>
                </c:pt>
                <c:pt idx="34">
                  <c:v>-126.218352</c:v>
                </c:pt>
                <c:pt idx="35">
                  <c:v>-134.695581</c:v>
                </c:pt>
                <c:pt idx="36">
                  <c:v>-143.116761</c:v>
                </c:pt>
                <c:pt idx="37">
                  <c:v>-151.491807</c:v>
                </c:pt>
                <c:pt idx="38">
                  <c:v>-159.831779</c:v>
                </c:pt>
                <c:pt idx="39">
                  <c:v>-168.148609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2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Hiragino Kaku Gothic ProN W3"/>
                    <a:ea typeface="Hiragino Kaku Gothic ProN W3"/>
                    <a:cs typeface="Hiragino Kaku Gothic ProN W3"/>
                  </a:rPr>
                  <a:t>南北（m）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-200"/>
      </c:valAx>
      <c:valAx>
        <c:axId val="48650112"/>
        <c:scaling>
          <c:orientation val="minMax"/>
          <c:max val="200"/>
          <c:min val="-2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Hiragino Kaku Gothic ProN W3"/>
                    <a:ea typeface="Hiragino Kaku Gothic ProN W3"/>
                    <a:cs typeface="Hiragino Kaku Gothic ProN W3"/>
                  </a:rPr>
                  <a:t>東西（m）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  <c:crossesAt val="-20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独立リンク雑音 SD2dB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2台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5.041667</c:v>
                </c:pt>
                <c:pt idx="1">
                  <c:v>5.756944</c:v>
                </c:pt>
                <c:pt idx="2">
                  <c:v>11.458333</c:v>
                </c:pt>
                <c:pt idx="3">
                  <c:v>20.329167</c:v>
                </c:pt>
                <c:pt idx="4">
                  <c:v>37.595833</c:v>
                </c:pt>
              </c:numCache>
            </c:numRef>
          </c:yVal>
          <c:smooth val="0"/>
        </c:ser>
        <c:ser>
          <c:idx val="1"/>
          <c:order val="1"/>
          <c:tx>
            <c:v>3台</c:v>
          </c:tx>
          <c:spPr>
            <a:solidFill xmlns:a="http://schemas.openxmlformats.org/drawingml/2006/main">
              <a:srgbClr val="8CA7C3"/>
            </a:solidFill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4.958333</c:v>
                </c:pt>
                <c:pt idx="1">
                  <c:v>5.968056</c:v>
                </c:pt>
                <c:pt idx="2">
                  <c:v>14.276389</c:v>
                </c:pt>
                <c:pt idx="3">
                  <c:v>28.965278</c:v>
                </c:pt>
                <c:pt idx="4">
                  <c:v>56.893056</c:v>
                </c:pt>
              </c:numCache>
            </c:numRef>
          </c:yVal>
          <c:smooth val="0"/>
        </c:ser>
        <c:ser>
          <c:idx val="2"/>
          <c:order val="2"/>
          <c:tx>
            <c:v>5台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4.984722</c:v>
                </c:pt>
                <c:pt idx="1">
                  <c:v>6.334722</c:v>
                </c:pt>
                <c:pt idx="2">
                  <c:v>19.522222</c:v>
                </c:pt>
                <c:pt idx="3">
                  <c:v>41.658333</c:v>
                </c:pt>
                <c:pt idx="4">
                  <c:v>73.677778</c:v>
                </c:pt>
              </c:numCache>
            </c:numRef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水平位置の改変量（m）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独立リンク雑音 SD6dB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2台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5.009722</c:v>
                </c:pt>
                <c:pt idx="1">
                  <c:v>5.119444</c:v>
                </c:pt>
                <c:pt idx="2">
                  <c:v>5.813889</c:v>
                </c:pt>
                <c:pt idx="3">
                  <c:v>7.047222</c:v>
                </c:pt>
                <c:pt idx="4">
                  <c:v>11.248611</c:v>
                </c:pt>
              </c:numCache>
            </c:numRef>
          </c:yVal>
          <c:smooth val="0"/>
        </c:ser>
        <c:ser>
          <c:idx val="1"/>
          <c:order val="1"/>
          <c:tx>
            <c:v>3台</c:v>
          </c:tx>
          <c:spPr>
            <a:solidFill xmlns:a="http://schemas.openxmlformats.org/drawingml/2006/main">
              <a:srgbClr val="8CA7C3"/>
            </a:solidFill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4.902778</c:v>
                </c:pt>
                <c:pt idx="1">
                  <c:v>5.034722</c:v>
                </c:pt>
                <c:pt idx="2">
                  <c:v>5.913889</c:v>
                </c:pt>
                <c:pt idx="3">
                  <c:v>7.866667</c:v>
                </c:pt>
                <c:pt idx="4">
                  <c:v>14.541667</c:v>
                </c:pt>
              </c:numCache>
            </c:numRef>
          </c:yVal>
          <c:smooth val="0"/>
        </c:ser>
        <c:ser>
          <c:idx val="2"/>
          <c:order val="2"/>
          <c:tx>
            <c:v>5台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4.875</c:v>
                </c:pt>
                <c:pt idx="1">
                  <c:v>5.019444</c:v>
                </c:pt>
                <c:pt idx="2">
                  <c:v>6.323611</c:v>
                </c:pt>
                <c:pt idx="3">
                  <c:v>9.018056</c:v>
                </c:pt>
                <c:pt idx="4">
                  <c:v>18.729167</c:v>
                </c:pt>
              </c:numCache>
            </c:numRef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水平位置の改変量（m）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雑音SD2dB・全送信を分母にした割合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不整合の警報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73.677778</c:v>
                </c:pt>
                <c:pt idx="1">
                  <c:v>49.35</c:v>
                </c:pt>
              </c:numCache>
            </c:numRef>
          </c:val>
        </c:ser>
        <c:ser>
          <c:idx val="1"/>
          <c:order val="1"/>
          <c:tx>
            <c:v>警報なし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26.322222</c:v>
                </c:pt>
                <c:pt idx="1">
                  <c:v>27.756944</c:v>
                </c:pt>
              </c:numCache>
            </c:numRef>
          </c:val>
        </c:ser>
        <c:ser>
          <c:idx val="2"/>
          <c:order val="2"/>
          <c:tx>
            <c:v>判定保留</c:v>
          </c:tx>
          <c:spPr>
            <a:solidFill xmlns:a="http://schemas.openxmlformats.org/drawingml/2006/main">
              <a:srgbClr val="BDC5CF"/>
            </a:solidFill>
          </c:spPr>
          <c:invertIfNegative val="0"/>
          <c:dLbls>
            <c:dLbl>
              <c:idx val="0"/>
              <c:showVal val="0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22.893056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全送信に対する割合（%）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全4台のRSSIが一致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正常：高度80m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-88.363282</c:v>
                </c:pt>
                <c:pt idx="1">
                  <c:v>-88.363282</c:v>
                </c:pt>
                <c:pt idx="2">
                  <c:v>-88.363282</c:v>
                </c:pt>
                <c:pt idx="3">
                  <c:v>-88.363282</c:v>
                </c:pt>
              </c:numCache>
            </c:numRef>
          </c:val>
          <c:smooth val="0"/>
        </c:ser>
        <c:ser>
          <c:idx val="1"/>
          <c:order val="1"/>
          <c:tx>
            <c:v>偽装：高度20m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-88.363282</c:v>
                </c:pt>
                <c:pt idx="1">
                  <c:v>-88.363282</c:v>
                </c:pt>
                <c:pt idx="2">
                  <c:v>-88.363282</c:v>
                </c:pt>
                <c:pt idx="3">
                  <c:v>-88.363282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-86"/>
          <c:min val="-9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RSSI（dBm）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-91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通常条件での距離推定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距離MAE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PathLoss</c:v>
                </c:pt>
                <c:pt idx="1">
                  <c:v>Bayesian</c:v>
                </c:pt>
                <c:pt idx="2">
                  <c:v>GP</c:v>
                </c:pt>
                <c:pt idx="3">
                  <c:v>MLP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56.616402</c:v>
                </c:pt>
                <c:pt idx="1">
                  <c:v>39.107837</c:v>
                </c:pt>
                <c:pt idx="2">
                  <c:v>25.598528</c:v>
                </c:pt>
                <c:pt idx="3">
                  <c:v>25.493642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10受信機・100m改変の警報率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改変時の警報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ガウス SD2dB</c:v>
                </c:pt>
                <c:pt idx="1">
                  <c:v>RMSを合わせたガウス</c:v>
                </c:pt>
                <c:pt idx="2">
                  <c:v>屋内BLEの実測残差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85.821667</c:v>
                </c:pt>
                <c:pt idx="1">
                  <c:v>19.613333</c:v>
                </c:pt>
                <c:pt idx="2">
                  <c:v>10.415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距離ラベルを4倍に改変した場合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平均補正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18.97681</c:v>
                </c:pt>
                <c:pt idx="1">
                  <c:v>22.809172</c:v>
                </c:pt>
                <c:pt idx="2">
                  <c:v>37.599058</c:v>
                </c:pt>
                <c:pt idx="3">
                  <c:v>62.24451</c:v>
                </c:pt>
                <c:pt idx="4">
                  <c:v>97.196241</c:v>
                </c:pt>
              </c:numCache>
            </c:numRef>
          </c:val>
          <c:smooth val="0"/>
        </c:ser>
        <c:ser>
          <c:idx val="1"/>
          <c:order val="1"/>
          <c:tx>
            <c:v>中央値補正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19.03096</c:v>
                </c:pt>
                <c:pt idx="1">
                  <c:v>20.389678</c:v>
                </c:pt>
                <c:pt idx="2">
                  <c:v>26.901341</c:v>
                </c:pt>
                <c:pt idx="3">
                  <c:v>63.179677</c:v>
                </c:pt>
                <c:pt idx="4">
                  <c:v>125.857105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真の相関時間10分・1時間後の予測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公称90%区間の実包含率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履歴なし</c:v>
                </c:pt>
                <c:pt idx="1">
                  <c:v>相関時間10分の仮定</c:v>
                </c:pt>
                <c:pt idx="2">
                  <c:v>相関時間1日の仮定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90.376667</c:v>
                </c:pt>
                <c:pt idx="1">
                  <c:v>90.38</c:v>
                </c:pt>
                <c:pt idx="2">
                  <c:v>60.823333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区間包含率（%）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20件集める時間幅の変化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ブロック時間幅の中央値平均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0%削除</c:v>
                </c:pt>
                <c:pt idx="1">
                  <c:v>25%削除</c:v>
                </c:pt>
                <c:pt idx="2">
                  <c:v>50%削除</c:v>
                </c:pt>
                <c:pt idx="3">
                  <c:v>75%削除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4.005437</c:v>
                </c:pt>
                <c:pt idx="1">
                  <c:v>5.317398</c:v>
                </c:pt>
                <c:pt idx="2">
                  <c:v>7.896351</c:v>
                </c:pt>
                <c:pt idx="3">
                  <c:v>13.163107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時間幅（秒）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第26回進捗報告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RSSIから位置偽装を検知できるか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b535d6a-9062-52f5-9de3-be1c2532c38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</a:t>
            </a:fld>
          </a:p>
        </p:txBody>
      </p:sp>
      <p:sp>
        <p:nvSpPr>
          <p:cNvPr id="8" name="">
            <a:extLst>
              <a:ext uri="{FF2B5EF4-FFF2-40B4-BE49-F238E27FC236}">
                <ns2:creationId id="{51119350-C2C5-4E24-BBF7-EC58CCA9F110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7810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送信電力が未知・変動する場合の</a:t>
            </a:r>
          </a:p>
          <a:p>
            <a:pPr algn="l">
              <a:def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8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成立条件と実験結果</a:t>
            </a:r>
          </a:p>
        </p:txBody>
      </p:sp>
      <p:sp>
        <p:nvSpPr>
          <p:cNvPr id="9" name="">
            <a:extLst>
              <a:ext uri="{FF2B5EF4-FFF2-40B4-BE49-F238E27FC236}">
                <ns2:creationId id="{022D6E95-584A-4575-8C09-86441458E75C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781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関連論文の前提と、今回の評価範囲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目次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位置偽装を検知できる条件と、残る限界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f1baa1d-62fc-5a8e-9749-ae45eafb064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</a:t>
            </a:fld>
          </a:p>
        </p:txBody>
      </p:sp>
      <p:sp>
        <p:nvSpPr>
          <p:cNvPr id="8" name="">
            <a:extLst>
              <a:ext uri="{FF2B5EF4-FFF2-40B4-BE49-F238E27FC236}">
                <ns2:creationId id="{04D93EB6-957F-43FB-9741-1C970E018183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教授の問いと関連研究</a:t>
            </a:r>
          </a:p>
        </p:txBody>
      </p:sp>
      <p:sp>
        <p:nvSpPr>
          <p:cNvPr id="9" name="">
            <a:extLst>
              <a:ext uri="{FF2B5EF4-FFF2-40B4-BE49-F238E27FC236}">
                <ns2:creationId id="{EC11E64F-A438-4506-ADF9-BEB3FDFDDCCE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元の非同時観測、電力の条件、4件の論文</a:t>
            </a:r>
          </a:p>
        </p:txBody>
      </p:sp>
      <p:sp>
        <p:nvSpPr>
          <p:cNvPr id="10" name="">
            <a:extLst>
              <a:ext uri="{FF2B5EF4-FFF2-40B4-BE49-F238E27FC236}">
                <ns2:creationId id="{0CDDE919-F5AF-4F0D-9D54-D6E9AA27606D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元の条件に対する実験</a:t>
            </a:r>
          </a:p>
        </p:txBody>
      </p:sp>
      <p:sp>
        <p:nvSpPr>
          <p:cNvPr id="11" name="">
            <a:extLst>
              <a:ext uri="{FF2B5EF4-FFF2-40B4-BE49-F238E27FC236}">
                <ns2:creationId id="{6258BB1E-F3C8-4079-9A0E-E5A38995C421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位置・電力の改変、台数、観測履歴、RID別学習</a:t>
            </a:r>
          </a:p>
        </p:txBody>
      </p:sp>
      <p:sp>
        <p:nvSpPr>
          <p:cNvPr id="12" name="">
            <a:extLst>
              <a:ext uri="{FF2B5EF4-FFF2-40B4-BE49-F238E27FC236}">
                <ns2:creationId id="{D2EB8C53-5D41-4075-BD22-D2293685A22F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追加条件を置いた比較</a:t>
            </a:r>
          </a:p>
        </p:txBody>
      </p:sp>
      <p:sp>
        <p:nvSpPr>
          <p:cNvPr id="13" name="">
            <a:extLst>
              <a:ext uri="{FF2B5EF4-FFF2-40B4-BE49-F238E27FC236}">
                <ns2:creationId id="{D521D1BE-1E22-4E6B-A1F2-9D13C846FA5D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同じ送信の複数受信、雑音・受信不足・配置の影響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第26回の作業内容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位置偽装検知の前提から、再現可能な評価まで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fa57c32-9544-5569-b3e1-57b1fec2624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AF3CBE72-FA9E-4F91-A661-89385AEBC965}"/>
              </a:ext>
            </a:extLst>
          </p:cNvPr>
          <p:cNvGraphicFramePr/>
          <p:nvPr/>
        </p:nvGraphicFramePr>
        <p:xfrm>
          <a:off x="400050" y="1524000"/>
          <a:ext cx="8343900" cy="3028950"/>
        </p:xfrm>
        <a:graphic>
          <a:graphicData uri="http://schemas.openxmlformats.org/drawingml/2006/table">
            <a:tbl>
              <a:tblPr/>
              <a:tblGrid>
                <a:gridCol w="1476375"/>
                <a:gridCol w="6867525"/>
              </a:tblGrid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作業内容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調査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RSSI・未知電力・異時刻観測の成立条件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実測解析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公開BLE・UAV受信LoRaの取得と再解析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実装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共通軌跡・複数ノード・保留を含む判定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位置改変、電力変更、雑音、時刻差、配置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CSV・JSON・日本語図と結果の整理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9E85D93B-EA2F-46ED-99A7-CCF0790330D0}"/>
              </a:ext>
            </a:extLst>
          </p:cNvPr>
          <p:cNvSpPr>
            <a:spLocks noGrp="1"/>
          </p:cNvSpPr>
          <p:nvPr/>
        </p:nvSpPr>
        <p:spPr>
          <a:xfrm>
            <a:off x="428625" y="53340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新しい実RID計測・ZKP回路の実装は今回の対象外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教授の問い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送信電力が未知・変更可能でも、位置申告を調べられるか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4089231-1787-5d67-93bb-d6b910bc937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</a:t>
            </a:fld>
          </a:p>
        </p:txBody>
      </p:sp>
      <p:sp>
        <p:nvSpPr>
          <p:cNvPr id="8" name="">
            <a:extLst>
              <a:ext uri="{FF2B5EF4-FFF2-40B4-BE49-F238E27FC236}">
                <ns2:creationId id="{CF3AB8BA-0EAA-4049-9C4D-139D1AD525B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問いの出典：week25/01_asynchronous_remote_id_rssi_research_notes.md（議論の整理。逐語録ではない）</a:t>
            </a:r>
          </a:p>
        </p:txBody>
      </p:sp>
      <p:sp>
        <p:nvSpPr>
          <p:cNvPr id="9" name="">
            <a:extLst>
              <a:ext uri="{FF2B5EF4-FFF2-40B4-BE49-F238E27FC236}">
                <ns2:creationId id="{CCCB3F39-B1DD-4B4D-B751-EDAF33E4DEE7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距離推定への指摘</a:t>
            </a:r>
          </a:p>
        </p:txBody>
      </p:sp>
      <p:sp>
        <p:nvSpPr>
          <p:cNvPr id="10" name="">
            <a:extLst>
              <a:ext uri="{FF2B5EF4-FFF2-40B4-BE49-F238E27FC236}">
                <ns2:creationId id="{3A53ABCD-B731-4D02-A103-9B05BEAA9826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送信電力を変えれば、RSSIから推測する距離も変わる</a:t>
            </a:r>
          </a:p>
        </p:txBody>
      </p:sp>
      <p:sp>
        <p:nvSpPr>
          <p:cNvPr id="11" name="">
            <a:extLst>
              <a:ext uri="{FF2B5EF4-FFF2-40B4-BE49-F238E27FC236}">
                <ns2:creationId id="{78BDBA7A-6182-4869-8271-CB5E30F27E4F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確認する内容</a:t>
            </a:r>
          </a:p>
        </p:txBody>
      </p:sp>
      <p:sp>
        <p:nvSpPr>
          <p:cNvPr id="12" name="">
            <a:extLst>
              <a:ext uri="{FF2B5EF4-FFF2-40B4-BE49-F238E27FC236}">
                <ns2:creationId id="{36E91C2F-9F83-48DF-AF2E-B40829B8D8DE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1台と複数台で何が変わり、どこまで検知できるか</a:t>
            </a:r>
          </a:p>
        </p:txBody>
      </p:sp>
      <p:sp>
        <p:nvSpPr>
          <p:cNvPr id="13" name="">
            <a:extLst>
              <a:ext uri="{FF2B5EF4-FFF2-40B4-BE49-F238E27FC236}">
                <ns2:creationId id="{98320F50-FB3F-4AA0-B281-B6C3F26551C8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今回の回答方法</a:t>
            </a:r>
          </a:p>
        </p:txBody>
      </p:sp>
      <p:sp>
        <p:nvSpPr>
          <p:cNvPr id="14" name="">
            <a:extLst>
              <a:ext uri="{FF2B5EF4-FFF2-40B4-BE49-F238E27FC236}">
                <ns2:creationId id="{99DC008E-6FCA-411A-991D-374A4140A9D6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論文の前提を確認し、条件・結果・限界を実験で対応付け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本来の観測シナリオ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Aは10時、Bは11時、Cは翌日。受ける送信も異なる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55ee209-7ff9-5d85-962e-ad76e4c8feb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F1935108-04D4-4682-A8FB-ABE8B3AE7DC5}"/>
              </a:ext>
            </a:extLst>
          </p:cNvPr>
          <p:cNvGraphicFramePr/>
          <p:nvPr/>
        </p:nvGraphicFramePr>
        <p:xfrm>
          <a:off x="400050" y="1524000"/>
          <a:ext cx="8343900" cy="2571750"/>
        </p:xfrm>
        <a:graphic>
          <a:graphicData uri="http://schemas.openxmlformats.org/drawingml/2006/table">
            <a:tbl>
              <a:tblPr/>
              <a:tblGrid>
                <a:gridCol w="1238250"/>
                <a:gridCol w="2190750"/>
                <a:gridCol w="4914900"/>
              </a:tblGrid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観測者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観測時刻の例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受け取るもの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当日10時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RID、位置申告、送信e1のRSSI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当日11時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同じRID、別位置申告、送信e2のRSSI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翌日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同じRID、別位置申告、送信e3のRSSI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6ACCBD7A-46BF-4FF6-9786-0A72AFE8BA4B}"/>
              </a:ext>
            </a:extLst>
          </p:cNvPr>
          <p:cNvSpPr>
            <a:spLocks noGrp="1"/>
          </p:cNvSpPr>
          <p:nvPr/>
        </p:nvSpPr>
        <p:spPr>
          <a:xfrm>
            <a:off x="419100" y="447675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研究で信用しない情報</a:t>
            </a:r>
          </a:p>
        </p:txBody>
      </p:sp>
      <p:sp>
        <p:nvSpPr>
          <p:cNvPr id="10" name="">
            <a:extLst>
              <a:ext uri="{FF2B5EF4-FFF2-40B4-BE49-F238E27FC236}">
                <ns2:creationId id="{AD3E5FDD-10BD-43F6-84E0-0D454838DCC5}"/>
              </a:ext>
            </a:extLst>
          </p:cNvPr>
          <p:cNvSpPr>
            <a:spLocks noGrp="1"/>
          </p:cNvSpPr>
          <p:nvPr/>
        </p:nvSpPr>
        <p:spPr>
          <a:xfrm>
            <a:off x="447675" y="4857750"/>
            <a:ext cx="8210550" cy="5118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機体の位置申告と送信電力。同じRIDでも同じ機体とは限らない</a:t>
            </a:r>
          </a:p>
        </p:txBody>
      </p:sp>
      <p:sp>
        <p:nvSpPr>
          <p:cNvPr id="11" name="">
            <a:extLst>
              <a:ext uri="{FF2B5EF4-FFF2-40B4-BE49-F238E27FC236}">
                <ns2:creationId id="{03544FA7-6CC5-4091-8F5C-CF4DA89F7617}"/>
              </a:ext>
            </a:extLst>
          </p:cNvPr>
          <p:cNvSpPr>
            <a:spLocks noGrp="1"/>
          </p:cNvSpPr>
          <p:nvPr/>
        </p:nvSpPr>
        <p:spPr>
          <a:xfrm>
            <a:off x="428625" y="55721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観測者の位置・RSSI報告が適切という条件は別に必要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申告と観測の違い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照合する情報の出所を分ける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26bc1ec-45a4-5bd1-b737-7f4bb4afa5f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6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4D2C6C61-020D-43C0-B7BA-F43D4215C941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2286000"/>
                <a:gridCol w="6057900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情報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出所・意味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RID・申告位置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送信側が送る文字列・位置。真実とは限らない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受信側が測る電波の強さ。RIDの位置情報とは別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観測者位置・時刻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観測側の記録。誤差と信頼性の確認が必要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真位置・実際の電力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通常は未知。実験では真値・生成値と照合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4C2B9F66-FD5E-4C45-88ED-88106D013210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RSSIが一致しても、送信機の身元やセンサの正しさまでは示さない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電波の強さを変える要因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RSSIは、距離だけで決まる値ではない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e72f17d-f6d9-5576-a6f3-37f87cd4279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7</a:t>
            </a:fld>
          </a:p>
        </p:txBody>
      </p:sp>
      <p:sp>
        <p:nvSpPr>
          <p:cNvPr id="8" name="">
            <a:extLst>
              <a:ext uri="{FF2B5EF4-FFF2-40B4-BE49-F238E27FC236}">
                <ns2:creationId id="{3D8B656F-9295-42A3-A621-5B05F927704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簡略モデルの要因整理。各要因を今回のシミュレーションが全て再現しているわけではない。</a:t>
            </a:r>
          </a:p>
        </p:txBody>
      </p:sp>
      <p:sp>
        <p:nvSpPr>
          <p:cNvPr id="9" name="">
            <a:extLst>
              <a:ext uri="{FF2B5EF4-FFF2-40B4-BE49-F238E27FC236}">
                <ns2:creationId id="{8A54CF2F-93A5-43D5-8AB8-5A0AF8BE77F1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距離と送信電力</a:t>
            </a:r>
          </a:p>
        </p:txBody>
      </p:sp>
      <p:sp>
        <p:nvSpPr>
          <p:cNvPr id="10" name="">
            <a:extLst>
              <a:ext uri="{FF2B5EF4-FFF2-40B4-BE49-F238E27FC236}">
                <ns2:creationId id="{2DFDE0F5-3009-49B2-AF2D-B87977D26C97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遠いほど弱くなる傾向と、強く送れば強く届く効果</a:t>
            </a:r>
          </a:p>
        </p:txBody>
      </p:sp>
      <p:sp>
        <p:nvSpPr>
          <p:cNvPr id="11" name="">
            <a:extLst>
              <a:ext uri="{FF2B5EF4-FFF2-40B4-BE49-F238E27FC236}">
                <ns2:creationId id="{299C8F0D-9900-464B-8B49-6D3448243377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電波の通り方</a:t>
            </a:r>
          </a:p>
        </p:txBody>
      </p:sp>
      <p:sp>
        <p:nvSpPr>
          <p:cNvPr id="12" name="">
            <a:extLst>
              <a:ext uri="{FF2B5EF4-FFF2-40B4-BE49-F238E27FC236}">
                <ns2:creationId id="{1E7B0995-829D-4F30-8AA2-C23583D9BB57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遮蔽物、反射、アンテナの向きによる変化</a:t>
            </a:r>
          </a:p>
        </p:txBody>
      </p:sp>
      <p:sp>
        <p:nvSpPr>
          <p:cNvPr id="13" name="">
            <a:extLst>
              <a:ext uri="{FF2B5EF4-FFF2-40B4-BE49-F238E27FC236}">
                <ns2:creationId id="{F30DB7F0-0ED0-4C8E-9B08-EFEA533A1AFD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受信する側の違い</a:t>
            </a:r>
          </a:p>
        </p:txBody>
      </p:sp>
      <p:sp>
        <p:nvSpPr>
          <p:cNvPr id="14" name="">
            <a:extLst>
              <a:ext uri="{FF2B5EF4-FFF2-40B4-BE49-F238E27FC236}">
                <ns2:creationId id="{C26A9626-531A-4008-97DC-06455A8ACD56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端末の感度や校正差による変化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位置と送信電力の曖昧さ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同じRSSIから、位置と電力の組合せを一つに決められない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9353397-60a6-579b-8bc6-8dfcd1ad0d3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8</a:t>
            </a:fld>
          </a:p>
        </p:txBody>
      </p:sp>
      <p:sp>
        <p:nvSpPr>
          <p:cNvPr id="8" name="">
            <a:extLst>
              <a:ext uri="{FF2B5EF4-FFF2-40B4-BE49-F238E27FC236}">
                <ns2:creationId id="{AA1F79B6-3369-479A-BF34-E13CAC83581E}"/>
              </a:ext>
            </a:extLst>
          </p:cNvPr>
          <p:cNvSpPr>
            <a:spLocks noGrp="1"/>
          </p:cNvSpPr>
          <p:nvPr/>
        </p:nvSpPr>
        <p:spPr>
          <a:xfrm>
            <a:off x="619125" y="166687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遠い場所から強く送信</a:t>
            </a:r>
          </a:p>
        </p:txBody>
      </p:sp>
      <p:sp>
        <p:nvSpPr>
          <p:cNvPr id="9" name="">
            <a:extLst>
              <a:ext uri="{FF2B5EF4-FFF2-40B4-BE49-F238E27FC236}">
                <ns2:creationId id="{3751484D-1DDB-41D0-9067-72FD933B8BF2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5589AACE-D6E5-407E-85F2-C6DBD93B2D18}"/>
              </a:ext>
            </a:extLst>
          </p:cNvPr>
          <p:cNvSpPr>
            <a:spLocks noGrp="1"/>
          </p:cNvSpPr>
          <p:nvPr/>
        </p:nvSpPr>
        <p:spPr>
          <a:xfrm>
            <a:off x="590550" y="240030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機体</a:t>
            </a:r>
          </a:p>
        </p:txBody>
      </p:sp>
      <p:sp>
        <p:nvSpPr>
          <p:cNvPr id="11" name="">
            <a:extLst>
              <a:ext uri="{FF2B5EF4-FFF2-40B4-BE49-F238E27FC236}">
                <ns2:creationId id="{DD90E3F4-4E49-4B08-9E52-12FA65F71AB9}"/>
              </a:ext>
            </a:extLst>
          </p:cNvPr>
          <p:cNvSpPr>
            <a:spLocks noGrp="1"/>
          </p:cNvSpPr>
          <p:nvPr/>
        </p:nvSpPr>
        <p:spPr>
          <a:xfrm>
            <a:off x="3095625" y="3810000"/>
            <a:ext cx="38100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0EF3F321-BAFA-4EB5-8B72-D6A561BF40D2}"/>
              </a:ext>
            </a:extLst>
          </p:cNvPr>
          <p:cNvSpPr>
            <a:spLocks noGrp="1"/>
          </p:cNvSpPr>
          <p:nvPr/>
        </p:nvSpPr>
        <p:spPr>
          <a:xfrm>
            <a:off x="2714625" y="4238625"/>
            <a:ext cx="128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13" name="">
            <a:extLst>
              <a:ext uri="{FF2B5EF4-FFF2-40B4-BE49-F238E27FC236}">
                <ns2:creationId id="{88E3B03C-5070-4F69-B12F-5F5723C60B65}"/>
              </a:ext>
            </a:extLst>
          </p:cNvPr>
          <p:cNvSpPr>
            <a:spLocks noGrp="1"/>
          </p:cNvSpPr>
          <p:nvPr/>
        </p:nvSpPr>
        <p:spPr>
          <a:xfrm>
            <a:off x="1381125" y="2381250"/>
            <a:ext cx="1857375" cy="133350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BCA5843C-B592-4776-A64D-78ADD7ECD164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361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同じ受信強度になる場合</a:t>
            </a:r>
          </a:p>
        </p:txBody>
      </p:sp>
      <p:sp>
        <p:nvSpPr>
          <p:cNvPr id="15" name="">
            <a:extLst>
              <a:ext uri="{FF2B5EF4-FFF2-40B4-BE49-F238E27FC236}">
                <ns2:creationId id="{7BE62831-59D6-4A23-805B-653C4298AA2E}"/>
              </a:ext>
            </a:extLst>
          </p:cNvPr>
          <p:cNvSpPr>
            <a:spLocks noGrp="1"/>
          </p:cNvSpPr>
          <p:nvPr/>
        </p:nvSpPr>
        <p:spPr>
          <a:xfrm>
            <a:off x="4905375" y="166687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近い場所から弱く送信</a:t>
            </a:r>
          </a:p>
        </p:txBody>
      </p:sp>
      <p:sp>
        <p:nvSpPr>
          <p:cNvPr id="16" name="">
            <a:extLst>
              <a:ext uri="{FF2B5EF4-FFF2-40B4-BE49-F238E27FC236}">
                <ns2:creationId id="{B6974785-B2DA-4E72-91E8-77F096D3757A}"/>
              </a:ext>
            </a:extLst>
          </p:cNvPr>
          <p:cNvSpPr>
            <a:spLocks noGrp="1"/>
          </p:cNvSpPr>
          <p:nvPr/>
        </p:nvSpPr>
        <p:spPr>
          <a:xfrm>
            <a:off x="5429250" y="304800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CD7CBD1E-6A09-4FF7-974B-974B4ACFF3EE}"/>
              </a:ext>
            </a:extLst>
          </p:cNvPr>
          <p:cNvSpPr>
            <a:spLocks noGrp="1"/>
          </p:cNvSpPr>
          <p:nvPr/>
        </p:nvSpPr>
        <p:spPr>
          <a:xfrm>
            <a:off x="4876800" y="33051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機体</a:t>
            </a:r>
          </a:p>
        </p:txBody>
      </p:sp>
      <p:sp>
        <p:nvSpPr>
          <p:cNvPr id="18" name="">
            <a:extLst>
              <a:ext uri="{FF2B5EF4-FFF2-40B4-BE49-F238E27FC236}">
                <ns2:creationId id="{1BF89DEF-0A1F-41BA-8467-B19AA76263BC}"/>
              </a:ext>
            </a:extLst>
          </p:cNvPr>
          <p:cNvSpPr>
            <a:spLocks noGrp="1"/>
          </p:cNvSpPr>
          <p:nvPr/>
        </p:nvSpPr>
        <p:spPr>
          <a:xfrm>
            <a:off x="7381875" y="3810000"/>
            <a:ext cx="38100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E3B06327-7C06-40BE-AC18-AD4FE8B2C51D}"/>
              </a:ext>
            </a:extLst>
          </p:cNvPr>
          <p:cNvSpPr>
            <a:spLocks noGrp="1"/>
          </p:cNvSpPr>
          <p:nvPr/>
        </p:nvSpPr>
        <p:spPr>
          <a:xfrm>
            <a:off x="7000875" y="4238625"/>
            <a:ext cx="128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20" name="">
            <a:extLst>
              <a:ext uri="{FF2B5EF4-FFF2-40B4-BE49-F238E27FC236}">
                <ns2:creationId id="{A8115305-AF66-4244-9083-539A52C5B282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1857375" cy="47625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F06BAB88-5994-4B9A-8DDF-B1E52DD503D4}"/>
              </a:ext>
            </a:extLst>
          </p:cNvPr>
          <p:cNvSpPr>
            <a:spLocks noGrp="1"/>
          </p:cNvSpPr>
          <p:nvPr/>
        </p:nvSpPr>
        <p:spPr>
          <a:xfrm>
            <a:off x="4905375" y="4810125"/>
            <a:ext cx="361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同じ受信強度になる場合</a:t>
            </a:r>
          </a:p>
        </p:txBody>
      </p:sp>
      <p:sp>
        <p:nvSpPr>
          <p:cNvPr id="22" name="">
            <a:extLst>
              <a:ext uri="{FF2B5EF4-FFF2-40B4-BE49-F238E27FC236}">
                <ns2:creationId id="{6F383B23-5650-4E4E-A085-55C36E3839DB}"/>
              </a:ext>
            </a:extLst>
          </p:cNvPr>
          <p:cNvSpPr>
            <a:spLocks noGrp="1"/>
          </p:cNvSpPr>
          <p:nvPr/>
        </p:nvSpPr>
        <p:spPr>
          <a:xfrm>
            <a:off x="428625" y="55721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RSSIが同じでも、距離と送信電力の組合せは一つに決まらない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区別する送信電力の条件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「電力が未知」に含まれる条件は一つではない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8b339fa-2b09-5e93-a4f2-513a99c6c5b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9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6F9CB361-E12D-446A-AFD0-8B0CE7A914D3}"/>
              </a:ext>
            </a:extLst>
          </p:cNvPr>
          <p:cNvGraphicFramePr/>
          <p:nvPr/>
        </p:nvGraphicFramePr>
        <p:xfrm>
          <a:off x="400050" y="1524000"/>
          <a:ext cx="8343900" cy="2857500"/>
        </p:xfrm>
        <a:graphic>
          <a:graphicData uri="http://schemas.openxmlformats.org/drawingml/2006/table">
            <a:tbl>
              <a:tblPr/>
              <a:tblGrid>
                <a:gridCol w="3143250"/>
                <a:gridCol w="5200650"/>
              </a:tblGrid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電力の条件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観測から得られる拘束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未知だが共通・安定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複数観測を同じ電力パラメータで説明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変化幅・相関・分布を仮定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その制約の下で推定・異常度の評価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送信ごとに自由に変更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各RSSIを別の電力で説明できる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C61F94A4-2ABD-46D6-BAD5-DEB72B4ABCEB}"/>
              </a:ext>
            </a:extLst>
          </p:cNvPr>
          <p:cNvSpPr>
            <a:spLocks noGrp="1"/>
          </p:cNvSpPr>
          <p:nvPr/>
        </p:nvSpPr>
        <p:spPr>
          <a:xfrm>
            <a:off x="419100" y="485775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論文との照合点</a:t>
            </a:r>
          </a:p>
        </p:txBody>
      </p:sp>
      <p:sp>
        <p:nvSpPr>
          <p:cNvPr id="10" name="">
            <a:extLst>
              <a:ext uri="{FF2B5EF4-FFF2-40B4-BE49-F238E27FC236}">
                <ns2:creationId id="{D95E9AE2-F581-44BE-948A-23934243280F}"/>
              </a:ext>
            </a:extLst>
          </p:cNvPr>
          <p:cNvSpPr>
            <a:spLocks noGrp="1"/>
          </p:cNvSpPr>
          <p:nvPr/>
        </p:nvSpPr>
        <p:spPr>
          <a:xfrm>
            <a:off x="447675" y="5238750"/>
            <a:ext cx="8210550" cy="5118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未知量を何件の観測で共有するか、攻撃電力をどこまで許すか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関連研究①：GhostBusterの観測構成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RID位置申告と、電波から推定した位置の照合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814e5d0-23c1-57c3-a950-b8066203da1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10</a:t>
            </a:fld>
          </a:p>
        </p:txBody>
      </p:sp>
      <p:sp>
        <p:nvSpPr>
          <p:cNvPr id="8" name="">
            <a:extLst>
              <a:ext uri="{FF2B5EF4-FFF2-40B4-BE49-F238E27FC236}">
                <ns2:creationId id="{AD0FAFC6-6310-4545-92D5-A3D1DD32E08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Keizer, Sciancalepore &amp; Oligeri, GhostBuster, IEEE CCNC 2024, pp.324–332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DOI:10.1109/CCNC51664.2024.10454860（原論文の報告。今回の追試ではない）</a:t>
            </a:r>
          </a:p>
        </p:txBody>
      </p:sp>
      <p:sp>
        <p:nvSpPr>
          <p:cNvPr id="9" name="">
            <a:extLst>
              <a:ext uri="{FF2B5EF4-FFF2-40B4-BE49-F238E27FC236}">
                <ns2:creationId id="{49AC6378-867B-4E45-88D0-E76D829C1052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検知する対象</a:t>
            </a:r>
          </a:p>
        </p:txBody>
      </p:sp>
      <p:sp>
        <p:nvSpPr>
          <p:cNvPr id="10" name="">
            <a:extLst>
              <a:ext uri="{FF2B5EF4-FFF2-40B4-BE49-F238E27FC236}">
                <ns2:creationId id="{A28DFBD8-D9BF-47A8-9586-D95A2163E9B9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RIDの位置申告を真位置からずらす攻撃</a:t>
            </a:r>
          </a:p>
        </p:txBody>
      </p:sp>
      <p:sp>
        <p:nvSpPr>
          <p:cNvPr id="11" name="">
            <a:extLst>
              <a:ext uri="{FF2B5EF4-FFF2-40B4-BE49-F238E27FC236}">
                <ns2:creationId id="{AB9E7A50-BA23-4863-8886-EEEAC139C391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評価の入力</a:t>
            </a:r>
          </a:p>
        </p:txBody>
      </p:sp>
      <p:sp>
        <p:nvSpPr>
          <p:cNvPr id="12" name="">
            <a:extLst>
              <a:ext uri="{FF2B5EF4-FFF2-40B4-BE49-F238E27FC236}">
                <ns2:creationId id="{C7F9D53D-F4AB-4DED-8D84-D74FEBE693E3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実飛行の単一RFセンサ記録から伝搬モデルを推定</a:t>
            </a:r>
          </a:p>
        </p:txBody>
      </p:sp>
      <p:sp>
        <p:nvSpPr>
          <p:cNvPr id="13" name="">
            <a:extLst>
              <a:ext uri="{FF2B5EF4-FFF2-40B4-BE49-F238E27FC236}">
                <ns2:creationId id="{7DCD27B3-D15B-4AB5-8BEB-3D55E6249E15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複数観測者の扱い</a:t>
            </a:r>
          </a:p>
        </p:txBody>
      </p:sp>
      <p:sp>
        <p:nvSpPr>
          <p:cNvPr id="14" name="">
            <a:extLst>
              <a:ext uri="{FF2B5EF4-FFF2-40B4-BE49-F238E27FC236}">
                <ns2:creationId id="{D24E33E4-2DAF-40A9-AAAD-5E1E681F1805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実測モデルを、仮想的に配置した複数受信機へ拡張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関連研究①：GhostBusterの結果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検知できる偽装変位は、伝搬条件によって大きく変化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d25f4cd-b7a1-58b4-9ee0-406c69ac594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11</a:t>
            </a:fld>
          </a:p>
        </p:txBody>
      </p:sp>
      <p:sp>
        <p:nvSpPr>
          <p:cNvPr id="8" name="">
            <a:extLst>
              <a:ext uri="{FF2B5EF4-FFF2-40B4-BE49-F238E27FC236}">
                <ns2:creationId id="{03867E36-8851-45BB-9A30-7215C3CDD9B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Keizer, Sciancalepore &amp; Oligeri, GhostBuster, IEEE CCNC 2024, pp.324–332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DOI:10.1109/CCNC51664.2024.10454860（原論文の報告。今回の追試ではない）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353B2665-BE2C-4B55-A397-EA3918E123CF}"/>
              </a:ext>
            </a:extLst>
          </p:cNvPr>
          <p:cNvGraphicFramePr/>
          <p:nvPr/>
        </p:nvGraphicFramePr>
        <p:xfrm>
          <a:off x="400050" y="1524000"/>
          <a:ext cx="8343900" cy="2000250"/>
        </p:xfrm>
        <a:graphic>
          <a:graphicData uri="http://schemas.openxmlformats.org/drawingml/2006/table">
            <a:tbl>
              <a:tblPr/>
              <a:tblGrid>
                <a:gridCol w="3429000"/>
                <a:gridCol w="4914900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本文VI-Cの例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95%検知に対応する偽装変位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UA1の伝搬モデル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364m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UA3の伝搬モデル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1,175m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1CC5A3C8-8F33-4B63-92E3-D5BF02E63EBB}"/>
              </a:ext>
            </a:extLst>
          </p:cNvPr>
          <p:cNvSpPr>
            <a:spLocks noGrp="1"/>
          </p:cNvSpPr>
          <p:nvPr/>
        </p:nvSpPr>
        <p:spPr>
          <a:xfrm>
            <a:off x="457200" y="3857625"/>
            <a:ext cx="819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条件：仮想12受信機、5パケット。単一センサ実測モデルから拡張</a:t>
            </a:r>
          </a:p>
        </p:txBody>
      </p:sp>
      <p:sp>
        <p:nvSpPr>
          <p:cNvPr id="11" name="">
            <a:extLst>
              <a:ext uri="{FF2B5EF4-FFF2-40B4-BE49-F238E27FC236}">
                <ns2:creationId id="{32C1E5F9-BB7A-45D7-A3B2-A7A9BDB705C8}"/>
              </a:ext>
            </a:extLst>
          </p:cNvPr>
          <p:cNvSpPr>
            <a:spLocks noGrp="1"/>
          </p:cNvSpPr>
          <p:nvPr/>
        </p:nvSpPr>
        <p:spPr>
          <a:xfrm>
            <a:off x="419100" y="471487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今回への示唆</a:t>
            </a:r>
          </a:p>
        </p:txBody>
      </p:sp>
      <p:sp>
        <p:nvSpPr>
          <p:cNvPr id="12" name="">
            <a:extLst>
              <a:ext uri="{FF2B5EF4-FFF2-40B4-BE49-F238E27FC236}">
                <ns2:creationId id="{3209540C-5785-4DA0-836E-BF7C2FD93D57}"/>
              </a:ext>
            </a:extLst>
          </p:cNvPr>
          <p:cNvSpPr>
            <a:spLocks noGrp="1"/>
          </p:cNvSpPr>
          <p:nvPr/>
        </p:nvSpPr>
        <p:spPr>
          <a:xfrm>
            <a:off x="447675" y="5095875"/>
            <a:ext cx="8210550" cy="909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受信機数だけでなく、伝搬条件と誤警報の確認が必要</a:t>
            </a:r>
          </a:p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別時刻・任意の電力変更に対する今回の検知率としては使わない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関連研究②：受信強度の差と未知電力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DRSS：複数地点の受信強度の差を使う位置推定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668e06ad-7f98-5095-b485-4001868665a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12</a:t>
            </a:fld>
          </a:p>
        </p:txBody>
      </p:sp>
      <p:sp>
        <p:nvSpPr>
          <p:cNvPr id="8" name="">
            <a:extLst>
              <a:ext uri="{FF2B5EF4-FFF2-40B4-BE49-F238E27FC236}">
                <ns2:creationId id="{F9ABB297-036A-4DC2-832C-4C4C410911E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Hu &amp; Leus, Robust Differential Received Signal Strength-Based Localization, IEEE TSP 65(12), 2017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DOI:10.1109/TSP.2017.2684741, II・式(1)–(2)</a:t>
            </a:r>
          </a:p>
        </p:txBody>
      </p:sp>
      <p:sp>
        <p:nvSpPr>
          <p:cNvPr id="9" name="">
            <a:extLst>
              <a:ext uri="{FF2B5EF4-FFF2-40B4-BE49-F238E27FC236}">
                <ns2:creationId id="{D44AD7D2-8C83-4487-8054-A4E994406B07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仕組み</a:t>
            </a:r>
          </a:p>
        </p:txBody>
      </p:sp>
      <p:sp>
        <p:nvSpPr>
          <p:cNvPr id="10" name="">
            <a:extLst>
              <a:ext uri="{FF2B5EF4-FFF2-40B4-BE49-F238E27FC236}">
                <ns2:creationId id="{78A0405D-87A2-4C88-BF04-336644C58165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同じ電力項を持つ観測同士の差で、共通電力を除去</a:t>
            </a:r>
          </a:p>
        </p:txBody>
      </p:sp>
      <p:sp>
        <p:nvSpPr>
          <p:cNvPr id="11" name="">
            <a:extLst>
              <a:ext uri="{FF2B5EF4-FFF2-40B4-BE49-F238E27FC236}">
                <ns2:creationId id="{E46B2CD1-F077-4785-911D-7C6FB08A10EE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論文が扱う誤差</a:t>
            </a:r>
          </a:p>
        </p:txBody>
      </p:sp>
      <p:sp>
        <p:nvSpPr>
          <p:cNvPr id="12" name="">
            <a:extLst>
              <a:ext uri="{FF2B5EF4-FFF2-40B4-BE49-F238E27FC236}">
                <ns2:creationId id="{F265EB08-4728-4E7D-B0F8-7B3C10BF6123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電力偏差、伝搬係数や観測地点の誤差をモデル化</a:t>
            </a:r>
          </a:p>
        </p:txBody>
      </p:sp>
      <p:sp>
        <p:nvSpPr>
          <p:cNvPr id="13" name="">
            <a:extLst>
              <a:ext uri="{FF2B5EF4-FFF2-40B4-BE49-F238E27FC236}">
                <ns2:creationId id="{B0F6EF5F-F3B2-49F2-B8E1-FFBF0BDA485D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元のシナリオとの違い</a:t>
            </a:r>
          </a:p>
        </p:txBody>
      </p:sp>
      <p:sp>
        <p:nvSpPr>
          <p:cNvPr id="14" name="">
            <a:extLst>
              <a:ext uri="{FF2B5EF4-FFF2-40B4-BE49-F238E27FC236}">
                <ns2:creationId id="{6AA21C8F-FC60-4024-AADD-1C1127A9EE76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935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別送信の電力が異なる場合、その差は残る</a:t>
            </a:r>
          </a:p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「時刻が近い」という理由だけでは共通電力を置けない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関連研究③：未知電力と位置の共同推定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CTUP：複数リンクを使う協調位置推定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a2b73ae-4ff9-5f31-a19a-bea1646db43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13</a:t>
            </a:fld>
          </a:p>
        </p:txBody>
      </p:sp>
      <p:sp>
        <p:nvSpPr>
          <p:cNvPr id="8" name="">
            <a:extLst>
              <a:ext uri="{FF2B5EF4-FFF2-40B4-BE49-F238E27FC236}">
                <ns2:creationId id="{84776D91-E234-4455-9A4F-C497C7DA981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Li, Mukhopadhyay, Xu &amp; Alouini, Experimental Validation of Cooperative RSS-based Localization…, IEEE TWC 2024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DOI:10.1109/TWC.2024.3441643, II・V-C（原論文の結果）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DD267C79-F02C-4858-A919-CCD91DF9409E}"/>
              </a:ext>
            </a:extLst>
          </p:cNvPr>
          <p:cNvGraphicFramePr/>
          <p:nvPr/>
        </p:nvGraphicFramePr>
        <p:xfrm>
          <a:off x="400050" y="1524000"/>
          <a:ext cx="8343900" cy="2619375"/>
        </p:xfrm>
        <a:graphic>
          <a:graphicData uri="http://schemas.openxmlformats.org/drawingml/2006/table">
            <a:tbl>
              <a:tblPr/>
              <a:tblGrid>
                <a:gridCol w="2095500"/>
                <a:gridCol w="6248400"/>
              </a:tblGrid>
              <a:tr h="65484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実験条件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論文の設定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5484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屋外BLE 50ノード、640×180m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位置の基準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RTK-GPS。通常GPSの観測地点誤差も考慮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5484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共有する未知量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対象ごとの電力、位置、伝搬係数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A0558CE2-4FA4-471E-A068-863EBA8DB3C7}"/>
              </a:ext>
            </a:extLst>
          </p:cNvPr>
          <p:cNvSpPr>
            <a:spLocks noGrp="1"/>
          </p:cNvSpPr>
          <p:nvPr/>
        </p:nvSpPr>
        <p:spPr>
          <a:xfrm>
            <a:off x="419100" y="466725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結果と今回への適用</a:t>
            </a:r>
          </a:p>
        </p:txBody>
      </p:sp>
      <p:sp>
        <p:nvSpPr>
          <p:cNvPr id="11" name="">
            <a:extLst>
              <a:ext uri="{FF2B5EF4-FFF2-40B4-BE49-F238E27FC236}">
                <ns2:creationId id="{2D2E28DD-094B-4403-A312-4397A797FDD5}"/>
              </a:ext>
            </a:extLst>
          </p:cNvPr>
          <p:cNvSpPr>
            <a:spLocks noGrp="1"/>
          </p:cNvSpPr>
          <p:nvPr/>
        </p:nvSpPr>
        <p:spPr>
          <a:xfrm>
            <a:off x="447675" y="5048250"/>
            <a:ext cx="8210550" cy="909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観測地点の増加に伴い、位置推定誤差が低下する傾向</a:t>
            </a:r>
          </a:p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送信ごとの自由電力や、RID位置偽装の検知を実証した結果ではない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関連研究④：履歴を使う電波分布の推定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逐次GP：過去の観測を使い、電波分布と不確実性を更新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29331db-3643-50ed-a609-83138d3593b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14</a:t>
            </a:fld>
          </a:p>
        </p:txBody>
      </p:sp>
      <p:sp>
        <p:nvSpPr>
          <p:cNvPr id="8" name="">
            <a:extLst>
              <a:ext uri="{FF2B5EF4-FFF2-40B4-BE49-F238E27FC236}">
                <ns2:creationId id="{663D340E-BB5A-455A-A102-8870AD16E60D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Santos, Murillo-Fuentes &amp; Djurić, Recursive Estimation of Dynamic RSS Fields…, arXiv:1806.02530v2, 2018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VI・VII-D・VIII（原論文の結果）</a:t>
            </a:r>
          </a:p>
        </p:txBody>
      </p:sp>
      <p:sp>
        <p:nvSpPr>
          <p:cNvPr id="9" name="">
            <a:extLst>
              <a:ext uri="{FF2B5EF4-FFF2-40B4-BE49-F238E27FC236}">
                <ns2:creationId id="{DF7153DA-8F7B-418F-A477-583ACDF01C2C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条件</a:t>
            </a:r>
          </a:p>
        </p:txBody>
      </p:sp>
      <p:sp>
        <p:nvSpPr>
          <p:cNvPr id="10" name="">
            <a:extLst>
              <a:ext uri="{FF2B5EF4-FFF2-40B4-BE49-F238E27FC236}">
                <ns2:creationId id="{8F394FC9-7952-4A1F-A0E4-1B98DB4212D2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電力・伝搬係数に確率分布を置き、過去情報の重みを調整</a:t>
            </a:r>
          </a:p>
        </p:txBody>
      </p:sp>
      <p:sp>
        <p:nvSpPr>
          <p:cNvPr id="11" name="">
            <a:extLst>
              <a:ext uri="{FF2B5EF4-FFF2-40B4-BE49-F238E27FC236}">
                <ns2:creationId id="{D0ED7FDC-0F31-471D-BD53-D8A419D26E58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論文の結果</a:t>
            </a:r>
          </a:p>
        </p:txBody>
      </p:sp>
      <p:sp>
        <p:nvSpPr>
          <p:cNvPr id="12" name="">
            <a:extLst>
              <a:ext uri="{FF2B5EF4-FFF2-40B4-BE49-F238E27FC236}">
                <ns2:creationId id="{B31CD7A2-32F2-4524-96FB-3A8AD657D736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935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合成評価で逐次更新による推定改善、電力変化への追従を提示</a:t>
            </a:r>
          </a:p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実測は移動スマホで集めたGSM。攻撃ドローンの実験ではない</a:t>
            </a:r>
          </a:p>
        </p:txBody>
      </p:sp>
      <p:sp>
        <p:nvSpPr>
          <p:cNvPr id="13" name="">
            <a:extLst>
              <a:ext uri="{FF2B5EF4-FFF2-40B4-BE49-F238E27FC236}">
                <ns2:creationId id="{D1BD20EE-A56E-4A79-8879-D5E9A1187E11}"/>
              </a:ext>
            </a:extLst>
          </p:cNvPr>
          <p:cNvSpPr>
            <a:spLocks noGrp="1"/>
          </p:cNvSpPr>
          <p:nvPr/>
        </p:nvSpPr>
        <p:spPr>
          <a:xfrm>
            <a:off x="419100" y="4137279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今回確認すべきこと</a:t>
            </a:r>
          </a:p>
        </p:txBody>
      </p:sp>
      <p:sp>
        <p:nvSpPr>
          <p:cNvPr id="14" name="">
            <a:extLst>
              <a:ext uri="{FF2B5EF4-FFF2-40B4-BE49-F238E27FC236}">
                <ns2:creationId id="{0CF6BA21-0116-4C63-9A44-E7D1B74DDA58}"/>
              </a:ext>
            </a:extLst>
          </p:cNvPr>
          <p:cNvSpPr>
            <a:spLocks noGrp="1"/>
          </p:cNvSpPr>
          <p:nvPr/>
        </p:nvSpPr>
        <p:spPr>
          <a:xfrm>
            <a:off x="447675" y="4518279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電力特性がどれくらい持続するか、古い履歴で誤らないか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関連研究から今回の実験へ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文献の成立条件を、一つずつ分けて検証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04871c4-5598-5bc2-899e-a96a7690b39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15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E3F2C043-C128-430F-A394-725F2E7AB442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3238500"/>
                <a:gridCol w="5105400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論文からの着眼点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今回評価する項目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位置申告と電波の照合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正常誤警報と、位置改変への警報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未知電力の扱い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位置だけの改変と、電力を連動させた改変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複数観測の共有条件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別送信の台数追加と、同じ送信の複数受信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履歴と確率モデル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観測間の時間差、RID別補正の効果と失敗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DA9325D7-C54D-4E68-BA4D-EB45597A1363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以下は今回の独立した評価。4論文のアルゴリズムの追試ではない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実験結果を読むための用語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推定の誤差と、偽装への警報を区別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8535653-d0eb-52a8-99d2-b1321ffac9b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16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3546F80F-2B09-4736-AE66-FF2E4BB7DC9F}"/>
              </a:ext>
            </a:extLst>
          </p:cNvPr>
          <p:cNvGraphicFramePr/>
          <p:nvPr/>
        </p:nvGraphicFramePr>
        <p:xfrm>
          <a:off x="400050" y="1524000"/>
          <a:ext cx="8343900" cy="3524250"/>
        </p:xfrm>
        <a:graphic>
          <a:graphicData uri="http://schemas.openxmlformats.org/drawingml/2006/table">
            <a:tbl>
              <a:tblPr/>
              <a:tblGrid>
                <a:gridCol w="2524125"/>
                <a:gridCol w="5819775"/>
              </a:tblGrid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用語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この発表での意味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MAE：平均絶対誤差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推定距離と基準距離のずれの絶対値を平均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SD：標準偏差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電力や雑音などの揺らぎの大きさ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seed：乱数条件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合成データの生成条件。今回は10通りで反復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校正・閾値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正常データから警報の境界を決定。評価とは分離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伝搬係数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距離が増えたときの電波の弱まり方を表す係数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A0ECE598-ABA5-4AF7-B27A-CCCB10EEFCE2}"/>
              </a:ext>
            </a:extLst>
          </p:cNvPr>
          <p:cNvSpPr>
            <a:spLocks noGrp="1"/>
          </p:cNvSpPr>
          <p:nvPr/>
        </p:nvSpPr>
        <p:spPr>
          <a:xfrm>
            <a:off x="428625" y="547687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距離MAEが小さいことと、位置偽装を検知できることは別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検知・誤警報・判定保留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警報が出た割合だけでなく、判定できた割合も評価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860207e-bcc1-5069-a065-04ee7528c15a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17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81F191F1-92E4-44C6-B9BB-6A72938CD1F1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3714750"/>
                <a:gridCol w="4629150"/>
              </a:tblGrid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入力と出力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位置を改変した入力 → 警報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合成実験での位置偽装の検知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正常な入力 → 警報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正常時の誤警報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観測・校正が不足 → 保留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位置が正しいとも、偽装とも判断しない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判定可能部分の検知率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判定できたイベントだけを分母にする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全送信中の検知割合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保留を含む全送信を分母にする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92597883-F095-422E-BBDC-83B83DDCEB47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正常校正の95%点を閾値に設定。評価飛行とは分離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今回使用したデータの区分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実測で確認する注意点と、合成で検証する成立条件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01e308f-a635-5c16-adbe-ea6135cef79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18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47223181-2D2D-4263-BA36-5AC71A21A6F9}"/>
              </a:ext>
            </a:extLst>
          </p:cNvPr>
          <p:cNvGraphicFramePr/>
          <p:nvPr/>
        </p:nvGraphicFramePr>
        <p:xfrm>
          <a:off x="400050" y="1524000"/>
          <a:ext cx="8343900" cy="3000375"/>
        </p:xfrm>
        <a:graphic>
          <a:graphicData uri="http://schemas.openxmlformats.org/drawingml/2006/table">
            <a:tbl>
              <a:tblPr/>
              <a:tblGrid>
                <a:gridCol w="1905000"/>
                <a:gridCol w="3095625"/>
                <a:gridCol w="3343275"/>
              </a:tblGrid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データ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実際に測った内容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今回確認すること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屋内BLE実測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固定ビーコン→スマホのRSSI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揺らぎ・出力設定差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LoRa実測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固定送信機→移動するUAV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時刻対応・観測集約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複数ノード合成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架空の機体軌跡とRSSI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位置改変の検知・保留・反例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09F279EA-FE4C-448E-B277-84853BE43519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実UAVのBLE／Wi-Fi RIDを複数台で同時取得した実測ではない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実測確認：BLEの条件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電力設定を変えたとき、RSSIにどれくらい差が出るか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8ff3c91-c225-5da1-97d9-ab5dc8fcea9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19</a:t>
            </a:fld>
          </a:p>
        </p:txBody>
      </p:sp>
      <p:sp>
        <p:nvSpPr>
          <p:cNvPr id="8" name="">
            <a:extLst>
              <a:ext uri="{FF2B5EF4-FFF2-40B4-BE49-F238E27FC236}">
                <ns2:creationId id="{5AA8C965-50E9-4810-BD0C-12A1927C1A5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公開BLE：manwestc/ble-rssi-indoor-localization-dataset, commit b38a9a4a53a01f52136f4e9b29b5045f61655a06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56778994-1C73-4C7B-AB25-2109E4C4DF9D}"/>
              </a:ext>
            </a:extLst>
          </p:cNvPr>
          <p:cNvGraphicFramePr/>
          <p:nvPr/>
        </p:nvGraphicFramePr>
        <p:xfrm>
          <a:off x="400050" y="1524000"/>
          <a:ext cx="8343900" cy="3190875"/>
        </p:xfrm>
        <a:graphic>
          <a:graphicData uri="http://schemas.openxmlformats.org/drawingml/2006/table">
            <a:tbl>
              <a:tblPr/>
              <a:tblGrid>
                <a:gridCol w="2000250"/>
                <a:gridCol w="6343650"/>
              </a:tblGrid>
              <a:tr h="6381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381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屋内の固定6ビーコンとスマートフォン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 CSV・合計50,400 RSSI値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381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出力設定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−8／−4／0dBmの別セッション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比較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同じ地点・ビーコンでのRSSI中央値差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29FEAA68-46FE-48CE-BA1C-7248D3819FFE}"/>
              </a:ext>
            </a:extLst>
          </p:cNvPr>
          <p:cNvSpPr>
            <a:spLocks noGrp="1"/>
          </p:cNvSpPr>
          <p:nvPr/>
        </p:nvSpPr>
        <p:spPr>
          <a:xfrm>
            <a:off x="419100" y="528637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確認できる範囲</a:t>
            </a:r>
          </a:p>
        </p:txBody>
      </p:sp>
      <p:sp>
        <p:nvSpPr>
          <p:cNvPr id="11" name="">
            <a:extLst>
              <a:ext uri="{FF2B5EF4-FFF2-40B4-BE49-F238E27FC236}">
                <ns2:creationId id="{A5E6CC60-D911-4E73-BC24-015575240D67}"/>
              </a:ext>
            </a:extLst>
          </p:cNvPr>
          <p:cNvSpPr>
            <a:spLocks noGrp="1"/>
          </p:cNvSpPr>
          <p:nvPr/>
        </p:nvSpPr>
        <p:spPr>
          <a:xfrm>
            <a:off x="447675" y="5667375"/>
            <a:ext cx="8210550" cy="5118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設定差と観測差の関係。実UAVの電力変更だけの因果実験ではない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公開BLE実測におけるRSSI変動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出力設定差とRSSI差が、そのまま一致するとは限らない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630ca0-1b69-5cb0-beac-dcf723a0cdf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20</a:t>
            </a:fld>
          </a:p>
        </p:txBody>
      </p:sp>
      <p:sp>
        <p:nvSpPr>
          <p:cNvPr id="8" name="">
            <a:extLst>
              <a:ext uri="{FF2B5EF4-FFF2-40B4-BE49-F238E27FC236}">
                <ns2:creationId id="{3890F098-E08C-4DA1-9872-5A36245DD1F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出典：manwestc/ble-rssi-indoor-localization-dataset、固定版 b38a9a4（屋内BLE実測）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C8488C03-4BAE-4127-A97C-89D865679B26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042f6656930f490a"/>
          </a:graphicData>
        </a:graphic>
      </p:graphicFrame>
      <p:sp>
        <p:nvSpPr>
          <p:cNvPr id="10" name="">
            <a:extLst>
              <a:ext uri="{FF2B5EF4-FFF2-40B4-BE49-F238E27FC236}">
                <ns2:creationId id="{EE42B3F2-5F81-4ECB-8FCB-441F49DBE587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同じ地点・ビーコンの組を比較。測定セッションの違いも含む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位置・環境を固定した電力だけの因果効果とは断定しない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実験①：位置改変と電力変更の条件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異なる送信を1台ずつ受信する合成評価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0adb921-d62f-5046-a938-c20768f4f55b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21</a:t>
            </a:fld>
          </a:p>
        </p:txBody>
      </p:sp>
      <p:sp>
        <p:nvSpPr>
          <p:cNvPr id="8" name="">
            <a:extLst>
              <a:ext uri="{FF2B5EF4-FFF2-40B4-BE49-F238E27FC236}">
                <ns2:creationId id="{C673921B-F1C1-44F2-89D9-4952ED3414D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position-summary.csv（今回の独立した合成10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E2F86E3A-A66D-4F05-BF45-0DB7CFD51F89}"/>
              </a:ext>
            </a:extLst>
          </p:cNvPr>
          <p:cNvGraphicFramePr/>
          <p:nvPr/>
        </p:nvGraphicFramePr>
        <p:xfrm>
          <a:off x="400050" y="1524000"/>
          <a:ext cx="8343900" cy="3429000"/>
        </p:xfrm>
        <a:graphic>
          <a:graphicData uri="http://schemas.openxmlformats.org/drawingml/2006/table">
            <a:tbl>
              <a:tblPr/>
              <a:tblGrid>
                <a:gridCol w="1762125"/>
                <a:gridCol w="6581775"/>
              </a:tblGrid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1飛行40イベント。各送信の受信機は1台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データ分離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70学習／26校正／45評価飛行、10 seed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攻撃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申告を受信機から外向きに5〜200m改変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校正データ全体の正常誤警報5%を目標に閾値設定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比較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位置だけ改変／電力も連動させて改変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E5754E0B-F5BB-457D-BE65-C469DC938CF0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伝搬・受信選択も含む合成モデル。実機の検知距離ではない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実験①：電力・伝搬モデルの仮定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実UAVから測定したパラメータではなく、事前に置いた合成条件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6cce684-74d0-51b6-a9eb-3895b8c4a94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22</a:t>
            </a:fld>
          </a:p>
        </p:txBody>
      </p:sp>
      <p:sp>
        <p:nvSpPr>
          <p:cNvPr id="8" name="">
            <a:extLst>
              <a:ext uri="{FF2B5EF4-FFF2-40B4-BE49-F238E27FC236}">
                <ns2:creationId id="{1275C091-89E3-4282-A44D-24130151DCD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async-base-config.json（今回の独立した合成10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490F1BDB-44C7-4834-A4EB-CCE61C9BD529}"/>
              </a:ext>
            </a:extLst>
          </p:cNvPr>
          <p:cNvGraphicFramePr/>
          <p:nvPr/>
        </p:nvGraphicFramePr>
        <p:xfrm>
          <a:off x="400050" y="1524000"/>
          <a:ext cx="8343900" cy="3286125"/>
        </p:xfrm>
        <a:graphic>
          <a:graphicData uri="http://schemas.openxmlformats.org/drawingml/2006/table">
            <a:tbl>
              <a:tblPr/>
              <a:tblGrid>
                <a:gridCol w="2000250"/>
                <a:gridCol w="6343650"/>
              </a:tblGrid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仮定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距離と位置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水平半径6〜140m、高度3〜70m、位置誤差SD2m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飛行差SD2dB、送信ごとの変動SD3dB・時間相関あり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電波の揺らぎ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遮蔽減衰12dB、相関するシャドウイングSD4dB等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感度−100dBm、1dB量子化、追加欠測3%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8E75C60B-5130-4C06-80C8-EC85F037F4E6}"/>
              </a:ext>
            </a:extLst>
          </p:cNvPr>
          <p:cNvSpPr>
            <a:spLocks noGrp="1"/>
          </p:cNvSpPr>
          <p:nvPr/>
        </p:nvSpPr>
        <p:spPr>
          <a:xfrm>
            <a:off x="428625" y="528637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既知の伝搬係数2.2。受信できた記録で警報率を計算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この条件での感度評価。屋外実RIDの性能予測ではない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実験①の結果：位置だけを改変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同じ30mのずれでも、元の距離で警報率が異なる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ea53590-0015-5bbf-a376-163110463f2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23</a:t>
            </a:fld>
          </a:p>
        </p:txBody>
      </p:sp>
      <p:sp>
        <p:nvSpPr>
          <p:cNvPr id="8" name="">
            <a:extLst>
              <a:ext uri="{FF2B5EF4-FFF2-40B4-BE49-F238E27FC236}">
                <ns2:creationId id="{4A10886C-95FF-419C-AB17-DF95295C1B8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position-summary.csv（今回の独立した合成10 seed。先行論文の再現ではない）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61CA369E-5480-4BB4-8005-D6A7B3BF8F92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0b865c3228994c1f"/>
          </a:graphicData>
        </a:graphic>
      </p:graphicFrame>
      <p:sp>
        <p:nvSpPr>
          <p:cNvPr id="10" name="">
            <a:extLst>
              <a:ext uri="{FF2B5EF4-FFF2-40B4-BE49-F238E27FC236}">
                <ns2:creationId id="{53EC3AF9-FF9A-4B69-B542-37BA62908A7C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0mは正常対照。近距離帯では正常誤警報も10.95%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30m改変の警報14.12%だけでは、高い検知性能とは言えない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全方向の3D変位ではなく、受信機からの距離を変えた評価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実験①の結果：電力も変更した場合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位置だけの改変への警報を、電力変更で戻せる条件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5ea8020-f047-53c8-89ab-322f10a6e18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24</a:t>
            </a:fld>
          </a:p>
        </p:txBody>
      </p:sp>
      <p:sp>
        <p:nvSpPr>
          <p:cNvPr id="8" name="">
            <a:extLst>
              <a:ext uri="{FF2B5EF4-FFF2-40B4-BE49-F238E27FC236}">
                <ns2:creationId id="{1864C230-C8C1-45EB-8F6C-F596F952929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position-summary.csv（今回の独立した合成10 seed。先行論文の再現ではない）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ABCAF792-60B4-4AFB-80DC-34A7265C23AA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f6503c94b4ab48ac"/>
          </a:graphicData>
        </a:graphic>
      </p:graphicFrame>
      <p:sp>
        <p:nvSpPr>
          <p:cNvPr id="10" name="">
            <a:extLst>
              <a:ext uri="{FF2B5EF4-FFF2-40B4-BE49-F238E27FC236}">
                <ns2:creationId id="{B955CD89-9AEA-45D9-8AD8-B9DFFB2470A9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警報：正常5.02%、位置だけ23.88%、電力連動2.42%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受信率も変化：正常86.8%、電力連動68.3%。全送信の不可視化ではない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受信機位置・伝搬モデルを既知とする攻撃。電力上限・実RFは未検証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実験②：非同時観測での台数比較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総データ数を固定し、同じ観測を1〜10台へ割り当てる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366720b6-cb96-5095-9dbe-8597c105202a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25</a:t>
            </a:fld>
          </a:p>
        </p:txBody>
      </p:sp>
      <p:sp>
        <p:nvSpPr>
          <p:cNvPr id="8" name="">
            <a:extLst>
              <a:ext uri="{FF2B5EF4-FFF2-40B4-BE49-F238E27FC236}">
                <ns2:creationId id="{9A817E18-879E-4E38-AAEA-81AC47096D1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asynchronous-summary.csv（今回の独立した合成10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E41F534C-08DD-4EE8-95BB-99F11D828392}"/>
              </a:ext>
            </a:extLst>
          </p:cNvPr>
          <p:cNvGraphicFramePr/>
          <p:nvPr/>
        </p:nvGraphicFramePr>
        <p:xfrm>
          <a:off x="400050" y="1524000"/>
          <a:ext cx="8343900" cy="2571750"/>
        </p:xfrm>
        <a:graphic>
          <a:graphicData uri="http://schemas.openxmlformats.org/drawingml/2006/table">
            <a:tbl>
              <a:tblPr/>
              <a:tblGrid>
                <a:gridCol w="4095750"/>
                <a:gridCol w="4248150"/>
              </a:tblGrid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変えるもの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変えないもの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受信機の割当て台数：1／2／3／5／10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学習70・校正26・評価45飛行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各受信機の校正差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真距離・真電力・時刻の実現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ノードの識別と偏差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各送信は1台だけで受信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CCB4B15F-10DE-4D1F-9EEE-C385D74CC804}"/>
              </a:ext>
            </a:extLst>
          </p:cNvPr>
          <p:cNvSpPr>
            <a:spLocks noGrp="1"/>
          </p:cNvSpPr>
          <p:nvPr/>
        </p:nvSpPr>
        <p:spPr>
          <a:xfrm>
            <a:off x="419100" y="466725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比較の範囲</a:t>
            </a:r>
          </a:p>
        </p:txBody>
      </p:sp>
      <p:sp>
        <p:nvSpPr>
          <p:cNvPr id="11" name="">
            <a:extLst>
              <a:ext uri="{FF2B5EF4-FFF2-40B4-BE49-F238E27FC236}">
                <ns2:creationId id="{2A6AE58B-C0A5-4E0B-8C13-A6A4442425C5}"/>
              </a:ext>
            </a:extLst>
          </p:cNvPr>
          <p:cNvSpPr>
            <a:spLocks noGrp="1"/>
          </p:cNvSpPr>
          <p:nvPr/>
        </p:nvSpPr>
        <p:spPr>
          <a:xfrm>
            <a:off x="447675" y="5048250"/>
            <a:ext cx="8210550" cy="909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同じ真位置を別ノードで追加観測する拘束は与えていない</a:t>
            </a:r>
          </a:p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カバー範囲や総受信数を増やす実運用の効果は対象外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実験②の結果：台数の割当てだけでは小差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同じ量の単一RSSIデータでは、警報率はほぼ横ばい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369d2cff-bdc9-55d7-af62-79cbe57c499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26</a:t>
            </a:fld>
          </a:p>
        </p:txBody>
      </p:sp>
      <p:sp>
        <p:nvSpPr>
          <p:cNvPr id="8" name="">
            <a:extLst>
              <a:ext uri="{FF2B5EF4-FFF2-40B4-BE49-F238E27FC236}">
                <ns2:creationId id="{E4DBDB2B-019C-4FEA-A2F0-0DB94BCCCA0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asynchronous-summary.csv（今回の独立した合成10 seed。先行論文の再現ではない）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17275CA7-06A1-46C3-9143-A5DB11EE7773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d9caa433117547a8"/>
          </a:graphicData>
        </a:graphic>
      </p:graphicFrame>
      <p:sp>
        <p:nvSpPr>
          <p:cNvPr id="10" name="">
            <a:extLst>
              <a:ext uri="{FF2B5EF4-FFF2-40B4-BE49-F238E27FC236}">
                <ns2:creationId id="{E420C4F9-4472-404D-8CB4-580E5C1191C7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正常5.2〜5.5%、改変7.5〜7.9%。距離MAEも25.14〜25.31m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台数追加だけで自由電力の問題が解けるとは言えない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ノード数の一般的な効用を否定する実験ではない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観測を1000件集めれば解決するか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各送信の電力が自由なら、同じRSSI履歴を別の距離で説明できる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5ab8a63-de44-5299-a3f5-97eb5e4f575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27</a:t>
            </a:fld>
          </a:p>
        </p:txBody>
      </p:sp>
      <p:sp>
        <p:nvSpPr>
          <p:cNvPr id="8" name="">
            <a:extLst>
              <a:ext uri="{FF2B5EF4-FFF2-40B4-BE49-F238E27FC236}">
                <ns2:creationId id="{6814BD71-D21C-4573-99FC-17913A33279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出典：experiments/week26-rssi-privacy/identifiability_minimal.py（数理反例、n=2）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A29EEC7F-5045-40E7-8FD7-18EBA3822A06}"/>
              </a:ext>
            </a:extLst>
          </p:cNvPr>
          <p:cNvGraphicFramePr/>
          <p:nvPr/>
        </p:nvGraphicFramePr>
        <p:xfrm>
          <a:off x="400050" y="1524000"/>
          <a:ext cx="8343900" cy="2143125"/>
        </p:xfrm>
        <a:graphic>
          <a:graphicData uri="http://schemas.openxmlformats.org/drawingml/2006/table">
            <a:tbl>
              <a:tblPr/>
              <a:tblGrid>
                <a:gridCol w="2095500"/>
                <a:gridCol w="2952750"/>
                <a:gridCol w="3295650"/>
              </a:tblGrid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比較する世界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距離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実効基準電力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世界A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任意の距離履歴 d(t)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元の電力履歴 a(t)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世界B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全て4倍：4d(t)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全て +12.0412dB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3107400C-AEC8-4141-9CA5-EA0E3DD1AFB8}"/>
              </a:ext>
            </a:extLst>
          </p:cNvPr>
          <p:cNvSpPr>
            <a:spLocks noGrp="1"/>
          </p:cNvSpPr>
          <p:nvPr/>
        </p:nvSpPr>
        <p:spPr>
          <a:xfrm>
            <a:off x="714375" y="4143375"/>
            <a:ext cx="781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2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1000件のRSSI最大差：1.42×10⁻¹⁴ dB</a:t>
            </a:r>
          </a:p>
        </p:txBody>
      </p:sp>
      <p:sp>
        <p:nvSpPr>
          <p:cNvPr id="11" name="">
            <a:extLst>
              <a:ext uri="{FF2B5EF4-FFF2-40B4-BE49-F238E27FC236}">
                <ns2:creationId id="{8E9D1CB2-FD35-4891-96D5-605B030A8D7C}"/>
              </a:ext>
            </a:extLst>
          </p:cNvPr>
          <p:cNvSpPr>
            <a:spLocks noGrp="1"/>
          </p:cNvSpPr>
          <p:nvPr/>
        </p:nvSpPr>
        <p:spPr>
          <a:xfrm>
            <a:off x="419100" y="495300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この反例から言えること</a:t>
            </a:r>
          </a:p>
        </p:txBody>
      </p:sp>
      <p:sp>
        <p:nvSpPr>
          <p:cNvPr id="12" name="">
            <a:extLst>
              <a:ext uri="{FF2B5EF4-FFF2-40B4-BE49-F238E27FC236}">
                <ns2:creationId id="{925865A4-032D-4264-8DA2-691F749D4132}"/>
              </a:ext>
            </a:extLst>
          </p:cNvPr>
          <p:cNvSpPr>
            <a:spLocks noGrp="1"/>
          </p:cNvSpPr>
          <p:nvPr/>
        </p:nvSpPr>
        <p:spPr>
          <a:xfrm>
            <a:off x="447675" y="5334000"/>
            <a:ext cx="8210550" cy="909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件数だけでは、自由な電力と位置の曖昧さは消えない</a:t>
            </a:r>
          </a:p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実機でこの電力変更が可能かは別検証。件数別学習曲線は未評価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実験③：過去の観測を使う条件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直前の独立な真距離付き観測から、電力を推定できる仮定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c188627-dd26-59b4-8f67-79e086f2ab8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28</a:t>
            </a:fld>
          </a:p>
        </p:txBody>
      </p:sp>
      <p:sp>
        <p:nvSpPr>
          <p:cNvPr id="8" name="">
            <a:extLst>
              <a:ext uri="{FF2B5EF4-FFF2-40B4-BE49-F238E27FC236}">
                <ns2:creationId id="{7280FBD4-8458-44D2-98A6-0BDD63CE2AB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time-summary.csv（今回の独立した合成10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B6325C29-72DE-4E01-9579-6036E599B6C8}"/>
              </a:ext>
            </a:extLst>
          </p:cNvPr>
          <p:cNvGraphicFramePr/>
          <p:nvPr/>
        </p:nvGraphicFramePr>
        <p:xfrm>
          <a:off x="400050" y="1524000"/>
          <a:ext cx="8343900" cy="3381375"/>
        </p:xfrm>
        <a:graphic>
          <a:graphicData uri="http://schemas.openxmlformats.org/drawingml/2006/table">
            <a:tbl>
              <a:tblPr/>
              <a:tblGrid>
                <a:gridCol w="2095500"/>
                <a:gridCol w="6248400"/>
              </a:tblGrid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過去の基準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RID申告とは独立に真距離が分かる観測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電力変動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相関時間10分の確率モデル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現在の観測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 1値。過去との時間差を変更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比較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履歴なし／過去値維持／相関に合った予測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距離MAE。各条件10 seed・計30,000標本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CB4EEB9C-423F-4914-A148-E24502BE0FBA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相関時間は仮定値。実UAVで10分と測定したわけではない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実験③の結果：履歴が古いと効果が低下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1時間前の値を維持すると、履歴なしより悪化する条件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bcd0834-529f-559a-9cf2-59368f4b916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29</a:t>
            </a:fld>
          </a:p>
        </p:txBody>
      </p:sp>
      <p:sp>
        <p:nvSpPr>
          <p:cNvPr id="8" name="">
            <a:extLst>
              <a:ext uri="{FF2B5EF4-FFF2-40B4-BE49-F238E27FC236}">
                <ns2:creationId id="{599DA72F-7983-4188-8BC1-76ECE9644F7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time-summary.csv（今回の独立した合成10 seed。先行論文の再現ではない）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4325BC04-87CC-4765-9113-73DE2EC69CE3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7227a396c05e4050"/>
          </a:graphicData>
        </a:graphic>
      </p:graphicFrame>
      <p:sp>
        <p:nvSpPr>
          <p:cNvPr id="10" name="">
            <a:extLst>
              <a:ext uri="{FF2B5EF4-FFF2-40B4-BE49-F238E27FC236}">
                <ns2:creationId id="{66A0916B-C117-4FAC-886E-BDC0A1B97D3E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独立真距離付きの過去観測と、正しい相関時間を仮定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「何時間まで使える」という普遍的な期限は得られない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距離推定誤差の評価。位置偽装の検知率とは別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実験④：RID別モデルの条件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同じRIDに安定した電波特性がある場合の距離補正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2864038-1356-5121-9a81-d5bed88c560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30</a:t>
            </a:fld>
          </a:p>
        </p:txBody>
      </p:sp>
      <p:sp>
        <p:nvSpPr>
          <p:cNvPr id="8" name="">
            <a:extLst>
              <a:ext uri="{FF2B5EF4-FFF2-40B4-BE49-F238E27FC236}">
                <ns2:creationId id="{CF225525-283B-436D-AAF2-1C1979A429A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personalization-summary.csv（今回の独立した合成10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DE1B4545-C19B-4E2B-915F-10D1AD925A9C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1905000"/>
                <a:gridCol w="6438900"/>
              </a:tblGrid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外部30IDの保護された真距離付きデータ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個別化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対象20IDへ、各30件の独立な真距離ラベル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電波特性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ID固有差SD6dB、飛行差SD1dB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別の10飛行／ID、10 seed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比較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通常の同じ送信機／同じRIDを名乗る別送信機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764D7953-2B5A-477E-AD58-1AC5A47F4F40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RID文字列による分類。物理機体の認証を実装したものではない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RID別学習の効果と限界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学習による誤差改善は、位置や機体の真正性の証明ではない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05f8352-2852-50d4-bf63-c36360f3d6c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31</a:t>
            </a:fld>
          </a:p>
        </p:txBody>
      </p:sp>
      <p:sp>
        <p:nvSpPr>
          <p:cNvPr id="8" name="">
            <a:extLst>
              <a:ext uri="{FF2B5EF4-FFF2-40B4-BE49-F238E27FC236}">
                <ns2:creationId id="{76986519-D3C0-48BE-9F2B-1678593AAA5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personalization-summary.csv（合成10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EBBD5EBB-0978-482A-A5C2-8C5F024E5462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c3d4c8985eab4762"/>
          </a:graphicData>
        </a:graphic>
      </p:graphicFrame>
      <p:sp>
        <p:nvSpPr>
          <p:cNvPr id="10" name="">
            <a:extLst>
              <a:ext uri="{FF2B5EF4-FFF2-40B4-BE49-F238E27FC236}">
                <ns2:creationId id="{A90ACC7B-7A4A-49F8-B492-4A0C7CE31365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学習ラベルは独立した合成真距離。RID申告値ではない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同じRID文字列でも同じ物理機体とは限らず、補正が悪化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公開UAV・LoRaデータの構成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実飛行中のRSSIと位置参照を使った再解析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59d0961-1206-521b-b549-ce512e5a413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32</a:t>
            </a:fld>
          </a:p>
        </p:txBody>
      </p:sp>
      <p:sp>
        <p:nvSpPr>
          <p:cNvPr id="8" name="">
            <a:extLst>
              <a:ext uri="{FF2B5EF4-FFF2-40B4-BE49-F238E27FC236}">
                <ns2:creationId id="{DD894638-0F2A-496B-82A0-7854F6AC067A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出典：Mavilia et al., Data in Brief 2025, DOI:10.1016/j.dib.2025.112243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データ：Zenodo v2, DOI:10.5281/zenodo.17339095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14294016-F128-4B7B-9789-29343DEAA59A}"/>
              </a:ext>
            </a:extLst>
          </p:cNvPr>
          <p:cNvGraphicFramePr/>
          <p:nvPr/>
        </p:nvGraphicFramePr>
        <p:xfrm>
          <a:off x="400050" y="1524000"/>
          <a:ext cx="8343900" cy="3429000"/>
        </p:xfrm>
        <a:graphic>
          <a:graphicData uri="http://schemas.openxmlformats.org/drawingml/2006/table">
            <a:tbl>
              <a:tblPr/>
              <a:tblGrid>
                <a:gridCol w="1619250"/>
                <a:gridCol w="6724650"/>
              </a:tblGrid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送信・受信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雪中の固定LoRa送信機 → UAV上の受信機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件数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19条件・142,039件（公開論文の件数と一致）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分割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 runがある16条件、学習／校正／評価を分離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距離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位置参照・高度から平坦地の斜距離を近似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対象の違い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868MHz LoRa。BLE Remote IDではない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707D5A8C-1CCD-4886-9903-F7D137DF469D}"/>
              </a:ext>
            </a:extLst>
          </p:cNvPr>
          <p:cNvSpPr>
            <a:spLocks noGrp="1"/>
          </p:cNvSpPr>
          <p:nvPr/>
        </p:nvSpPr>
        <p:spPr>
          <a:xfrm>
            <a:off x="428625" y="53340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複数地上ノードで同じRID送信を受けた実測ではない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LoRa実測の時刻対応と誤警報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古いRSSIを現在位置と比較すると、正常でも警報が増える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340f4c7a-8c0f-529a-b651-be0ce07e519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33</a:t>
            </a:fld>
          </a:p>
        </p:txBody>
      </p:sp>
      <p:sp>
        <p:nvSpPr>
          <p:cNvPr id="8" name="">
            <a:extLst>
              <a:ext uri="{FF2B5EF4-FFF2-40B4-BE49-F238E27FC236}">
                <ns2:creationId id="{97FC6392-4FDD-45A8-A568-7818A1C1B2D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出典：mac-public-lora-20261101 / delay-summary.csv（実測系列への人工時刻ずれ）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696FCEFC-2BA1-4C05-A0F2-3AE85247E4D1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766912aa60204b85"/>
          </a:graphicData>
        </a:graphic>
      </p:graphicFrame>
      <p:sp>
        <p:nvSpPr>
          <p:cNvPr id="10" name="">
            <a:extLst>
              <a:ext uri="{FF2B5EF4-FFF2-40B4-BE49-F238E27FC236}">
                <ns2:creationId id="{6BE2F3AF-3F8F-4453-B7A4-F13680C33094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15秒ずれでは約23.2%。全遅延で同じ評価時刻を使用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実RIDの複数ノード融合を測定した結果ではない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元の非同時観測から言えたこと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電力をどう制約するかで、推定・検査の成立条件が変わる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6920f27-af81-53f9-8c7c-55e7fa55537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34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794D6777-E63C-4A82-B4B5-EFE9A9557693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2619375"/>
                <a:gridCol w="5724525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元の条件での問い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今回の結果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位置だけ変わる場合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条件付きの警報。ただし正常誤警報との比較が必要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位置と電力を連動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RSSIを整合させる反例・攻撃条件が残る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台数・件数の追加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別送信・自由電力では、それだけで一意化しない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履歴・RID別学習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真値校正と特性の持続性があれば距離推定を改善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DD6DE6C6-148C-4304-843B-98BC20FBE45C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元条件を無条件に解決した段階ではない。次は観測条件を追加した比較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追加条件：同じ送信の複数受信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共通電力を除く検査。元の非同時条件から観測を追加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2988236-12cd-54a0-b45c-ec4ed7417ba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35</a:t>
            </a:fld>
          </a:p>
        </p:txBody>
      </p:sp>
      <p:sp>
        <p:nvSpPr>
          <p:cNvPr id="8" name="">
            <a:extLst>
              <a:ext uri="{FF2B5EF4-FFF2-40B4-BE49-F238E27FC236}">
                <ns2:creationId id="{95003651-B150-4E60-9C5D-D0785BAF1462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AのRSSI − BのRSSI</a:t>
            </a:r>
          </a:p>
        </p:txBody>
      </p:sp>
      <p:sp>
        <p:nvSpPr>
          <p:cNvPr id="9" name="">
            <a:extLst>
              <a:ext uri="{FF2B5EF4-FFF2-40B4-BE49-F238E27FC236}">
                <ns2:creationId id="{0C45A608-200F-416F-BAB7-10A274F318B4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同じ送信なら、共通の送信電力成分を除去</a:t>
            </a:r>
          </a:p>
        </p:txBody>
      </p:sp>
      <p:sp>
        <p:nvSpPr>
          <p:cNvPr id="10" name="">
            <a:extLst>
              <a:ext uri="{FF2B5EF4-FFF2-40B4-BE49-F238E27FC236}">
                <ns2:creationId id="{F30314E2-642F-4E32-9F37-2BE9C424BD55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7953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Δr = −10n log₁₀(dA / dB) ＋ 誤差</a:t>
            </a:r>
          </a:p>
        </p:txBody>
      </p:sp>
      <p:sp>
        <p:nvSpPr>
          <p:cNvPr id="11" name="">
            <a:extLst>
              <a:ext uri="{FF2B5EF4-FFF2-40B4-BE49-F238E27FC236}">
                <ns2:creationId id="{3AE62567-D37D-4652-A4E8-D26357F1C4AC}"/>
              </a:ext>
            </a:extLst>
          </p:cNvPr>
          <p:cNvSpPr>
            <a:spLocks noGrp="1"/>
          </p:cNvSpPr>
          <p:nvPr/>
        </p:nvSpPr>
        <p:spPr>
          <a:xfrm>
            <a:off x="1000125" y="4048125"/>
            <a:ext cx="714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dA・dB：申告位置から各ノードまでの距離</a:t>
            </a:r>
          </a:p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n：距離による減衰を表す係数</a:t>
            </a:r>
          </a:p>
        </p:txBody>
      </p:sp>
      <p:sp>
        <p:nvSpPr>
          <p:cNvPr id="12" name="">
            <a:extLst>
              <a:ext uri="{FF2B5EF4-FFF2-40B4-BE49-F238E27FC236}">
                <ns2:creationId id="{F47C3660-BFE6-44F9-9E07-2F6B754D1217}"/>
              </a:ext>
            </a:extLst>
          </p:cNvPr>
          <p:cNvSpPr>
            <a:spLocks noGrp="1"/>
          </p:cNvSpPr>
          <p:nvPr/>
        </p:nvSpPr>
        <p:spPr>
          <a:xfrm>
            <a:off x="428625" y="519112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送信ごとに電力が変わっても、同じ送信内では共通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向き・遮蔽・受信機差まで消えるわけではない</a:t>
            </a:r>
          </a:p>
        </p:txBody>
      </p:sp>
      <p:sp>
        <p:nvSpPr>
          <p:cNvPr id="13" name="">
            <a:extLst>
              <a:ext uri="{FF2B5EF4-FFF2-40B4-BE49-F238E27FC236}">
                <ns2:creationId id="{5648FA7E-E7E9-4599-A296-F4D50504259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関連：Hu &amp; Leus, IEEE TSP 2017, DOI:10.1109/TSP.2017.2684741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複数ノード合成評価の条件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未知・変動電力を持つ一本の飛行を、複数地点で観測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028e45b-b093-5657-8dbe-c6f42a73409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36</a:t>
            </a:fld>
          </a:p>
        </p:txBody>
      </p:sp>
      <p:sp>
        <p:nvSpPr>
          <p:cNvPr id="8" name="">
            <a:extLst>
              <a:ext uri="{FF2B5EF4-FFF2-40B4-BE49-F238E27FC236}">
                <ns2:creationId id="{EB3445B4-7CDF-4879-9F41-195BDA7969F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config.json（合成10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01EB17A9-B5B1-4460-A8D9-810E9B3F6E64}"/>
              </a:ext>
            </a:extLst>
          </p:cNvPr>
          <p:cNvGraphicFramePr/>
          <p:nvPr/>
        </p:nvGraphicFramePr>
        <p:xfrm>
          <a:off x="428625" y="1619250"/>
          <a:ext cx="4810125" cy="3333750"/>
        </p:xfrm>
        <a:graphic>
          <a:graphicData uri="http://schemas.openxmlformats.org/drawingml/2006/chart">
            <ns3:chart ns4:id="R7f6b3e60d74d4c5a"/>
          </a:graphicData>
        </a:graphic>
      </p:graphicFrame>
      <p:graphicFrame>
        <p:nvGraphicFramePr>
          <p:cNvPr id="10" name="">
            <a:extLst>
              <a:ext uri="{FF2B5EF4-FFF2-40B4-BE49-F238E27FC236}">
                <ns2:creationId id="{A85842FC-B394-4E42-B18A-B56F50F64207}"/>
              </a:ext>
            </a:extLst>
          </p:cNvPr>
          <p:cNvGraphicFramePr/>
          <p:nvPr/>
        </p:nvGraphicFramePr>
        <p:xfrm>
          <a:off x="5476875" y="1666875"/>
          <a:ext cx="3190875" cy="3143250"/>
        </p:xfrm>
        <a:graphic>
          <a:graphicData uri="http://schemas.openxmlformats.org/drawingml/2006/table">
            <a:tbl>
              <a:tblPr/>
              <a:tblGrid>
                <a:gridCol w="904875"/>
                <a:gridCol w="2286000"/>
              </a:tblGrid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機体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共通の3D軌跡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0.5秒間隔・5台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未知・送信ごとに変動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雑音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SD2／6dB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反復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 seed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>
              <a:ext uri="{FF2B5EF4-FFF2-40B4-BE49-F238E27FC236}">
                <ns2:creationId id="{60E25846-CCBD-42B3-BAB5-AD3138441861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受信範囲は幾何とスキャン欠測の簡略モデル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正常位置誤差・NLOS・実際の時計誤差は未導入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追加実験：判定と反復の条件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同じ送信の複数受信という条件を追加した合成評価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3458de11-2e45-563d-ae2f-749eadd864ab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37</a:t>
            </a:fld>
          </a:p>
        </p:txBody>
      </p:sp>
      <p:sp>
        <p:nvSpPr>
          <p:cNvPr id="8" name="">
            <a:extLst>
              <a:ext uri="{FF2B5EF4-FFF2-40B4-BE49-F238E27FC236}">
                <ns2:creationId id="{E95424FA-8E59-4E62-9737-5CC1DE8BC5B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config.json / summary.json（合成10 seed）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E6388E04-EFBC-4065-9DBD-8C744520FABC}"/>
              </a:ext>
            </a:extLst>
          </p:cNvPr>
          <p:cNvGraphicFramePr/>
          <p:nvPr/>
        </p:nvGraphicFramePr>
        <p:xfrm>
          <a:off x="400050" y="1524000"/>
          <a:ext cx="8343900" cy="3381375"/>
        </p:xfrm>
        <a:graphic>
          <a:graphicData uri="http://schemas.openxmlformats.org/drawingml/2006/table">
            <a:tbl>
              <a:tblPr/>
              <a:tblGrid>
                <a:gridCol w="1905000"/>
                <a:gridCol w="6438900"/>
              </a:tblGrid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分割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校正20飛行、評価30飛行／seed。10 seed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長さ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1飛行240イベント、0.5秒間隔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電力・伝搬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送信ごとに共通電力が変動。既知の伝搬係数2.2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閾値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受信機の組ごとに正常校正の95%点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有利な仮定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同一送信の対応は既知。NLOS・指向性は未導入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0C29F8C5-B8AC-423E-B678-F81B19EC12C4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図は10 seed平均。連続イベントを独立した反復数とは扱わない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位置改変量と受信ノード数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位置をどれだけ変えると検知できるか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6d71012b-8c87-540a-9973-6cfac88e1e1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38</a:t>
            </a:fld>
          </a:p>
        </p:txBody>
      </p:sp>
      <p:sp>
        <p:nvSpPr>
          <p:cNvPr id="8" name="">
            <a:extLst>
              <a:ext uri="{FF2B5EF4-FFF2-40B4-BE49-F238E27FC236}">
                <ns2:creationId id="{3E921C1D-52C9-40A8-A3C8-4B6F2621CD0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curves-summary.csv（合成10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B121043C-3FAB-4EA1-9DE6-F5B20F5FB6DA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71b2e0a1e1c649c6"/>
          </a:graphicData>
        </a:graphic>
      </p:graphicFrame>
      <p:sp>
        <p:nvSpPr>
          <p:cNvPr id="10" name="">
            <a:extLst>
              <a:ext uri="{FF2B5EF4-FFF2-40B4-BE49-F238E27FC236}">
                <ns2:creationId id="{98F62902-B898-450C-86A6-8E0D623A38CE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100m改変でも、5台の検知率は約73.7%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0mは正常誤警報。台数の変更とともに使う配置も変化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位置100m＋共通電力補償でも、同じ73.7%（5台）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雑音増加による検知率の低下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同じ配置・同じ改変でも、電波の揺らぎで見逃しが増加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53caa2b-7699-51ae-85fd-bfb0109acf3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39</a:t>
            </a:fld>
          </a:p>
        </p:txBody>
      </p:sp>
      <p:sp>
        <p:nvSpPr>
          <p:cNvPr id="8" name="">
            <a:extLst>
              <a:ext uri="{FF2B5EF4-FFF2-40B4-BE49-F238E27FC236}">
                <ns2:creationId id="{B2EB9128-E28B-460A-BDE7-9A3786F55001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curves-summary.csv（合成10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3B0C9D5C-BD93-4701-8E77-984F560A72FB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6013bf9e52f24712"/>
          </a:graphicData>
        </a:graphic>
      </p:graphicFrame>
      <p:sp>
        <p:nvSpPr>
          <p:cNvPr id="10" name="">
            <a:extLst>
              <a:ext uri="{FF2B5EF4-FFF2-40B4-BE49-F238E27FC236}">
                <ns2:creationId id="{4CAEFD16-B6EC-479E-B2BD-F343797D1186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雑音SD6dBでは、100m改変・5台でも約18.7%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0mは正常誤警報。台数の変更とともに使う配置も変化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一部重複での検知と判定保留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同じ100m改変でも、判定できる時間帯は限られる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82225e9-4d01-5829-97c5-06902390bd0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40</a:t>
            </a:fld>
          </a:p>
        </p:txBody>
      </p:sp>
      <p:sp>
        <p:nvSpPr>
          <p:cNvPr id="8" name="">
            <a:extLst>
              <a:ext uri="{FF2B5EF4-FFF2-40B4-BE49-F238E27FC236}">
                <ns2:creationId id="{7415BE15-EDC8-4346-A15D-B71EFE87B522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cases-summary.csv（合成10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B47E2265-90AE-4047-83B5-DA157D21D0DF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4c4e384e02324562"/>
          </a:graphicData>
        </a:graphic>
      </p:graphicFrame>
      <p:sp>
        <p:nvSpPr>
          <p:cNvPr id="10" name="">
            <a:extLst>
              <a:ext uri="{FF2B5EF4-FFF2-40B4-BE49-F238E27FC236}">
                <ns2:creationId id="{E50BE9D1-3B2A-42AA-B1F2-AAC818894B7F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一部重複：判定可能77.1%、その部分の検知率64.0%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全送信中の警報は49.35%、保留22.89%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1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配置と電力補償による同一観測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高度も電力も違うのに、全ノードで同じRSSI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360f8a91-89d0-5567-82db-926a6a9fd23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41</a:t>
            </a:fld>
          </a:p>
        </p:txBody>
      </p:sp>
      <p:sp>
        <p:nvSpPr>
          <p:cNvPr id="8" name="">
            <a:extLst>
              <a:ext uri="{FF2B5EF4-FFF2-40B4-BE49-F238E27FC236}">
                <ns2:creationId id="{9D2146A5-4A59-43EC-8A12-2573C6D8E15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summary.json / counterexamples（雑音なしの数理反例）</a:t>
            </a:r>
          </a:p>
        </p:txBody>
      </p:sp>
      <p:sp>
        <p:nvSpPr>
          <p:cNvPr id="9" name="">
            <a:extLst>
              <a:ext uri="{FF2B5EF4-FFF2-40B4-BE49-F238E27FC236}">
                <ns2:creationId id="{86443AB5-D09F-44C7-8FBB-210B82B2A39F}"/>
              </a:ext>
            </a:extLst>
          </p:cNvPr>
          <p:cNvSpPr>
            <a:spLocks noGrp="1"/>
          </p:cNvSpPr>
          <p:nvPr/>
        </p:nvSpPr>
        <p:spPr>
          <a:xfrm>
            <a:off x="1095375" y="2047875"/>
            <a:ext cx="2381250" cy="2381250"/>
          </a:xfrm>
          <a:prstGeom prst="ellipse">
            <a:avLst/>
          </a:prstGeom>
          <a:noFill/>
          <a:ln w="19050">
            <a:solidFill>
              <a:srgbClr val="BEC9D6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DA0D1959-373E-4DC1-8A38-86A872FCC0E1}"/>
              </a:ext>
            </a:extLst>
          </p:cNvPr>
          <p:cNvSpPr>
            <a:spLocks noGrp="1"/>
          </p:cNvSpPr>
          <p:nvPr/>
        </p:nvSpPr>
        <p:spPr>
          <a:xfrm>
            <a:off x="3371850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12B2070A-F7D3-42B9-A30E-E32142754D6F}"/>
              </a:ext>
            </a:extLst>
          </p:cNvPr>
          <p:cNvSpPr>
            <a:spLocks noGrp="1"/>
          </p:cNvSpPr>
          <p:nvPr/>
        </p:nvSpPr>
        <p:spPr>
          <a:xfrm>
            <a:off x="3629025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</a:t>
            </a:r>
          </a:p>
        </p:txBody>
      </p:sp>
      <p:sp>
        <p:nvSpPr>
          <p:cNvPr id="12" name="">
            <a:extLst>
              <a:ext uri="{FF2B5EF4-FFF2-40B4-BE49-F238E27FC236}">
                <ns2:creationId id="{03695385-49CD-4C52-8F0F-2C3F7833BBF8}"/>
              </a:ext>
            </a:extLst>
          </p:cNvPr>
          <p:cNvSpPr>
            <a:spLocks noGrp="1"/>
          </p:cNvSpPr>
          <p:nvPr/>
        </p:nvSpPr>
        <p:spPr>
          <a:xfrm>
            <a:off x="2181225" y="1943100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EFFA9BD5-2ABF-4F75-B62A-782E9184F95C}"/>
              </a:ext>
            </a:extLst>
          </p:cNvPr>
          <p:cNvSpPr>
            <a:spLocks noGrp="1"/>
          </p:cNvSpPr>
          <p:nvPr/>
        </p:nvSpPr>
        <p:spPr>
          <a:xfrm>
            <a:off x="2438400" y="19240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B</a:t>
            </a:r>
          </a:p>
        </p:txBody>
      </p:sp>
      <p:sp>
        <p:nvSpPr>
          <p:cNvPr id="14" name="">
            <a:extLst>
              <a:ext uri="{FF2B5EF4-FFF2-40B4-BE49-F238E27FC236}">
                <ns2:creationId id="{77E8631A-404D-411B-9369-963291DA9EF4}"/>
              </a:ext>
            </a:extLst>
          </p:cNvPr>
          <p:cNvSpPr>
            <a:spLocks noGrp="1"/>
          </p:cNvSpPr>
          <p:nvPr/>
        </p:nvSpPr>
        <p:spPr>
          <a:xfrm>
            <a:off x="990600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2F5553DD-FD46-45FD-B37E-FE946382B92D}"/>
              </a:ext>
            </a:extLst>
          </p:cNvPr>
          <p:cNvSpPr>
            <a:spLocks noGrp="1"/>
          </p:cNvSpPr>
          <p:nvPr/>
        </p:nvSpPr>
        <p:spPr>
          <a:xfrm>
            <a:off x="1247775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</a:t>
            </a:r>
          </a:p>
        </p:txBody>
      </p:sp>
      <p:sp>
        <p:nvSpPr>
          <p:cNvPr id="16" name="">
            <a:extLst>
              <a:ext uri="{FF2B5EF4-FFF2-40B4-BE49-F238E27FC236}">
                <ns2:creationId id="{A29B4F51-B8BD-42A3-8D23-75AFFC48212C}"/>
              </a:ext>
            </a:extLst>
          </p:cNvPr>
          <p:cNvSpPr>
            <a:spLocks noGrp="1"/>
          </p:cNvSpPr>
          <p:nvPr/>
        </p:nvSpPr>
        <p:spPr>
          <a:xfrm>
            <a:off x="2181225" y="4324350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A5ED0370-B47E-46DA-9C06-17091FDC6393}"/>
              </a:ext>
            </a:extLst>
          </p:cNvPr>
          <p:cNvSpPr>
            <a:spLocks noGrp="1"/>
          </p:cNvSpPr>
          <p:nvPr/>
        </p:nvSpPr>
        <p:spPr>
          <a:xfrm>
            <a:off x="2438400" y="43053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</a:t>
            </a:r>
          </a:p>
        </p:txBody>
      </p:sp>
      <p:sp>
        <p:nvSpPr>
          <p:cNvPr id="18" name="">
            <a:extLst>
              <a:ext uri="{FF2B5EF4-FFF2-40B4-BE49-F238E27FC236}">
                <ns2:creationId id="{11B5F6BB-430F-4F17-9E49-F692DA7ADBE0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中心上空の2つの候補</a:t>
            </a:r>
          </a:p>
        </p:txBody>
      </p:sp>
      <p:sp>
        <p:nvSpPr>
          <p:cNvPr id="19" name="">
            <a:extLst>
              <a:ext uri="{FF2B5EF4-FFF2-40B4-BE49-F238E27FC236}">
                <ns2:creationId id="{B1B94D50-120B-42D9-96AA-0C2172F098A7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半径100m・地上4台</a:t>
            </a:r>
          </a:p>
        </p:txBody>
      </p:sp>
      <p:graphicFrame>
        <p:nvGraphicFramePr>
          <p:cNvPr id="20" name="Chart">
            <a:extLst>
              <a:ext uri="{FF2B5EF4-FFF2-40B4-BE49-F238E27FC236}">
                <ns2:creationId id="{27746501-61FB-4174-8837-40A3F2D324A3}"/>
              </a:ext>
            </a:extLst>
          </p:cNvPr>
          <p:cNvGraphicFramePr/>
          <p:nvPr/>
        </p:nvGraphicFramePr>
        <p:xfrm>
          <a:off x="4476750" y="1619250"/>
          <a:ext cx="4095750" cy="3333750"/>
        </p:xfrm>
        <a:graphic>
          <a:graphicData uri="http://schemas.openxmlformats.org/drawingml/2006/chart">
            <ns3:chart ns4:id="R3531ee7f73494964"/>
          </a:graphicData>
        </a:graphic>
      </p:graphicFrame>
      <p:sp>
        <p:nvSpPr>
          <p:cNvPr id="21" name="">
            <a:extLst>
              <a:ext uri="{FF2B5EF4-FFF2-40B4-BE49-F238E27FC236}">
                <ns2:creationId id="{42C82727-8730-4B9E-867E-A28F47BA1BDE}"/>
              </a:ext>
            </a:extLst>
          </p:cNvPr>
          <p:cNvSpPr>
            <a:spLocks noGrp="1"/>
          </p:cNvSpPr>
          <p:nvPr/>
        </p:nvSpPr>
        <p:spPr>
          <a:xfrm>
            <a:off x="4619625" y="5238750"/>
            <a:ext cx="3905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偽装側の基準電力：−2.18dB</a:t>
            </a:r>
          </a:p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位置が違っても同じ観測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警報から判断できること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示せるのは、位置申告と観測の不整合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ca8f594-4bf0-59b9-822f-08ef7a42234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42</a:t>
            </a:fld>
          </a:p>
        </p:txBody>
      </p:sp>
      <p:sp>
        <p:nvSpPr>
          <p:cNvPr id="8" name="">
            <a:extLst>
              <a:ext uri="{FF2B5EF4-FFF2-40B4-BE49-F238E27FC236}">
                <ns2:creationId id="{E24B735C-B0EA-4CCA-9121-A88505E3A79C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警報が出た場合</a:t>
            </a:r>
          </a:p>
        </p:txBody>
      </p:sp>
      <p:sp>
        <p:nvSpPr>
          <p:cNvPr id="9" name="">
            <a:extLst>
              <a:ext uri="{FF2B5EF4-FFF2-40B4-BE49-F238E27FC236}">
                <ns2:creationId id="{5141C3E0-DDE7-4BBD-A0FD-D18BCC89AD85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位置偽装の疑い。ただし遮蔽・向き・受信誤差も候補</a:t>
            </a:r>
          </a:p>
        </p:txBody>
      </p:sp>
      <p:sp>
        <p:nvSpPr>
          <p:cNvPr id="10" name="">
            <a:extLst>
              <a:ext uri="{FF2B5EF4-FFF2-40B4-BE49-F238E27FC236}">
                <ns2:creationId id="{CCF8204F-7869-4CFB-AECF-08794AEDE176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警報が出なかった場合</a:t>
            </a:r>
          </a:p>
        </p:txBody>
      </p:sp>
      <p:sp>
        <p:nvSpPr>
          <p:cNvPr id="11" name="">
            <a:extLst>
              <a:ext uri="{FF2B5EF4-FFF2-40B4-BE49-F238E27FC236}">
                <ns2:creationId id="{25AE7DA7-C611-4AF3-A10D-9F68CFC1A50E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位置が正しい証明ではない。見逃しや識別不能配置が残る</a:t>
            </a:r>
          </a:p>
        </p:txBody>
      </p:sp>
      <p:sp>
        <p:nvSpPr>
          <p:cNvPr id="12" name="">
            <a:extLst>
              <a:ext uri="{FF2B5EF4-FFF2-40B4-BE49-F238E27FC236}">
                <ns2:creationId id="{9D9E6F57-F016-42BE-BA73-4363D4B4F3BD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電力について</a:t>
            </a:r>
          </a:p>
        </p:txBody>
      </p:sp>
      <p:sp>
        <p:nvSpPr>
          <p:cNvPr id="13" name="">
            <a:extLst>
              <a:ext uri="{FF2B5EF4-FFF2-40B4-BE49-F238E27FC236}">
                <ns2:creationId id="{EC1504A0-6A05-47DE-B52B-E4149A9FBE28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実際の放射電力や、電力申告の真偽を測った方式ではない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まとめ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RSSIは、条件付きで位置申告の不整合を調べる手段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d05cee5-78e7-5513-844b-00ffe16f146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43</a:t>
            </a:fld>
          </a:p>
        </p:txBody>
      </p:sp>
      <p:sp>
        <p:nvSpPr>
          <p:cNvPr id="8" name="">
            <a:extLst>
              <a:ext uri="{FF2B5EF4-FFF2-40B4-BE49-F238E27FC236}">
                <ns2:creationId id="{6967AE9D-2792-4985-AC82-B50F13D418B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今回の検知率は合成条件下の結果。実機の位置認証・安全性を保証するものではない。</a:t>
            </a:r>
          </a:p>
        </p:txBody>
      </p:sp>
      <p:sp>
        <p:nvSpPr>
          <p:cNvPr id="9" name="">
            <a:extLst>
              <a:ext uri="{FF2B5EF4-FFF2-40B4-BE49-F238E27FC236}">
                <ns2:creationId id="{F4A6A2E9-E5F1-417A-B52F-6D6FD3B903E8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元の非同時観測</a:t>
            </a:r>
          </a:p>
        </p:txBody>
      </p:sp>
      <p:sp>
        <p:nvSpPr>
          <p:cNvPr id="10" name="">
            <a:extLst>
              <a:ext uri="{FF2B5EF4-FFF2-40B4-BE49-F238E27FC236}">
                <ns2:creationId id="{ECC2E0E5-1F2D-4104-82FD-5FA5A34267A0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各送信の電力が自由なら、RSSI履歴だけで一般的な識別は不可</a:t>
            </a:r>
          </a:p>
        </p:txBody>
      </p:sp>
      <p:sp>
        <p:nvSpPr>
          <p:cNvPr id="11" name="">
            <a:extLst>
              <a:ext uri="{FF2B5EF4-FFF2-40B4-BE49-F238E27FC236}">
                <ns2:creationId id="{3F239039-33FD-425B-B53F-98E519329AC1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履歴や学習を使う場合</a:t>
            </a:r>
          </a:p>
        </p:txBody>
      </p:sp>
      <p:sp>
        <p:nvSpPr>
          <p:cNvPr id="12" name="">
            <a:extLst>
              <a:ext uri="{FF2B5EF4-FFF2-40B4-BE49-F238E27FC236}">
                <ns2:creationId id="{1097B8F6-4194-4A2A-818D-2D5CEA88D909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独立真値による校正、電力特性の持続性が成立条件</a:t>
            </a:r>
          </a:p>
        </p:txBody>
      </p:sp>
      <p:sp>
        <p:nvSpPr>
          <p:cNvPr id="13" name="">
            <a:extLst>
              <a:ext uri="{FF2B5EF4-FFF2-40B4-BE49-F238E27FC236}">
                <ns2:creationId id="{5241C5BC-D782-4D6D-A9C7-911BC92955CE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同じ送信を複数受信する場合</a:t>
            </a:r>
          </a:p>
        </p:txBody>
      </p:sp>
      <p:sp>
        <p:nvSpPr>
          <p:cNvPr id="14" name="">
            <a:extLst>
              <a:ext uri="{FF2B5EF4-FFF2-40B4-BE49-F238E27FC236}">
                <ns2:creationId id="{D9179AAA-9E2B-4118-BC27-347E474F2981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共通電力を除く検査は可能。ただし雑音・受信不足・配置に依存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元のシナリオを維持し、必要な追加条件を実測で確認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7748c3dd-cec1-5ba4-a40c-9a9005cdebc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44</a:t>
            </a:fld>
          </a:p>
        </p:txBody>
      </p:sp>
      <p:sp>
        <p:nvSpPr>
          <p:cNvPr id="8" name="">
            <a:extLst>
              <a:ext uri="{FF2B5EF4-FFF2-40B4-BE49-F238E27FC236}">
                <ns2:creationId id="{7E308A72-967E-4066-901A-06501AF1542A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電力と時間変化の把握</a:t>
            </a:r>
          </a:p>
        </p:txBody>
      </p:sp>
      <p:sp>
        <p:nvSpPr>
          <p:cNvPr id="9" name="">
            <a:extLst>
              <a:ext uri="{FF2B5EF4-FFF2-40B4-BE49-F238E27FC236}">
                <ns2:creationId id="{37BD555B-6129-4D73-A3F3-07CB1473CE7F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独立位置真値付き観測で、変動幅・持続性・受信選択を確認</a:t>
            </a:r>
          </a:p>
        </p:txBody>
      </p:sp>
      <p:sp>
        <p:nvSpPr>
          <p:cNvPr id="10" name="">
            <a:extLst>
              <a:ext uri="{FF2B5EF4-FFF2-40B4-BE49-F238E27FC236}">
                <ns2:creationId id="{B17876F6-9F5E-4370-8529-FD6AD5FA1FA1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長期・非同時評価の拡張</a:t>
            </a:r>
          </a:p>
        </p:txBody>
      </p:sp>
      <p:sp>
        <p:nvSpPr>
          <p:cNvPr id="11" name="">
            <a:extLst>
              <a:ext uri="{FF2B5EF4-FFF2-40B4-BE49-F238E27FC236}">
                <ns2:creationId id="{549606FF-E1EB-4F85-9631-1AD977B5C163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同一軌跡の地域横断、件数・時間幅の掃引、同名送信機の混入</a:t>
            </a:r>
          </a:p>
        </p:txBody>
      </p:sp>
      <p:sp>
        <p:nvSpPr>
          <p:cNvPr id="12" name="">
            <a:extLst>
              <a:ext uri="{FF2B5EF4-FFF2-40B4-BE49-F238E27FC236}">
                <ns2:creationId id="{A77AC225-08CB-43C7-80BE-E64993DAD879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追加証拠との組合せ</a:t>
            </a:r>
          </a:p>
        </p:txBody>
      </p:sp>
      <p:sp>
        <p:nvSpPr>
          <p:cNvPr id="13" name="">
            <a:extLst>
              <a:ext uri="{FF2B5EF4-FFF2-40B4-BE49-F238E27FC236}">
                <ns2:creationId id="{0B8B2D5F-2793-4078-BEED-63797594DECB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方向・画像等の独立観測が制約する未知量とコストの比較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5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補足：単一RSSIの推定モデル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距離精度が改善しても、自由電力の識別不能性は解消しない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b7eb555-e0a8-501c-8910-263fe9fc2b2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45</a:t>
            </a:fld>
          </a:p>
        </p:txBody>
      </p:sp>
      <p:sp>
        <p:nvSpPr>
          <p:cNvPr id="8" name="">
            <a:extLst>
              <a:ext uri="{FF2B5EF4-FFF2-40B4-BE49-F238E27FC236}">
                <ns2:creationId id="{7B321226-386D-40A9-9DC8-E4F413FFF15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出典：mac-independent3d-20261101 / summary.json（独立した合成10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4C896924-E6F1-467B-AB73-0C9AA9E6828C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156461b207b24e66"/>
          </a:graphicData>
        </a:graphic>
      </p:graphicFrame>
      <p:sp>
        <p:nvSpPr>
          <p:cNvPr id="10" name="">
            <a:extLst>
              <a:ext uri="{FF2B5EF4-FFF2-40B4-BE49-F238E27FC236}">
                <ns2:creationId id="{3FAC3925-6C45-421F-89DB-300807DBFD2A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事前分布・学習済み条件の下での性能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同じ機体を複数ノードが通過観測する評価とは別の実験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6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補足：実測残差による雑音ストレス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小さい独立ガウス雑音の仮定は、楽観的になる場合がある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4319fa2-a8d5-5f5b-8f57-0664d5873c3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46</a:t>
            </a:fld>
          </a:p>
        </p:txBody>
      </p:sp>
      <p:sp>
        <p:nvSpPr>
          <p:cNvPr id="8" name="">
            <a:extLst>
              <a:ext uri="{FF2B5EF4-FFF2-40B4-BE49-F238E27FC236}">
                <ns2:creationId id="{02123952-8288-4510-A037-024998E97E8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empirical_sync-summary.csv（屋内BLE残差を仮想リンクへ注入）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31985F21-CEAB-4FA5-B281-6111479CC480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e59225a59cc94c25"/>
          </a:graphicData>
        </a:graphic>
      </p:graphicFrame>
      <p:sp>
        <p:nvSpPr>
          <p:cNvPr id="10" name="">
            <a:extLst>
              <a:ext uri="{FF2B5EF4-FFF2-40B4-BE49-F238E27FC236}">
                <ns2:creationId id="{10D7E669-1BE2-44EA-A063-4AEF410667BC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実測残差を各仮想リンクに独立に抽出した評価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屋外UAV・複数受信機の同時実測の性能ではない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7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補足：個別モデルの学習汚染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誤った距離ラベルへの頑健化にも限界がある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590cb06-66d9-56be-84b9-fd7beed7a38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47</a:t>
            </a:fld>
          </a:p>
        </p:txBody>
      </p:sp>
      <p:sp>
        <p:nvSpPr>
          <p:cNvPr id="8" name="">
            <a:extLst>
              <a:ext uri="{FF2B5EF4-FFF2-40B4-BE49-F238E27FC236}">
                <ns2:creationId id="{A8A21253-ED00-45AF-ADF7-631854F69DC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poisoning-summary.csv（合成10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90B005A7-7062-44DB-9663-274CFDF9D745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8cd2a1e178fe4251"/>
          </a:graphicData>
        </a:graphic>
      </p:graphicFrame>
      <p:sp>
        <p:nvSpPr>
          <p:cNvPr id="10" name="">
            <a:extLst>
              <a:ext uri="{FF2B5EF4-FFF2-40B4-BE49-F238E27FC236}">
                <ns2:creationId id="{EFA0E478-34C0-4C2B-B06D-AD5469AB53D1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外部の共通学習データは保護されている仮定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誤ラベルが過半数になる場合まで防御できるわけではない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8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補足：過去情報とモデル失効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電力や環境が長く安定すると誤ると、区間を過信する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7a9ccde-2b4c-5630-bfd7-5e7c69a505a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48</a:t>
            </a:fld>
          </a:p>
        </p:txBody>
      </p:sp>
      <p:sp>
        <p:nvSpPr>
          <p:cNvPr id="8" name="">
            <a:extLst>
              <a:ext uri="{FF2B5EF4-FFF2-40B4-BE49-F238E27FC236}">
                <ns2:creationId id="{FEFE8918-1EF4-4266-9385-B0214B47462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time_mismatch-summary.csv（合成10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589CEA20-416F-430A-A538-EABBAD94E716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1c50b344715f4699"/>
          </a:graphicData>
        </a:graphic>
      </p:graphicFrame>
      <p:sp>
        <p:nvSpPr>
          <p:cNvPr id="10" name="">
            <a:extLst>
              <a:ext uri="{FF2B5EF4-FFF2-40B4-BE49-F238E27FC236}">
                <ns2:creationId id="{DB426080-668F-43C7-A428-8279E95618A0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1日安定と誤ると、包含率は約60.8%まで低下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この相関時間は仮定であり、実UAVで推定した値ではない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9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補足：追加欠測と観測窓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受信済みの観測を失うと、固定件数の窓は古くなる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7186f32-5669-5e98-b419-4d7dd0520ae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49</a:t>
            </a:fld>
          </a:p>
        </p:txBody>
      </p:sp>
      <p:sp>
        <p:nvSpPr>
          <p:cNvPr id="8" name="">
            <a:extLst>
              <a:ext uri="{FF2B5EF4-FFF2-40B4-BE49-F238E27FC236}">
                <ns2:creationId id="{D7C44232-335A-4FAC-A717-43BEF7A157D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出典：mac-public-lora-20261101 / dropout-summary.csv（実測系列からの人工削除）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97473BFF-05A5-4EC2-94FA-024543F0345A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828e641e88284c09"/>
          </a:graphicData>
        </a:graphic>
      </p:graphicFrame>
      <p:sp>
        <p:nvSpPr>
          <p:cNvPr id="10" name="">
            <a:extLst>
              <a:ext uri="{FF2B5EF4-FFF2-40B4-BE49-F238E27FC236}">
                <ns2:creationId id="{27585AE2-E197-4A97-BA79-00655DB2918A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元々のRF損失率は不明。受信済み記録を追加で削除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完全ブロックが作れない例を、誤差ゼロにしていない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5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補足：データ・実装・出典の対応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入力の版と集計CSVを残し、実測と合成を分離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d5a68e3-e7c0-5b2c-bd89-176485e7242a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50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19377966-1E70-440E-A6E3-E5A93228C7E7}"/>
              </a:ext>
            </a:extLst>
          </p:cNvPr>
          <p:cNvGraphicFramePr/>
          <p:nvPr/>
        </p:nvGraphicFramePr>
        <p:xfrm>
          <a:off x="400050" y="1524000"/>
          <a:ext cx="8343900" cy="3524250"/>
        </p:xfrm>
        <a:graphic>
          <a:graphicData uri="http://schemas.openxmlformats.org/drawingml/2006/table">
            <a:tbl>
              <a:tblPr/>
              <a:tblGrid>
                <a:gridCol w="1905000"/>
                <a:gridCol w="6438900"/>
              </a:tblGrid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対象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入力・集計の所在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公開BLE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固定版 b38a9a4 / mac-recheck-20261101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公開LoRa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Zenodo 17339095 v2 / mac-public-lora-20261101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共通軌跡の合成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event_scenarios_config.json / mac-event-scenarios-20261101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学習等の合成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mac-sensitivity-20261101-v2 / mac-robustness-20261101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確認できないもの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認証が必要なICMCIS本体、別チャットの元ZIP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ED6D7D59-FBDD-45B7-88A0-6C8455BB88EB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取得できないデータを、再現済みの実験として使用しない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2026-11-01T14:23:44.5570000Z</dcterms:created>
  <dcterms:modified xsi:type="dcterms:W3CDTF">2026-11-01T14:23:44.5570000Z</dcterms:modified>
</coreProperties>
</file>