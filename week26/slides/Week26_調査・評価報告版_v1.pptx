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charts/chart2.xml" ContentType="application/vnd.openxmlformats-officedocument.drawingml.chart+xml"/>
  <Override PartName="/ppt/slides/slide16.xml" ContentType="application/vnd.openxmlformats-officedocument.presentationml.slide+xml"/>
  <Override PartName="/ppt/slides/charts/chart3.xml" ContentType="application/vnd.openxmlformats-officedocument.drawingml.chart+xml"/>
  <Override PartName="/ppt/slides/slide17.xml" ContentType="application/vnd.openxmlformats-officedocument.presentationml.slide+xml"/>
  <Override PartName="/ppt/slides/charts/chart4.xml" ContentType="application/vnd.openxmlformats-officedocument.drawingml.chart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charts/chart5.xml" ContentType="application/vnd.openxmlformats-officedocument.drawingml.chart+xml"/>
  <Override PartName="/ppt/slides/slide20.xml" ContentType="application/vnd.openxmlformats-officedocument.presentationml.slide+xml"/>
  <Override PartName="/ppt/slides/charts/chart6.xml" ContentType="application/vnd.openxmlformats-officedocument.drawingml.chart+xml"/>
  <Override PartName="/ppt/slides/slide21.xml" ContentType="application/vnd.openxmlformats-officedocument.presentationml.slide+xml"/>
  <Override PartName="/ppt/slides/charts/chart7.xml" ContentType="application/vnd.openxmlformats-officedocument.drawingml.chart+xml"/>
  <Override PartName="/ppt/slides/slide22.xml" ContentType="application/vnd.openxmlformats-officedocument.presentationml.slide+xml"/>
  <Override PartName="/ppt/slides/charts/chart8.xml" ContentType="application/vnd.openxmlformats-officedocument.drawingml.chart+xml"/>
  <Override PartName="/ppt/slides/slide23.xml" ContentType="application/vnd.openxmlformats-officedocument.presentationml.slide+xml"/>
  <Override PartName="/ppt/slides/charts/chart9.xml" ContentType="application/vnd.openxmlformats-officedocument.drawingml.chart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charts/chart10.xml" ContentType="application/vnd.openxmlformats-officedocument.drawingml.chart+xml"/>
  <Override PartName="/ppt/slides/slide27.xml" ContentType="application/vnd.openxmlformats-officedocument.presentationml.slide+xml"/>
  <Override PartName="/ppt/slides/charts/chart11.xml" ContentType="application/vnd.openxmlformats-officedocument.drawingml.chart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charts/chart12.xml" ContentType="application/vnd.openxmlformats-officedocument.drawingml.chart+xml"/>
  <Override PartName="/ppt/slides/slide32.xml" ContentType="application/vnd.openxmlformats-officedocument.presentationml.slide+xml"/>
  <Override PartName="/ppt/slides/charts/chart13.xml" ContentType="application/vnd.openxmlformats-officedocument.drawingml.chart+xml"/>
  <Override PartName="/ppt/slides/slide33.xml" ContentType="application/vnd.openxmlformats-officedocument.presentationml.slide+xml"/>
  <Override PartName="/ppt/slides/charts/chart14.xml" ContentType="application/vnd.openxmlformats-officedocument.drawingml.chart+xml"/>
  <Override PartName="/ppt/slides/slide34.xml" ContentType="application/vnd.openxmlformats-officedocument.presentationml.slide+xml"/>
  <Override PartName="/ppt/slides/charts/chart15.xml" ContentType="application/vnd.openxmlformats-officedocument.drawingml.chart+xml"/>
  <Override PartName="/ppt/slides/slide35.xml" ContentType="application/vnd.openxmlformats-officedocument.presentationml.slide+xml"/>
  <Override PartName="/ppt/slides/charts/chart16.xml" ContentType="application/vnd.openxmlformats-officedocument.drawingml.chart+xml"/>
  <Override PartName="/ppt/slides/slide36.xml" ContentType="application/vnd.openxmlformats-officedocument.presentationml.slide+xml"/>
  <Default Extension="xlsx" ContentType="application/vnd.openxmlformats-officedocument.spreadsheetml.sheet"/>
</Types>
</file>

<file path=_rels/.rels><?xml version='1.0' encoding='utf-8'?>
<ns0:Relationships xmlns:ns0="http://schemas.openxmlformats.org/package/2006/relationships"><ns0:Relationship Type="http://schemas.openxmlformats.org/package/2006/relationships/metadata/core-properties" Target="/docProps/core.xml" Id="Rfe570136886248c3" /><ns0:Relationship Type="http://schemas.openxmlformats.org/officeDocument/2006/relationships/extended-properties" Target="/docProps/app.xml" Id="Re35e9e018daf401d" /><ns0:Relationship Type="http://schemas.openxmlformats.org/officeDocument/2006/relationships/officeDocument" Target="/ppt/presentation.xml" Id="Rf9490678030543fd" /></ns0:Relationships>
</file>

<file path=ppt/presentation.xml><?xml version="1.0" encoding="utf-8"?>
<p:presentation xmlns:a="http://schemas.openxmlformats.org/drawingml/2006/main" xmlns:ns1="http://schemas.openxmlformats.org/officeDocument/2006/relationships" xmlns:p="http://schemas.openxmlformats.org/presentationml/2006/main">
  <p:sldMasterIdLst>
    <p:sldMasterId id="2147483648" ns1:id="R5c9d962ec1b74c42"/>
  </p:sldMasterIdLst>
  <p:sldIdLst>
    <p:sldId id="256" ns1:id="R96c1c166d79b4b43"/>
    <p:sldId id="257" ns1:id="Rb6e92598f02542b7"/>
    <p:sldId id="258" ns1:id="Rba0fc59394514b1f"/>
    <p:sldId id="259" ns1:id="R4b2f2a4a5f2d427e"/>
    <p:sldId id="260" ns1:id="Rd90a13ad6c1e49d4"/>
    <p:sldId id="261" ns1:id="R15759e51b3b54d75"/>
    <p:sldId id="262" ns1:id="Rf7566ea4fb2b45fc"/>
    <p:sldId id="263" ns1:id="Reff04e8b067d4f15"/>
    <p:sldId id="264" ns1:id="R9e43f62c5efb4fa9"/>
    <p:sldId id="265" ns1:id="R61d96f7549fe4fbd"/>
    <p:sldId id="266" ns1:id="R79264a75f93a4df1"/>
    <p:sldId id="267" ns1:id="Redd57a0f84b64903"/>
    <p:sldId id="268" ns1:id="R629bcfade71240a7"/>
    <p:sldId id="269" ns1:id="Rf9e682c1370e4259"/>
    <p:sldId id="270" ns1:id="Re527fc29915746f2"/>
    <p:sldId id="271" ns1:id="R29b2b4cc23554598"/>
    <p:sldId id="272" ns1:id="R25aa7f34f3d14c62"/>
    <p:sldId id="273" ns1:id="Ra26045287ffc4776"/>
    <p:sldId id="274" ns1:id="Rfe2e8241a8f9437e"/>
    <p:sldId id="275" ns1:id="Rcb19932467174ce6"/>
    <p:sldId id="276" ns1:id="R315e5e75657f4df0"/>
    <p:sldId id="277" ns1:id="R19167aaadb1b40f0"/>
    <p:sldId id="278" ns1:id="R4f38017d5d514b03"/>
    <p:sldId id="279" ns1:id="R8589ae81dc7944da"/>
    <p:sldId id="280" ns1:id="R56b304b683e9406f"/>
    <p:sldId id="281" ns1:id="R322f5b2cacc4488d"/>
    <p:sldId id="282" ns1:id="R9d203dfa071b48ff"/>
    <p:sldId id="283" ns1:id="R51ee3aa690974da3"/>
    <p:sldId id="284" ns1:id="R97f64d0608be4026"/>
    <p:sldId id="285" ns1:id="R4bb0739596e04cc6"/>
    <p:sldId id="286" ns1:id="R14f5c3207fb14d29"/>
    <p:sldId id="287" ns1:id="R997bdfcf5a2443ac"/>
    <p:sldId id="288" ns1:id="R09dbae5c0ed1493c"/>
    <p:sldId id="289" ns1:id="Ra0b912b9e37640ba"/>
    <p:sldId id="290" ns1:id="R078cc4e3247548c7"/>
    <p:sldId id="291" ns1:id="R169ea664706b49f9"/>
  </p:sldIdLst>
  <p:sldSz cx="9144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43f847f2a36840a7" /><ns0:Relationship Type="http://schemas.openxmlformats.org/officeDocument/2006/relationships/slideMaster" Target="/ppt/slideMasters/slideMaster1.xml" Id="R5c9d962ec1b74c42" /><ns0:Relationship Type="http://schemas.openxmlformats.org/officeDocument/2006/relationships/presProps" Target="/ppt/presProps.xml" Id="Re5b64e1793514d3a" /><ns0:Relationship Type="http://schemas.openxmlformats.org/officeDocument/2006/relationships/viewProps" Target="/ppt/viewProps.xml" Id="R290727e57da1434f" /><ns0:Relationship Type="http://schemas.openxmlformats.org/officeDocument/2006/relationships/tableStyles" Target="/ppt/tableStyles.xml" Id="Rb77cfb078ad44123" /><ns0:Relationship Type="http://schemas.openxmlformats.org/officeDocument/2006/relationships/slide" Target="/ppt/slides/slide1.xml" Id="R96c1c166d79b4b43" /><ns0:Relationship Type="http://schemas.openxmlformats.org/officeDocument/2006/relationships/slide" Target="/ppt/slides/slide2.xml" Id="Rb6e92598f02542b7" /><ns0:Relationship Type="http://schemas.openxmlformats.org/officeDocument/2006/relationships/slide" Target="/ppt/slides/slide3.xml" Id="Rba0fc59394514b1f" /><ns0:Relationship Type="http://schemas.openxmlformats.org/officeDocument/2006/relationships/slide" Target="/ppt/slides/slide4.xml" Id="R4b2f2a4a5f2d427e" /><ns0:Relationship Type="http://schemas.openxmlformats.org/officeDocument/2006/relationships/slide" Target="/ppt/slides/slide5.xml" Id="Rd90a13ad6c1e49d4" /><ns0:Relationship Type="http://schemas.openxmlformats.org/officeDocument/2006/relationships/slide" Target="/ppt/slides/slide6.xml" Id="R15759e51b3b54d75" /><ns0:Relationship Type="http://schemas.openxmlformats.org/officeDocument/2006/relationships/slide" Target="/ppt/slides/slide7.xml" Id="Rf7566ea4fb2b45fc" /><ns0:Relationship Type="http://schemas.openxmlformats.org/officeDocument/2006/relationships/slide" Target="/ppt/slides/slide8.xml" Id="Reff04e8b067d4f15" /><ns0:Relationship Type="http://schemas.openxmlformats.org/officeDocument/2006/relationships/slide" Target="/ppt/slides/slide9.xml" Id="R9e43f62c5efb4fa9" /><ns0:Relationship Type="http://schemas.openxmlformats.org/officeDocument/2006/relationships/slide" Target="/ppt/slides/slide10.xml" Id="R61d96f7549fe4fbd" /><ns0:Relationship Type="http://schemas.openxmlformats.org/officeDocument/2006/relationships/slide" Target="/ppt/slides/slide11.xml" Id="R79264a75f93a4df1" /><ns0:Relationship Type="http://schemas.openxmlformats.org/officeDocument/2006/relationships/slide" Target="/ppt/slides/slide12.xml" Id="Redd57a0f84b64903" /><ns0:Relationship Type="http://schemas.openxmlformats.org/officeDocument/2006/relationships/slide" Target="/ppt/slides/slide13.xml" Id="R629bcfade71240a7" /><ns0:Relationship Type="http://schemas.openxmlformats.org/officeDocument/2006/relationships/slide" Target="/ppt/slides/slide14.xml" Id="Rf9e682c1370e4259" /><ns0:Relationship Type="http://schemas.openxmlformats.org/officeDocument/2006/relationships/slide" Target="/ppt/slides/slide15.xml" Id="Re527fc29915746f2" /><ns0:Relationship Type="http://schemas.openxmlformats.org/officeDocument/2006/relationships/slide" Target="/ppt/slides/slide16.xml" Id="R29b2b4cc23554598" /><ns0:Relationship Type="http://schemas.openxmlformats.org/officeDocument/2006/relationships/slide" Target="/ppt/slides/slide17.xml" Id="R25aa7f34f3d14c62" /><ns0:Relationship Type="http://schemas.openxmlformats.org/officeDocument/2006/relationships/slide" Target="/ppt/slides/slide18.xml" Id="Ra26045287ffc4776" /><ns0:Relationship Type="http://schemas.openxmlformats.org/officeDocument/2006/relationships/slide" Target="/ppt/slides/slide19.xml" Id="Rfe2e8241a8f9437e" /><ns0:Relationship Type="http://schemas.openxmlformats.org/officeDocument/2006/relationships/slide" Target="/ppt/slides/slide20.xml" Id="Rcb19932467174ce6" /><ns0:Relationship Type="http://schemas.openxmlformats.org/officeDocument/2006/relationships/slide" Target="/ppt/slides/slide21.xml" Id="R315e5e75657f4df0" /><ns0:Relationship Type="http://schemas.openxmlformats.org/officeDocument/2006/relationships/slide" Target="/ppt/slides/slide22.xml" Id="R19167aaadb1b40f0" /><ns0:Relationship Type="http://schemas.openxmlformats.org/officeDocument/2006/relationships/slide" Target="/ppt/slides/slide23.xml" Id="R4f38017d5d514b03" /><ns0:Relationship Type="http://schemas.openxmlformats.org/officeDocument/2006/relationships/slide" Target="/ppt/slides/slide24.xml" Id="R8589ae81dc7944da" /><ns0:Relationship Type="http://schemas.openxmlformats.org/officeDocument/2006/relationships/slide" Target="/ppt/slides/slide25.xml" Id="R56b304b683e9406f" /><ns0:Relationship Type="http://schemas.openxmlformats.org/officeDocument/2006/relationships/slide" Target="/ppt/slides/slide26.xml" Id="R322f5b2cacc4488d" /><ns0:Relationship Type="http://schemas.openxmlformats.org/officeDocument/2006/relationships/slide" Target="/ppt/slides/slide27.xml" Id="R9d203dfa071b48ff" /><ns0:Relationship Type="http://schemas.openxmlformats.org/officeDocument/2006/relationships/slide" Target="/ppt/slides/slide28.xml" Id="R51ee3aa690974da3" /><ns0:Relationship Type="http://schemas.openxmlformats.org/officeDocument/2006/relationships/slide" Target="/ppt/slides/slide29.xml" Id="R97f64d0608be4026" /><ns0:Relationship Type="http://schemas.openxmlformats.org/officeDocument/2006/relationships/slide" Target="/ppt/slides/slide30.xml" Id="R4bb0739596e04cc6" /><ns0:Relationship Type="http://schemas.openxmlformats.org/officeDocument/2006/relationships/slide" Target="/ppt/slides/slide31.xml" Id="R14f5c3207fb14d29" /><ns0:Relationship Type="http://schemas.openxmlformats.org/officeDocument/2006/relationships/slide" Target="/ppt/slides/slide32.xml" Id="R997bdfcf5a2443ac" /><ns0:Relationship Type="http://schemas.openxmlformats.org/officeDocument/2006/relationships/slide" Target="/ppt/slides/slide33.xml" Id="R09dbae5c0ed1493c" /><ns0:Relationship Type="http://schemas.openxmlformats.org/officeDocument/2006/relationships/slide" Target="/ppt/slides/slide34.xml" Id="Ra0b912b9e37640ba" /><ns0:Relationship Type="http://schemas.openxmlformats.org/officeDocument/2006/relationships/slide" Target="/ppt/slides/slide35.xml" Id="R078cc4e3247548c7" /><ns0:Relationship Type="http://schemas.openxmlformats.org/officeDocument/2006/relationships/slide" Target="/ppt/slides/slide36.xml" Id="R169ea664706b49f9" /></ns0:Relationships>
</file>

<file path=ppt/slideLayouts/_rels/slideLayout1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b215e2910b1b4c64" /></ns0:Relationships>
</file>

<file path=ppt/slideLayouts/_rels/slideLayout2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cfee01db89c94c5b" /></ns0:Relationships>
</file>

<file path=ppt/slideLayouts/_rels/slideLayout3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28485449adc04077" /></ns0:Relationships>
</file>

<file path=ppt/slideLayouts/_rels/slideLayout4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75758768f49f4f0d" /></ns0:Relationships>
</file>

<file path=ppt/slideLayouts/_rels/slideLayout5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b9f3a0822e874bb7" /></ns0:Relationships>
</file>

<file path=ppt/slideLayouts/_rels/slideLayout6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1d788f2c1c824145" /></ns0:Relationships>
</file>

<file path=ppt/slideLayouts/_rels/slideLayout7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895d757d79364ce6" /></ns0:Relationships>
</file>

<file path=ppt/slideLayouts/_rels/slideLayout8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767e0f342aa94db8" /></ns0:Relationships>
</file>

<file path=ppt/slideLayouts/_rels/slideLayout9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4f30bca389f04802" /></ns0:Relationships>
</file>

<file path=ppt/slideLayouts/_rels/slideLayout10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13660d9dcd65464a" /></ns0:Relationships>
</file>

<file path=ppt/slideLayouts/_rels/slideLayout11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a3e358fe523e4981" /></ns0: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1A3DC9-DA24-4A9A-8756-7A7D29D4C4B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8F90811-AA72-4B3A-A33B-1AE11FAFEE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EC16364-86CA-4728-B217-B376008CBB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DBF6169-4B87-414F-ACBE-D5889A1B47A0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5A182AC-24F0-4218-8AEB-A45FF68A22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CE96D-4DC6-4894-BAD6-44067E9D8B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2ABE3D-7530-4717-A298-38B53DEF72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912944-E2DD-4306-B5E8-29F31EE5D21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BCED062-3A99-4666-8457-27A9728F8C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D8E8B8-C7E4-4618-ABC3-C399B7CCEC0D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9588733-8A28-44C9-A6BB-5F124CD1FB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7EB0B2A-1A4A-4C16-AF0B-C1AB8E1409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076D84-672C-447D-AA0B-5F3B458CD8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195AEDB-D3E1-4F02-9B02-0773BF0A8A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16C3BEE-701C-4F80-8624-83E9388959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C23AE2-2BBD-4FC2-B528-0BF2C1EBC75B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DBC5B5-573C-4218-8628-AC45C3E58A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DC7663-F10E-44C8-94E3-1336202FBC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486DAB-6AA6-48CC-9EED-B9A9092C69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EAE6064-C9B0-4ED2-B836-773BFC88D9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58C39F0-1E1A-46F5-9AB6-E9CC3CAF55D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EFA5277-58AD-4200-9E49-D13B9CD7A7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DCF949-C1A3-4258-9A96-1DB5EE6F9CB2}" type="datetime1">
              <a:t>2026/10/19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E9FD05B-7E99-476D-85CD-AAC406532E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234D22A-46DC-4B00-8323-B3B250E474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91324C-86BD-407E-BD4B-7FDC35D2AF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2C5FAD-98DF-4ECF-93D6-F37194FED7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3364E0E-1C37-42E5-AC1B-4419747A05D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9175CB9-53DB-4CA8-9F84-9326531E9C9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15166CE-C91C-4429-852B-97E101969C2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9D49DDF-62F2-46E2-8D03-C387761C2D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8AFE064-A27A-41A2-B430-44850FEBCE26}" type="datetime1">
              <a:t>2026/10/19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9257547-E9ED-4D33-BBA7-65E9A46A5A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717A970-5F74-4493-AA93-9BECC400AD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2197A6-EB07-40F6-9412-372DF04F9A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15F0C53-06F1-421A-8254-534DFE03F6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B04457F-2123-4F1E-BC61-D6013C4605FE}" type="datetime1">
              <a:t>2026/10/19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2E0BE3F-892B-4CCE-A466-55793FE876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E502C12-168B-4E2A-AB2D-AF951B8ECB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FABD391-129E-437A-B419-B228529244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F44EDF-6DC3-458C-A3A9-8D69B7CABB26}" type="datetime1">
              <a:t>2026/10/19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C03395A-02F5-45BE-AFA6-75904AFFEC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A13C7B6-DCC5-462D-A739-3E4B882B90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F60529A-30ED-4EB1-BCEB-F66554F22A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9F47707-8EBD-4D88-A69A-71476BA3A02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6F7417-5E33-4BA4-BA7C-3992D0A75A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E46CA97-00D8-4224-A4BC-64A94AA244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4DDA704-12F4-46A3-A7C0-1069ADB40368}" type="datetime1">
              <a:t>2026/10/19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AC187D0-D0C3-4B59-88DD-7B2DF8D1E6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B504547-5A52-4444-A6A7-1F3FF93CD3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5F784C-269F-45F7-97AF-A45A3B1578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267C6B7-4096-4FA8-BE60-8C0FB5B6C2A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C78E12F-6B6A-45EC-AC12-8418DAB2AE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DF6F7A-E43C-48EA-8065-66050F3A83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6F2CB-8729-4C62-8C45-F10C053FAA70}" type="datetime1">
              <a:t>2026/10/19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70C4305-4E63-45A5-BE01-994ED191BF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35BE83D-C2A9-45C9-BBBD-0AF7D83EEF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C32461-FD17-4F35-8E54-06FDD2DF34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4CB851B-9832-4A6A-8699-423DAF73E4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F9F71B-F8D3-4B77-8C3A-703806346C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B1EAB77-6B53-47FF-89A2-6BC308EE4FAC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9B9FC0-BB91-43F1-8857-877726A93B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CD9A64-E61C-4280-8BA2-4668230ECE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9B453B3-5B2D-4CD2-A820-75C4C4AC7B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D88D68-5D37-4894-9DA0-853DBE3F32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4398DAF-7712-4AA5-B943-36BC70A584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BAB984-F660-4238-ACB0-EABC8C45DF5C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B692F1-4417-4A24-B468-A8B59FAB56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6A97B2-962C-4960-8F60-D111531BB7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?>
<ns0:Relationships xmlns:ns0="http://schemas.openxmlformats.org/package/2006/relationships"><ns0:Relationship Type="http://schemas.openxmlformats.org/officeDocument/2006/relationships/theme" Target="/ppt/slideMasters/theme/theme2.xml" Id="Re06fec03683a4ced" /><ns0:Relationship Type="http://schemas.openxmlformats.org/officeDocument/2006/relationships/slideLayout" Target="/ppt/slideLayouts/slideLayout1.xml" Id="R30b04704e6724819" /><ns0:Relationship Type="http://schemas.openxmlformats.org/officeDocument/2006/relationships/slideLayout" Target="/ppt/slideLayouts/slideLayout2.xml" Id="Rfdcb3351367e4674" /><ns0:Relationship Type="http://schemas.openxmlformats.org/officeDocument/2006/relationships/slideLayout" Target="/ppt/slideLayouts/slideLayout3.xml" Id="Rd390995641454c13" /><ns0:Relationship Type="http://schemas.openxmlformats.org/officeDocument/2006/relationships/slideLayout" Target="/ppt/slideLayouts/slideLayout4.xml" Id="R00f8951da7444a89" /><ns0:Relationship Type="http://schemas.openxmlformats.org/officeDocument/2006/relationships/slideLayout" Target="/ppt/slideLayouts/slideLayout5.xml" Id="Rf0e528e14aa3415b" /><ns0:Relationship Type="http://schemas.openxmlformats.org/officeDocument/2006/relationships/slideLayout" Target="/ppt/slideLayouts/slideLayout6.xml" Id="Re8d64028de2245d8" /><ns0:Relationship Type="http://schemas.openxmlformats.org/officeDocument/2006/relationships/slideLayout" Target="/ppt/slideLayouts/slideLayout7.xml" Id="R7edba7ac13b04968" /><ns0:Relationship Type="http://schemas.openxmlformats.org/officeDocument/2006/relationships/slideLayout" Target="/ppt/slideLayouts/slideLayout8.xml" Id="R506939c1c15648c6" /><ns0:Relationship Type="http://schemas.openxmlformats.org/officeDocument/2006/relationships/slideLayout" Target="/ppt/slideLayouts/slideLayout9.xml" Id="Re965ec6f5fd84543" /><ns0:Relationship Type="http://schemas.openxmlformats.org/officeDocument/2006/relationships/slideLayout" Target="/ppt/slideLayouts/slideLayout10.xml" Id="R98865010dd6643c3" /><ns0:Relationship Type="http://schemas.openxmlformats.org/officeDocument/2006/relationships/slideLayout" Target="/ppt/slideLayouts/slideLayout11.xml" Id="Rc849b2faf7ac42b2" /></ns0: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F6BCEC0-DDFA-411A-B5DA-1CC0BCBB50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A73F9A6-4572-46F5-A03D-D149C45D32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FD56ABA-F6C1-49B5-94F4-0D239C9EC09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6F986E7-C570-46E9-AAFE-601416D6D202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359F38-C746-4A0A-AABE-DB27610D310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76228C8-4BE7-4A46-847A-30E670EA4F8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b04704e6724819"/>
    <p:sldLayoutId xmlns:r="http://schemas.openxmlformats.org/officeDocument/2006/relationships" id="2147483650" r:id="Rfdcb3351367e4674"/>
    <p:sldLayoutId xmlns:r="http://schemas.openxmlformats.org/officeDocument/2006/relationships" id="2147483651" r:id="Rd390995641454c13"/>
    <p:sldLayoutId xmlns:r="http://schemas.openxmlformats.org/officeDocument/2006/relationships" id="2147483652" r:id="R00f8951da7444a89"/>
    <p:sldLayoutId xmlns:r="http://schemas.openxmlformats.org/officeDocument/2006/relationships" id="2147483653" r:id="Rf0e528e14aa3415b"/>
    <p:sldLayoutId xmlns:r="http://schemas.openxmlformats.org/officeDocument/2006/relationships" id="2147483654" r:id="Re8d64028de2245d8"/>
    <p:sldLayoutId xmlns:r="http://schemas.openxmlformats.org/officeDocument/2006/relationships" id="2147483655" r:id="R7edba7ac13b04968"/>
    <p:sldLayoutId xmlns:r="http://schemas.openxmlformats.org/officeDocument/2006/relationships" id="2147483656" r:id="R506939c1c15648c6"/>
    <p:sldLayoutId xmlns:r="http://schemas.openxmlformats.org/officeDocument/2006/relationships" id="2147483657" r:id="Re965ec6f5fd84543"/>
    <p:sldLayoutId xmlns:r="http://schemas.openxmlformats.org/officeDocument/2006/relationships" id="2147483658" r:id="R98865010dd6643c3"/>
    <p:sldLayoutId xmlns:r="http://schemas.openxmlformats.org/officeDocument/2006/relationships" id="2147483659" r:id="Rc849b2faf7ac42b2"/>
  </p:sldLayoutIdLst>
  <p:hf hdr="0" ftr="0" dt="0"/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2d0c14ebaac4cfd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8ddc0c7ac35e4aaa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b8e374897d574316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cc46f19e89d1402b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c12b53edcca84455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8d7ae87665f14843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c4f90ba40e3b414a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7f61d62e38514196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5e664fc369004ecc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4eb2d2e27f61413b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ac02d2b70e664524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530f176754cb425b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9e5ba6c76704e1a" /><ns0:Relationship Type="http://schemas.openxmlformats.org/officeDocument/2006/relationships/chart" Target="/ppt/slides/charts/chart1.xml" Id="Recd5521570ab4bdb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b0a1816fb72b4d9b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3293835d71354757" /><ns0:Relationship Type="http://schemas.openxmlformats.org/officeDocument/2006/relationships/chart" Target="/ppt/slides/charts/chart2.xml" Id="R05eb140e12594b58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de2ff71c73ee40ee" /><ns0:Relationship Type="http://schemas.openxmlformats.org/officeDocument/2006/relationships/chart" Target="/ppt/slides/charts/chart3.xml" Id="R75653c2be2154440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31e4825c83c4707" /><ns0:Relationship Type="http://schemas.openxmlformats.org/officeDocument/2006/relationships/chart" Target="/ppt/slides/charts/chart4.xml" Id="R211bb82328514d18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af2ef28b0bbc4f22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4346c6ed916f4dba" /><ns0:Relationship Type="http://schemas.openxmlformats.org/officeDocument/2006/relationships/chart" Target="/ppt/slides/charts/chart5.xml" Id="Rbec9e34da03345b5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fa553c10c31b4187" /><ns0:Relationship Type="http://schemas.openxmlformats.org/officeDocument/2006/relationships/chart" Target="/ppt/slides/charts/chart6.xml" Id="R5843aded6d57470f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8a8ec5f8bc649a0" /><ns0:Relationship Type="http://schemas.openxmlformats.org/officeDocument/2006/relationships/chart" Target="/ppt/slides/charts/chart7.xml" Id="R8da6cce4999346f6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d4033ea3257c49a1" /><ns0:Relationship Type="http://schemas.openxmlformats.org/officeDocument/2006/relationships/chart" Target="/ppt/slides/charts/chart8.xml" Id="R9404ec1dceb94e62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72951c4669c34d32" /><ns0:Relationship Type="http://schemas.openxmlformats.org/officeDocument/2006/relationships/chart" Target="/ppt/slides/charts/chart9.xml" Id="R3ab46d596e8b4731" /></ns0:Relationships>
</file>

<file path=ppt/slides/_rels/slide2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3df5320af0534f06" /></ns0:Relationships>
</file>

<file path=ppt/slides/_rels/slide2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7d0dfb8b3df434c" /></ns0:Relationships>
</file>

<file path=ppt/slides/_rels/slide2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084948125326442c" /><ns0:Relationship Type="http://schemas.openxmlformats.org/officeDocument/2006/relationships/chart" Target="/ppt/slides/charts/chart10.xml" Id="Rf1662501a50a4ef8" /></ns0:Relationships>
</file>

<file path=ppt/slides/_rels/slide2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c18bfa2952404219" /><ns0:Relationship Type="http://schemas.openxmlformats.org/officeDocument/2006/relationships/chart" Target="/ppt/slides/charts/chart11.xml" Id="Rb4c133eba80147fa" /></ns0:Relationships>
</file>

<file path=ppt/slides/_rels/slide2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7afa4699c2be40e1" /></ns0:Relationships>
</file>

<file path=ppt/slides/_rels/slide2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a632229201e544b5" /></ns0:Relationships>
</file>

<file path=ppt/slides/_rels/slide3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bcce2bb0167b4fe7" /></ns0:Relationships>
</file>

<file path=ppt/slides/_rels/slide3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89bf3a731f554c21" /><ns0:Relationship Type="http://schemas.openxmlformats.org/officeDocument/2006/relationships/chart" Target="/ppt/slides/charts/chart12.xml" Id="R1e9fa73b816b4f5f" /></ns0:Relationships>
</file>

<file path=ppt/slides/_rels/slide3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c7e7f5f1099d4988" /><ns0:Relationship Type="http://schemas.openxmlformats.org/officeDocument/2006/relationships/chart" Target="/ppt/slides/charts/chart13.xml" Id="Rafe2d03975b64eb9" /></ns0:Relationships>
</file>

<file path=ppt/slides/_rels/slide3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b6f65165e2c4126" /><ns0:Relationship Type="http://schemas.openxmlformats.org/officeDocument/2006/relationships/chart" Target="/ppt/slides/charts/chart14.xml" Id="R0b4cfd4e3728499d" /></ns0:Relationships>
</file>

<file path=ppt/slides/_rels/slide3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dad9b30839d545d5" /><ns0:Relationship Type="http://schemas.openxmlformats.org/officeDocument/2006/relationships/chart" Target="/ppt/slides/charts/chart15.xml" Id="R687b0e6bf49a4e42" /></ns0:Relationships>
</file>

<file path=ppt/slides/_rels/slide3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60c734ed79f8449c" /><ns0:Relationship Type="http://schemas.openxmlformats.org/officeDocument/2006/relationships/chart" Target="/ppt/slides/charts/chart16.xml" Id="R4cb313f29dee4433" /></ns0:Relationships>
</file>

<file path=ppt/slides/_rels/slide3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e5c3a56e6444ef0" /></ns0: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出力設定差と、RSSI中央値差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出力設定差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−8 → −4dBm</c:v>
                </c:pt>
                <c:pt idx="1">
                  <c:v>−4 → 0dBm</c:v>
                </c:pt>
                <c:pt idx="2">
                  <c:v>−8 → 0dBm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4</c:v>
                </c:pt>
                <c:pt idx="1">
                  <c:v>4</c:v>
                </c:pt>
                <c:pt idx="2">
                  <c:v>8</c:v>
                </c:pt>
              </c:numCache>
            </c:numRef>
          </c:val>
        </c:ser>
        <c:ser>
          <c:idx val="1"/>
          <c:order val="1"/>
          <c:tx>
            <c:v>RSSI中央値差</c:v>
          </c:tx>
          <c:spPr>
            <a:solidFill xmlns:a="http://schemas.openxmlformats.org/drawingml/2006/main">
              <a:srgbClr val="8CA7C3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Data'!$C$2:$C$4</c:f>
              <c:strCache>
                <c:ptCount val="3"/>
                <c:pt idx="0">
                  <c:v>−8 → −4dBm</c:v>
                </c:pt>
                <c:pt idx="1">
                  <c:v>−4 → 0dBm</c:v>
                </c:pt>
                <c:pt idx="2">
                  <c:v>−8 → 0dBm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2</c:v>
                </c:pt>
                <c:pt idx="1">
                  <c:v>2.5</c:v>
                </c:pt>
                <c:pt idx="2">
                  <c:v>4.75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差（dB）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中央値集約と距離誤差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RSSI距離モデル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1件</c:v>
                </c:pt>
                <c:pt idx="1">
                  <c:v>5件</c:v>
                </c:pt>
                <c:pt idx="2">
                  <c:v>20件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36.964504</c:v>
                </c:pt>
                <c:pt idx="1">
                  <c:v>35.844867</c:v>
                </c:pt>
                <c:pt idx="2">
                  <c:v>34.52214</c:v>
                </c:pt>
              </c:numCache>
            </c:numRef>
          </c:val>
        </c:ser>
        <c:ser>
          <c:idx val="1"/>
          <c:order val="1"/>
          <c:tx>
            <c:v>RSSIなし・学習距離中央値</c:v>
          </c:tx>
          <c:spPr>
            <a:solidFill xmlns:a="http://schemas.openxmlformats.org/drawingml/2006/main">
              <a:srgbClr val="8CA7C3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Data'!$C$2:$C$4</c:f>
              <c:strCache>
                <c:ptCount val="3"/>
                <c:pt idx="0">
                  <c:v>1件</c:v>
                </c:pt>
                <c:pt idx="1">
                  <c:v>5件</c:v>
                </c:pt>
                <c:pt idx="2">
                  <c:v>20件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35.833465</c:v>
                </c:pt>
                <c:pt idx="1">
                  <c:v>35.835567</c:v>
                </c:pt>
                <c:pt idx="2">
                  <c:v>35.90814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距離近似値に対するMAE（m）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RSSIの古さと正常誤警報率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正常誤警報率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0秒</c:v>
                </c:pt>
                <c:pt idx="1">
                  <c:v>1秒</c:v>
                </c:pt>
                <c:pt idx="2">
                  <c:v>5秒</c:v>
                </c:pt>
                <c:pt idx="3">
                  <c:v>15秒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4.868765</c:v>
                </c:pt>
                <c:pt idx="1">
                  <c:v>5.658682</c:v>
                </c:pt>
                <c:pt idx="2">
                  <c:v>10.656232</c:v>
                </c:pt>
                <c:pt idx="3">
                  <c:v>23.22114</c:v>
                </c:pt>
              </c:numCache>
            </c:numRef>
          </c: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正常誤警報率（%）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共通の架空軌跡と5台配置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観測ノード</c:v>
          </c:tx>
          <c:spPr>
            <a:ln xmlns:a="http://schemas.openxmlformats.org/drawingml/2006/main" w="0">
              <a:noFill/>
            </a:ln>
          </c:spPr>
          <c:marker>
            <c:symbol val="square"/>
            <c:size val="9"/>
            <c:spPr>
              <a:solidFill xmlns:a="http://schemas.openxmlformats.org/drawingml/2006/main">
                <a:srgbClr val="2F64A1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-100</c:v>
                </c:pt>
                <c:pt idx="1">
                  <c:v>85</c:v>
                </c:pt>
                <c:pt idx="2">
                  <c:v>110</c:v>
                </c:pt>
                <c:pt idx="3">
                  <c:v>-80</c:v>
                </c:pt>
                <c:pt idx="4">
                  <c:v>10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-70</c:v>
                </c:pt>
                <c:pt idx="1">
                  <c:v>-90</c:v>
                </c:pt>
                <c:pt idx="2">
                  <c:v>80</c:v>
                </c:pt>
                <c:pt idx="3">
                  <c:v>110</c:v>
                </c:pt>
                <c:pt idx="4">
                  <c:v>15</c:v>
                </c:pt>
              </c:numCache>
            </c:numRef>
          </c:yVal>
        </c:ser>
        <c:ser>
          <c:idx val="1"/>
          <c:order val="1"/>
          <c:tx>
            <c:v>機体の軌跡例</c:v>
          </c:tx>
          <c:spPr>
            <a:ln xmlns:a="http://schemas.openxmlformats.org/drawingml/2006/main" w="19050">
              <a:solidFill>
                <a:srgbClr val="8CA7C3"/>
              </a:solidFill>
            </a:ln>
          </c:spPr>
          <c:marker>
            <c:symbol val="none"/>
          </c:marker>
          <c:xVal>
            <c:numRef>
              <c:f>'Chart Data'!$C$2:$C$41</c:f>
              <c:numCache>
                <c:formatCode>General</c:formatCode>
                <c:ptCount val="40"/>
                <c:pt idx="0">
                  <c:v>-36.514435</c:v>
                </c:pt>
                <c:pt idx="1">
                  <c:v>-32.245529</c:v>
                </c:pt>
                <c:pt idx="2">
                  <c:v>-28.033721</c:v>
                </c:pt>
                <c:pt idx="3">
                  <c:v>-23.934693</c:v>
                </c:pt>
                <c:pt idx="4">
                  <c:v>-20.001325</c:v>
                </c:pt>
                <c:pt idx="5">
                  <c:v>-16.282384</c:v>
                </c:pt>
                <c:pt idx="6">
                  <c:v>-12.821314</c:v>
                </c:pt>
                <c:pt idx="7">
                  <c:v>-9.655155</c:v>
                </c:pt>
                <c:pt idx="8">
                  <c:v>-6.813625</c:v>
                </c:pt>
                <c:pt idx="9">
                  <c:v>-4.318382</c:v>
                </c:pt>
                <c:pt idx="10">
                  <c:v>-2.182485</c:v>
                </c:pt>
                <c:pt idx="11">
                  <c:v>-0.410072</c:v>
                </c:pt>
                <c:pt idx="12">
                  <c:v>1.003744</c:v>
                </c:pt>
                <c:pt idx="13">
                  <c:v>2.072757</c:v>
                </c:pt>
                <c:pt idx="14">
                  <c:v>2.819317</c:v>
                </c:pt>
                <c:pt idx="15">
                  <c:v>3.273786</c:v>
                </c:pt>
                <c:pt idx="16">
                  <c:v>3.473773</c:v>
                </c:pt>
                <c:pt idx="17">
                  <c:v>3.463209</c:v>
                </c:pt>
                <c:pt idx="18">
                  <c:v>3.291252</c:v>
                </c:pt>
                <c:pt idx="19">
                  <c:v>3.011068</c:v>
                </c:pt>
                <c:pt idx="20">
                  <c:v>2.678509</c:v>
                </c:pt>
                <c:pt idx="21">
                  <c:v>2.350728</c:v>
                </c:pt>
                <c:pt idx="22">
                  <c:v>2.084758</c:v>
                </c:pt>
                <c:pt idx="23">
                  <c:v>1.936101</c:v>
                </c:pt>
                <c:pt idx="24">
                  <c:v>1.957342</c:v>
                </c:pt>
                <c:pt idx="25">
                  <c:v>2.19685</c:v>
                </c:pt>
                <c:pt idx="26">
                  <c:v>2.697573</c:v>
                </c:pt>
                <c:pt idx="27">
                  <c:v>3.495976</c:v>
                </c:pt>
                <c:pt idx="28">
                  <c:v>4.621128</c:v>
                </c:pt>
                <c:pt idx="29">
                  <c:v>6.093991</c:v>
                </c:pt>
                <c:pt idx="30">
                  <c:v>7.926888</c:v>
                </c:pt>
                <c:pt idx="31">
                  <c:v>10.123207</c:v>
                </c:pt>
                <c:pt idx="32">
                  <c:v>12.677308</c:v>
                </c:pt>
                <c:pt idx="33">
                  <c:v>15.574673</c:v>
                </c:pt>
                <c:pt idx="34">
                  <c:v>18.792255</c:v>
                </c:pt>
                <c:pt idx="35">
                  <c:v>22.299061</c:v>
                </c:pt>
                <c:pt idx="36">
                  <c:v>26.056915</c:v>
                </c:pt>
                <c:pt idx="37">
                  <c:v>30.021407</c:v>
                </c:pt>
                <c:pt idx="38">
                  <c:v>34.142996</c:v>
                </c:pt>
                <c:pt idx="39">
                  <c:v>38.368242</c:v>
                </c:pt>
              </c:numCache>
            </c:numRef>
          </c:xVal>
          <c:yVal>
            <c:numRef>
              <c:f>'Chart Data'!$D$2:$D$41</c:f>
              <c:numCache>
                <c:formatCode>General</c:formatCode>
                <c:ptCount val="40"/>
                <c:pt idx="0">
                  <c:v>176.27929</c:v>
                </c:pt>
                <c:pt idx="1">
                  <c:v>167.972208</c:v>
                </c:pt>
                <c:pt idx="2">
                  <c:v>159.652378</c:v>
                </c:pt>
                <c:pt idx="3">
                  <c:v>151.307369</c:v>
                </c:pt>
                <c:pt idx="4">
                  <c:v>142.925375</c:v>
                </c:pt>
                <c:pt idx="5">
                  <c:v>134.495507</c:v>
                </c:pt>
                <c:pt idx="6">
                  <c:v>126.008067</c:v>
                </c:pt>
                <c:pt idx="7">
                  <c:v>117.454785</c:v>
                </c:pt>
                <c:pt idx="8">
                  <c:v>108.829026</c:v>
                </c:pt>
                <c:pt idx="9">
                  <c:v>100.125955</c:v>
                </c:pt>
                <c:pt idx="10">
                  <c:v>91.342657</c:v>
                </c:pt>
                <c:pt idx="11">
                  <c:v>82.478206</c:v>
                </c:pt>
                <c:pt idx="12">
                  <c:v>73.533696</c:v>
                </c:pt>
                <c:pt idx="13">
                  <c:v>64.512204</c:v>
                </c:pt>
                <c:pt idx="14">
                  <c:v>55.418722</c:v>
                </c:pt>
                <c:pt idx="15">
                  <c:v>46.260026</c:v>
                </c:pt>
                <c:pt idx="16">
                  <c:v>37.044516</c:v>
                </c:pt>
                <c:pt idx="17">
                  <c:v>27.781997</c:v>
                </c:pt>
                <c:pt idx="18">
                  <c:v>18.483446</c:v>
                </c:pt>
                <c:pt idx="19">
                  <c:v>9.160732</c:v>
                </c:pt>
                <c:pt idx="20">
                  <c:v>-0.173675</c:v>
                </c:pt>
                <c:pt idx="21">
                  <c:v>-9.507015</c:v>
                </c:pt>
                <c:pt idx="22">
                  <c:v>-18.826556</c:v>
                </c:pt>
                <c:pt idx="23">
                  <c:v>-28.119905</c:v>
                </c:pt>
                <c:pt idx="24">
                  <c:v>-37.375323</c:v>
                </c:pt>
                <c:pt idx="25">
                  <c:v>-46.58201</c:v>
                </c:pt>
                <c:pt idx="26">
                  <c:v>-55.730378</c:v>
                </c:pt>
                <c:pt idx="27">
                  <c:v>-64.812286</c:v>
                </c:pt>
                <c:pt idx="28">
                  <c:v>-73.821244</c:v>
                </c:pt>
                <c:pt idx="29">
                  <c:v>-82.752572</c:v>
                </c:pt>
                <c:pt idx="30">
                  <c:v>-91.603519</c:v>
                </c:pt>
                <c:pt idx="31">
                  <c:v>-100.373328</c:v>
                </c:pt>
                <c:pt idx="32">
                  <c:v>-109.063258</c:v>
                </c:pt>
                <c:pt idx="33">
                  <c:v>-117.676551</c:v>
                </c:pt>
                <c:pt idx="34">
                  <c:v>-126.218352</c:v>
                </c:pt>
                <c:pt idx="35">
                  <c:v>-134.695581</c:v>
                </c:pt>
                <c:pt idx="36">
                  <c:v>-143.116761</c:v>
                </c:pt>
                <c:pt idx="37">
                  <c:v>-151.491807</c:v>
                </c:pt>
                <c:pt idx="38">
                  <c:v>-159.831779</c:v>
                </c:pt>
                <c:pt idx="39">
                  <c:v>-168.148609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0"/>
          <c:min val="-2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latin typeface="Hiragino Kaku Gothic ProN W3"/>
                    <a:ea typeface="Hiragino Kaku Gothic ProN W3"/>
                    <a:cs typeface="Hiragino Kaku Gothic ProN W3"/>
                  </a:rPr>
                  <a:t>南北（m）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</c:valAx>
      <c:valAx>
        <c:axId val="48650112"/>
        <c:scaling>
          <c:orientation val="minMax"/>
          <c:max val="200"/>
          <c:min val="-20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latin typeface="Hiragino Kaku Gothic ProN W3"/>
                    <a:ea typeface="Hiragino Kaku Gothic ProN W3"/>
                    <a:cs typeface="Hiragino Kaku Gothic ProN W3"/>
                  </a:rPr>
                  <a:t>東西（m）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同一送信を5台受信・雑音SD2dB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正常への警報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正常</c:v>
                </c:pt>
                <c:pt idx="1">
                  <c:v>電力 +16dB</c:v>
                </c:pt>
                <c:pt idx="2">
                  <c:v>送信ごとに追加変動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4.984722</c:v>
                </c:pt>
                <c:pt idx="1">
                  <c:v>4.984722</c:v>
                </c:pt>
                <c:pt idx="2">
                  <c:v>4.984722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正常時の誤警報率（%）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独立リンク雑音 SD2dB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2台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5.041667</c:v>
                </c:pt>
                <c:pt idx="1">
                  <c:v>5.756944</c:v>
                </c:pt>
                <c:pt idx="2">
                  <c:v>11.458333</c:v>
                </c:pt>
                <c:pt idx="3">
                  <c:v>20.329167</c:v>
                </c:pt>
                <c:pt idx="4">
                  <c:v>37.595833</c:v>
                </c:pt>
              </c:numCache>
            </c:numRef>
          </c:yVal>
          <c:smooth val="0"/>
        </c:ser>
        <c:ser>
          <c:idx val="1"/>
          <c:order val="1"/>
          <c:tx>
            <c:v>3台</c:v>
          </c:tx>
          <c:spPr>
            <a:solidFill xmlns:a="http://schemas.openxmlformats.org/drawingml/2006/main">
              <a:srgbClr val="8CA7C3"/>
            </a:solidFill>
            <a:ln xmlns:a="http://schemas.openxmlformats.org/drawingml/2006/main" w="19050">
              <a:solidFill>
                <a:srgbClr val="8CA7C3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xVal>
          <c:yVal>
            <c:numRef>
              <c:f>'Chart Data'!$D$2:$D$6</c:f>
              <c:numCache>
                <c:formatCode>0</c:formatCode>
                <c:ptCount val="5"/>
                <c:pt idx="0">
                  <c:v>4.958333</c:v>
                </c:pt>
                <c:pt idx="1">
                  <c:v>5.968056</c:v>
                </c:pt>
                <c:pt idx="2">
                  <c:v>14.276389</c:v>
                </c:pt>
                <c:pt idx="3">
                  <c:v>28.965278</c:v>
                </c:pt>
                <c:pt idx="4">
                  <c:v>56.893056</c:v>
                </c:pt>
              </c:numCache>
            </c:numRef>
          </c:yVal>
          <c:smooth val="0"/>
        </c:ser>
        <c:ser>
          <c:idx val="2"/>
          <c:order val="2"/>
          <c:tx>
            <c:v>5台</c:v>
          </c:tx>
          <c:spPr>
            <a:solidFill xmlns:a="http://schemas.openxmlformats.org/drawingml/2006/main">
              <a:srgbClr val="E02B2B"/>
            </a:solidFill>
            <a:ln xmlns:a="http://schemas.openxmlformats.org/drawingml/2006/main" w="19050">
              <a:solidFill>
                <a:srgbClr val="E02B2B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Data'!$E$2:$E$6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xVal>
          <c:yVal>
            <c:numRef>
              <c:f>'Chart Data'!$F$2:$F$6</c:f>
              <c:numCache>
                <c:formatCode>0</c:formatCode>
                <c:ptCount val="5"/>
                <c:pt idx="0">
                  <c:v>4.984722</c:v>
                </c:pt>
                <c:pt idx="1">
                  <c:v>6.334722</c:v>
                </c:pt>
                <c:pt idx="2">
                  <c:v>19.522222</c:v>
                </c:pt>
                <c:pt idx="3">
                  <c:v>41.658333</c:v>
                </c:pt>
                <c:pt idx="4">
                  <c:v>73.677778</c:v>
                </c:pt>
              </c:numCache>
            </c:numRef>
          </c:y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majorUnit val="20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水平位置の改変量（m）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独立リンク雑音 SD6dB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2台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5.009722</c:v>
                </c:pt>
                <c:pt idx="1">
                  <c:v>5.119444</c:v>
                </c:pt>
                <c:pt idx="2">
                  <c:v>5.813889</c:v>
                </c:pt>
                <c:pt idx="3">
                  <c:v>7.047222</c:v>
                </c:pt>
                <c:pt idx="4">
                  <c:v>11.248611</c:v>
                </c:pt>
              </c:numCache>
            </c:numRef>
          </c:yVal>
          <c:smooth val="0"/>
        </c:ser>
        <c:ser>
          <c:idx val="1"/>
          <c:order val="1"/>
          <c:tx>
            <c:v>3台</c:v>
          </c:tx>
          <c:spPr>
            <a:solidFill xmlns:a="http://schemas.openxmlformats.org/drawingml/2006/main">
              <a:srgbClr val="8CA7C3"/>
            </a:solidFill>
            <a:ln xmlns:a="http://schemas.openxmlformats.org/drawingml/2006/main" w="19050">
              <a:solidFill>
                <a:srgbClr val="8CA7C3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xVal>
          <c:yVal>
            <c:numRef>
              <c:f>'Chart Data'!$D$2:$D$6</c:f>
              <c:numCache>
                <c:formatCode>0</c:formatCode>
                <c:ptCount val="5"/>
                <c:pt idx="0">
                  <c:v>4.902778</c:v>
                </c:pt>
                <c:pt idx="1">
                  <c:v>5.034722</c:v>
                </c:pt>
                <c:pt idx="2">
                  <c:v>5.913889</c:v>
                </c:pt>
                <c:pt idx="3">
                  <c:v>7.866667</c:v>
                </c:pt>
                <c:pt idx="4">
                  <c:v>14.541667</c:v>
                </c:pt>
              </c:numCache>
            </c:numRef>
          </c:yVal>
          <c:smooth val="0"/>
        </c:ser>
        <c:ser>
          <c:idx val="2"/>
          <c:order val="2"/>
          <c:tx>
            <c:v>5台</c:v>
          </c:tx>
          <c:spPr>
            <a:solidFill xmlns:a="http://schemas.openxmlformats.org/drawingml/2006/main">
              <a:srgbClr val="E02B2B"/>
            </a:solidFill>
            <a:ln xmlns:a="http://schemas.openxmlformats.org/drawingml/2006/main" w="19050">
              <a:solidFill>
                <a:srgbClr val="E02B2B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Data'!$E$2:$E$6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xVal>
          <c:yVal>
            <c:numRef>
              <c:f>'Chart Data'!$F$2:$F$6</c:f>
              <c:numCache>
                <c:formatCode>0</c:formatCode>
                <c:ptCount val="5"/>
                <c:pt idx="0">
                  <c:v>4.875</c:v>
                </c:pt>
                <c:pt idx="1">
                  <c:v>5.019444</c:v>
                </c:pt>
                <c:pt idx="2">
                  <c:v>6.323611</c:v>
                </c:pt>
                <c:pt idx="3">
                  <c:v>9.018056</c:v>
                </c:pt>
                <c:pt idx="4">
                  <c:v>18.729167</c:v>
                </c:pt>
              </c:numCache>
            </c:numRef>
          </c:y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majorUnit val="20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水平位置の改変量（m）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雑音SD2dB・全送信を分母にした割合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不整合の警報</c:v>
          </c:tx>
          <c:spPr>
            <a:solidFill xmlns:a="http://schemas.openxmlformats.org/drawingml/2006/main">
              <a:srgbClr val="E02B2B"/>
            </a:solidFill>
          </c:spPr>
          <c:invertIfNegative val="0"/>
          <c:dLbls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75">
                    <a:solidFill>
                      <a:srgbClr val="FFFFFF"/>
                    </a:solidFill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常に5台</c:v>
                </c:pt>
                <c:pt idx="1">
                  <c:v>一部重複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73.677778</c:v>
                </c:pt>
                <c:pt idx="1">
                  <c:v>49.35</c:v>
                </c:pt>
              </c:numCache>
            </c:numRef>
          </c:val>
        </c:ser>
        <c:ser>
          <c:idx val="1"/>
          <c:order val="1"/>
          <c:tx>
            <c:v>警報なし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75">
                    <a:solidFill>
                      <a:srgbClr val="FFFFFF"/>
                    </a:solidFill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常に5台</c:v>
                </c:pt>
                <c:pt idx="1">
                  <c:v>一部重複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26.322222</c:v>
                </c:pt>
                <c:pt idx="1">
                  <c:v>27.756944</c:v>
                </c:pt>
              </c:numCache>
            </c:numRef>
          </c:val>
        </c:ser>
        <c:ser>
          <c:idx val="2"/>
          <c:order val="2"/>
          <c:tx>
            <c:v>判定保留</c:v>
          </c:tx>
          <c:spPr>
            <a:solidFill xmlns:a="http://schemas.openxmlformats.org/drawingml/2006/main">
              <a:srgbClr val="BDC5CF"/>
            </a:solidFill>
          </c:spPr>
          <c:invertIfNegative val="0"/>
          <c:dLbls>
            <c:dLbl>
              <c:idx val="0"/>
              <c:showVal val="0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75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Data'!$E$2:$E$3</c:f>
              <c:strCache>
                <c:ptCount val="2"/>
                <c:pt idx="0">
                  <c:v>常に5台</c:v>
                </c:pt>
                <c:pt idx="1">
                  <c:v>一部重複</c:v>
                </c:pt>
              </c:strCache>
            </c:strRef>
          </c:cat>
          <c:val>
            <c:numRef>
              <c:f>'Chart Data'!$F$2:$F$3</c:f>
              <c:numCache>
                <c:formatCode>0</c:formatCode>
                <c:ptCount val="2"/>
                <c:pt idx="0">
                  <c:v>0</c:v>
                </c:pt>
                <c:pt idx="1">
                  <c:v>22.893056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全送信に対する割合（%）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雑音SD2dB・正常データへの警報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飛行中の電力一定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Data'!$A$2:$A$6</c:f>
              <c:strCache>
                <c:ptCount val="5"/>
                <c:pt idx="0">
                  <c:v>0秒</c:v>
                </c:pt>
                <c:pt idx="1">
                  <c:v>0.5秒</c:v>
                </c:pt>
                <c:pt idx="2">
                  <c:v>1秒</c:v>
                </c:pt>
                <c:pt idx="3">
                  <c:v>5秒</c:v>
                </c:pt>
                <c:pt idx="4">
                  <c:v>15秒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4.953968</c:v>
                </c:pt>
                <c:pt idx="1">
                  <c:v>5.007937</c:v>
                </c:pt>
                <c:pt idx="2">
                  <c:v>5.25873</c:v>
                </c:pt>
                <c:pt idx="3">
                  <c:v>6.812698</c:v>
                </c:pt>
                <c:pt idx="4">
                  <c:v>21.553968</c:v>
                </c:pt>
              </c:numCache>
            </c:numRef>
          </c:val>
          <c:smooth val="0"/>
        </c:ser>
        <c:ser>
          <c:idx val="1"/>
          <c:order val="1"/>
          <c:tx>
            <c:v>送信ごとに変動 SD8dB</c:v>
          </c:tx>
          <c:spPr>
            <a:solidFill xmlns:a="http://schemas.openxmlformats.org/drawingml/2006/main">
              <a:srgbClr val="E02B2B"/>
            </a:solidFill>
            <a:ln xmlns:a="http://schemas.openxmlformats.org/drawingml/2006/main" w="19050">
              <a:solidFill>
                <a:srgbClr val="E02B2B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Data'!$C$2:$C$6</c:f>
              <c:strCache>
                <c:ptCount val="5"/>
                <c:pt idx="0">
                  <c:v>0秒</c:v>
                </c:pt>
                <c:pt idx="1">
                  <c:v>0.5秒</c:v>
                </c:pt>
                <c:pt idx="2">
                  <c:v>1秒</c:v>
                </c:pt>
                <c:pt idx="3">
                  <c:v>5秒</c:v>
                </c:pt>
                <c:pt idx="4">
                  <c:v>15秒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4.953968</c:v>
                </c:pt>
                <c:pt idx="1">
                  <c:v>67.126984</c:v>
                </c:pt>
                <c:pt idx="2">
                  <c:v>84.696825</c:v>
                </c:pt>
                <c:pt idx="3">
                  <c:v>95.738095</c:v>
                </c:pt>
                <c:pt idx="4">
                  <c:v>96.131746</c:v>
                </c:pt>
              </c:numCache>
            </c:numRef>
          </c: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正常誤警報率（%）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全4台のRSSIが一致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正常：高度80m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-88.363282</c:v>
                </c:pt>
                <c:pt idx="1">
                  <c:v>-88.363282</c:v>
                </c:pt>
                <c:pt idx="2">
                  <c:v>-88.363282</c:v>
                </c:pt>
                <c:pt idx="3">
                  <c:v>-88.363282</c:v>
                </c:pt>
              </c:numCache>
            </c:numRef>
          </c:val>
          <c:smooth val="0"/>
        </c:ser>
        <c:ser>
          <c:idx val="1"/>
          <c:order val="1"/>
          <c:tx>
            <c:v>偽装：高度20m</c:v>
          </c:tx>
          <c:spPr>
            <a:solidFill xmlns:a="http://schemas.openxmlformats.org/drawingml/2006/main">
              <a:srgbClr val="E02B2B"/>
            </a:solidFill>
            <a:ln xmlns:a="http://schemas.openxmlformats.org/drawingml/2006/main" w="19050">
              <a:solidFill>
                <a:srgbClr val="E02B2B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-88.363282</c:v>
                </c:pt>
                <c:pt idx="1">
                  <c:v>-88.363282</c:v>
                </c:pt>
                <c:pt idx="2">
                  <c:v>-88.363282</c:v>
                </c:pt>
                <c:pt idx="3">
                  <c:v>-88.363282</c:v>
                </c:pt>
              </c:numCache>
            </c:numRef>
          </c: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-86"/>
          <c:min val="-91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RSSI（dBm）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-91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30ラベル／RID・ID差SD6dB・飛行差SD1dB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共通モデル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通常の送信機</c:v>
                </c:pt>
                <c:pt idx="1">
                  <c:v>同じRIDを名乗る別送信機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41.352592</c:v>
                </c:pt>
                <c:pt idx="1">
                  <c:v>40.963708</c:v>
                </c:pt>
              </c:numCache>
            </c:numRef>
          </c:val>
        </c:ser>
        <c:ser>
          <c:idx val="1"/>
          <c:order val="1"/>
          <c:tx>
            <c:v>RID別補正</c:v>
          </c:tx>
          <c:spPr>
            <a:solidFill xmlns:a="http://schemas.openxmlformats.org/drawingml/2006/main">
              <a:srgbClr val="8CA7C3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通常の送信機</c:v>
                </c:pt>
                <c:pt idx="1">
                  <c:v>同じRIDを名乗る別送信機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19.165759</c:v>
                </c:pt>
                <c:pt idx="1">
                  <c:v>54.334929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距離MAE（m）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通常条件での距離推定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距離MAE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PathLoss</c:v>
                </c:pt>
                <c:pt idx="1">
                  <c:v>Bayesian</c:v>
                </c:pt>
                <c:pt idx="2">
                  <c:v>GP</c:v>
                </c:pt>
                <c:pt idx="3">
                  <c:v>MLP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56.616402</c:v>
                </c:pt>
                <c:pt idx="1">
                  <c:v>39.107837</c:v>
                </c:pt>
                <c:pt idx="2">
                  <c:v>25.598528</c:v>
                </c:pt>
                <c:pt idx="3">
                  <c:v>25.493642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距離MAE（m）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10受信機・100m改変の警報率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改変時の警報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ガウス SD2dB</c:v>
                </c:pt>
                <c:pt idx="1">
                  <c:v>RMSを合わせたガウス</c:v>
                </c:pt>
                <c:pt idx="2">
                  <c:v>屋内BLEの実測残差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85.821667</c:v>
                </c:pt>
                <c:pt idx="1">
                  <c:v>19.613333</c:v>
                </c:pt>
                <c:pt idx="2">
                  <c:v>10.415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距離ラベルを4倍に改変した場合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平均補正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Data'!$A$2:$A$6</c:f>
              <c:strCache>
                <c:ptCount val="5"/>
                <c:pt idx="0">
                  <c:v>0%</c:v>
                </c:pt>
                <c:pt idx="1">
                  <c:v>10%</c:v>
                </c:pt>
                <c:pt idx="2">
                  <c:v>30%</c:v>
                </c:pt>
                <c:pt idx="3">
                  <c:v>50%</c:v>
                </c:pt>
                <c:pt idx="4">
                  <c:v>70%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18.97681</c:v>
                </c:pt>
                <c:pt idx="1">
                  <c:v>22.809172</c:v>
                </c:pt>
                <c:pt idx="2">
                  <c:v>37.599058</c:v>
                </c:pt>
                <c:pt idx="3">
                  <c:v>62.24451</c:v>
                </c:pt>
                <c:pt idx="4">
                  <c:v>97.196241</c:v>
                </c:pt>
              </c:numCache>
            </c:numRef>
          </c:val>
          <c:smooth val="0"/>
        </c:ser>
        <c:ser>
          <c:idx val="1"/>
          <c:order val="1"/>
          <c:tx>
            <c:v>中央値補正</c:v>
          </c:tx>
          <c:spPr>
            <a:solidFill xmlns:a="http://schemas.openxmlformats.org/drawingml/2006/main">
              <a:srgbClr val="E02B2B"/>
            </a:solidFill>
            <a:ln xmlns:a="http://schemas.openxmlformats.org/drawingml/2006/main" w="19050">
              <a:solidFill>
                <a:srgbClr val="E02B2B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Data'!$C$2:$C$6</c:f>
              <c:strCache>
                <c:ptCount val="5"/>
                <c:pt idx="0">
                  <c:v>0%</c:v>
                </c:pt>
                <c:pt idx="1">
                  <c:v>10%</c:v>
                </c:pt>
                <c:pt idx="2">
                  <c:v>30%</c:v>
                </c:pt>
                <c:pt idx="3">
                  <c:v>50%</c:v>
                </c:pt>
                <c:pt idx="4">
                  <c:v>70%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19.03096</c:v>
                </c:pt>
                <c:pt idx="1">
                  <c:v>20.389678</c:v>
                </c:pt>
                <c:pt idx="2">
                  <c:v>26.901341</c:v>
                </c:pt>
                <c:pt idx="3">
                  <c:v>63.179677</c:v>
                </c:pt>
                <c:pt idx="4">
                  <c:v>125.857105</c:v>
                </c:pt>
              </c:numCache>
            </c:numRef>
          </c: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距離MAE（m）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真の相関時間10分・1時間後の予測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公称90%区間の実包含率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履歴なし</c:v>
                </c:pt>
                <c:pt idx="1">
                  <c:v>相関時間10分の仮定</c:v>
                </c:pt>
                <c:pt idx="2">
                  <c:v>相関時間1日の仮定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90.376667</c:v>
                </c:pt>
                <c:pt idx="1">
                  <c:v>90.38</c:v>
                </c:pt>
                <c:pt idx="2">
                  <c:v>60.823333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区間包含率（%）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20件集める時間幅の変化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ブロック時間幅の中央値平均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0%削除</c:v>
                </c:pt>
                <c:pt idx="1">
                  <c:v>25%削除</c:v>
                </c:pt>
                <c:pt idx="2">
                  <c:v>50%削除</c:v>
                </c:pt>
                <c:pt idx="3">
                  <c:v>75%削除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4.005437</c:v>
                </c:pt>
                <c:pt idx="1">
                  <c:v>5.317398</c:v>
                </c:pt>
                <c:pt idx="2">
                  <c:v>7.896351</c:v>
                </c:pt>
                <c:pt idx="3">
                  <c:v>13.163107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時間幅（秒）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タイトル 1">
            <a:extLst>
              <a:ext uri="{FF2B5EF4-FFF2-40B4-BE49-F238E27FC236}">
                <ns2:creationId id="{A3070B0B-1B8E-DD6E-A460-6271EC5FB3C9}"/>
              </a:ext>
            </a:extLst>
          </p:cNvPr>
          <p:cNvSpPr>
            <a:spLocks noGrp="1"/>
          </p:cNvSpPr>
          <p:nvPr>
            <p:ph type="ctrTitle" idx="0"/>
          </p:nvPr>
        </p:nvSpPr>
        <p:spPr>
          <a:xfrm>
            <a:off x="2187421" y="2248693"/>
            <a:ext cx="4769157" cy="1007269"/>
          </a:xfrm>
        </p:spPr>
        <p:txBody>
          <a:bodyPr>
            <a:normAutofit/>
          </a:bodyPr>
          <a:lstStyle/>
          <a:p>
            <a:r>
              <a:rPr sz="3600">
                <a:latin typeface="游ゴシック"/>
                <a:ea typeface="游ゴシック"/>
                <a:cs typeface="游ゴシック"/>
              </a:rPr>
              <a:t/>
            </a:r>
            <a:endParaRPr sz="3600">
              <a:latin typeface="游ゴシック"/>
              <a:ea typeface="游ゴシック"/>
              <a:cs typeface="游ゴシック"/>
            </a:endParaRPr>
          </a:p>
        </p:txBody>
      </p:sp>
      <p:sp>
        <p:nvSpPr>
          <p:cNvPr id="8" name="字幕 2">
            <a:extLst>
              <a:ext uri="{FF2B5EF4-FFF2-40B4-BE49-F238E27FC236}">
                <ns2:creationId id="{1A28CB50-14F2-13F1-4AF7-6099447C0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0229" y="3595638"/>
            <a:ext cx="6858000" cy="1655762"/>
          </a:xfrm>
        </p:spPr>
        <p:txBody>
          <a:bodyPr>
            <a:normAutofit/>
          </a:bodyPr>
          <a:lstStyle/>
          <a:p>
            <a:r>
              <a:rPr sz="2800">
                <a:solidFill>
                  <a:schemeClr val="tx1"/>
                </a:solidFill>
                <a:latin typeface="游ゴシック"/>
                <a:ea typeface="游ゴシック"/>
                <a:cs typeface="游ゴシック"/>
              </a:rPr>
              <a:t/>
            </a:r>
            <a:endParaRPr sz="2800">
              <a:solidFill>
                <a:schemeClr val="tx1"/>
              </a:solidFill>
              <a:latin typeface="游ゴシック"/>
              <a:ea typeface="游ゴシック"/>
              <a:cs typeface="游ゴシック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ns2:creationId id="{03E845AE-EA02-5977-B864-9A0429EB51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4fefffb-d81a-5b00-8875-a66ff2bbfd78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</a:t>
            </a:fld>
          </a:p>
        </p:txBody>
      </p:sp>
      <p:sp>
        <p:nvSpPr>
          <p:cNvPr id="9" name="">
            <a:extLst>
              <a:ext uri="{FF2B5EF4-FFF2-40B4-BE49-F238E27FC236}">
                <ns2:creationId id="{00DA8AAC-B99A-4E64-86E5-22001CB15068}"/>
              </a:ext>
            </a:extLst>
          </p:cNvPr>
          <p:cNvSpPr>
            <a:spLocks noGrp="1"/>
          </p:cNvSpPr>
          <p:nvPr/>
        </p:nvSpPr>
        <p:spPr>
          <a:xfrm>
            <a:off x="857250" y="2047875"/>
            <a:ext cx="7429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7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27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27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27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27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27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27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27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27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27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27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7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RSSIによる位置偽装検知の調査・評価</a:t>
            </a:r>
          </a:p>
        </p:txBody>
      </p:sp>
      <p:sp>
        <p:nvSpPr>
          <p:cNvPr id="10" name="">
            <a:extLst>
              <a:ext uri="{FF2B5EF4-FFF2-40B4-BE49-F238E27FC236}">
                <ns2:creationId id="{369F1019-3FAE-40A9-864B-26F6DC562634}"/>
              </a:ext>
            </a:extLst>
          </p:cNvPr>
          <p:cNvSpPr>
            <a:spLocks noGrp="1"/>
          </p:cNvSpPr>
          <p:nvPr/>
        </p:nvSpPr>
        <p:spPr>
          <a:xfrm>
            <a:off x="1524000" y="3714750"/>
            <a:ext cx="6096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20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20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20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20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20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20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20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20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20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20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進捗報告　第26回</a:t>
            </a:r>
          </a:p>
        </p:txBody>
      </p:sp>
      <p:sp>
        <p:nvSpPr>
          <p:cNvPr id="11" name="">
            <a:extLst>
              <a:ext uri="{FF2B5EF4-FFF2-40B4-BE49-F238E27FC236}">
                <ns2:creationId id="{E9E8EC20-E626-4990-B60C-74573540BE0C}"/>
              </a:ext>
            </a:extLst>
          </p:cNvPr>
          <p:cNvSpPr>
            <a:spLocks noGrp="1"/>
          </p:cNvSpPr>
          <p:nvPr/>
        </p:nvSpPr>
        <p:spPr>
          <a:xfrm>
            <a:off x="952500" y="4333875"/>
            <a:ext cx="7239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7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7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7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7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7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7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7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7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7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7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公開実測の再解析と複数ノードの合成評価</a:t>
            </a:r>
          </a:p>
        </p:txBody>
      </p:sp>
    </p:spTree>
    <p:extLst>
      <p:ext uri="{BB962C8B-B14F-4D97-AF65-F5344CB8AC3E}">
        <ns3:creationId val="477400704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目次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研究の前提、公開実測、複数ノード評価、到達点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2d41ca4d-ee07-5512-a523-a1bd040140d2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</a:t>
            </a:fld>
          </a:p>
        </p:txBody>
      </p:sp>
      <p:sp>
        <p:nvSpPr>
          <p:cNvPr id="8" name="">
            <a:extLst>
              <a:ext uri="{FF2B5EF4-FFF2-40B4-BE49-F238E27FC236}">
                <ns2:creationId id="{1A4517CD-E3FA-4BE0-897B-08FAC01AB6ED}"/>
              </a:ext>
            </a:extLst>
          </p:cNvPr>
          <p:cNvSpPr>
            <a:spLocks noGrp="1"/>
          </p:cNvSpPr>
          <p:nvPr/>
        </p:nvSpPr>
        <p:spPr>
          <a:xfrm>
            <a:off x="419100" y="15716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研究の問いと成立条件</a:t>
            </a:r>
          </a:p>
        </p:txBody>
      </p:sp>
      <p:sp>
        <p:nvSpPr>
          <p:cNvPr id="9" name="">
            <a:extLst>
              <a:ext uri="{FF2B5EF4-FFF2-40B4-BE49-F238E27FC236}">
                <ns2:creationId id="{279C6B6E-BB04-43F4-967B-4D1BBE91F526}"/>
              </a:ext>
            </a:extLst>
          </p:cNvPr>
          <p:cNvSpPr>
            <a:spLocks noGrp="1"/>
          </p:cNvSpPr>
          <p:nvPr/>
        </p:nvSpPr>
        <p:spPr>
          <a:xfrm>
            <a:off x="447675" y="1952625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位置と送信電力の曖昧さ、関連研究の前提</a:t>
            </a:r>
          </a:p>
        </p:txBody>
      </p:sp>
      <p:sp>
        <p:nvSpPr>
          <p:cNvPr id="10" name="">
            <a:extLst>
              <a:ext uri="{FF2B5EF4-FFF2-40B4-BE49-F238E27FC236}">
                <ns2:creationId id="{1142DF74-4687-4E99-8E70-320DBFB0CE8E}"/>
              </a:ext>
            </a:extLst>
          </p:cNvPr>
          <p:cNvSpPr>
            <a:spLocks noGrp="1"/>
          </p:cNvSpPr>
          <p:nvPr/>
        </p:nvSpPr>
        <p:spPr>
          <a:xfrm>
            <a:off x="419100" y="2649093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公開実測と合成評価</a:t>
            </a:r>
          </a:p>
        </p:txBody>
      </p:sp>
      <p:sp>
        <p:nvSpPr>
          <p:cNvPr id="11" name="">
            <a:extLst>
              <a:ext uri="{FF2B5EF4-FFF2-40B4-BE49-F238E27FC236}">
                <ns2:creationId id="{E8DC6B78-6E99-4960-9CAB-5591BC98DE04}"/>
              </a:ext>
            </a:extLst>
          </p:cNvPr>
          <p:cNvSpPr>
            <a:spLocks noGrp="1"/>
          </p:cNvSpPr>
          <p:nvPr/>
        </p:nvSpPr>
        <p:spPr>
          <a:xfrm>
            <a:off x="447675" y="3030093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BLE・LoRa再解析、複数ノードの検知率と限界</a:t>
            </a:r>
          </a:p>
        </p:txBody>
      </p:sp>
      <p:sp>
        <p:nvSpPr>
          <p:cNvPr id="12" name="">
            <a:extLst>
              <a:ext uri="{FF2B5EF4-FFF2-40B4-BE49-F238E27FC236}">
                <ns2:creationId id="{9A5C2C3F-BDB6-4E62-B985-86FEE0DF8B88}"/>
              </a:ext>
            </a:extLst>
          </p:cNvPr>
          <p:cNvSpPr>
            <a:spLocks noGrp="1"/>
          </p:cNvSpPr>
          <p:nvPr/>
        </p:nvSpPr>
        <p:spPr>
          <a:xfrm>
            <a:off x="419100" y="3726561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まとめと今後</a:t>
            </a:r>
          </a:p>
        </p:txBody>
      </p:sp>
      <p:sp>
        <p:nvSpPr>
          <p:cNvPr id="13" name="">
            <a:extLst>
              <a:ext uri="{FF2B5EF4-FFF2-40B4-BE49-F238E27FC236}">
                <ns2:creationId id="{10088909-FA97-451D-8311-3D7989CD19C8}"/>
              </a:ext>
            </a:extLst>
          </p:cNvPr>
          <p:cNvSpPr>
            <a:spLocks noGrp="1"/>
          </p:cNvSpPr>
          <p:nvPr/>
        </p:nvSpPr>
        <p:spPr>
          <a:xfrm>
            <a:off x="447675" y="4107561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検査できる条件と、実RIDで追加確認する事項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第26回の作業内容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位置偽装検知の前提から、再現可能な評価まで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63854ad9-d30f-5e0e-ab50-2b571a2b8cd4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A1A6CAAC-0992-47B4-A915-7A8AD1A5F3A0}"/>
              </a:ext>
            </a:extLst>
          </p:cNvPr>
          <p:cNvGraphicFramePr/>
          <p:nvPr/>
        </p:nvGraphicFramePr>
        <p:xfrm>
          <a:off x="400050" y="1524000"/>
          <a:ext cx="8343900" cy="3028950"/>
        </p:xfrm>
        <a:graphic>
          <a:graphicData uri="http://schemas.openxmlformats.org/drawingml/2006/table">
            <a:tbl>
              <a:tblPr/>
              <a:tblGrid>
                <a:gridCol w="1476375"/>
                <a:gridCol w="6867525"/>
              </a:tblGrid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区分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作業内容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調査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RSSI・未知電力・異時刻観測の成立条件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実測解析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公開BLE・UAV受信LoRaの取得と再解析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実装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共通軌跡・複数ノード・保留を含む判定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評価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位置改変、電力変更、雑音、時刻差、配置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資料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CSV・JSON・日本語図と結果の整理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BE90158D-F015-4793-8E16-ADEE8C80CB4A}"/>
              </a:ext>
            </a:extLst>
          </p:cNvPr>
          <p:cNvSpPr>
            <a:spLocks noGrp="1"/>
          </p:cNvSpPr>
          <p:nvPr/>
        </p:nvSpPr>
        <p:spPr>
          <a:xfrm>
            <a:off x="428625" y="533400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新しい実RID計測・ZKP回路の実装は今回の対象外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想定する位置偽装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施設周辺を通過する機体の「ここにいる」という申告を調べる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34c6298-1f63-58c1-92bd-20d8263638fa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4</a:t>
            </a:fld>
          </a:p>
        </p:txBody>
      </p:sp>
      <p:sp>
        <p:nvSpPr>
          <p:cNvPr id="8" name="">
            <a:extLst>
              <a:ext uri="{FF2B5EF4-FFF2-40B4-BE49-F238E27FC236}">
                <ns2:creationId id="{A7399797-3443-43A5-BED2-2C8CC09A3469}"/>
              </a:ext>
            </a:extLst>
          </p:cNvPr>
          <p:cNvSpPr>
            <a:spLocks noGrp="1"/>
          </p:cNvSpPr>
          <p:nvPr/>
        </p:nvSpPr>
        <p:spPr>
          <a:xfrm>
            <a:off x="666750" y="4238625"/>
            <a:ext cx="7620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地上の観測ノード</a:t>
            </a:r>
          </a:p>
        </p:txBody>
      </p:sp>
      <p:sp>
        <p:nvSpPr>
          <p:cNvPr id="9" name="">
            <a:extLst>
              <a:ext uri="{FF2B5EF4-FFF2-40B4-BE49-F238E27FC236}">
                <ns2:creationId id="{7506DD44-CEBB-4386-9699-900976D84460}"/>
              </a:ext>
            </a:extLst>
          </p:cNvPr>
          <p:cNvSpPr>
            <a:spLocks noGrp="1"/>
          </p:cNvSpPr>
          <p:nvPr/>
        </p:nvSpPr>
        <p:spPr>
          <a:xfrm>
            <a:off x="1362075" y="3857625"/>
            <a:ext cx="323850" cy="26670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99835444-7F59-4C93-A2AB-DA6ACC822CE9}"/>
              </a:ext>
            </a:extLst>
          </p:cNvPr>
          <p:cNvSpPr>
            <a:spLocks noGrp="1"/>
          </p:cNvSpPr>
          <p:nvPr/>
        </p:nvSpPr>
        <p:spPr>
          <a:xfrm>
            <a:off x="1381125" y="38862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rPr>
              <a:t>A</a:t>
            </a:r>
          </a:p>
        </p:txBody>
      </p:sp>
      <p:sp>
        <p:nvSpPr>
          <p:cNvPr id="11" name="">
            <a:extLst>
              <a:ext uri="{FF2B5EF4-FFF2-40B4-BE49-F238E27FC236}">
                <ns2:creationId id="{5CA28FE6-1579-4DE5-AD71-6C37B7659663}"/>
              </a:ext>
            </a:extLst>
          </p:cNvPr>
          <p:cNvSpPr>
            <a:spLocks noGrp="1"/>
          </p:cNvSpPr>
          <p:nvPr/>
        </p:nvSpPr>
        <p:spPr>
          <a:xfrm>
            <a:off x="4171950" y="3857625"/>
            <a:ext cx="323850" cy="26670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20B709E3-EC4B-42F4-90B4-7C850AEB80F3}"/>
              </a:ext>
            </a:extLst>
          </p:cNvPr>
          <p:cNvSpPr>
            <a:spLocks noGrp="1"/>
          </p:cNvSpPr>
          <p:nvPr/>
        </p:nvSpPr>
        <p:spPr>
          <a:xfrm>
            <a:off x="4191000" y="38862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rPr>
              <a:t>B</a:t>
            </a:r>
          </a:p>
        </p:txBody>
      </p:sp>
      <p:sp>
        <p:nvSpPr>
          <p:cNvPr id="13" name="">
            <a:extLst>
              <a:ext uri="{FF2B5EF4-FFF2-40B4-BE49-F238E27FC236}">
                <ns2:creationId id="{E5257FEB-D15F-4ECF-85D3-ED2DCD415CCF}"/>
              </a:ext>
            </a:extLst>
          </p:cNvPr>
          <p:cNvSpPr>
            <a:spLocks noGrp="1"/>
          </p:cNvSpPr>
          <p:nvPr/>
        </p:nvSpPr>
        <p:spPr>
          <a:xfrm>
            <a:off x="7077075" y="3857625"/>
            <a:ext cx="323850" cy="26670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CE061D03-41D2-4EEE-995D-C424764D3AB2}"/>
              </a:ext>
            </a:extLst>
          </p:cNvPr>
          <p:cNvSpPr>
            <a:spLocks noGrp="1"/>
          </p:cNvSpPr>
          <p:nvPr/>
        </p:nvSpPr>
        <p:spPr>
          <a:xfrm>
            <a:off x="7096125" y="38862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rPr>
              <a:t>C</a:t>
            </a:r>
          </a:p>
        </p:txBody>
      </p:sp>
      <p:sp>
        <p:nvSpPr>
          <p:cNvPr id="15" name="">
            <a:extLst>
              <a:ext uri="{FF2B5EF4-FFF2-40B4-BE49-F238E27FC236}">
                <ns2:creationId id="{12E9FE27-6F4E-40EB-B6BE-182FC013BE40}"/>
              </a:ext>
            </a:extLst>
          </p:cNvPr>
          <p:cNvSpPr>
            <a:spLocks noGrp="1"/>
          </p:cNvSpPr>
          <p:nvPr/>
        </p:nvSpPr>
        <p:spPr>
          <a:xfrm>
            <a:off x="3524250" y="1952625"/>
            <a:ext cx="190500" cy="190500"/>
          </a:xfrm>
          <a:prstGeom prst="ellipse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F2592FB4-374B-4689-8FE4-720E0D4E9890}"/>
              </a:ext>
            </a:extLst>
          </p:cNvPr>
          <p:cNvSpPr>
            <a:spLocks noGrp="1"/>
          </p:cNvSpPr>
          <p:nvPr/>
        </p:nvSpPr>
        <p:spPr>
          <a:xfrm>
            <a:off x="6381750" y="1952625"/>
            <a:ext cx="190500" cy="190500"/>
          </a:xfrm>
          <a:prstGeom prst="ellipse">
            <a:avLst/>
          </a:prstGeom>
          <a:solidFill>
            <a:srgbClr val="E02B2B"/>
          </a:solidFill>
          <a:ln w="0">
            <a:noFill/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CC517A1F-AF89-46D2-852E-0D13AB81DE64}"/>
              </a:ext>
            </a:extLst>
          </p:cNvPr>
          <p:cNvSpPr>
            <a:spLocks noGrp="1"/>
          </p:cNvSpPr>
          <p:nvPr/>
        </p:nvSpPr>
        <p:spPr>
          <a:xfrm>
            <a:off x="2619375" y="1590675"/>
            <a:ext cx="2000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実際の位置</a:t>
            </a:r>
          </a:p>
        </p:txBody>
      </p:sp>
      <p:sp>
        <p:nvSpPr>
          <p:cNvPr id="18" name="">
            <a:extLst>
              <a:ext uri="{FF2B5EF4-FFF2-40B4-BE49-F238E27FC236}">
                <ns2:creationId id="{3C885C0C-0BA2-4D6B-85CD-BBF69E3CDB2E}"/>
              </a:ext>
            </a:extLst>
          </p:cNvPr>
          <p:cNvSpPr>
            <a:spLocks noGrp="1"/>
          </p:cNvSpPr>
          <p:nvPr/>
        </p:nvSpPr>
        <p:spPr>
          <a:xfrm>
            <a:off x="5381625" y="1590675"/>
            <a:ext cx="219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rPr>
              <a:t>RIDの申告位置</a:t>
            </a:r>
          </a:p>
        </p:txBody>
      </p:sp>
      <p:sp>
        <p:nvSpPr>
          <p:cNvPr id="19" name="">
            <a:extLst>
              <a:ext uri="{FF2B5EF4-FFF2-40B4-BE49-F238E27FC236}">
                <ns2:creationId id="{E232FAB8-1B6E-4615-9D4A-72235A4A4F42}"/>
              </a:ext>
            </a:extLst>
          </p:cNvPr>
          <p:cNvSpPr>
            <a:spLocks noGrp="1"/>
          </p:cNvSpPr>
          <p:nvPr/>
        </p:nvSpPr>
        <p:spPr>
          <a:xfrm>
            <a:off x="3762375" y="2047875"/>
            <a:ext cx="2524125" cy="953"/>
          </a:xfrm>
          <a:prstGeom prst="line">
            <a:avLst/>
          </a:prstGeom>
          <a:noFill/>
          <a:ln w="19050">
            <a:solidFill>
              <a:srgbClr val="E02B2B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852D773F-1969-4A28-BC84-782F09EE4E2D}"/>
              </a:ext>
            </a:extLst>
          </p:cNvPr>
          <p:cNvSpPr>
            <a:spLocks noGrp="1"/>
          </p:cNvSpPr>
          <p:nvPr/>
        </p:nvSpPr>
        <p:spPr>
          <a:xfrm>
            <a:off x="4524375" y="2286000"/>
            <a:ext cx="1524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rPr>
              <a:t>位置のずれ</a:t>
            </a:r>
          </a:p>
        </p:txBody>
      </p:sp>
      <p:sp>
        <p:nvSpPr>
          <p:cNvPr id="21" name="">
            <a:extLst>
              <a:ext uri="{FF2B5EF4-FFF2-40B4-BE49-F238E27FC236}">
                <ns2:creationId id="{E1E284BE-CD48-4022-B9B1-3B4D84EE1D1A}"/>
              </a:ext>
            </a:extLst>
          </p:cNvPr>
          <p:cNvSpPr>
            <a:spLocks noGrp="1"/>
          </p:cNvSpPr>
          <p:nvPr/>
        </p:nvSpPr>
        <p:spPr>
          <a:xfrm flipV="1">
            <a:off x="1524000" y="2238375"/>
            <a:ext cx="2095500" cy="1476375"/>
          </a:xfrm>
          <a:prstGeom prst="line">
            <a:avLst/>
          </a:prstGeom>
          <a:noFill/>
          <a:ln w="16193">
            <a:solidFill>
              <a:srgbClr val="8CA7C3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7C27C714-8CD6-4F27-AD8B-D75468E11914}"/>
              </a:ext>
            </a:extLst>
          </p:cNvPr>
          <p:cNvSpPr>
            <a:spLocks noGrp="1"/>
          </p:cNvSpPr>
          <p:nvPr/>
        </p:nvSpPr>
        <p:spPr>
          <a:xfrm>
            <a:off x="3619500" y="2238375"/>
            <a:ext cx="714375" cy="1476375"/>
          </a:xfrm>
          <a:prstGeom prst="line">
            <a:avLst/>
          </a:prstGeom>
          <a:noFill/>
          <a:ln w="16193">
            <a:solidFill>
              <a:srgbClr val="8CA7C3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D1E2AD8E-7B56-4954-B77D-5D83A865DAF3}"/>
              </a:ext>
            </a:extLst>
          </p:cNvPr>
          <p:cNvSpPr>
            <a:spLocks noGrp="1"/>
          </p:cNvSpPr>
          <p:nvPr/>
        </p:nvSpPr>
        <p:spPr>
          <a:xfrm>
            <a:off x="3619500" y="2238375"/>
            <a:ext cx="3619500" cy="1476375"/>
          </a:xfrm>
          <a:prstGeom prst="line">
            <a:avLst/>
          </a:prstGeom>
          <a:noFill/>
          <a:ln w="16193">
            <a:solidFill>
              <a:srgbClr val="8CA7C3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68B455F3-F0E6-4363-9F3E-45F9CACFD441}"/>
              </a:ext>
            </a:extLst>
          </p:cNvPr>
          <p:cNvSpPr>
            <a:spLocks noGrp="1"/>
          </p:cNvSpPr>
          <p:nvPr/>
        </p:nvSpPr>
        <p:spPr>
          <a:xfrm>
            <a:off x="428625" y="4905375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機体の位置申告と送信電力を信用しない想定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ノードの位置・RSSI報告が適切であることは別の前提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Remote IDの位置とRSSI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位置は機体の申告、RSSIは受信側で測る電波の強さ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3b1f72f8-081f-5dd9-ab08-ebe3e1247205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5</a:t>
            </a:fld>
          </a:p>
        </p:txBody>
      </p:sp>
      <p:sp>
        <p:nvSpPr>
          <p:cNvPr id="8" name="">
            <a:extLst>
              <a:ext uri="{FF2B5EF4-FFF2-40B4-BE49-F238E27FC236}">
                <ns2:creationId id="{136488C1-DA3A-442C-A9B2-8F12BE65281A}"/>
              </a:ext>
            </a:extLst>
          </p:cNvPr>
          <p:cNvSpPr>
            <a:spLocks noGrp="1"/>
          </p:cNvSpPr>
          <p:nvPr/>
        </p:nvSpPr>
        <p:spPr>
          <a:xfrm>
            <a:off x="666750" y="4238625"/>
            <a:ext cx="7620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地上の観測ノード</a:t>
            </a:r>
          </a:p>
        </p:txBody>
      </p:sp>
      <p:sp>
        <p:nvSpPr>
          <p:cNvPr id="9" name="">
            <a:extLst>
              <a:ext uri="{FF2B5EF4-FFF2-40B4-BE49-F238E27FC236}">
                <ns2:creationId id="{DB7602DC-6B8D-482E-B116-664B16F6319B}"/>
              </a:ext>
            </a:extLst>
          </p:cNvPr>
          <p:cNvSpPr>
            <a:spLocks noGrp="1"/>
          </p:cNvSpPr>
          <p:nvPr/>
        </p:nvSpPr>
        <p:spPr>
          <a:xfrm>
            <a:off x="1362075" y="3857625"/>
            <a:ext cx="323850" cy="26670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59C90569-2F71-4D5E-B10A-13869145BAEF}"/>
              </a:ext>
            </a:extLst>
          </p:cNvPr>
          <p:cNvSpPr>
            <a:spLocks noGrp="1"/>
          </p:cNvSpPr>
          <p:nvPr/>
        </p:nvSpPr>
        <p:spPr>
          <a:xfrm>
            <a:off x="1381125" y="38862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rPr>
              <a:t>A</a:t>
            </a:r>
          </a:p>
        </p:txBody>
      </p:sp>
      <p:sp>
        <p:nvSpPr>
          <p:cNvPr id="11" name="">
            <a:extLst>
              <a:ext uri="{FF2B5EF4-FFF2-40B4-BE49-F238E27FC236}">
                <ns2:creationId id="{973DFF02-66B6-4C0B-9E9E-57F59E64BF03}"/>
              </a:ext>
            </a:extLst>
          </p:cNvPr>
          <p:cNvSpPr>
            <a:spLocks noGrp="1"/>
          </p:cNvSpPr>
          <p:nvPr/>
        </p:nvSpPr>
        <p:spPr>
          <a:xfrm>
            <a:off x="4171950" y="3857625"/>
            <a:ext cx="323850" cy="26670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8EFAAFAF-1399-4997-944F-DFD8D79A0790}"/>
              </a:ext>
            </a:extLst>
          </p:cNvPr>
          <p:cNvSpPr>
            <a:spLocks noGrp="1"/>
          </p:cNvSpPr>
          <p:nvPr/>
        </p:nvSpPr>
        <p:spPr>
          <a:xfrm>
            <a:off x="4191000" y="38862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rPr>
              <a:t>B</a:t>
            </a:r>
          </a:p>
        </p:txBody>
      </p:sp>
      <p:sp>
        <p:nvSpPr>
          <p:cNvPr id="13" name="">
            <a:extLst>
              <a:ext uri="{FF2B5EF4-FFF2-40B4-BE49-F238E27FC236}">
                <ns2:creationId id="{17C8BAD7-EC67-4B0A-AE4F-F6900385DEA9}"/>
              </a:ext>
            </a:extLst>
          </p:cNvPr>
          <p:cNvSpPr>
            <a:spLocks noGrp="1"/>
          </p:cNvSpPr>
          <p:nvPr/>
        </p:nvSpPr>
        <p:spPr>
          <a:xfrm>
            <a:off x="7077075" y="3857625"/>
            <a:ext cx="323850" cy="26670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E46BD993-2B11-4800-9E59-4F33370BE381}"/>
              </a:ext>
            </a:extLst>
          </p:cNvPr>
          <p:cNvSpPr>
            <a:spLocks noGrp="1"/>
          </p:cNvSpPr>
          <p:nvPr/>
        </p:nvSpPr>
        <p:spPr>
          <a:xfrm>
            <a:off x="7096125" y="38862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rPr>
              <a:t>C</a:t>
            </a:r>
          </a:p>
        </p:txBody>
      </p:sp>
      <p:sp>
        <p:nvSpPr>
          <p:cNvPr id="15" name="">
            <a:extLst>
              <a:ext uri="{FF2B5EF4-FFF2-40B4-BE49-F238E27FC236}">
                <ns2:creationId id="{34E3E946-2BDE-4DFA-9082-344C6E5BDB12}"/>
              </a:ext>
            </a:extLst>
          </p:cNvPr>
          <p:cNvSpPr>
            <a:spLocks noGrp="1"/>
          </p:cNvSpPr>
          <p:nvPr/>
        </p:nvSpPr>
        <p:spPr>
          <a:xfrm>
            <a:off x="3524250" y="1952625"/>
            <a:ext cx="190500" cy="190500"/>
          </a:xfrm>
          <a:prstGeom prst="ellipse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1FE7E011-B665-41D9-925B-CD18C3B13496}"/>
              </a:ext>
            </a:extLst>
          </p:cNvPr>
          <p:cNvSpPr>
            <a:spLocks noGrp="1"/>
          </p:cNvSpPr>
          <p:nvPr/>
        </p:nvSpPr>
        <p:spPr>
          <a:xfrm>
            <a:off x="6381750" y="1952625"/>
            <a:ext cx="190500" cy="190500"/>
          </a:xfrm>
          <a:prstGeom prst="ellipse">
            <a:avLst/>
          </a:prstGeom>
          <a:solidFill>
            <a:srgbClr val="E02B2B"/>
          </a:solidFill>
          <a:ln w="0">
            <a:noFill/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8D7BAB5D-CAA6-4BD8-BC8C-72542F73BB0E}"/>
              </a:ext>
            </a:extLst>
          </p:cNvPr>
          <p:cNvSpPr>
            <a:spLocks noGrp="1"/>
          </p:cNvSpPr>
          <p:nvPr/>
        </p:nvSpPr>
        <p:spPr>
          <a:xfrm>
            <a:off x="2619375" y="1590675"/>
            <a:ext cx="2000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実際の位置</a:t>
            </a:r>
          </a:p>
        </p:txBody>
      </p:sp>
      <p:sp>
        <p:nvSpPr>
          <p:cNvPr id="18" name="">
            <a:extLst>
              <a:ext uri="{FF2B5EF4-FFF2-40B4-BE49-F238E27FC236}">
                <ns2:creationId id="{00293859-D85A-4237-B389-9B5DF9B26A40}"/>
              </a:ext>
            </a:extLst>
          </p:cNvPr>
          <p:cNvSpPr>
            <a:spLocks noGrp="1"/>
          </p:cNvSpPr>
          <p:nvPr/>
        </p:nvSpPr>
        <p:spPr>
          <a:xfrm>
            <a:off x="5381625" y="1590675"/>
            <a:ext cx="219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rPr>
              <a:t>RIDの申告位置</a:t>
            </a:r>
          </a:p>
        </p:txBody>
      </p:sp>
      <p:sp>
        <p:nvSpPr>
          <p:cNvPr id="19" name="">
            <a:extLst>
              <a:ext uri="{FF2B5EF4-FFF2-40B4-BE49-F238E27FC236}">
                <ns2:creationId id="{AD2935E1-6F31-443C-B360-EA0A243A7877}"/>
              </a:ext>
            </a:extLst>
          </p:cNvPr>
          <p:cNvSpPr>
            <a:spLocks noGrp="1"/>
          </p:cNvSpPr>
          <p:nvPr/>
        </p:nvSpPr>
        <p:spPr>
          <a:xfrm>
            <a:off x="3762375" y="2047875"/>
            <a:ext cx="2524125" cy="953"/>
          </a:xfrm>
          <a:prstGeom prst="line">
            <a:avLst/>
          </a:prstGeom>
          <a:noFill/>
          <a:ln w="19050">
            <a:solidFill>
              <a:srgbClr val="E02B2B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AB3EAFD5-3A10-4029-A875-18D56787E84D}"/>
              </a:ext>
            </a:extLst>
          </p:cNvPr>
          <p:cNvSpPr>
            <a:spLocks noGrp="1"/>
          </p:cNvSpPr>
          <p:nvPr/>
        </p:nvSpPr>
        <p:spPr>
          <a:xfrm>
            <a:off x="4524375" y="2286000"/>
            <a:ext cx="1524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rPr>
              <a:t>位置のずれ</a:t>
            </a:r>
          </a:p>
        </p:txBody>
      </p:sp>
      <p:sp>
        <p:nvSpPr>
          <p:cNvPr id="21" name="">
            <a:extLst>
              <a:ext uri="{FF2B5EF4-FFF2-40B4-BE49-F238E27FC236}">
                <ns2:creationId id="{DB9B9418-5433-47EF-B2B5-49DFCCE79288}"/>
              </a:ext>
            </a:extLst>
          </p:cNvPr>
          <p:cNvSpPr>
            <a:spLocks noGrp="1"/>
          </p:cNvSpPr>
          <p:nvPr/>
        </p:nvSpPr>
        <p:spPr>
          <a:xfrm flipV="1">
            <a:off x="1524000" y="2238375"/>
            <a:ext cx="2095500" cy="1476375"/>
          </a:xfrm>
          <a:prstGeom prst="line">
            <a:avLst/>
          </a:prstGeom>
          <a:noFill/>
          <a:ln w="16193">
            <a:solidFill>
              <a:srgbClr val="8CA7C3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530A2A14-984C-4F1B-8DDC-C92A1A2B9B03}"/>
              </a:ext>
            </a:extLst>
          </p:cNvPr>
          <p:cNvSpPr>
            <a:spLocks noGrp="1"/>
          </p:cNvSpPr>
          <p:nvPr/>
        </p:nvSpPr>
        <p:spPr>
          <a:xfrm>
            <a:off x="3619500" y="2238375"/>
            <a:ext cx="714375" cy="1476375"/>
          </a:xfrm>
          <a:prstGeom prst="line">
            <a:avLst/>
          </a:prstGeom>
          <a:noFill/>
          <a:ln w="16193">
            <a:solidFill>
              <a:srgbClr val="8CA7C3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CC1C644E-D320-4ABA-B01C-E1AF5B47EEDF}"/>
              </a:ext>
            </a:extLst>
          </p:cNvPr>
          <p:cNvSpPr>
            <a:spLocks noGrp="1"/>
          </p:cNvSpPr>
          <p:nvPr/>
        </p:nvSpPr>
        <p:spPr>
          <a:xfrm>
            <a:off x="3619500" y="2238375"/>
            <a:ext cx="3619500" cy="1476375"/>
          </a:xfrm>
          <a:prstGeom prst="line">
            <a:avLst/>
          </a:prstGeom>
          <a:noFill/>
          <a:ln w="16193">
            <a:solidFill>
              <a:srgbClr val="8CA7C3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A6F1E858-9625-46F7-BBB4-423C5754CA2A}"/>
              </a:ext>
            </a:extLst>
          </p:cNvPr>
          <p:cNvSpPr>
            <a:spLocks noGrp="1"/>
          </p:cNvSpPr>
          <p:nvPr/>
        </p:nvSpPr>
        <p:spPr>
          <a:xfrm>
            <a:off x="4572000" y="4762500"/>
            <a:ext cx="4000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機体から届く情報</a:t>
            </a:r>
          </a:p>
          <a:p>
            <a: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「ここにいる」という位置の申告</a:t>
            </a:r>
          </a:p>
        </p:txBody>
      </p:sp>
      <p:sp>
        <p:nvSpPr>
          <p:cNvPr id="25" name="">
            <a:extLst>
              <a:ext uri="{FF2B5EF4-FFF2-40B4-BE49-F238E27FC236}">
                <ns2:creationId id="{ADBAA29B-F4DE-4333-BC0F-3D0C823C5FC2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3810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ノードが測るRSSI</a:t>
            </a:r>
          </a:p>
          <a:p>
            <a: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受信した電波の強さ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位置と送信電力の曖昧さ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同じRSSIから、位置と電力の組合せを一つに決められない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3846c3d-08cb-5b6f-9af0-20a18f667824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6</a:t>
            </a:fld>
          </a:p>
        </p:txBody>
      </p:sp>
      <p:sp>
        <p:nvSpPr>
          <p:cNvPr id="8" name="">
            <a:extLst>
              <a:ext uri="{FF2B5EF4-FFF2-40B4-BE49-F238E27FC236}">
                <ns2:creationId id="{EA0CEBD8-9C38-4951-9323-695CDDE602F8}"/>
              </a:ext>
            </a:extLst>
          </p:cNvPr>
          <p:cNvSpPr>
            <a:spLocks noGrp="1"/>
          </p:cNvSpPr>
          <p:nvPr/>
        </p:nvSpPr>
        <p:spPr>
          <a:xfrm>
            <a:off x="619125" y="1666875"/>
            <a:ext cx="361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遠い場所から強く送信</a:t>
            </a:r>
          </a:p>
        </p:txBody>
      </p:sp>
      <p:sp>
        <p:nvSpPr>
          <p:cNvPr id="9" name="">
            <a:extLst>
              <a:ext uri="{FF2B5EF4-FFF2-40B4-BE49-F238E27FC236}">
                <ns2:creationId id="{4331150D-968C-4265-92FE-96E2D926FAE5}"/>
              </a:ext>
            </a:extLst>
          </p:cNvPr>
          <p:cNvSpPr>
            <a:spLocks noGrp="1"/>
          </p:cNvSpPr>
          <p:nvPr/>
        </p:nvSpPr>
        <p:spPr>
          <a:xfrm>
            <a:off x="1143000" y="2143125"/>
            <a:ext cx="190500" cy="190500"/>
          </a:xfrm>
          <a:prstGeom prst="ellipse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67E83B0A-1B50-46C4-85C7-15D969BC15BE}"/>
              </a:ext>
            </a:extLst>
          </p:cNvPr>
          <p:cNvSpPr>
            <a:spLocks noGrp="1"/>
          </p:cNvSpPr>
          <p:nvPr/>
        </p:nvSpPr>
        <p:spPr>
          <a:xfrm>
            <a:off x="590550" y="2400300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機体</a:t>
            </a:r>
          </a:p>
        </p:txBody>
      </p:sp>
      <p:sp>
        <p:nvSpPr>
          <p:cNvPr id="11" name="">
            <a:extLst>
              <a:ext uri="{FF2B5EF4-FFF2-40B4-BE49-F238E27FC236}">
                <ns2:creationId id="{AF4535A5-5593-45FE-B5B0-C00E692EBF76}"/>
              </a:ext>
            </a:extLst>
          </p:cNvPr>
          <p:cNvSpPr>
            <a:spLocks noGrp="1"/>
          </p:cNvSpPr>
          <p:nvPr/>
        </p:nvSpPr>
        <p:spPr>
          <a:xfrm>
            <a:off x="3095625" y="3810000"/>
            <a:ext cx="381000" cy="2857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9C8D88F9-BF1F-4034-8610-2FBD2CC5F4AC}"/>
              </a:ext>
            </a:extLst>
          </p:cNvPr>
          <p:cNvSpPr>
            <a:spLocks noGrp="1"/>
          </p:cNvSpPr>
          <p:nvPr/>
        </p:nvSpPr>
        <p:spPr>
          <a:xfrm>
            <a:off x="2714625" y="4238625"/>
            <a:ext cx="1285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受信機</a:t>
            </a:r>
          </a:p>
        </p:txBody>
      </p:sp>
      <p:sp>
        <p:nvSpPr>
          <p:cNvPr id="13" name="">
            <a:extLst>
              <a:ext uri="{FF2B5EF4-FFF2-40B4-BE49-F238E27FC236}">
                <ns2:creationId id="{58C845E1-4572-48E0-A097-B6983CC10E4F}"/>
              </a:ext>
            </a:extLst>
          </p:cNvPr>
          <p:cNvSpPr>
            <a:spLocks noGrp="1"/>
          </p:cNvSpPr>
          <p:nvPr/>
        </p:nvSpPr>
        <p:spPr>
          <a:xfrm>
            <a:off x="1381125" y="2381250"/>
            <a:ext cx="1857375" cy="1333500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1CADFB41-87AA-4A50-A9E0-BBEC1FF3BAED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3619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同じ受信強度になる場合</a:t>
            </a:r>
          </a:p>
        </p:txBody>
      </p:sp>
      <p:sp>
        <p:nvSpPr>
          <p:cNvPr id="15" name="">
            <a:extLst>
              <a:ext uri="{FF2B5EF4-FFF2-40B4-BE49-F238E27FC236}">
                <ns2:creationId id="{AF83B5E8-FC7F-4B3A-921B-ABE6AA00F433}"/>
              </a:ext>
            </a:extLst>
          </p:cNvPr>
          <p:cNvSpPr>
            <a:spLocks noGrp="1"/>
          </p:cNvSpPr>
          <p:nvPr/>
        </p:nvSpPr>
        <p:spPr>
          <a:xfrm>
            <a:off x="4905375" y="1666875"/>
            <a:ext cx="361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近い場所から弱く送信</a:t>
            </a:r>
          </a:p>
        </p:txBody>
      </p:sp>
      <p:sp>
        <p:nvSpPr>
          <p:cNvPr id="16" name="">
            <a:extLst>
              <a:ext uri="{FF2B5EF4-FFF2-40B4-BE49-F238E27FC236}">
                <ns2:creationId id="{06263274-E0E8-4820-AE26-B511E4DFB9CB}"/>
              </a:ext>
            </a:extLst>
          </p:cNvPr>
          <p:cNvSpPr>
            <a:spLocks noGrp="1"/>
          </p:cNvSpPr>
          <p:nvPr/>
        </p:nvSpPr>
        <p:spPr>
          <a:xfrm>
            <a:off x="5429250" y="3048000"/>
            <a:ext cx="190500" cy="190500"/>
          </a:xfrm>
          <a:prstGeom prst="ellipse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1B530E73-90CF-4435-BA47-84AB5B0069A4}"/>
              </a:ext>
            </a:extLst>
          </p:cNvPr>
          <p:cNvSpPr>
            <a:spLocks noGrp="1"/>
          </p:cNvSpPr>
          <p:nvPr/>
        </p:nvSpPr>
        <p:spPr>
          <a:xfrm>
            <a:off x="4876800" y="330517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機体</a:t>
            </a:r>
          </a:p>
        </p:txBody>
      </p:sp>
      <p:sp>
        <p:nvSpPr>
          <p:cNvPr id="18" name="">
            <a:extLst>
              <a:ext uri="{FF2B5EF4-FFF2-40B4-BE49-F238E27FC236}">
                <ns2:creationId id="{069B796B-6D4F-40FD-9DF6-810E6EF469EC}"/>
              </a:ext>
            </a:extLst>
          </p:cNvPr>
          <p:cNvSpPr>
            <a:spLocks noGrp="1"/>
          </p:cNvSpPr>
          <p:nvPr/>
        </p:nvSpPr>
        <p:spPr>
          <a:xfrm>
            <a:off x="7381875" y="3810000"/>
            <a:ext cx="381000" cy="2857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CF396E97-709D-4730-95E9-C0AAE3D71155}"/>
              </a:ext>
            </a:extLst>
          </p:cNvPr>
          <p:cNvSpPr>
            <a:spLocks noGrp="1"/>
          </p:cNvSpPr>
          <p:nvPr/>
        </p:nvSpPr>
        <p:spPr>
          <a:xfrm>
            <a:off x="7000875" y="4238625"/>
            <a:ext cx="1285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受信機</a:t>
            </a:r>
          </a:p>
        </p:txBody>
      </p:sp>
      <p:sp>
        <p:nvSpPr>
          <p:cNvPr id="20" name="">
            <a:extLst>
              <a:ext uri="{FF2B5EF4-FFF2-40B4-BE49-F238E27FC236}">
                <ns2:creationId id="{86E59A5D-34F3-4C6C-9FA7-3479CF003335}"/>
              </a:ext>
            </a:extLst>
          </p:cNvPr>
          <p:cNvSpPr>
            <a:spLocks noGrp="1"/>
          </p:cNvSpPr>
          <p:nvPr/>
        </p:nvSpPr>
        <p:spPr>
          <a:xfrm>
            <a:off x="5667375" y="3238500"/>
            <a:ext cx="1857375" cy="476250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D387DEF0-6D7C-4742-90A7-41D1D9F4C7EA}"/>
              </a:ext>
            </a:extLst>
          </p:cNvPr>
          <p:cNvSpPr>
            <a:spLocks noGrp="1"/>
          </p:cNvSpPr>
          <p:nvPr/>
        </p:nvSpPr>
        <p:spPr>
          <a:xfrm>
            <a:off x="4905375" y="4810125"/>
            <a:ext cx="3619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同じ受信強度になる場合</a:t>
            </a:r>
          </a:p>
        </p:txBody>
      </p:sp>
      <p:sp>
        <p:nvSpPr>
          <p:cNvPr id="22" name="">
            <a:extLst>
              <a:ext uri="{FF2B5EF4-FFF2-40B4-BE49-F238E27FC236}">
                <ns2:creationId id="{0F3265A1-71DD-49DD-86BB-21E673B32FBB}"/>
              </a:ext>
            </a:extLst>
          </p:cNvPr>
          <p:cNvSpPr>
            <a:spLocks noGrp="1"/>
          </p:cNvSpPr>
          <p:nvPr/>
        </p:nvSpPr>
        <p:spPr>
          <a:xfrm>
            <a:off x="428625" y="557212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RSSIが同じでも、距離と送信電力の組合せは一つに決まらない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異時刻・単独受信での限界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各送信の電力が自由なら、ノードや件数を増やすだけでは不足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fdfccc61-74e6-500e-8dce-37b84f0d00b0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7</a:t>
            </a:fld>
          </a:p>
        </p:txBody>
      </p:sp>
      <p:sp>
        <p:nvSpPr>
          <p:cNvPr id="8" name="">
            <a:extLst>
              <a:ext uri="{FF2B5EF4-FFF2-40B4-BE49-F238E27FC236}">
                <ns2:creationId id="{6D16242B-59E2-45E8-9BAA-137A3DD2586C}"/>
              </a:ext>
            </a:extLst>
          </p:cNvPr>
          <p:cNvSpPr>
            <a:spLocks noGrp="1"/>
          </p:cNvSpPr>
          <p:nvPr/>
        </p:nvSpPr>
        <p:spPr>
          <a:xfrm>
            <a:off x="762000" y="1685925"/>
            <a:ext cx="66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A</a:t>
            </a:r>
          </a:p>
        </p:txBody>
      </p:sp>
      <p:sp>
        <p:nvSpPr>
          <p:cNvPr id="9" name="">
            <a:extLst>
              <a:ext uri="{FF2B5EF4-FFF2-40B4-BE49-F238E27FC236}">
                <ns2:creationId id="{C187E5C3-3210-4FCD-A2AD-ECDC0D8713D6}"/>
              </a:ext>
            </a:extLst>
          </p:cNvPr>
          <p:cNvSpPr>
            <a:spLocks noGrp="1"/>
          </p:cNvSpPr>
          <p:nvPr/>
        </p:nvSpPr>
        <p:spPr>
          <a:xfrm>
            <a:off x="762000" y="2228850"/>
            <a:ext cx="66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B</a:t>
            </a:r>
          </a:p>
        </p:txBody>
      </p:sp>
      <p:sp>
        <p:nvSpPr>
          <p:cNvPr id="10" name="">
            <a:extLst>
              <a:ext uri="{FF2B5EF4-FFF2-40B4-BE49-F238E27FC236}">
                <ns2:creationId id="{8F0C49DE-A078-45FA-BEC1-F623563B613E}"/>
              </a:ext>
            </a:extLst>
          </p:cNvPr>
          <p:cNvSpPr>
            <a:spLocks noGrp="1"/>
          </p:cNvSpPr>
          <p:nvPr/>
        </p:nvSpPr>
        <p:spPr>
          <a:xfrm>
            <a:off x="762000" y="2771775"/>
            <a:ext cx="66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C</a:t>
            </a:r>
          </a:p>
        </p:txBody>
      </p:sp>
      <p:sp>
        <p:nvSpPr>
          <p:cNvPr id="11" name="">
            <a:extLst>
              <a:ext uri="{FF2B5EF4-FFF2-40B4-BE49-F238E27FC236}">
                <ns2:creationId id="{81712786-8200-4EE7-9863-3D405FB6035E}"/>
              </a:ext>
            </a:extLst>
          </p:cNvPr>
          <p:cNvSpPr>
            <a:spLocks noGrp="1"/>
          </p:cNvSpPr>
          <p:nvPr/>
        </p:nvSpPr>
        <p:spPr>
          <a:xfrm>
            <a:off x="762000" y="3314700"/>
            <a:ext cx="66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D</a:t>
            </a:r>
          </a:p>
        </p:txBody>
      </p:sp>
      <p:sp>
        <p:nvSpPr>
          <p:cNvPr id="12" name="">
            <a:extLst>
              <a:ext uri="{FF2B5EF4-FFF2-40B4-BE49-F238E27FC236}">
                <ns2:creationId id="{9CA8D0FB-3446-44C3-A94E-ABBBF8AD8D70}"/>
              </a:ext>
            </a:extLst>
          </p:cNvPr>
          <p:cNvSpPr>
            <a:spLocks noGrp="1"/>
          </p:cNvSpPr>
          <p:nvPr/>
        </p:nvSpPr>
        <p:spPr>
          <a:xfrm>
            <a:off x="762000" y="3857625"/>
            <a:ext cx="66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E</a:t>
            </a:r>
          </a:p>
        </p:txBody>
      </p:sp>
      <p:sp>
        <p:nvSpPr>
          <p:cNvPr id="13" name="">
            <a:extLst>
              <a:ext uri="{FF2B5EF4-FFF2-40B4-BE49-F238E27FC236}">
                <ns2:creationId id="{55DD42C7-5C79-4618-8EE4-0CC33D842CD5}"/>
              </a:ext>
            </a:extLst>
          </p:cNvPr>
          <p:cNvSpPr>
            <a:spLocks noGrp="1"/>
          </p:cNvSpPr>
          <p:nvPr/>
        </p:nvSpPr>
        <p:spPr>
          <a:xfrm>
            <a:off x="2295525" y="1724025"/>
            <a:ext cx="171450" cy="171450"/>
          </a:xfrm>
          <a:prstGeom prst="ellipse">
            <a:avLst/>
          </a:prstGeom>
          <a:solidFill>
            <a:srgbClr val="7B8591"/>
          </a:solidFill>
          <a:ln w="0">
            <a:noFill/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58F64A49-DA15-4718-B982-23738CA7185A}"/>
              </a:ext>
            </a:extLst>
          </p:cNvPr>
          <p:cNvSpPr>
            <a:spLocks noGrp="1"/>
          </p:cNvSpPr>
          <p:nvPr/>
        </p:nvSpPr>
        <p:spPr>
          <a:xfrm>
            <a:off x="2143125" y="4695825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e0</a:t>
            </a:r>
          </a:p>
        </p:txBody>
      </p:sp>
      <p:sp>
        <p:nvSpPr>
          <p:cNvPr id="15" name="">
            <a:extLst>
              <a:ext uri="{FF2B5EF4-FFF2-40B4-BE49-F238E27FC236}">
                <ns2:creationId id="{9ED816A9-9675-4BB9-A120-32C614EC97B8}"/>
              </a:ext>
            </a:extLst>
          </p:cNvPr>
          <p:cNvSpPr>
            <a:spLocks noGrp="1"/>
          </p:cNvSpPr>
          <p:nvPr/>
        </p:nvSpPr>
        <p:spPr>
          <a:xfrm>
            <a:off x="2000250" y="509587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rPr>
              <a:t>保留</a:t>
            </a:r>
          </a:p>
        </p:txBody>
      </p:sp>
      <p:sp>
        <p:nvSpPr>
          <p:cNvPr id="16" name="">
            <a:extLst>
              <a:ext uri="{FF2B5EF4-FFF2-40B4-BE49-F238E27FC236}">
                <ns2:creationId id="{31F6DA07-CD9A-4789-B4D1-A63079C722BB}"/>
              </a:ext>
            </a:extLst>
          </p:cNvPr>
          <p:cNvSpPr>
            <a:spLocks noGrp="1"/>
          </p:cNvSpPr>
          <p:nvPr/>
        </p:nvSpPr>
        <p:spPr>
          <a:xfrm>
            <a:off x="3581400" y="2266950"/>
            <a:ext cx="171450" cy="171450"/>
          </a:xfrm>
          <a:prstGeom prst="ellipse">
            <a:avLst/>
          </a:prstGeom>
          <a:solidFill>
            <a:srgbClr val="7B8591"/>
          </a:solidFill>
          <a:ln w="0">
            <a:noFill/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BE1AC810-25F5-4D05-8C5C-68EB161DE65F}"/>
              </a:ext>
            </a:extLst>
          </p:cNvPr>
          <p:cNvSpPr>
            <a:spLocks noGrp="1"/>
          </p:cNvSpPr>
          <p:nvPr/>
        </p:nvSpPr>
        <p:spPr>
          <a:xfrm>
            <a:off x="3429000" y="4695825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e1</a:t>
            </a:r>
          </a:p>
        </p:txBody>
      </p:sp>
      <p:sp>
        <p:nvSpPr>
          <p:cNvPr id="18" name="">
            <a:extLst>
              <a:ext uri="{FF2B5EF4-FFF2-40B4-BE49-F238E27FC236}">
                <ns2:creationId id="{39F9A579-F1AB-461D-8E1B-2EE751F7828C}"/>
              </a:ext>
            </a:extLst>
          </p:cNvPr>
          <p:cNvSpPr>
            <a:spLocks noGrp="1"/>
          </p:cNvSpPr>
          <p:nvPr/>
        </p:nvSpPr>
        <p:spPr>
          <a:xfrm>
            <a:off x="3286125" y="509587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rPr>
              <a:t>保留</a:t>
            </a:r>
          </a:p>
        </p:txBody>
      </p:sp>
      <p:sp>
        <p:nvSpPr>
          <p:cNvPr id="19" name="">
            <a:extLst>
              <a:ext uri="{FF2B5EF4-FFF2-40B4-BE49-F238E27FC236}">
                <ns2:creationId id="{53E0B822-75A5-44F3-9903-F59238EE7545}"/>
              </a:ext>
            </a:extLst>
          </p:cNvPr>
          <p:cNvSpPr>
            <a:spLocks noGrp="1"/>
          </p:cNvSpPr>
          <p:nvPr/>
        </p:nvSpPr>
        <p:spPr>
          <a:xfrm>
            <a:off x="4867275" y="2809875"/>
            <a:ext cx="171450" cy="171450"/>
          </a:xfrm>
          <a:prstGeom prst="ellipse">
            <a:avLst/>
          </a:prstGeom>
          <a:solidFill>
            <a:srgbClr val="7B8591"/>
          </a:solidFill>
          <a:ln w="0">
            <a:noFill/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D4C60C99-CD7B-40F0-88F8-2C9B5D464891}"/>
              </a:ext>
            </a:extLst>
          </p:cNvPr>
          <p:cNvSpPr>
            <a:spLocks noGrp="1"/>
          </p:cNvSpPr>
          <p:nvPr/>
        </p:nvSpPr>
        <p:spPr>
          <a:xfrm>
            <a:off x="4714875" y="4695825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e2</a:t>
            </a:r>
          </a:p>
        </p:txBody>
      </p:sp>
      <p:sp>
        <p:nvSpPr>
          <p:cNvPr id="21" name="">
            <a:extLst>
              <a:ext uri="{FF2B5EF4-FFF2-40B4-BE49-F238E27FC236}">
                <ns2:creationId id="{2082144B-F40B-46D4-B681-AF2DB62097C7}"/>
              </a:ext>
            </a:extLst>
          </p:cNvPr>
          <p:cNvSpPr>
            <a:spLocks noGrp="1"/>
          </p:cNvSpPr>
          <p:nvPr/>
        </p:nvSpPr>
        <p:spPr>
          <a:xfrm>
            <a:off x="4572000" y="509587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rPr>
              <a:t>保留</a:t>
            </a:r>
          </a:p>
        </p:txBody>
      </p:sp>
      <p:sp>
        <p:nvSpPr>
          <p:cNvPr id="22" name="">
            <a:extLst>
              <a:ext uri="{FF2B5EF4-FFF2-40B4-BE49-F238E27FC236}">
                <ns2:creationId id="{1CEC6373-E6F9-404F-B334-8F3BD8E5C5EA}"/>
              </a:ext>
            </a:extLst>
          </p:cNvPr>
          <p:cNvSpPr>
            <a:spLocks noGrp="1"/>
          </p:cNvSpPr>
          <p:nvPr/>
        </p:nvSpPr>
        <p:spPr>
          <a:xfrm>
            <a:off x="6153150" y="3352800"/>
            <a:ext cx="171450" cy="171450"/>
          </a:xfrm>
          <a:prstGeom prst="ellipse">
            <a:avLst/>
          </a:prstGeom>
          <a:solidFill>
            <a:srgbClr val="7B8591"/>
          </a:solidFill>
          <a:ln w="0">
            <a:noFill/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072916AD-C4A1-45C0-9AF5-1E9F2C8D3B41}"/>
              </a:ext>
            </a:extLst>
          </p:cNvPr>
          <p:cNvSpPr>
            <a:spLocks noGrp="1"/>
          </p:cNvSpPr>
          <p:nvPr/>
        </p:nvSpPr>
        <p:spPr>
          <a:xfrm>
            <a:off x="6000750" y="4695825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e3</a:t>
            </a:r>
          </a:p>
        </p:txBody>
      </p:sp>
      <p:sp>
        <p:nvSpPr>
          <p:cNvPr id="24" name="">
            <a:extLst>
              <a:ext uri="{FF2B5EF4-FFF2-40B4-BE49-F238E27FC236}">
                <ns2:creationId id="{0CD450C4-ED96-4CEC-859D-492BB21112E0}"/>
              </a:ext>
            </a:extLst>
          </p:cNvPr>
          <p:cNvSpPr>
            <a:spLocks noGrp="1"/>
          </p:cNvSpPr>
          <p:nvPr/>
        </p:nvSpPr>
        <p:spPr>
          <a:xfrm>
            <a:off x="5857875" y="509587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rPr>
              <a:t>保留</a:t>
            </a:r>
          </a:p>
        </p:txBody>
      </p:sp>
      <p:sp>
        <p:nvSpPr>
          <p:cNvPr id="25" name="">
            <a:extLst>
              <a:ext uri="{FF2B5EF4-FFF2-40B4-BE49-F238E27FC236}">
                <ns2:creationId id="{58C9824E-DCA3-4C02-8A2F-245C1175E618}"/>
              </a:ext>
            </a:extLst>
          </p:cNvPr>
          <p:cNvSpPr>
            <a:spLocks noGrp="1"/>
          </p:cNvSpPr>
          <p:nvPr/>
        </p:nvSpPr>
        <p:spPr>
          <a:xfrm>
            <a:off x="7439025" y="3895725"/>
            <a:ext cx="171450" cy="171450"/>
          </a:xfrm>
          <a:prstGeom prst="ellipse">
            <a:avLst/>
          </a:prstGeom>
          <a:solidFill>
            <a:srgbClr val="7B8591"/>
          </a:solidFill>
          <a:ln w="0">
            <a:noFill/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DC98415A-9FB7-49B9-9FA5-400A5E27FA47}"/>
              </a:ext>
            </a:extLst>
          </p:cNvPr>
          <p:cNvSpPr>
            <a:spLocks noGrp="1"/>
          </p:cNvSpPr>
          <p:nvPr/>
        </p:nvSpPr>
        <p:spPr>
          <a:xfrm>
            <a:off x="7286625" y="4695825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e4</a:t>
            </a:r>
          </a:p>
        </p:txBody>
      </p:sp>
      <p:sp>
        <p:nvSpPr>
          <p:cNvPr id="27" name="">
            <a:extLst>
              <a:ext uri="{FF2B5EF4-FFF2-40B4-BE49-F238E27FC236}">
                <ns2:creationId id="{BE4359BC-8A96-4608-9B65-CADD5BB8176B}"/>
              </a:ext>
            </a:extLst>
          </p:cNvPr>
          <p:cNvSpPr>
            <a:spLocks noGrp="1"/>
          </p:cNvSpPr>
          <p:nvPr/>
        </p:nvSpPr>
        <p:spPr>
          <a:xfrm>
            <a:off x="7143750" y="509587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rPr>
              <a:t>保留</a:t>
            </a:r>
          </a:p>
        </p:txBody>
      </p:sp>
      <p:sp>
        <p:nvSpPr>
          <p:cNvPr id="28" name="">
            <a:extLst>
              <a:ext uri="{FF2B5EF4-FFF2-40B4-BE49-F238E27FC236}">
                <ns2:creationId id="{025E3D91-B309-4879-8A0C-0A2C39AD8F3B}"/>
              </a:ext>
            </a:extLst>
          </p:cNvPr>
          <p:cNvSpPr>
            <a:spLocks noGrp="1"/>
          </p:cNvSpPr>
          <p:nvPr/>
        </p:nvSpPr>
        <p:spPr>
          <a:xfrm>
            <a:off x="1619250" y="5667375"/>
            <a:ext cx="666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同じ列＝同じ物理送信　／　別の列＝別送信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受信した送信の違いと提出時刻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「後から提出」と「別の送信を受信」を区別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21f4d87f-4be0-5718-8198-a0c4b6fb27b1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8</a:t>
            </a:fld>
          </a:p>
        </p:txBody>
      </p:sp>
      <p:sp>
        <p:nvSpPr>
          <p:cNvPr id="8" name="">
            <a:extLst>
              <a:ext uri="{FF2B5EF4-FFF2-40B4-BE49-F238E27FC236}">
                <ns2:creationId id="{1ABD5A8F-BFC4-4011-8C74-CC9C8030C688}"/>
              </a:ext>
            </a:extLst>
          </p:cNvPr>
          <p:cNvSpPr>
            <a:spLocks noGrp="1"/>
          </p:cNvSpPr>
          <p:nvPr/>
        </p:nvSpPr>
        <p:spPr>
          <a:xfrm>
            <a:off x="419100" y="1619250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同じ送信・提出だけ遅い</a:t>
            </a:r>
          </a:p>
        </p:txBody>
      </p:sp>
      <p:sp>
        <p:nvSpPr>
          <p:cNvPr id="9" name="">
            <a:extLst>
              <a:ext uri="{FF2B5EF4-FFF2-40B4-BE49-F238E27FC236}">
                <ns2:creationId id="{7BCFA87D-6413-4FBD-B30F-309B01921358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38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A</a:t>
            </a:r>
          </a:p>
        </p:txBody>
      </p:sp>
      <p:sp>
        <p:nvSpPr>
          <p:cNvPr id="10" name="">
            <a:extLst>
              <a:ext uri="{FF2B5EF4-FFF2-40B4-BE49-F238E27FC236}">
                <ns2:creationId id="{AA1689D0-BFFB-467F-ABF7-5461AF130F84}"/>
              </a:ext>
            </a:extLst>
          </p:cNvPr>
          <p:cNvSpPr>
            <a:spLocks noGrp="1"/>
          </p:cNvSpPr>
          <p:nvPr/>
        </p:nvSpPr>
        <p:spPr>
          <a:xfrm>
            <a:off x="1333500" y="2333625"/>
            <a:ext cx="6762750" cy="953"/>
          </a:xfrm>
          <a:prstGeom prst="line">
            <a:avLst/>
          </a:prstGeom>
          <a:noFill/>
          <a:ln w="9525">
            <a:solidFill>
              <a:srgbClr val="CBD2DA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7EEF4C4F-EE51-4192-ADA3-77D438DBAB6A}"/>
              </a:ext>
            </a:extLst>
          </p:cNvPr>
          <p:cNvSpPr>
            <a:spLocks noGrp="1"/>
          </p:cNvSpPr>
          <p:nvPr/>
        </p:nvSpPr>
        <p:spPr>
          <a:xfrm>
            <a:off x="2095500" y="2238375"/>
            <a:ext cx="190500" cy="190500"/>
          </a:xfrm>
          <a:prstGeom prst="ellipse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3B3E6139-5552-404B-9A8C-89011411FBAE}"/>
              </a:ext>
            </a:extLst>
          </p:cNvPr>
          <p:cNvSpPr>
            <a:spLocks noGrp="1"/>
          </p:cNvSpPr>
          <p:nvPr/>
        </p:nvSpPr>
        <p:spPr>
          <a:xfrm>
            <a:off x="1543050" y="2495550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受信e0</a:t>
            </a:r>
          </a:p>
        </p:txBody>
      </p:sp>
      <p:sp>
        <p:nvSpPr>
          <p:cNvPr id="13" name="">
            <a:extLst>
              <a:ext uri="{FF2B5EF4-FFF2-40B4-BE49-F238E27FC236}">
                <ns2:creationId id="{7AA80F90-070D-48AE-8EF9-7446AEC6F18B}"/>
              </a:ext>
            </a:extLst>
          </p:cNvPr>
          <p:cNvSpPr>
            <a:spLocks noGrp="1"/>
          </p:cNvSpPr>
          <p:nvPr/>
        </p:nvSpPr>
        <p:spPr>
          <a:xfrm>
            <a:off x="3333750" y="2238375"/>
            <a:ext cx="190500" cy="190500"/>
          </a:xfrm>
          <a:prstGeom prst="ellipse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4EBD33FE-48FB-46EF-9788-5574C9C42FC7}"/>
              </a:ext>
            </a:extLst>
          </p:cNvPr>
          <p:cNvSpPr>
            <a:spLocks noGrp="1"/>
          </p:cNvSpPr>
          <p:nvPr/>
        </p:nvSpPr>
        <p:spPr>
          <a:xfrm>
            <a:off x="2781300" y="2495550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提出</a:t>
            </a:r>
          </a:p>
        </p:txBody>
      </p:sp>
      <p:sp>
        <p:nvSpPr>
          <p:cNvPr id="15" name="">
            <a:extLst>
              <a:ext uri="{FF2B5EF4-FFF2-40B4-BE49-F238E27FC236}">
                <ns2:creationId id="{5FD5ED4A-0796-4FD5-B39B-4258E74F0C10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38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B</a:t>
            </a:r>
          </a:p>
        </p:txBody>
      </p:sp>
      <p:sp>
        <p:nvSpPr>
          <p:cNvPr id="16" name="">
            <a:extLst>
              <a:ext uri="{FF2B5EF4-FFF2-40B4-BE49-F238E27FC236}">
                <ns2:creationId id="{46E0CCC8-C481-4C91-94FE-0B53FB10FE2A}"/>
              </a:ext>
            </a:extLst>
          </p:cNvPr>
          <p:cNvSpPr>
            <a:spLocks noGrp="1"/>
          </p:cNvSpPr>
          <p:nvPr/>
        </p:nvSpPr>
        <p:spPr>
          <a:xfrm>
            <a:off x="1333500" y="2952750"/>
            <a:ext cx="6762750" cy="953"/>
          </a:xfrm>
          <a:prstGeom prst="line">
            <a:avLst/>
          </a:prstGeom>
          <a:noFill/>
          <a:ln w="9525">
            <a:solidFill>
              <a:srgbClr val="CBD2DA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91828A10-6B95-48E5-8B03-565129A2C92E}"/>
              </a:ext>
            </a:extLst>
          </p:cNvPr>
          <p:cNvSpPr>
            <a:spLocks noGrp="1"/>
          </p:cNvSpPr>
          <p:nvPr/>
        </p:nvSpPr>
        <p:spPr>
          <a:xfrm>
            <a:off x="2095500" y="2857500"/>
            <a:ext cx="190500" cy="190500"/>
          </a:xfrm>
          <a:prstGeom prst="ellipse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3A6491BD-95D5-4472-8AB0-1BD328215C42}"/>
              </a:ext>
            </a:extLst>
          </p:cNvPr>
          <p:cNvSpPr>
            <a:spLocks noGrp="1"/>
          </p:cNvSpPr>
          <p:nvPr/>
        </p:nvSpPr>
        <p:spPr>
          <a:xfrm>
            <a:off x="1543050" y="311467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受信e0</a:t>
            </a:r>
          </a:p>
        </p:txBody>
      </p:sp>
      <p:sp>
        <p:nvSpPr>
          <p:cNvPr id="19" name="">
            <a:extLst>
              <a:ext uri="{FF2B5EF4-FFF2-40B4-BE49-F238E27FC236}">
                <ns2:creationId id="{4E63AA79-3DE2-44FF-B49A-9349345AE463}"/>
              </a:ext>
            </a:extLst>
          </p:cNvPr>
          <p:cNvSpPr>
            <a:spLocks noGrp="1"/>
          </p:cNvSpPr>
          <p:nvPr/>
        </p:nvSpPr>
        <p:spPr>
          <a:xfrm>
            <a:off x="6953250" y="2857500"/>
            <a:ext cx="190500" cy="190500"/>
          </a:xfrm>
          <a:prstGeom prst="ellipse">
            <a:avLst/>
          </a:prstGeom>
          <a:solidFill>
            <a:srgbClr val="E02B2B"/>
          </a:solidFill>
          <a:ln w="0">
            <a:noFill/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4B831DD6-3DE4-4DC7-BCDC-04AE727DFCA1}"/>
              </a:ext>
            </a:extLst>
          </p:cNvPr>
          <p:cNvSpPr>
            <a:spLocks noGrp="1"/>
          </p:cNvSpPr>
          <p:nvPr/>
        </p:nvSpPr>
        <p:spPr>
          <a:xfrm>
            <a:off x="6400800" y="311467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rPr>
              <a:t>提出</a:t>
            </a:r>
          </a:p>
        </p:txBody>
      </p:sp>
      <p:sp>
        <p:nvSpPr>
          <p:cNvPr id="21" name="">
            <a:extLst>
              <a:ext uri="{FF2B5EF4-FFF2-40B4-BE49-F238E27FC236}">
                <ns2:creationId id="{85281345-86DF-4E67-8FD1-85506B0C2B65}"/>
              </a:ext>
            </a:extLst>
          </p:cNvPr>
          <p:cNvSpPr>
            <a:spLocks noGrp="1"/>
          </p:cNvSpPr>
          <p:nvPr/>
        </p:nvSpPr>
        <p:spPr>
          <a:xfrm>
            <a:off x="419100" y="4048125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別の送信を受信</a:t>
            </a:r>
          </a:p>
        </p:txBody>
      </p:sp>
      <p:sp>
        <p:nvSpPr>
          <p:cNvPr id="22" name="">
            <a:extLst>
              <a:ext uri="{FF2B5EF4-FFF2-40B4-BE49-F238E27FC236}">
                <ns2:creationId id="{06F78E10-5932-4882-A041-081AC4B0BAC2}"/>
              </a:ext>
            </a:extLst>
          </p:cNvPr>
          <p:cNvSpPr>
            <a:spLocks noGrp="1"/>
          </p:cNvSpPr>
          <p:nvPr/>
        </p:nvSpPr>
        <p:spPr>
          <a:xfrm>
            <a:off x="666750" y="4619625"/>
            <a:ext cx="38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A</a:t>
            </a:r>
          </a:p>
        </p:txBody>
      </p:sp>
      <p:sp>
        <p:nvSpPr>
          <p:cNvPr id="23" name="">
            <a:extLst>
              <a:ext uri="{FF2B5EF4-FFF2-40B4-BE49-F238E27FC236}">
                <ns2:creationId id="{95DEF6FF-577B-4304-9FB9-953A9238867E}"/>
              </a:ext>
            </a:extLst>
          </p:cNvPr>
          <p:cNvSpPr>
            <a:spLocks noGrp="1"/>
          </p:cNvSpPr>
          <p:nvPr/>
        </p:nvSpPr>
        <p:spPr>
          <a:xfrm>
            <a:off x="1333500" y="4762500"/>
            <a:ext cx="6762750" cy="953"/>
          </a:xfrm>
          <a:prstGeom prst="line">
            <a:avLst/>
          </a:prstGeom>
          <a:noFill/>
          <a:ln w="9525">
            <a:solidFill>
              <a:srgbClr val="CBD2DA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D8EF1329-3A16-4087-8F9F-50B366FCED9E}"/>
              </a:ext>
            </a:extLst>
          </p:cNvPr>
          <p:cNvSpPr>
            <a:spLocks noGrp="1"/>
          </p:cNvSpPr>
          <p:nvPr/>
        </p:nvSpPr>
        <p:spPr>
          <a:xfrm>
            <a:off x="2095500" y="4667250"/>
            <a:ext cx="190500" cy="190500"/>
          </a:xfrm>
          <a:prstGeom prst="ellipse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380F0740-723B-4EA3-A1B8-05D2ACF0FC16}"/>
              </a:ext>
            </a:extLst>
          </p:cNvPr>
          <p:cNvSpPr>
            <a:spLocks noGrp="1"/>
          </p:cNvSpPr>
          <p:nvPr/>
        </p:nvSpPr>
        <p:spPr>
          <a:xfrm>
            <a:off x="1543050" y="492442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受信e0</a:t>
            </a:r>
          </a:p>
        </p:txBody>
      </p:sp>
      <p:sp>
        <p:nvSpPr>
          <p:cNvPr id="26" name="">
            <a:extLst>
              <a:ext uri="{FF2B5EF4-FFF2-40B4-BE49-F238E27FC236}">
                <ns2:creationId id="{8C59B8B6-D95D-4DCD-B285-44D477DC5FD6}"/>
              </a:ext>
            </a:extLst>
          </p:cNvPr>
          <p:cNvSpPr>
            <a:spLocks noGrp="1"/>
          </p:cNvSpPr>
          <p:nvPr/>
        </p:nvSpPr>
        <p:spPr>
          <a:xfrm>
            <a:off x="666750" y="5238750"/>
            <a:ext cx="38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B</a:t>
            </a:r>
          </a:p>
        </p:txBody>
      </p:sp>
      <p:sp>
        <p:nvSpPr>
          <p:cNvPr id="27" name="">
            <a:extLst>
              <a:ext uri="{FF2B5EF4-FFF2-40B4-BE49-F238E27FC236}">
                <ns2:creationId id="{16B5292A-7915-437D-88BB-7E03790B09D7}"/>
              </a:ext>
            </a:extLst>
          </p:cNvPr>
          <p:cNvSpPr>
            <a:spLocks noGrp="1"/>
          </p:cNvSpPr>
          <p:nvPr/>
        </p:nvSpPr>
        <p:spPr>
          <a:xfrm>
            <a:off x="1333500" y="5381625"/>
            <a:ext cx="6762750" cy="953"/>
          </a:xfrm>
          <a:prstGeom prst="line">
            <a:avLst/>
          </a:prstGeom>
          <a:noFill/>
          <a:ln w="9525">
            <a:solidFill>
              <a:srgbClr val="CBD2DA"/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013D85D5-7521-4CC9-84AB-73A04EACAFBB}"/>
              </a:ext>
            </a:extLst>
          </p:cNvPr>
          <p:cNvSpPr>
            <a:spLocks noGrp="1"/>
          </p:cNvSpPr>
          <p:nvPr/>
        </p:nvSpPr>
        <p:spPr>
          <a:xfrm>
            <a:off x="6096000" y="5286375"/>
            <a:ext cx="190500" cy="190500"/>
          </a:xfrm>
          <a:prstGeom prst="ellipse">
            <a:avLst/>
          </a:prstGeom>
          <a:solidFill>
            <a:srgbClr val="E02B2B"/>
          </a:solidFill>
          <a:ln w="0">
            <a:noFill/>
            <a:prstDash val="solid"/>
          </a:ln>
        </p:spPr>
      </p:sp>
      <p:sp>
        <p:nvSpPr>
          <p:cNvPr id="29" name="">
            <a:extLst>
              <a:ext uri="{FF2B5EF4-FFF2-40B4-BE49-F238E27FC236}">
                <ns2:creationId id="{5EAF5E4D-BA73-4D71-9742-9A684A539D5B}"/>
              </a:ext>
            </a:extLst>
          </p:cNvPr>
          <p:cNvSpPr>
            <a:spLocks noGrp="1"/>
          </p:cNvSpPr>
          <p:nvPr/>
        </p:nvSpPr>
        <p:spPr>
          <a:xfrm>
            <a:off x="5543550" y="5543550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rPr>
              <a:t>受信e1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関連研究と今回の前提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未知電力を扱う研究でも、観測を共有する条件が重要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a7687e7c-2528-5c5e-b12b-4f5547112260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9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51161456-59CF-47BF-B097-E2B011544A80}"/>
              </a:ext>
            </a:extLst>
          </p:cNvPr>
          <p:cNvGraphicFramePr/>
          <p:nvPr/>
        </p:nvGraphicFramePr>
        <p:xfrm>
          <a:off x="400050" y="1524000"/>
          <a:ext cx="8343900" cy="2952750"/>
        </p:xfrm>
        <a:graphic>
          <a:graphicData uri="http://schemas.openxmlformats.org/drawingml/2006/table">
            <a:tbl>
              <a:tblPr/>
              <a:tblGrid>
                <a:gridCol w="1619250"/>
                <a:gridCol w="2952750"/>
                <a:gridCol w="3771900"/>
              </a:tblGrid>
              <a:tr h="73818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関連研究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扱う内容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今回との境界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73818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GhostBuster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RSSによるRID位置偽装の検知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複数観測者は実測チャネルから拡張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DRSS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受信強度差による未知電力の扱い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共通電力と受信ごとの電力差を区別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73818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今回の問い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別時刻・変動電力・受信の重なり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何が不足すると判定できないか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D50D9811-D759-4307-8EA0-C91B1AAE06E2}"/>
              </a:ext>
            </a:extLst>
          </p:cNvPr>
          <p:cNvSpPr>
            <a:spLocks noGrp="1"/>
          </p:cNvSpPr>
          <p:nvPr/>
        </p:nvSpPr>
        <p:spPr>
          <a:xfrm>
            <a:off x="428625" y="509587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完全非重複・毎送信の自由電力を無条件に解決した結果とは扱わない</a:t>
            </a:r>
          </a:p>
        </p:txBody>
      </p:sp>
      <p:sp>
        <p:nvSpPr>
          <p:cNvPr id="10" name="">
            <a:extLst>
              <a:ext uri="{FF2B5EF4-FFF2-40B4-BE49-F238E27FC236}">
                <ns2:creationId id="{85C21C95-F9A7-4584-B37C-231F844D03A8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Keizer et al., CCNC 2024, DOI:10.1109/CCNC51664.2024.10454860</a:t>
            </a:r>
          </a:p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Hu &amp; Leus, IEEE TSP 2017, DOI:10.1109/TSP.2017.2684741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同一送信の共通電力の除去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ノード間の受信強度の違いと、申告位置からの予測を比較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e075a70a-5e48-5f30-ba8b-38b04ca646d6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10</a:t>
            </a:fld>
          </a:p>
        </p:txBody>
      </p:sp>
      <p:sp>
        <p:nvSpPr>
          <p:cNvPr id="8" name="">
            <a:extLst>
              <a:ext uri="{FF2B5EF4-FFF2-40B4-BE49-F238E27FC236}">
                <ns2:creationId id="{21F86DD1-E350-4942-B230-099B00892DEC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AのRSSI − BのRSSI</a:t>
            </a:r>
          </a:p>
        </p:txBody>
      </p:sp>
      <p:sp>
        <p:nvSpPr>
          <p:cNvPr id="9" name="">
            <a:extLst>
              <a:ext uri="{FF2B5EF4-FFF2-40B4-BE49-F238E27FC236}">
                <ns2:creationId id="{6FE83013-741F-4B7B-A687-BD0733FB9B89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同じ送信なら、共通の送信電力成分を除去</a:t>
            </a:r>
          </a:p>
        </p:txBody>
      </p:sp>
      <p:sp>
        <p:nvSpPr>
          <p:cNvPr id="10" name="">
            <a:extLst>
              <a:ext uri="{FF2B5EF4-FFF2-40B4-BE49-F238E27FC236}">
                <ns2:creationId id="{3A3CC91F-6CD3-4EFD-B189-C724B89C0733}"/>
              </a:ext>
            </a:extLst>
          </p:cNvPr>
          <p:cNvSpPr>
            <a:spLocks noGrp="1"/>
          </p:cNvSpPr>
          <p:nvPr/>
        </p:nvSpPr>
        <p:spPr>
          <a:xfrm>
            <a:off x="619125" y="3286125"/>
            <a:ext cx="7953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Δr = −10n log₁₀(dA / dB) ＋ 誤差</a:t>
            </a:r>
          </a:p>
        </p:txBody>
      </p:sp>
      <p:sp>
        <p:nvSpPr>
          <p:cNvPr id="11" name="">
            <a:extLst>
              <a:ext uri="{FF2B5EF4-FFF2-40B4-BE49-F238E27FC236}">
                <ns2:creationId id="{8052D542-DBFF-4EC3-A452-DEE455E8F266}"/>
              </a:ext>
            </a:extLst>
          </p:cNvPr>
          <p:cNvSpPr>
            <a:spLocks noGrp="1"/>
          </p:cNvSpPr>
          <p:nvPr/>
        </p:nvSpPr>
        <p:spPr>
          <a:xfrm>
            <a:off x="1000125" y="4048125"/>
            <a:ext cx="7143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dA・dB：申告位置から各ノードまでの距離</a:t>
            </a:r>
          </a:p>
          <a:p>
            <a: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n：距離による減衰を表す係数</a:t>
            </a:r>
          </a:p>
        </p:txBody>
      </p:sp>
      <p:sp>
        <p:nvSpPr>
          <p:cNvPr id="12" name="">
            <a:extLst>
              <a:ext uri="{FF2B5EF4-FFF2-40B4-BE49-F238E27FC236}">
                <ns2:creationId id="{36963127-1BCD-46B2-975B-8CD862B80989}"/>
              </a:ext>
            </a:extLst>
          </p:cNvPr>
          <p:cNvSpPr>
            <a:spLocks noGrp="1"/>
          </p:cNvSpPr>
          <p:nvPr/>
        </p:nvSpPr>
        <p:spPr>
          <a:xfrm>
            <a:off x="428625" y="5191125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送信ごとに電力が変わっても、同じ送信内では共通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向き・遮蔽・受信機差まで消えるわけではない</a:t>
            </a:r>
          </a:p>
        </p:txBody>
      </p:sp>
      <p:sp>
        <p:nvSpPr>
          <p:cNvPr id="13" name="">
            <a:extLst>
              <a:ext uri="{FF2B5EF4-FFF2-40B4-BE49-F238E27FC236}">
                <ns2:creationId id="{D75402B1-513C-4E7D-A2C6-47763476BA48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関連：Hu &amp; Leus, IEEE TSP 2017, DOI:10.1109/TSP.2017.2684741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評価する3つの観測シナリオ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受信の重なりで、検査できる範囲が変わる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7e41307-3606-5de8-9b88-25c18bb1578d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11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5C51CA53-9EB1-4568-BA4A-12EF66EDC314}"/>
              </a:ext>
            </a:extLst>
          </p:cNvPr>
          <p:cNvGraphicFramePr/>
          <p:nvPr/>
        </p:nvGraphicFramePr>
        <p:xfrm>
          <a:off x="400050" y="1524000"/>
          <a:ext cx="8343900" cy="2019300"/>
        </p:xfrm>
        <a:graphic>
          <a:graphicData uri="http://schemas.openxmlformats.org/drawingml/2006/table">
            <a:tbl>
              <a:tblPr/>
              <a:tblGrid>
                <a:gridCol w="1714500"/>
                <a:gridCol w="2000250"/>
                <a:gridCol w="4629150"/>
              </a:tblGrid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シナリオ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1送信の受信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今回の扱い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全重複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常に5台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全イベントを検査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一部重複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0〜5台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複数受信と校正がある組を検査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完全非重複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最大1台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自由電力の位置判定は保留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E0A5CEDB-588C-4051-B42C-8AE03BF5878F}"/>
              </a:ext>
            </a:extLst>
          </p:cNvPr>
          <p:cNvSpPr>
            <a:spLocks noGrp="1"/>
          </p:cNvSpPr>
          <p:nvPr/>
        </p:nvSpPr>
        <p:spPr>
          <a:xfrm>
            <a:off x="428625" y="495300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全ノードが同じ一本の機体軌跡を参照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提出時刻と、電波を受信したイベントは別に管理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今回使用したデータの区分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実測で確認する注意点と、合成で検証する成立条件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dcb2c83a-bccb-594e-bddd-e5b95a9016ac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12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562B135F-B9BF-43D7-A8B0-08EEE589282D}"/>
              </a:ext>
            </a:extLst>
          </p:cNvPr>
          <p:cNvGraphicFramePr/>
          <p:nvPr/>
        </p:nvGraphicFramePr>
        <p:xfrm>
          <a:off x="400050" y="1524000"/>
          <a:ext cx="8343900" cy="3000375"/>
        </p:xfrm>
        <a:graphic>
          <a:graphicData uri="http://schemas.openxmlformats.org/drawingml/2006/table">
            <a:tbl>
              <a:tblPr/>
              <a:tblGrid>
                <a:gridCol w="1905000"/>
                <a:gridCol w="3095625"/>
                <a:gridCol w="3343275"/>
              </a:tblGrid>
              <a:tr h="750094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データ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実際に測った内容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今回確認すること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750094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屋内BLE実測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固定ビーコン→スマホのRSSI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揺らぎ・出力設定差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LoRa実測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固定送信機→移動するUAV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時刻対応・観測集約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750094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複数ノード合成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架空の機体軌跡とRSSI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位置改変の検知・保留・反例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151726AE-BEB6-4194-AE8E-37F497932197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実UAVのBLE／Wi-Fi RIDを複数台で同時取得した実測ではない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公開BLE実測におけるRSSI変動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出力設定差とRSSI差が、そのまま一致するとは限らない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461c807-5cba-5b9b-bc68-4d2bb3587fac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13</a:t>
            </a:fld>
          </a:p>
        </p:txBody>
      </p:sp>
      <p:sp>
        <p:nvSpPr>
          <p:cNvPr id="8" name="">
            <a:extLst>
              <a:ext uri="{FF2B5EF4-FFF2-40B4-BE49-F238E27FC236}">
                <ns2:creationId id="{1A9ECF55-BCCC-4CD0-93B1-0D3A099613F6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出典：manwestc/ble-rssi-indoor-localization-dataset、固定版 b38a9a4（屋内BLE実測）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285CA716-B941-4E73-821C-1FB0A3BDD1BE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ecd5521570ab4bdb"/>
          </a:graphicData>
        </a:graphic>
      </p:graphicFrame>
      <p:sp>
        <p:nvSpPr>
          <p:cNvPr id="10" name="">
            <a:extLst>
              <a:ext uri="{FF2B5EF4-FFF2-40B4-BE49-F238E27FC236}">
                <ns2:creationId id="{68FB8478-28DA-444D-9916-5F8A1150480D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同じ地点・ビーコンの組を比較。測定セッションの違いも含む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位置・環境を固定した電力だけの因果効果とは断定しない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公開UAV・LoRaデータの構成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実飛行中のRSSIと位置参照を使った再解析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1c362f3e-80f4-531e-b34a-30a975961103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14</a:t>
            </a:fld>
          </a:p>
        </p:txBody>
      </p:sp>
      <p:sp>
        <p:nvSpPr>
          <p:cNvPr id="8" name="">
            <a:extLst>
              <a:ext uri="{FF2B5EF4-FFF2-40B4-BE49-F238E27FC236}">
                <ns2:creationId id="{61A16B7B-7DE2-4AAE-BB48-845AE7C42D85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出典：Mavilia et al., Data in Brief 2025, DOI:10.1016/j.dib.2025.112243</a:t>
            </a:r>
          </a:p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データ：Zenodo v2, DOI:10.5281/zenodo.17339095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52971DDC-B2DC-4DEC-84AD-1CE961223FF6}"/>
              </a:ext>
            </a:extLst>
          </p:cNvPr>
          <p:cNvGraphicFramePr/>
          <p:nvPr/>
        </p:nvGraphicFramePr>
        <p:xfrm>
          <a:off x="400050" y="1524000"/>
          <a:ext cx="8343900" cy="3429000"/>
        </p:xfrm>
        <a:graphic>
          <a:graphicData uri="http://schemas.openxmlformats.org/drawingml/2006/table">
            <a:tbl>
              <a:tblPr/>
              <a:tblGrid>
                <a:gridCol w="1619250"/>
                <a:gridCol w="6724650"/>
              </a:tblGrid>
              <a:tr h="5715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715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送信・受信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雪中の固定LoRa送信機 → UAV上の受信機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件数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19条件・142,039件（公開論文の件数と一致）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715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分割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3 runがある16条件、学習／校正／評価を分離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距離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位置参照・高度から平坦地の斜距離を近似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715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対象の違い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868MHz LoRa。BLE Remote IDではない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1DA937B3-1D69-44C9-A2C9-A216BAD39391}"/>
              </a:ext>
            </a:extLst>
          </p:cNvPr>
          <p:cNvSpPr>
            <a:spLocks noGrp="1"/>
          </p:cNvSpPr>
          <p:nvPr/>
        </p:nvSpPr>
        <p:spPr>
          <a:xfrm>
            <a:off x="428625" y="533400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複数地上ノードで同じRID送信を受けた実測ではない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LoRa実測の観測集約と距離誤差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観測をまとめても、距離誤差の改善は小さめ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f8baff4d-286a-5779-8d83-24706044919e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15</a:t>
            </a:fld>
          </a:p>
        </p:txBody>
      </p:sp>
      <p:sp>
        <p:nvSpPr>
          <p:cNvPr id="8" name="">
            <a:extLst>
              <a:ext uri="{FF2B5EF4-FFF2-40B4-BE49-F238E27FC236}">
                <ns2:creationId id="{B506C61E-5BC7-44C8-A77D-0B59BE2A9EF1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出典：mac-public-lora-20261101 / window-summary.csv（公開LoRa実測の再解析）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5902955E-E102-4D36-945B-0345B7CABC40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05eb140e12594b58"/>
          </a:graphicData>
        </a:graphic>
      </p:graphicFrame>
      <p:sp>
        <p:nvSpPr>
          <p:cNvPr id="10" name="">
            <a:extLst>
              <a:ext uri="{FF2B5EF4-FFF2-40B4-BE49-F238E27FC236}">
                <ns2:creationId id="{DC151DF0-8E48-4C8A-B43E-EC6A24988CCC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16条件・48分割を等重み平均。距離は地形を簡略化した近似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連続する観測を、独立した反復試験とは扱わない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LoRa実測の時刻対応と誤警報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古いRSSIを現在位置と比較すると、正常でも警報が増える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80d2706b-5c6b-5259-ab88-4169b639586a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16</a:t>
            </a:fld>
          </a:p>
        </p:txBody>
      </p:sp>
      <p:sp>
        <p:nvSpPr>
          <p:cNvPr id="8" name="">
            <a:extLst>
              <a:ext uri="{FF2B5EF4-FFF2-40B4-BE49-F238E27FC236}">
                <ns2:creationId id="{C47A345D-94E4-4BC1-9727-DFE49202A22C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出典：mac-public-lora-20261101 / delay-summary.csv（実測系列への人工時刻ずれ）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58FAC496-0651-4534-9B27-A0C707EB86A5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75653c2be2154440"/>
          </a:graphicData>
        </a:graphic>
      </p:graphicFrame>
      <p:sp>
        <p:nvSpPr>
          <p:cNvPr id="10" name="">
            <a:extLst>
              <a:ext uri="{FF2B5EF4-FFF2-40B4-BE49-F238E27FC236}">
                <ns2:creationId id="{165E043C-D2B5-463B-A750-7F24C62BB814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15秒ずれでは約23.2%。全遅延で同じ評価時刻を使用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実RIDの複数ノード融合を測定した結果ではない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複数ノード合成評価の条件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未知・変動電力を持つ一本の飛行を、複数地点で観測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f357df90-b77c-53e4-849e-dd63c28968e5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17</a:t>
            </a:fld>
          </a:p>
        </p:txBody>
      </p:sp>
      <p:sp>
        <p:nvSpPr>
          <p:cNvPr id="8" name="">
            <a:extLst>
              <a:ext uri="{FF2B5EF4-FFF2-40B4-BE49-F238E27FC236}">
                <ns2:creationId id="{DAC6E5EC-CF2C-4E79-ADDE-63FF28681014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config.json（合成10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2C346DBE-A75E-469E-A83F-3461A48CC9FB}"/>
              </a:ext>
            </a:extLst>
          </p:cNvPr>
          <p:cNvGraphicFramePr/>
          <p:nvPr/>
        </p:nvGraphicFramePr>
        <p:xfrm>
          <a:off x="428625" y="1619250"/>
          <a:ext cx="4810125" cy="3333750"/>
        </p:xfrm>
        <a:graphic>
          <a:graphicData uri="http://schemas.openxmlformats.org/drawingml/2006/chart">
            <ns3:chart ns4:id="R211bb82328514d18"/>
          </a:graphicData>
        </a:graphic>
      </p:graphicFrame>
      <p:graphicFrame>
        <p:nvGraphicFramePr>
          <p:cNvPr id="10" name="">
            <a:extLst>
              <a:ext uri="{FF2B5EF4-FFF2-40B4-BE49-F238E27FC236}">
                <ns2:creationId id="{6304CF9C-CD9F-4743-A55A-24D145A4B9BF}"/>
              </a:ext>
            </a:extLst>
          </p:cNvPr>
          <p:cNvGraphicFramePr/>
          <p:nvPr/>
        </p:nvGraphicFramePr>
        <p:xfrm>
          <a:off x="5476875" y="1666875"/>
          <a:ext cx="3190875" cy="3143250"/>
        </p:xfrm>
        <a:graphic>
          <a:graphicData uri="http://schemas.openxmlformats.org/drawingml/2006/table">
            <a:tbl>
              <a:tblPr/>
              <a:tblGrid>
                <a:gridCol w="904875"/>
                <a:gridCol w="2286000"/>
              </a:tblGrid>
              <a:tr h="5238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設定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238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機体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共通の3D軌跡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観測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0.5秒間隔・5台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238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電力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未知・送信ごとに変動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雑音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SD2／6dB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238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反復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10 seed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>
              <a:ext uri="{FF2B5EF4-FFF2-40B4-BE49-F238E27FC236}">
                <ns2:creationId id="{0E4C8C20-1593-4184-BE0C-30F8D4053342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受信範囲は幾何とスキャン欠測の簡略モデル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正常位置誤差・NLOS・実際の時計誤差は未導入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検知・誤警報・判定保留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警報が出た割合だけでなく、判定できた割合も評価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d2489176-7dab-5b42-b2e8-1d6bd67f370f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18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1943D1E2-BD2A-4102-B67B-F811F397C174}"/>
              </a:ext>
            </a:extLst>
          </p:cNvPr>
          <p:cNvGraphicFramePr/>
          <p:nvPr/>
        </p:nvGraphicFramePr>
        <p:xfrm>
          <a:off x="400050" y="1524000"/>
          <a:ext cx="8343900" cy="3333750"/>
        </p:xfrm>
        <a:graphic>
          <a:graphicData uri="http://schemas.openxmlformats.org/drawingml/2006/table">
            <a:tbl>
              <a:tblPr/>
              <a:tblGrid>
                <a:gridCol w="3714750"/>
                <a:gridCol w="4629150"/>
              </a:tblGrid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入力と出力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意味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位置を改変した入力 → 警報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合成実験での位置偽装の検知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正常な入力 → 警報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正常時の誤警報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観測・校正が不足 → 保留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位置が正しいとも、偽装とも判断しない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判定可能部分の検知率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判定できたイベントだけを分母にする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全送信中の検知割合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保留を含む全送信を分母にする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F5D7E8F1-A0DE-4893-8680-B72A38350331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正常校正の95%点を閾値に設定。評価飛行とは分離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共通電力の変更と警報率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電力変更だけで位置偽装と誤認しないか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81a8bf8e-f913-583b-a8a7-d6bf4689756c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19</a:t>
            </a:fld>
          </a:p>
        </p:txBody>
      </p:sp>
      <p:sp>
        <p:nvSpPr>
          <p:cNvPr id="8" name="">
            <a:extLst>
              <a:ext uri="{FF2B5EF4-FFF2-40B4-BE49-F238E27FC236}">
                <ns2:creationId id="{685BD19E-F49F-453D-8A2D-8580A12CB708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cases-summary.csv（合成10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0FA1EE19-2FD4-4833-B42C-114D4B1BEB0B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bec9e34da03345b5"/>
          </a:graphicData>
        </a:graphic>
      </p:graphicFrame>
      <p:sp>
        <p:nvSpPr>
          <p:cNvPr id="10" name="">
            <a:extLst>
              <a:ext uri="{FF2B5EF4-FFF2-40B4-BE49-F238E27FC236}">
                <ns2:creationId id="{EF62DD11-36C8-4E16-80F0-C4A073D60298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3条件とも約5%。共通電力の変更はスコアから除去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電力変更そのものや、申告電力の虚偽を検知した結果ではない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位置改変量と受信ノード数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位置をどれだけ変えると検知できるか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1108ea5-b56c-5fab-8f52-5e199835642c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20</a:t>
            </a:fld>
          </a:p>
        </p:txBody>
      </p:sp>
      <p:sp>
        <p:nvSpPr>
          <p:cNvPr id="8" name="">
            <a:extLst>
              <a:ext uri="{FF2B5EF4-FFF2-40B4-BE49-F238E27FC236}">
                <ns2:creationId id="{AAF7A9ED-36A7-483B-A405-9E38971B60FA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curves-summary.csv（合成10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744FB506-F61F-4D40-8166-5E07D203786F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5843aded6d57470f"/>
          </a:graphicData>
        </a:graphic>
      </p:graphicFrame>
      <p:sp>
        <p:nvSpPr>
          <p:cNvPr id="10" name="">
            <a:extLst>
              <a:ext uri="{FF2B5EF4-FFF2-40B4-BE49-F238E27FC236}">
                <ns2:creationId id="{617DB510-1C8F-4838-AD2A-DE52E438EE19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100m改変でも、5台の検知率は約73.7%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0mは正常誤警報。台数の変更とともに使う配置も変化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位置100m＋共通電力補償でも、同じ73.7%（5台）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雑音増加による検知率の低下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同じ配置・同じ改変でも、電波の揺らぎで見逃しが増加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424bfba8-25c9-5373-ba5a-f5fc8dde5dde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21</a:t>
            </a:fld>
          </a:p>
        </p:txBody>
      </p:sp>
      <p:sp>
        <p:nvSpPr>
          <p:cNvPr id="8" name="">
            <a:extLst>
              <a:ext uri="{FF2B5EF4-FFF2-40B4-BE49-F238E27FC236}">
                <ns2:creationId id="{815B7297-A3B1-4521-BB64-B83D031BAE46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curves-summary.csv（合成10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4BFE4AD9-7A52-4784-B4BF-6A56FA075A61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8da6cce4999346f6"/>
          </a:graphicData>
        </a:graphic>
      </p:graphicFrame>
      <p:sp>
        <p:nvSpPr>
          <p:cNvPr id="10" name="">
            <a:extLst>
              <a:ext uri="{FF2B5EF4-FFF2-40B4-BE49-F238E27FC236}">
                <ns2:creationId id="{B1F2E45F-D1AB-4EE9-A5CC-6B217AD35326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雑音SD6dBでは、100m改変・5台でも約18.7%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0mは正常誤警報。台数の変更とともに使う配置も変化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一部重複での検知と判定保留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同じ100m改変でも、判定できる時間帯は限られる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4cb40b6e-1348-575e-89d8-8c950e1c33c7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22</a:t>
            </a:fld>
          </a:p>
        </p:txBody>
      </p:sp>
      <p:sp>
        <p:nvSpPr>
          <p:cNvPr id="8" name="">
            <a:extLst>
              <a:ext uri="{FF2B5EF4-FFF2-40B4-BE49-F238E27FC236}">
                <ns2:creationId id="{10ED098B-6D66-4D58-84CC-1A0CB97E0831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cases-summary.csv（合成10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95B6FE18-1338-4057-ACC4-6A85C019D54D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9404ec1dceb94e62"/>
          </a:graphicData>
        </a:graphic>
      </p:graphicFrame>
      <p:sp>
        <p:nvSpPr>
          <p:cNvPr id="10" name="">
            <a:extLst>
              <a:ext uri="{FF2B5EF4-FFF2-40B4-BE49-F238E27FC236}">
                <ns2:creationId id="{0CA7FF3F-2148-442E-9B01-BEC6BF9350FE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一部重複：判定可能77.1%、その部分の検知率64.0%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全送信中の警報は49.35%、保留22.89%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23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異なる送信の誤対応と誤警報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時刻が近いだけでは、電力が共通とは限らない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fb234502-da23-5ec8-b3f6-99732e1e144c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23</a:t>
            </a:fld>
          </a:p>
        </p:txBody>
      </p:sp>
      <p:sp>
        <p:nvSpPr>
          <p:cNvPr id="8" name="">
            <a:extLst>
              <a:ext uri="{FF2B5EF4-FFF2-40B4-BE49-F238E27FC236}">
                <ns2:creationId id="{D993147F-2ED7-4019-8B10-94D0725AB84E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pairing-summary.csv（合成10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FF98C180-EDA8-498E-BABA-5C9DE48E9840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3ab46d596e8b4731"/>
          </a:graphicData>
        </a:graphic>
      </p:graphicFrame>
      <p:sp>
        <p:nvSpPr>
          <p:cNvPr id="10" name="">
            <a:extLst>
              <a:ext uri="{FF2B5EF4-FFF2-40B4-BE49-F238E27FC236}">
                <ns2:creationId id="{C4A172B7-E2A4-4236-B50F-CFBF7EFFF15D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0.5秒でも、電力が別々なら誤警報が増えるモデル例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電力変動SD8dBは仮定。実機の時間上限や測定値ではない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同一送信の提出遅延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受信したイベントを正しく結べれば、提出が遅くても同じ判定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eb29f96-0787-5596-a311-fcb44662b220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24</a:t>
            </a:fld>
          </a:p>
        </p:txBody>
      </p:sp>
      <p:sp>
        <p:nvSpPr>
          <p:cNvPr id="8" name="">
            <a:extLst>
              <a:ext uri="{FF2B5EF4-FFF2-40B4-BE49-F238E27FC236}">
                <ns2:creationId id="{F1859BBF-B32A-412C-B08F-44CB69BF9E14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uploads-summary.csv（理想的な同一イベント結合）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486C3906-D691-4445-A8FE-79AC55324CB7}"/>
              </a:ext>
            </a:extLst>
          </p:cNvPr>
          <p:cNvGraphicFramePr/>
          <p:nvPr/>
        </p:nvGraphicFramePr>
        <p:xfrm>
          <a:off x="400050" y="1524000"/>
          <a:ext cx="8343900" cy="2428875"/>
        </p:xfrm>
        <a:graphic>
          <a:graphicData uri="http://schemas.openxmlformats.org/drawingml/2006/table">
            <a:tbl>
              <a:tblPr/>
              <a:tblGrid>
                <a:gridCol w="2762250"/>
                <a:gridCol w="2762250"/>
                <a:gridCol w="2819400"/>
              </a:tblGrid>
              <a:tr h="607219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最後の提出まで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正常誤警報率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追加の判定待ち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07219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0秒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4.98%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0秒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5秒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4.98%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5秒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07219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60秒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4.98%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60秒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A783B64F-A670-4890-A4CC-8F87957A89BA}"/>
              </a:ext>
            </a:extLst>
          </p:cNvPr>
          <p:cNvSpPr>
            <a:spLocks noGrp="1"/>
          </p:cNvSpPr>
          <p:nvPr/>
        </p:nvSpPr>
        <p:spPr>
          <a:xfrm>
            <a:off x="419100" y="44291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成立の前提</a:t>
            </a:r>
          </a:p>
        </p:txBody>
      </p:sp>
      <p:sp>
        <p:nvSpPr>
          <p:cNvPr id="11" name="">
            <a:extLst>
              <a:ext uri="{FF2B5EF4-FFF2-40B4-BE49-F238E27FC236}">
                <ns2:creationId id="{5B7A5E5E-5FA1-4276-8EDF-A9FF41B44B6A}"/>
              </a:ext>
            </a:extLst>
          </p:cNvPr>
          <p:cNvSpPr>
            <a:spLocks noGrp="1"/>
          </p:cNvSpPr>
          <p:nvPr/>
        </p:nvSpPr>
        <p:spPr>
          <a:xfrm>
            <a:off x="447675" y="4810125"/>
            <a:ext cx="8210550" cy="935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同じ物理送信であることを理想的に知っている条件</a:t>
            </a:r>
          </a:p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通信スタック・時計誤差・実際の対応付けは未評価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複数受信機でも残る配置の曖昧さ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4台受信でも、違う位置を区別できない配置がある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aaad17b4-ebd1-52b9-adef-e4f8f029236e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25</a:t>
            </a:fld>
          </a:p>
        </p:txBody>
      </p:sp>
      <p:sp>
        <p:nvSpPr>
          <p:cNvPr id="8" name="">
            <a:extLst>
              <a:ext uri="{FF2B5EF4-FFF2-40B4-BE49-F238E27FC236}">
                <ns2:creationId id="{DAD2FB14-7EC2-4EB3-91F3-D15F528AD7CA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数理反例：雑音なし、単一送信源、既知の伝搬指数2.2。実RFの攻撃実証ではない。</a:t>
            </a:r>
          </a:p>
        </p:txBody>
      </p:sp>
      <p:sp>
        <p:nvSpPr>
          <p:cNvPr id="9" name="">
            <a:extLst>
              <a:ext uri="{FF2B5EF4-FFF2-40B4-BE49-F238E27FC236}">
                <ns2:creationId id="{BA60B2EC-4C59-44DC-8B8A-4BBD998BAC59}"/>
              </a:ext>
            </a:extLst>
          </p:cNvPr>
          <p:cNvSpPr>
            <a:spLocks noGrp="1"/>
          </p:cNvSpPr>
          <p:nvPr/>
        </p:nvSpPr>
        <p:spPr>
          <a:xfrm>
            <a:off x="1333500" y="1809750"/>
            <a:ext cx="2857500" cy="2857500"/>
          </a:xfrm>
          <a:prstGeom prst="ellipse">
            <a:avLst/>
          </a:prstGeom>
          <a:noFill/>
          <a:ln w="19050">
            <a:solidFill>
              <a:srgbClr val="BEC9D6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573ABBE5-8C07-4453-B49D-1FBC01C5FEDD}"/>
              </a:ext>
            </a:extLst>
          </p:cNvPr>
          <p:cNvSpPr>
            <a:spLocks noGrp="1"/>
          </p:cNvSpPr>
          <p:nvPr/>
        </p:nvSpPr>
        <p:spPr>
          <a:xfrm>
            <a:off x="4086225" y="3133725"/>
            <a:ext cx="209550" cy="2095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3DC58444-3200-4B79-B91E-9ECB5BB1A3FA}"/>
              </a:ext>
            </a:extLst>
          </p:cNvPr>
          <p:cNvSpPr>
            <a:spLocks noGrp="1"/>
          </p:cNvSpPr>
          <p:nvPr/>
        </p:nvSpPr>
        <p:spPr>
          <a:xfrm>
            <a:off x="4343400" y="3114675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A</a:t>
            </a:r>
          </a:p>
        </p:txBody>
      </p:sp>
      <p:sp>
        <p:nvSpPr>
          <p:cNvPr id="12" name="">
            <a:extLst>
              <a:ext uri="{FF2B5EF4-FFF2-40B4-BE49-F238E27FC236}">
                <ns2:creationId id="{440E5B91-3162-4218-9636-3446E50F6C2F}"/>
              </a:ext>
            </a:extLst>
          </p:cNvPr>
          <p:cNvSpPr>
            <a:spLocks noGrp="1"/>
          </p:cNvSpPr>
          <p:nvPr/>
        </p:nvSpPr>
        <p:spPr>
          <a:xfrm>
            <a:off x="2657475" y="1704975"/>
            <a:ext cx="209550" cy="2095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D86DAA0F-FF98-4DF7-A56B-5CE46BA56B91}"/>
              </a:ext>
            </a:extLst>
          </p:cNvPr>
          <p:cNvSpPr>
            <a:spLocks noGrp="1"/>
          </p:cNvSpPr>
          <p:nvPr/>
        </p:nvSpPr>
        <p:spPr>
          <a:xfrm>
            <a:off x="2914650" y="1685925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B</a:t>
            </a:r>
          </a:p>
        </p:txBody>
      </p:sp>
      <p:sp>
        <p:nvSpPr>
          <p:cNvPr id="14" name="">
            <a:extLst>
              <a:ext uri="{FF2B5EF4-FFF2-40B4-BE49-F238E27FC236}">
                <ns2:creationId id="{85DE278E-DBBF-457F-852D-1AAB4D030C63}"/>
              </a:ext>
            </a:extLst>
          </p:cNvPr>
          <p:cNvSpPr>
            <a:spLocks noGrp="1"/>
          </p:cNvSpPr>
          <p:nvPr/>
        </p:nvSpPr>
        <p:spPr>
          <a:xfrm>
            <a:off x="1228725" y="3133725"/>
            <a:ext cx="209550" cy="2095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877CD425-DF71-4875-9F4A-7179C131C271}"/>
              </a:ext>
            </a:extLst>
          </p:cNvPr>
          <p:cNvSpPr>
            <a:spLocks noGrp="1"/>
          </p:cNvSpPr>
          <p:nvPr/>
        </p:nvSpPr>
        <p:spPr>
          <a:xfrm>
            <a:off x="1485900" y="3114675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C</a:t>
            </a:r>
          </a:p>
        </p:txBody>
      </p:sp>
      <p:sp>
        <p:nvSpPr>
          <p:cNvPr id="16" name="">
            <a:extLst>
              <a:ext uri="{FF2B5EF4-FFF2-40B4-BE49-F238E27FC236}">
                <ns2:creationId id="{A98D88EC-DB0D-431A-B3C3-5F85D67578F1}"/>
              </a:ext>
            </a:extLst>
          </p:cNvPr>
          <p:cNvSpPr>
            <a:spLocks noGrp="1"/>
          </p:cNvSpPr>
          <p:nvPr/>
        </p:nvSpPr>
        <p:spPr>
          <a:xfrm>
            <a:off x="2657475" y="4562475"/>
            <a:ext cx="209550" cy="2095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9F05FBA5-26BC-4161-82C4-F8AFB11EEB17}"/>
              </a:ext>
            </a:extLst>
          </p:cNvPr>
          <p:cNvSpPr>
            <a:spLocks noGrp="1"/>
          </p:cNvSpPr>
          <p:nvPr/>
        </p:nvSpPr>
        <p:spPr>
          <a:xfrm>
            <a:off x="2914650" y="4543425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D</a:t>
            </a:r>
          </a:p>
        </p:txBody>
      </p:sp>
      <p:sp>
        <p:nvSpPr>
          <p:cNvPr id="18" name="">
            <a:extLst>
              <a:ext uri="{FF2B5EF4-FFF2-40B4-BE49-F238E27FC236}">
                <ns2:creationId id="{2C9D5B4A-2351-4653-A5F5-4BBF3236F32B}"/>
              </a:ext>
            </a:extLst>
          </p:cNvPr>
          <p:cNvSpPr>
            <a:spLocks noGrp="1"/>
          </p:cNvSpPr>
          <p:nvPr/>
        </p:nvSpPr>
        <p:spPr>
          <a:xfrm>
            <a:off x="666750" y="5048250"/>
            <a:ext cx="3381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中心上空の2つの候補</a:t>
            </a:r>
          </a:p>
        </p:txBody>
      </p:sp>
      <p:sp>
        <p:nvSpPr>
          <p:cNvPr id="19" name="">
            <a:extLst>
              <a:ext uri="{FF2B5EF4-FFF2-40B4-BE49-F238E27FC236}">
                <ns2:creationId id="{0EABBFFF-4320-4E2C-85A2-A792C3A38FC9}"/>
              </a:ext>
            </a:extLst>
          </p:cNvPr>
          <p:cNvSpPr>
            <a:spLocks noGrp="1"/>
          </p:cNvSpPr>
          <p:nvPr/>
        </p:nvSpPr>
        <p:spPr>
          <a:xfrm>
            <a:off x="666750" y="5429250"/>
            <a:ext cx="3381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半径100m・地上4台</a:t>
            </a:r>
          </a:p>
        </p:txBody>
      </p:sp>
      <p:sp>
        <p:nvSpPr>
          <p:cNvPr id="20" name="">
            <a:extLst>
              <a:ext uri="{FF2B5EF4-FFF2-40B4-BE49-F238E27FC236}">
                <ns2:creationId id="{ED64D4DD-9B4D-420B-9A66-FA6AB080C147}"/>
              </a:ext>
            </a:extLst>
          </p:cNvPr>
          <p:cNvSpPr>
            <a:spLocks noGrp="1"/>
          </p:cNvSpPr>
          <p:nvPr/>
        </p:nvSpPr>
        <p:spPr>
          <a:xfrm>
            <a:off x="5095875" y="1714500"/>
            <a:ext cx="361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両方のRID申告：高度80m</a:t>
            </a:r>
          </a:p>
        </p:txBody>
      </p:sp>
      <p:sp>
        <p:nvSpPr>
          <p:cNvPr id="21" name="">
            <a:extLst>
              <a:ext uri="{FF2B5EF4-FFF2-40B4-BE49-F238E27FC236}">
                <ns2:creationId id="{E59032DA-DFA6-4A7F-ACD8-8A8ADBC3442A}"/>
              </a:ext>
            </a:extLst>
          </p:cNvPr>
          <p:cNvSpPr>
            <a:spLocks noGrp="1"/>
          </p:cNvSpPr>
          <p:nvPr/>
        </p:nvSpPr>
        <p:spPr>
          <a:xfrm>
            <a:off x="5667375" y="2476500"/>
            <a:ext cx="190500" cy="190500"/>
          </a:xfrm>
          <a:prstGeom prst="ellipse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EC01A947-0B31-4509-A781-C2BBDA3E54E1}"/>
              </a:ext>
            </a:extLst>
          </p:cNvPr>
          <p:cNvSpPr>
            <a:spLocks noGrp="1"/>
          </p:cNvSpPr>
          <p:nvPr/>
        </p:nvSpPr>
        <p:spPr>
          <a:xfrm>
            <a:off x="5114925" y="273367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正常：実高度80m</a:t>
            </a:r>
          </a:p>
        </p:txBody>
      </p:sp>
      <p:sp>
        <p:nvSpPr>
          <p:cNvPr id="23" name="">
            <a:extLst>
              <a:ext uri="{FF2B5EF4-FFF2-40B4-BE49-F238E27FC236}">
                <ns2:creationId id="{998246A1-9E37-4D15-84A9-E7304BCDC652}"/>
              </a:ext>
            </a:extLst>
          </p:cNvPr>
          <p:cNvSpPr>
            <a:spLocks noGrp="1"/>
          </p:cNvSpPr>
          <p:nvPr/>
        </p:nvSpPr>
        <p:spPr>
          <a:xfrm>
            <a:off x="5667375" y="4191000"/>
            <a:ext cx="190500" cy="190500"/>
          </a:xfrm>
          <a:prstGeom prst="ellipse">
            <a:avLst/>
          </a:prstGeom>
          <a:solidFill>
            <a:srgbClr val="E02B2B"/>
          </a:solidFill>
          <a:ln w="0">
            <a:noFill/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B94FF444-B706-4261-9188-585A2BFC7445}"/>
              </a:ext>
            </a:extLst>
          </p:cNvPr>
          <p:cNvSpPr>
            <a:spLocks noGrp="1"/>
          </p:cNvSpPr>
          <p:nvPr/>
        </p:nvSpPr>
        <p:spPr>
          <a:xfrm>
            <a:off x="5114925" y="444817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rPr>
              <a:t>偽装：実高度20m</a:t>
            </a:r>
          </a:p>
        </p:txBody>
      </p:sp>
      <p:sp>
        <p:nvSpPr>
          <p:cNvPr id="25" name="">
            <a:extLst>
              <a:ext uri="{FF2B5EF4-FFF2-40B4-BE49-F238E27FC236}">
                <ns2:creationId id="{2934B3AC-98CD-4680-9D23-29AA672EEB76}"/>
              </a:ext>
            </a:extLst>
          </p:cNvPr>
          <p:cNvSpPr>
            <a:spLocks noGrp="1"/>
          </p:cNvSpPr>
          <p:nvPr/>
        </p:nvSpPr>
        <p:spPr>
          <a:xfrm>
            <a:off x="5762625" y="2762250"/>
            <a:ext cx="953" cy="1285875"/>
          </a:xfrm>
          <a:prstGeom prst="line">
            <a:avLst/>
          </a:prstGeom>
          <a:noFill/>
          <a:ln w="19050">
            <a:solidFill>
              <a:srgbClr val="CBD2DA"/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A2B3D92F-6F8D-42B3-AD30-6DC1B06B36A5}"/>
              </a:ext>
            </a:extLst>
          </p:cNvPr>
          <p:cNvSpPr>
            <a:spLocks noGrp="1"/>
          </p:cNvSpPr>
          <p:nvPr/>
        </p:nvSpPr>
        <p:spPr>
          <a:xfrm>
            <a:off x="6286500" y="3238500"/>
            <a:ext cx="23336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電力も変えると</a:t>
            </a:r>
          </a:p>
          <a:p>
            <a: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見分けられるか？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6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配置と電力補償による同一観測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高度も電力も違うのに、全ノードで同じRSSI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21ee28a-5d08-5859-8d99-d397e5969a6c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26</a:t>
            </a:fld>
          </a:p>
        </p:txBody>
      </p:sp>
      <p:sp>
        <p:nvSpPr>
          <p:cNvPr id="8" name="">
            <a:extLst>
              <a:ext uri="{FF2B5EF4-FFF2-40B4-BE49-F238E27FC236}">
                <ns2:creationId id="{FB6405EE-20F3-44FB-99B1-0FC9403DC1A5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summary.json / counterexamples（雑音なしの数理反例）</a:t>
            </a:r>
          </a:p>
        </p:txBody>
      </p:sp>
      <p:sp>
        <p:nvSpPr>
          <p:cNvPr id="9" name="">
            <a:extLst>
              <a:ext uri="{FF2B5EF4-FFF2-40B4-BE49-F238E27FC236}">
                <ns2:creationId id="{19A815AD-6BBA-4F1B-8B74-B57EE9D6B86E}"/>
              </a:ext>
            </a:extLst>
          </p:cNvPr>
          <p:cNvSpPr>
            <a:spLocks noGrp="1"/>
          </p:cNvSpPr>
          <p:nvPr/>
        </p:nvSpPr>
        <p:spPr>
          <a:xfrm>
            <a:off x="1095375" y="2047875"/>
            <a:ext cx="2381250" cy="2381250"/>
          </a:xfrm>
          <a:prstGeom prst="ellipse">
            <a:avLst/>
          </a:prstGeom>
          <a:noFill/>
          <a:ln w="19050">
            <a:solidFill>
              <a:srgbClr val="BEC9D6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D20DD9F0-A839-44B7-98D8-668FD9E42CC6}"/>
              </a:ext>
            </a:extLst>
          </p:cNvPr>
          <p:cNvSpPr>
            <a:spLocks noGrp="1"/>
          </p:cNvSpPr>
          <p:nvPr/>
        </p:nvSpPr>
        <p:spPr>
          <a:xfrm>
            <a:off x="3371850" y="3133725"/>
            <a:ext cx="209550" cy="2095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62C960A6-EA92-42F4-A134-C8F827C32D14}"/>
              </a:ext>
            </a:extLst>
          </p:cNvPr>
          <p:cNvSpPr>
            <a:spLocks noGrp="1"/>
          </p:cNvSpPr>
          <p:nvPr/>
        </p:nvSpPr>
        <p:spPr>
          <a:xfrm>
            <a:off x="3629025" y="3114675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A</a:t>
            </a:r>
          </a:p>
        </p:txBody>
      </p:sp>
      <p:sp>
        <p:nvSpPr>
          <p:cNvPr id="12" name="">
            <a:extLst>
              <a:ext uri="{FF2B5EF4-FFF2-40B4-BE49-F238E27FC236}">
                <ns2:creationId id="{3D420C46-ADAE-4521-9EBF-D9EDAA499BCE}"/>
              </a:ext>
            </a:extLst>
          </p:cNvPr>
          <p:cNvSpPr>
            <a:spLocks noGrp="1"/>
          </p:cNvSpPr>
          <p:nvPr/>
        </p:nvSpPr>
        <p:spPr>
          <a:xfrm>
            <a:off x="2181225" y="1943100"/>
            <a:ext cx="209550" cy="2095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8765A86E-BD52-47EA-84A6-D4608AA8E643}"/>
              </a:ext>
            </a:extLst>
          </p:cNvPr>
          <p:cNvSpPr>
            <a:spLocks noGrp="1"/>
          </p:cNvSpPr>
          <p:nvPr/>
        </p:nvSpPr>
        <p:spPr>
          <a:xfrm>
            <a:off x="2438400" y="19240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B</a:t>
            </a:r>
          </a:p>
        </p:txBody>
      </p:sp>
      <p:sp>
        <p:nvSpPr>
          <p:cNvPr id="14" name="">
            <a:extLst>
              <a:ext uri="{FF2B5EF4-FFF2-40B4-BE49-F238E27FC236}">
                <ns2:creationId id="{9EF78317-689A-462C-8058-CFFD52643506}"/>
              </a:ext>
            </a:extLst>
          </p:cNvPr>
          <p:cNvSpPr>
            <a:spLocks noGrp="1"/>
          </p:cNvSpPr>
          <p:nvPr/>
        </p:nvSpPr>
        <p:spPr>
          <a:xfrm>
            <a:off x="990600" y="3133725"/>
            <a:ext cx="209550" cy="2095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1D91785C-84E0-4CAF-A53B-C4110E411D22}"/>
              </a:ext>
            </a:extLst>
          </p:cNvPr>
          <p:cNvSpPr>
            <a:spLocks noGrp="1"/>
          </p:cNvSpPr>
          <p:nvPr/>
        </p:nvSpPr>
        <p:spPr>
          <a:xfrm>
            <a:off x="1247775" y="3114675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C</a:t>
            </a:r>
          </a:p>
        </p:txBody>
      </p:sp>
      <p:sp>
        <p:nvSpPr>
          <p:cNvPr id="16" name="">
            <a:extLst>
              <a:ext uri="{FF2B5EF4-FFF2-40B4-BE49-F238E27FC236}">
                <ns2:creationId id="{76AD3B7A-6D06-483C-9EBD-EC194BF8CCF3}"/>
              </a:ext>
            </a:extLst>
          </p:cNvPr>
          <p:cNvSpPr>
            <a:spLocks noGrp="1"/>
          </p:cNvSpPr>
          <p:nvPr/>
        </p:nvSpPr>
        <p:spPr>
          <a:xfrm>
            <a:off x="2181225" y="4324350"/>
            <a:ext cx="209550" cy="2095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A0D11819-D162-471B-A44A-6CB90D69C2AA}"/>
              </a:ext>
            </a:extLst>
          </p:cNvPr>
          <p:cNvSpPr>
            <a:spLocks noGrp="1"/>
          </p:cNvSpPr>
          <p:nvPr/>
        </p:nvSpPr>
        <p:spPr>
          <a:xfrm>
            <a:off x="2438400" y="430530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D</a:t>
            </a:r>
          </a:p>
        </p:txBody>
      </p:sp>
      <p:sp>
        <p:nvSpPr>
          <p:cNvPr id="18" name="">
            <a:extLst>
              <a:ext uri="{FF2B5EF4-FFF2-40B4-BE49-F238E27FC236}">
                <ns2:creationId id="{2E8D8BD1-A90C-4D7B-9938-2F9DEBEA2EAD}"/>
              </a:ext>
            </a:extLst>
          </p:cNvPr>
          <p:cNvSpPr>
            <a:spLocks noGrp="1"/>
          </p:cNvSpPr>
          <p:nvPr/>
        </p:nvSpPr>
        <p:spPr>
          <a:xfrm>
            <a:off x="666750" y="5048250"/>
            <a:ext cx="3381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中心上空の2つの候補</a:t>
            </a:r>
          </a:p>
        </p:txBody>
      </p:sp>
      <p:sp>
        <p:nvSpPr>
          <p:cNvPr id="19" name="">
            <a:extLst>
              <a:ext uri="{FF2B5EF4-FFF2-40B4-BE49-F238E27FC236}">
                <ns2:creationId id="{DE4CA69B-C30E-4C90-A7F1-BF7C6D336F46}"/>
              </a:ext>
            </a:extLst>
          </p:cNvPr>
          <p:cNvSpPr>
            <a:spLocks noGrp="1"/>
          </p:cNvSpPr>
          <p:nvPr/>
        </p:nvSpPr>
        <p:spPr>
          <a:xfrm>
            <a:off x="666750" y="5429250"/>
            <a:ext cx="3381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半径100m・地上4台</a:t>
            </a:r>
          </a:p>
        </p:txBody>
      </p:sp>
      <p:graphicFrame>
        <p:nvGraphicFramePr>
          <p:cNvPr id="20" name="Chart">
            <a:extLst>
              <a:ext uri="{FF2B5EF4-FFF2-40B4-BE49-F238E27FC236}">
                <ns2:creationId id="{4FAD11ED-F03A-4BC1-9BE0-3C9F6A2623BF}"/>
              </a:ext>
            </a:extLst>
          </p:cNvPr>
          <p:cNvGraphicFramePr/>
          <p:nvPr/>
        </p:nvGraphicFramePr>
        <p:xfrm>
          <a:off x="4476750" y="1619250"/>
          <a:ext cx="4095750" cy="3333750"/>
        </p:xfrm>
        <a:graphic>
          <a:graphicData uri="http://schemas.openxmlformats.org/drawingml/2006/chart">
            <ns3:chart ns4:id="Rf1662501a50a4ef8"/>
          </a:graphicData>
        </a:graphic>
      </p:graphicFrame>
      <p:sp>
        <p:nvSpPr>
          <p:cNvPr id="21" name="">
            <a:extLst>
              <a:ext uri="{FF2B5EF4-FFF2-40B4-BE49-F238E27FC236}">
                <ns2:creationId id="{C1B09AA9-E982-4D8E-A30A-32BD61662C9E}"/>
              </a:ext>
            </a:extLst>
          </p:cNvPr>
          <p:cNvSpPr>
            <a:spLocks noGrp="1"/>
          </p:cNvSpPr>
          <p:nvPr/>
        </p:nvSpPr>
        <p:spPr>
          <a:xfrm>
            <a:off x="4619625" y="5238750"/>
            <a:ext cx="39052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偽装側の基準電力：−2.18dB</a:t>
            </a:r>
          </a:p>
          <a:p>
            <a: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位置が違っても同じ観測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27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RID別学習の効果と限界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学習による誤差改善は、位置や機体の真正性の証明ではない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3fa59cb9-7e4c-5595-a806-eeec730d33d9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27</a:t>
            </a:fld>
          </a:p>
        </p:txBody>
      </p:sp>
      <p:sp>
        <p:nvSpPr>
          <p:cNvPr id="8" name="">
            <a:extLst>
              <a:ext uri="{FF2B5EF4-FFF2-40B4-BE49-F238E27FC236}">
                <ns2:creationId id="{EF728B11-387C-4EEA-85A8-6483AB645952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出典：mac-sensitivity-20261101-v2 / personalization-summary.csv（合成10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D9C46C9A-0EAD-4E5E-9333-F65BB801A520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b4c133eba80147fa"/>
          </a:graphicData>
        </a:graphic>
      </p:graphicFrame>
      <p:sp>
        <p:nvSpPr>
          <p:cNvPr id="10" name="">
            <a:extLst>
              <a:ext uri="{FF2B5EF4-FFF2-40B4-BE49-F238E27FC236}">
                <ns2:creationId id="{A3DA77BA-72A0-4026-8A4A-7B2C15BE04CF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学習ラベルは独立した合成真距離。RID申告値ではない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同じRID文字列でも同じ物理機体とは限らず、補正が悪化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2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位置偽装を検査できる条件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台数だけでなく、同一送信・観測品質・配置が必要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719de535-27a6-5ede-9931-b70ef0047779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28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1D204C0E-2E1F-4770-B694-65783309AAB7}"/>
              </a:ext>
            </a:extLst>
          </p:cNvPr>
          <p:cNvGraphicFramePr/>
          <p:nvPr/>
        </p:nvGraphicFramePr>
        <p:xfrm>
          <a:off x="400050" y="1524000"/>
          <a:ext cx="8343900" cy="3714750"/>
        </p:xfrm>
        <a:graphic>
          <a:graphicData uri="http://schemas.openxmlformats.org/drawingml/2006/table">
            <a:tbl>
              <a:tblPr/>
              <a:tblGrid>
                <a:gridCol w="2381250"/>
                <a:gridCol w="2952750"/>
                <a:gridCol w="3009900"/>
              </a:tblGrid>
              <a:tr h="6191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状況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今回の到達点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残る条件・限界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191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同じ送信を複数受信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位置改変の不整合を検知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観測・モデル・配置に依存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一部だけ重複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重複部を検査、その他は保留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全送信の検知割合は低下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191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別送信を単独受信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自由電力の位置判定は保留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RSSI単独では一般に識別不可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等距離比となる配置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同じRSSIを作れる反例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複数台でも全検知は不可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191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警報の原因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不整合まで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位置偽装と原因を確定しない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CC17D9A5-976D-4C2E-AE5C-2E2C4BC8F01B}"/>
              </a:ext>
            </a:extLst>
          </p:cNvPr>
          <p:cNvSpPr>
            <a:spLocks noGrp="1"/>
          </p:cNvSpPr>
          <p:nvPr/>
        </p:nvSpPr>
        <p:spPr>
          <a:xfrm>
            <a:off x="428625" y="552450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実測で確認した注意点と、合成で得た検知率を区別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まとめ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未知・変動電力の下で、位置申告を検査できる条件を整理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2604e825-ba75-5e1a-aaaa-80744d9b1ff0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29</a:t>
            </a:fld>
          </a:p>
        </p:txBody>
      </p:sp>
      <p:sp>
        <p:nvSpPr>
          <p:cNvPr id="8" name="">
            <a:extLst>
              <a:ext uri="{FF2B5EF4-FFF2-40B4-BE49-F238E27FC236}">
                <ns2:creationId id="{4CF1C124-62FE-4F2B-9ED8-BE7130EBBDD1}"/>
              </a:ext>
            </a:extLst>
          </p:cNvPr>
          <p:cNvSpPr>
            <a:spLocks noGrp="1"/>
          </p:cNvSpPr>
          <p:nvPr/>
        </p:nvSpPr>
        <p:spPr>
          <a:xfrm>
            <a:off x="419100" y="15716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同一送信の複数受信</a:t>
            </a:r>
          </a:p>
        </p:txBody>
      </p:sp>
      <p:sp>
        <p:nvSpPr>
          <p:cNvPr id="9" name="">
            <a:extLst>
              <a:ext uri="{FF2B5EF4-FFF2-40B4-BE49-F238E27FC236}">
                <ns2:creationId id="{B7D2B4D6-286B-4768-AEB8-6A479E12C601}"/>
              </a:ext>
            </a:extLst>
          </p:cNvPr>
          <p:cNvSpPr>
            <a:spLocks noGrp="1"/>
          </p:cNvSpPr>
          <p:nvPr/>
        </p:nvSpPr>
        <p:spPr>
          <a:xfrm>
            <a:off x="447675" y="1952625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共通電力を除いた位置申告の検査を合成評価</a:t>
            </a:r>
          </a:p>
        </p:txBody>
      </p:sp>
      <p:sp>
        <p:nvSpPr>
          <p:cNvPr id="10" name="">
            <a:extLst>
              <a:ext uri="{FF2B5EF4-FFF2-40B4-BE49-F238E27FC236}">
                <ns2:creationId id="{F7D07853-3223-43D7-9B6A-B9AA74E5617A}"/>
              </a:ext>
            </a:extLst>
          </p:cNvPr>
          <p:cNvSpPr>
            <a:spLocks noGrp="1"/>
          </p:cNvSpPr>
          <p:nvPr/>
        </p:nvSpPr>
        <p:spPr>
          <a:xfrm>
            <a:off x="419100" y="2649093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実測から得た注意点</a:t>
            </a:r>
          </a:p>
        </p:txBody>
      </p:sp>
      <p:sp>
        <p:nvSpPr>
          <p:cNvPr id="11" name="">
            <a:extLst>
              <a:ext uri="{FF2B5EF4-FFF2-40B4-BE49-F238E27FC236}">
                <ns2:creationId id="{37F7042C-C03E-4EAD-AF7E-281B1ECBEB4A}"/>
              </a:ext>
            </a:extLst>
          </p:cNvPr>
          <p:cNvSpPr>
            <a:spLocks noGrp="1"/>
          </p:cNvSpPr>
          <p:nvPr/>
        </p:nvSpPr>
        <p:spPr>
          <a:xfrm>
            <a:off x="447675" y="3030093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RSSIの揺らぎと、時刻を誤って対応させた場合の誤警報</a:t>
            </a:r>
          </a:p>
        </p:txBody>
      </p:sp>
      <p:sp>
        <p:nvSpPr>
          <p:cNvPr id="12" name="">
            <a:extLst>
              <a:ext uri="{FF2B5EF4-FFF2-40B4-BE49-F238E27FC236}">
                <ns2:creationId id="{9B516E95-60DB-4FDB-A284-BC4E410E43CF}"/>
              </a:ext>
            </a:extLst>
          </p:cNvPr>
          <p:cNvSpPr>
            <a:spLocks noGrp="1"/>
          </p:cNvSpPr>
          <p:nvPr/>
        </p:nvSpPr>
        <p:spPr>
          <a:xfrm>
            <a:off x="419100" y="3726561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未解決の条件</a:t>
            </a:r>
          </a:p>
        </p:txBody>
      </p:sp>
      <p:sp>
        <p:nvSpPr>
          <p:cNvPr id="13" name="">
            <a:extLst>
              <a:ext uri="{FF2B5EF4-FFF2-40B4-BE49-F238E27FC236}">
                <ns2:creationId id="{D703FAF5-1282-4740-A845-1774F05D03E0}"/>
              </a:ext>
            </a:extLst>
          </p:cNvPr>
          <p:cNvSpPr>
            <a:spLocks noGrp="1"/>
          </p:cNvSpPr>
          <p:nvPr/>
        </p:nvSpPr>
        <p:spPr>
          <a:xfrm>
            <a:off x="447675" y="4107561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完全非重複・自由電力と識別不能な配置、実RIDでの検証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3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今後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実際のRIDで、成立条件を満たせるかを確認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73e758c2-2ff8-514b-9a5a-51b388a8b2da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30</a:t>
            </a:fld>
          </a:p>
        </p:txBody>
      </p:sp>
      <p:sp>
        <p:nvSpPr>
          <p:cNvPr id="8" name="">
            <a:extLst>
              <a:ext uri="{FF2B5EF4-FFF2-40B4-BE49-F238E27FC236}">
                <ns2:creationId id="{3C83532C-DB66-490A-B48A-F208E49BF297}"/>
              </a:ext>
            </a:extLst>
          </p:cNvPr>
          <p:cNvSpPr>
            <a:spLocks noGrp="1"/>
          </p:cNvSpPr>
          <p:nvPr/>
        </p:nvSpPr>
        <p:spPr>
          <a:xfrm>
            <a:off x="419100" y="15716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同じ送信の対応付け</a:t>
            </a:r>
          </a:p>
        </p:txBody>
      </p:sp>
      <p:sp>
        <p:nvSpPr>
          <p:cNvPr id="9" name="">
            <a:extLst>
              <a:ext uri="{FF2B5EF4-FFF2-40B4-BE49-F238E27FC236}">
                <ns2:creationId id="{E707B481-12E7-401E-963D-690B40390F3F}"/>
              </a:ext>
            </a:extLst>
          </p:cNvPr>
          <p:cNvSpPr>
            <a:spLocks noGrp="1"/>
          </p:cNvSpPr>
          <p:nvPr/>
        </p:nvSpPr>
        <p:spPr>
          <a:xfrm>
            <a:off x="447675" y="1952625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受信時刻・PHY等の取得可能情報と、誤対応率の評価</a:t>
            </a:r>
          </a:p>
        </p:txBody>
      </p:sp>
      <p:sp>
        <p:nvSpPr>
          <p:cNvPr id="10" name="">
            <a:extLst>
              <a:ext uri="{FF2B5EF4-FFF2-40B4-BE49-F238E27FC236}">
                <ns2:creationId id="{1B23895D-DE17-4FBC-824F-5E0B0B8BCF85}"/>
              </a:ext>
            </a:extLst>
          </p:cNvPr>
          <p:cNvSpPr>
            <a:spLocks noGrp="1"/>
          </p:cNvSpPr>
          <p:nvPr/>
        </p:nvSpPr>
        <p:spPr>
          <a:xfrm>
            <a:off x="419100" y="2649093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現実の受信条件</a:t>
            </a:r>
          </a:p>
        </p:txBody>
      </p:sp>
      <p:sp>
        <p:nvSpPr>
          <p:cNvPr id="11" name="">
            <a:extLst>
              <a:ext uri="{FF2B5EF4-FFF2-40B4-BE49-F238E27FC236}">
                <ns2:creationId id="{D862AB51-0139-4EC0-8413-B8732F580373}"/>
              </a:ext>
            </a:extLst>
          </p:cNvPr>
          <p:cNvSpPr>
            <a:spLocks noGrp="1"/>
          </p:cNvSpPr>
          <p:nvPr/>
        </p:nvSpPr>
        <p:spPr>
          <a:xfrm>
            <a:off x="447675" y="3030093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電力による受信可否、時計誤差、NLOSや雑音相関の導入</a:t>
            </a:r>
          </a:p>
        </p:txBody>
      </p:sp>
      <p:sp>
        <p:nvSpPr>
          <p:cNvPr id="12" name="">
            <a:extLst>
              <a:ext uri="{FF2B5EF4-FFF2-40B4-BE49-F238E27FC236}">
                <ns2:creationId id="{6AC0877E-F5C7-45C2-9E94-B5D7BD830D75}"/>
              </a:ext>
            </a:extLst>
          </p:cNvPr>
          <p:cNvSpPr>
            <a:spLocks noGrp="1"/>
          </p:cNvSpPr>
          <p:nvPr/>
        </p:nvSpPr>
        <p:spPr>
          <a:xfrm>
            <a:off x="419100" y="3726561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独立真値付きの複数ノード実測</a:t>
            </a:r>
          </a:p>
        </p:txBody>
      </p:sp>
      <p:sp>
        <p:nvSpPr>
          <p:cNvPr id="13" name="">
            <a:extLst>
              <a:ext uri="{FF2B5EF4-FFF2-40B4-BE49-F238E27FC236}">
                <ns2:creationId id="{C1240DC5-F6DA-4B9D-9A09-BEC67503DC82}"/>
              </a:ext>
            </a:extLst>
          </p:cNvPr>
          <p:cNvSpPr>
            <a:spLocks noGrp="1"/>
          </p:cNvSpPr>
          <p:nvPr/>
        </p:nvSpPr>
        <p:spPr>
          <a:xfrm>
            <a:off x="447675" y="4107561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位置真値・同一送信の重複・実効電力の条件を記録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31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補足：単一RSSIの推定モデル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距離精度が改善しても、自由電力の識別不能性は解消しない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aef00443-3e23-5440-b598-59b11115ca27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31</a:t>
            </a:fld>
          </a:p>
        </p:txBody>
      </p:sp>
      <p:sp>
        <p:nvSpPr>
          <p:cNvPr id="8" name="">
            <a:extLst>
              <a:ext uri="{FF2B5EF4-FFF2-40B4-BE49-F238E27FC236}">
                <ns2:creationId id="{CD2D0327-8DBE-4483-B46A-5A84BFAF9186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出典：mac-independent3d-20261101 / summary.json（独立した合成10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E7A85365-737E-4CD2-945D-56F4E4837C14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1e9fa73b816b4f5f"/>
          </a:graphicData>
        </a:graphic>
      </p:graphicFrame>
      <p:sp>
        <p:nvSpPr>
          <p:cNvPr id="10" name="">
            <a:extLst>
              <a:ext uri="{FF2B5EF4-FFF2-40B4-BE49-F238E27FC236}">
                <ns2:creationId id="{1F615BE5-B9AD-48AB-AB7A-909E7C2D6011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事前分布・学習済み条件の下での性能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同じ機体を複数ノードが通過観測する評価とは別の実験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32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補足：実測残差による雑音ストレス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小さい独立ガウス雑音の仮定は、楽観的になる場合がある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7033d709-79de-52f0-ab43-94ec3b1a7adb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32</a:t>
            </a:fld>
          </a:p>
        </p:txBody>
      </p:sp>
      <p:sp>
        <p:nvSpPr>
          <p:cNvPr id="8" name="">
            <a:extLst>
              <a:ext uri="{FF2B5EF4-FFF2-40B4-BE49-F238E27FC236}">
                <ns2:creationId id="{169E15F4-1DF2-4FC1-BE42-C56998FA4DDF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出典：mac-robustness-20261101 / empirical_sync-summary.csv（屋内BLE残差を仮想リンクへ注入）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93342DF1-0430-4E10-94B0-ADEC068EB46F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afe2d03975b64eb9"/>
          </a:graphicData>
        </a:graphic>
      </p:graphicFrame>
      <p:sp>
        <p:nvSpPr>
          <p:cNvPr id="10" name="">
            <a:extLst>
              <a:ext uri="{FF2B5EF4-FFF2-40B4-BE49-F238E27FC236}">
                <ns2:creationId id="{B9789730-9A64-4193-90C1-BB3025DC4ECB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実測残差を各仮想リンクに独立に抽出した評価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屋外UAV・複数受信機の同時実測の性能ではない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33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補足：個別モデルの学習汚染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誤った距離ラベルへの頑健化にも限界がある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1cb8bd44-f934-5097-a1c8-37181da4d4f1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33</a:t>
            </a:fld>
          </a:p>
        </p:txBody>
      </p:sp>
      <p:sp>
        <p:nvSpPr>
          <p:cNvPr id="8" name="">
            <a:extLst>
              <a:ext uri="{FF2B5EF4-FFF2-40B4-BE49-F238E27FC236}">
                <ns2:creationId id="{A6F2A781-89B3-4C0E-9B2F-A4C135F0B3A3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出典：mac-robustness-20261101 / poisoning-summary.csv（合成10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1739FCC2-F74C-4E62-9A4A-8B5469FAB3DC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0b4cfd4e3728499d"/>
          </a:graphicData>
        </a:graphic>
      </p:graphicFrame>
      <p:sp>
        <p:nvSpPr>
          <p:cNvPr id="10" name="">
            <a:extLst>
              <a:ext uri="{FF2B5EF4-FFF2-40B4-BE49-F238E27FC236}">
                <ns2:creationId id="{89B2E888-E396-4422-87A9-5502A523FA51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外部の共通学習データは保護されている仮定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誤ラベルが過半数になる場合まで防御できるわけではない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34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補足：過去情報とモデル失効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電力や環境が長く安定すると誤ると、区間を過信する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339847d-f096-598a-a763-f38075cf58de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34</a:t>
            </a:fld>
          </a:p>
        </p:txBody>
      </p:sp>
      <p:sp>
        <p:nvSpPr>
          <p:cNvPr id="8" name="">
            <a:extLst>
              <a:ext uri="{FF2B5EF4-FFF2-40B4-BE49-F238E27FC236}">
                <ns2:creationId id="{4AB21406-A8CB-41D6-9CD9-6609AA2FCD5E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出典：mac-robustness-20261101 / time_mismatch-summary.csv（合成10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42F06292-4AC0-4367-A670-802391FF06AE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687b0e6bf49a4e42"/>
          </a:graphicData>
        </a:graphic>
      </p:graphicFrame>
      <p:sp>
        <p:nvSpPr>
          <p:cNvPr id="10" name="">
            <a:extLst>
              <a:ext uri="{FF2B5EF4-FFF2-40B4-BE49-F238E27FC236}">
                <ns2:creationId id="{ED049500-1563-4F35-B6D6-4341595FA424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1日安定と誤ると、包含率は約60.8%まで低下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この相関時間は仮定であり、実UAVで推定した値ではない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35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補足：追加欠測と観測窓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受信済みの観測を失うと、固定件数の窓は古くなる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4319ad23-4e8d-5b15-aec0-d76cbf28aab6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35</a:t>
            </a:fld>
          </a:p>
        </p:txBody>
      </p:sp>
      <p:sp>
        <p:nvSpPr>
          <p:cNvPr id="8" name="">
            <a:extLst>
              <a:ext uri="{FF2B5EF4-FFF2-40B4-BE49-F238E27FC236}">
                <ns2:creationId id="{76D1B6BB-7D19-4E5D-B17B-EDA0423650C2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出典：mac-public-lora-20261101 / dropout-summary.csv（実測系列からの人工削除）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C27CBAD7-317F-40A3-A46F-867DB9E805B8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4cb313f29dee4433"/>
          </a:graphicData>
        </a:graphic>
      </p:graphicFrame>
      <p:sp>
        <p:nvSpPr>
          <p:cNvPr id="10" name="">
            <a:extLst>
              <a:ext uri="{FF2B5EF4-FFF2-40B4-BE49-F238E27FC236}">
                <ns2:creationId id="{8BE4171C-3A4E-4BA9-ACD2-B48E59586A5B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元々のRF損失率は不明。受信済み記録を追加で削除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完全ブロックが作れない例を、誤差ゼロにしていない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3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補足：データ・実装・出典の対応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入力の版と集計CSVを残し、実測と合成を分離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d8aee543-ea6c-562f-8225-747fd93abaef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36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5AA14091-EDBB-4766-BA5E-86129C88576E}"/>
              </a:ext>
            </a:extLst>
          </p:cNvPr>
          <p:cNvGraphicFramePr/>
          <p:nvPr/>
        </p:nvGraphicFramePr>
        <p:xfrm>
          <a:off x="400050" y="1524000"/>
          <a:ext cx="8343900" cy="3524250"/>
        </p:xfrm>
        <a:graphic>
          <a:graphicData uri="http://schemas.openxmlformats.org/drawingml/2006/table">
            <a:tbl>
              <a:tblPr/>
              <a:tblGrid>
                <a:gridCol w="1905000"/>
                <a:gridCol w="6438900"/>
              </a:tblGrid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対象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入力・集計の所在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公開BLE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固定版 b38a9a4 / mac-recheck-20261101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公開LoRa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Zenodo 17339095 v2 / mac-public-lora-20261101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共通軌跡の合成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event_scenarios_config.json / mac-event-scenarios-20261101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学習等の合成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mac-sensitivity-20261101-v2 / mac-robustness-20261101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確認できないもの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認証が必要なICMCIS本体、別チャットの元ZIP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992BDC09-9B4D-4D14-AB7B-23F986BAACF4}"/>
              </a:ext>
            </a:extLst>
          </p:cNvPr>
          <p:cNvSpPr>
            <a:spLocks noGrp="1"/>
          </p:cNvSpPr>
          <p:nvPr/>
        </p:nvSpPr>
        <p:spPr>
          <a:xfrm>
            <a:off x="428625" y="538162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取得できないデータを、再現済みの実験として使用しない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2026-11-01T13:48:45.3450000Z</dcterms:created>
  <dcterms:modified xsi:type="dcterms:W3CDTF">2026-11-01T13:48:45.3450000Z</dcterms:modified>
</coreProperties>
</file>