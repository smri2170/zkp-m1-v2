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charts/chart4.xml" ContentType="application/vnd.openxmlformats-officedocument.drawingml.chart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Default Extension="xlsx" ContentType="application/vnd.openxmlformats-officedocument.spreadsheetml.sheet"/>
</Types>
</file>

<file path=_rels/.rels><?xml version='1.0' encoding='utf-8'?>
<ns0:Relationships xmlns:ns0="http://schemas.openxmlformats.org/package/2006/relationships"><ns0:Relationship Type="http://schemas.openxmlformats.org/package/2006/relationships/metadata/core-properties" Target="/docProps/core.xml" Id="R324330783d234037" /><ns0:Relationship Type="http://schemas.openxmlformats.org/officeDocument/2006/relationships/extended-properties" Target="/docProps/app.xml" Id="Rf7022a48acc04af2" /><ns0:Relationship Type="http://schemas.openxmlformats.org/officeDocument/2006/relationships/officeDocument" Target="/ppt/presentation.xml" Id="R1df1ba53fb3f47be" /></ns0:Relationships>
</file>

<file path=ppt/presentation.xml><?xml version="1.0" encoding="utf-8"?>
<p:presentation xmlns:a="http://schemas.openxmlformats.org/drawingml/2006/main" xmlns:ns1="http://schemas.openxmlformats.org/officeDocument/2006/relationships" xmlns:p="http://schemas.openxmlformats.org/presentationml/2006/main">
  <p:sldMasterIdLst>
    <p:sldMasterId id="2147483648" ns1:id="R24d2ccf66289459d"/>
  </p:sldMasterIdLst>
  <p:sldIdLst>
    <p:sldId id="256" ns1:id="Re5e8c2b57b5242b6"/>
    <p:sldId id="257" ns1:id="R38ced1dfcf664d36"/>
    <p:sldId id="258" ns1:id="R4188e0a230b24caf"/>
    <p:sldId id="259" ns1:id="R62bd5456cb074578"/>
    <p:sldId id="260" ns1:id="Rd6b6f06b1b734898"/>
    <p:sldId id="261" ns1:id="Rc0ef5065ab484da4"/>
    <p:sldId id="262" ns1:id="R04bfe5f5ec7b45cb"/>
    <p:sldId id="263" ns1:id="R2ccf843daa114ecc"/>
    <p:sldId id="264" ns1:id="R9c5525e8da1144e4"/>
    <p:sldId id="265" ns1:id="Rac5795a82d7143bc"/>
    <p:sldId id="266" ns1:id="R40daf95d835d4c1c"/>
    <p:sldId id="267" ns1:id="Rcb1d7dd732bc4856"/>
    <p:sldId id="268" ns1:id="R01e3f0a073794062"/>
    <p:sldId id="269" ns1:id="Raef871de04b447ee"/>
    <p:sldId id="270" ns1:id="Rc209234ad4c54ff3"/>
    <p:sldId id="271" ns1:id="Rd05bee0812954cab"/>
    <p:sldId id="272" ns1:id="R93af159e37b64284"/>
    <p:sldId id="273" ns1:id="R475d4ac69f38430c"/>
    <p:sldId id="274" ns1:id="R0cf302f6e2464412"/>
    <p:sldId id="275" ns1:id="R061e8f16eec74aae"/>
    <p:sldId id="276" ns1:id="R1c535dd0e5304c7d"/>
    <p:sldId id="277" ns1:id="R63b5c573664e4448"/>
    <p:sldId id="278" ns1:id="Ra85fbfa7bca3493b"/>
    <p:sldId id="279" ns1:id="R2768951269b4496c"/>
  </p:sldIdLst>
  <p:sldSz cx="9144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41ff533083b5462d" /><ns0:Relationship Type="http://schemas.openxmlformats.org/officeDocument/2006/relationships/slideMaster" Target="/ppt/slideMasters/slideMaster1.xml" Id="R24d2ccf66289459d" /><ns0:Relationship Type="http://schemas.openxmlformats.org/officeDocument/2006/relationships/presProps" Target="/ppt/presProps.xml" Id="Ra2278eeb32d6444a" /><ns0:Relationship Type="http://schemas.openxmlformats.org/officeDocument/2006/relationships/viewProps" Target="/ppt/viewProps.xml" Id="R3d3f8f8b3df940fe" /><ns0:Relationship Type="http://schemas.openxmlformats.org/officeDocument/2006/relationships/tableStyles" Target="/ppt/tableStyles.xml" Id="Rbc552657f62e44bb" /><ns0:Relationship Type="http://schemas.openxmlformats.org/officeDocument/2006/relationships/slide" Target="/ppt/slides/slide1.xml" Id="Re5e8c2b57b5242b6" /><ns0:Relationship Type="http://schemas.openxmlformats.org/officeDocument/2006/relationships/slide" Target="/ppt/slides/slide2.xml" Id="R38ced1dfcf664d36" /><ns0:Relationship Type="http://schemas.openxmlformats.org/officeDocument/2006/relationships/slide" Target="/ppt/slides/slide3.xml" Id="R4188e0a230b24caf" /><ns0:Relationship Type="http://schemas.openxmlformats.org/officeDocument/2006/relationships/slide" Target="/ppt/slides/slide4.xml" Id="R62bd5456cb074578" /><ns0:Relationship Type="http://schemas.openxmlformats.org/officeDocument/2006/relationships/slide" Target="/ppt/slides/slide5.xml" Id="Rd6b6f06b1b734898" /><ns0:Relationship Type="http://schemas.openxmlformats.org/officeDocument/2006/relationships/slide" Target="/ppt/slides/slide6.xml" Id="Rc0ef5065ab484da4" /><ns0:Relationship Type="http://schemas.openxmlformats.org/officeDocument/2006/relationships/slide" Target="/ppt/slides/slide7.xml" Id="R04bfe5f5ec7b45cb" /><ns0:Relationship Type="http://schemas.openxmlformats.org/officeDocument/2006/relationships/slide" Target="/ppt/slides/slide8.xml" Id="R2ccf843daa114ecc" /><ns0:Relationship Type="http://schemas.openxmlformats.org/officeDocument/2006/relationships/slide" Target="/ppt/slides/slide9.xml" Id="R9c5525e8da1144e4" /><ns0:Relationship Type="http://schemas.openxmlformats.org/officeDocument/2006/relationships/slide" Target="/ppt/slides/slide10.xml" Id="Rac5795a82d7143bc" /><ns0:Relationship Type="http://schemas.openxmlformats.org/officeDocument/2006/relationships/slide" Target="/ppt/slides/slide11.xml" Id="R40daf95d835d4c1c" /><ns0:Relationship Type="http://schemas.openxmlformats.org/officeDocument/2006/relationships/slide" Target="/ppt/slides/slide12.xml" Id="Rcb1d7dd732bc4856" /><ns0:Relationship Type="http://schemas.openxmlformats.org/officeDocument/2006/relationships/slide" Target="/ppt/slides/slide13.xml" Id="R01e3f0a073794062" /><ns0:Relationship Type="http://schemas.openxmlformats.org/officeDocument/2006/relationships/slide" Target="/ppt/slides/slide14.xml" Id="Raef871de04b447ee" /><ns0:Relationship Type="http://schemas.openxmlformats.org/officeDocument/2006/relationships/slide" Target="/ppt/slides/slide15.xml" Id="Rc209234ad4c54ff3" /><ns0:Relationship Type="http://schemas.openxmlformats.org/officeDocument/2006/relationships/slide" Target="/ppt/slides/slide16.xml" Id="Rd05bee0812954cab" /><ns0:Relationship Type="http://schemas.openxmlformats.org/officeDocument/2006/relationships/slide" Target="/ppt/slides/slide17.xml" Id="R93af159e37b64284" /><ns0:Relationship Type="http://schemas.openxmlformats.org/officeDocument/2006/relationships/slide" Target="/ppt/slides/slide18.xml" Id="R475d4ac69f38430c" /><ns0:Relationship Type="http://schemas.openxmlformats.org/officeDocument/2006/relationships/slide" Target="/ppt/slides/slide19.xml" Id="R0cf302f6e2464412" /><ns0:Relationship Type="http://schemas.openxmlformats.org/officeDocument/2006/relationships/slide" Target="/ppt/slides/slide20.xml" Id="R061e8f16eec74aae" /><ns0:Relationship Type="http://schemas.openxmlformats.org/officeDocument/2006/relationships/slide" Target="/ppt/slides/slide21.xml" Id="R1c535dd0e5304c7d" /><ns0:Relationship Type="http://schemas.openxmlformats.org/officeDocument/2006/relationships/slide" Target="/ppt/slides/slide22.xml" Id="R63b5c573664e4448" /><ns0:Relationship Type="http://schemas.openxmlformats.org/officeDocument/2006/relationships/slide" Target="/ppt/slides/slide23.xml" Id="Ra85fbfa7bca3493b" /><ns0:Relationship Type="http://schemas.openxmlformats.org/officeDocument/2006/relationships/slide" Target="/ppt/slides/slide24.xml" Id="R2768951269b4496c" /></ns0:Relationships>
</file>

<file path=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0a19cdcd9369404f" /></ns0:Relationships>
</file>

<file path=ppt/slideLayouts/_rels/slideLayout2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f4b7bf30b0d547f4" /></ns0:Relationships>
</file>

<file path=ppt/slideLayouts/_rels/slideLayout3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8d1761f094054999" /></ns0:Relationships>
</file>

<file path=ppt/slideLayouts/_rels/slideLayout4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e83e66299515421c" /></ns0:Relationships>
</file>

<file path=ppt/slideLayouts/_rels/slideLayout5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43449da6dd5141f4" /></ns0:Relationships>
</file>

<file path=ppt/slideLayouts/_rels/slideLayout6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6e26155695304b61" /></ns0:Relationships>
</file>

<file path=ppt/slideLayouts/_rels/slideLayout7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7d8cfbaae5db40ba" /></ns0:Relationships>
</file>

<file path=ppt/slideLayouts/_rels/slideLayout8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60141d9e03d14855" /></ns0:Relationships>
</file>

<file path=ppt/slideLayouts/_rels/slideLayout9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871b7315904947a1" /></ns0:Relationships>
</file>

<file path=ppt/slideLayouts/_rels/slideLayout10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b696ca13fd5f4de4" /></ns0:Relationships>
</file>

<file path=ppt/slideLayouts/_rels/slideLayout11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02cfcb01b85a442a" /></ns0: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1A3DC9-DA24-4A9A-8756-7A7D29D4C4B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8F90811-AA72-4B3A-A33B-1AE11FAFEE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C16364-86CA-4728-B217-B376008CBB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DBF6169-4B87-414F-ACBE-D5889A1B47A0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5A182AC-24F0-4218-8AEB-A45FF68A22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CE96D-4DC6-4894-BAD6-44067E9D8B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2ABE3D-7530-4717-A298-38B53DEF72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912944-E2DD-4306-B5E8-29F31EE5D21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BCED062-3A99-4666-8457-27A9728F8C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D8E8B8-C7E4-4618-ABC3-C399B7CCEC0D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588733-8A28-44C9-A6BB-5F124CD1F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EB0B2A-1A4A-4C16-AF0B-C1AB8E1409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076D84-672C-447D-AA0B-5F3B458CD8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195AEDB-D3E1-4F02-9B02-0773BF0A8A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16C3BEE-701C-4F80-8624-83E9388959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C23AE2-2BBD-4FC2-B528-0BF2C1EBC75B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DBC5B5-573C-4218-8628-AC45C3E58A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DC7663-F10E-44C8-94E3-1336202FBC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486DAB-6AA6-48CC-9EED-B9A9092C69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EAE6064-C9B0-4ED2-B836-773BFC88D9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58C39F0-1E1A-46F5-9AB6-E9CC3CAF55D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EFA5277-58AD-4200-9E49-D13B9CD7A7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DCF949-C1A3-4258-9A96-1DB5EE6F9CB2}" type="datetime1">
              <a:t>2026/10/19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E9FD05B-7E99-476D-85CD-AAC406532E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234D22A-46DC-4B00-8323-B3B250E474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91324C-86BD-407E-BD4B-7FDC35D2AF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2C5FAD-98DF-4ECF-93D6-F37194FED7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3364E0E-1C37-42E5-AC1B-4419747A05D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9175CB9-53DB-4CA8-9F84-9326531E9C9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15166CE-C91C-4429-852B-97E101969C2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9D49DDF-62F2-46E2-8D03-C387761C2D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8AFE064-A27A-41A2-B430-44850FEBCE26}" type="datetime1">
              <a:t>2026/10/19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9257547-E9ED-4D33-BBA7-65E9A46A5A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717A970-5F74-4493-AA93-9BECC400AD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2197A6-EB07-40F6-9412-372DF04F9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15F0C53-06F1-421A-8254-534DFE03F6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B04457F-2123-4F1E-BC61-D6013C4605FE}" type="datetime1">
              <a:t>2026/10/19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2E0BE3F-892B-4CCE-A466-55793FE876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E502C12-168B-4E2A-AB2D-AF951B8ECB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FABD391-129E-437A-B419-B228529244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F44EDF-6DC3-458C-A3A9-8D69B7CABB26}" type="datetime1">
              <a:t>2026/10/19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C03395A-02F5-45BE-AFA6-75904AFFEC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A13C7B6-DCC5-462D-A739-3E4B882B90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60529A-30ED-4EB1-BCEB-F66554F22A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9F47707-8EBD-4D88-A69A-71476BA3A02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6F7417-5E33-4BA4-BA7C-3992D0A75A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E46CA97-00D8-4224-A4BC-64A94AA244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4DDA704-12F4-46A3-A7C0-1069ADB40368}" type="datetime1">
              <a:t>2026/10/19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AC187D0-D0C3-4B59-88DD-7B2DF8D1E6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B504547-5A52-4444-A6A7-1F3FF93CD3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5F784C-269F-45F7-97AF-A45A3B1578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267C6B7-4096-4FA8-BE60-8C0FB5B6C2A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C78E12F-6B6A-45EC-AC12-8418DAB2AE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DF6F7A-E43C-48EA-8065-66050F3A83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6F2CB-8729-4C62-8C45-F10C053FAA70}" type="datetime1">
              <a:t>2026/10/19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70C4305-4E63-45A5-BE01-994ED191B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35BE83D-C2A9-45C9-BBBD-0AF7D83EEF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C32461-FD17-4F35-8E54-06FDD2DF34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CB851B-9832-4A6A-8699-423DAF73E4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F9F71B-F8D3-4B77-8C3A-703806346C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B1EAB77-6B53-47FF-89A2-6BC308EE4FAC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9B9FC0-BB91-43F1-8857-877726A93B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CD9A64-E61C-4280-8BA2-4668230ECE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9B453B3-5B2D-4CD2-A820-75C4C4AC7B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D88D68-5D37-4894-9DA0-853DBE3F32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4398DAF-7712-4AA5-B943-36BC70A584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BAB984-F660-4238-ACB0-EABC8C45DF5C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B692F1-4417-4A24-B468-A8B59FAB56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6A97B2-962C-4960-8F60-D111531BB7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/ppt/slideMasters/theme/theme2.xml" Id="R53e608fa399a4043" /><ns0:Relationship Type="http://schemas.openxmlformats.org/officeDocument/2006/relationships/slideLayout" Target="/ppt/slideLayouts/slideLayout1.xml" Id="Rbad051eb87e84229" /><ns0:Relationship Type="http://schemas.openxmlformats.org/officeDocument/2006/relationships/slideLayout" Target="/ppt/slideLayouts/slideLayout2.xml" Id="R89670699848f49c4" /><ns0:Relationship Type="http://schemas.openxmlformats.org/officeDocument/2006/relationships/slideLayout" Target="/ppt/slideLayouts/slideLayout3.xml" Id="R98dc06aae82b4193" /><ns0:Relationship Type="http://schemas.openxmlformats.org/officeDocument/2006/relationships/slideLayout" Target="/ppt/slideLayouts/slideLayout4.xml" Id="Rc90987cde03041e1" /><ns0:Relationship Type="http://schemas.openxmlformats.org/officeDocument/2006/relationships/slideLayout" Target="/ppt/slideLayouts/slideLayout5.xml" Id="R73474722b9644ca1" /><ns0:Relationship Type="http://schemas.openxmlformats.org/officeDocument/2006/relationships/slideLayout" Target="/ppt/slideLayouts/slideLayout6.xml" Id="R44ed8218742f4550" /><ns0:Relationship Type="http://schemas.openxmlformats.org/officeDocument/2006/relationships/slideLayout" Target="/ppt/slideLayouts/slideLayout7.xml" Id="R7b9edb74bfa742bc" /><ns0:Relationship Type="http://schemas.openxmlformats.org/officeDocument/2006/relationships/slideLayout" Target="/ppt/slideLayouts/slideLayout8.xml" Id="Rb26de19ca79c4784" /><ns0:Relationship Type="http://schemas.openxmlformats.org/officeDocument/2006/relationships/slideLayout" Target="/ppt/slideLayouts/slideLayout9.xml" Id="R9080dcbccf454c0d" /><ns0:Relationship Type="http://schemas.openxmlformats.org/officeDocument/2006/relationships/slideLayout" Target="/ppt/slideLayouts/slideLayout10.xml" Id="R0e90d39c86ad4d2d" /><ns0:Relationship Type="http://schemas.openxmlformats.org/officeDocument/2006/relationships/slideLayout" Target="/ppt/slideLayouts/slideLayout11.xml" Id="R90f9bd7c7a6c409d" /></ns0: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F6BCEC0-DDFA-411A-B5DA-1CC0BCBB50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A73F9A6-4572-46F5-A03D-D149C45D32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D56ABA-F6C1-49B5-94F4-0D239C9EC09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6F986E7-C570-46E9-AAFE-601416D6D202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359F38-C746-4A0A-AABE-DB27610D310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6228C8-4BE7-4A46-847A-30E670EA4F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d051eb87e84229"/>
    <p:sldLayoutId xmlns:r="http://schemas.openxmlformats.org/officeDocument/2006/relationships" id="2147483650" r:id="R89670699848f49c4"/>
    <p:sldLayoutId xmlns:r="http://schemas.openxmlformats.org/officeDocument/2006/relationships" id="2147483651" r:id="R98dc06aae82b4193"/>
    <p:sldLayoutId xmlns:r="http://schemas.openxmlformats.org/officeDocument/2006/relationships" id="2147483652" r:id="Rc90987cde03041e1"/>
    <p:sldLayoutId xmlns:r="http://schemas.openxmlformats.org/officeDocument/2006/relationships" id="2147483653" r:id="R73474722b9644ca1"/>
    <p:sldLayoutId xmlns:r="http://schemas.openxmlformats.org/officeDocument/2006/relationships" id="2147483654" r:id="R44ed8218742f4550"/>
    <p:sldLayoutId xmlns:r="http://schemas.openxmlformats.org/officeDocument/2006/relationships" id="2147483655" r:id="R7b9edb74bfa742bc"/>
    <p:sldLayoutId xmlns:r="http://schemas.openxmlformats.org/officeDocument/2006/relationships" id="2147483656" r:id="Rb26de19ca79c4784"/>
    <p:sldLayoutId xmlns:r="http://schemas.openxmlformats.org/officeDocument/2006/relationships" id="2147483657" r:id="R9080dcbccf454c0d"/>
    <p:sldLayoutId xmlns:r="http://schemas.openxmlformats.org/officeDocument/2006/relationships" id="2147483658" r:id="R0e90d39c86ad4d2d"/>
    <p:sldLayoutId xmlns:r="http://schemas.openxmlformats.org/officeDocument/2006/relationships" id="2147483659" r:id="R90f9bd7c7a6c409d"/>
  </p:sldLayoutIdLst>
  <p:hf hdr="0" ftr="0" dt="0"/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59d624a365f4b35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b5dc28df7fd44f56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064aede7334642af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394d6a56c4c44080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b064b1dfbbd54137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61d233a1608e4a57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f9cb783b36284f5d" /><ns0:Relationship Type="http://schemas.openxmlformats.org/officeDocument/2006/relationships/chart" Target="/ppt/slides/charts/chart1.xml" Id="R0bf99df3b09e44b9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718d05673c94d6d" /><ns0:Relationship Type="http://schemas.openxmlformats.org/officeDocument/2006/relationships/chart" Target="/ppt/slides/charts/chart2.xml" Id="Re21d0f76c91f49db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20c28c0a2f044e4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19fdb04a12e4434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5169925d1f340f7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5841f0c58ad24864" /><ns0:Relationship Type="http://schemas.openxmlformats.org/officeDocument/2006/relationships/chart" Target="/ppt/slides/charts/chart3.xml" Id="R086b0f663dc94039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7c46235a2dc14d17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28eff9f47c1b4159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6b3d95ddfbcc4405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16c31243b564b89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4cfa17cff874ede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1fd83ff2a0f4b3d" /><ns0:Relationship Type="http://schemas.openxmlformats.org/officeDocument/2006/relationships/chart" Target="/ppt/slides/charts/chart4.xml" Id="Rb47d0f04ae3d4ec3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5b759b6e673f47fe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2b7a934ff6df4a65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112d3b32c3f4501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7834e549651c4a6f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fb0181c08904178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0b0d2477356437e" /></ns0: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位置のみ+30mと、正常の警報率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正常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20〜40m：1,388件</c:v>
                </c:pt>
                <c:pt idx="1">
                  <c:v>80〜120m：5,047件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10.951009</c:v>
                </c:pt>
                <c:pt idx="1">
                  <c:v>3.289083</c:v>
                </c:pt>
              </c:numCache>
            </c:numRef>
          </c:val>
        </c:ser>
        <c:ser>
          <c:idx val="1"/>
          <c:order val="1"/>
          <c:tx>
            <c:v>申告+30m</c:v>
          </c:tx>
          <c:spPr>
            <a:solidFill xmlns:a="http://schemas.openxmlformats.org/drawingml/2006/main">
              <a:srgbClr val="E02B2B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20〜40m：1,388件</c:v>
                </c:pt>
                <c:pt idx="1">
                  <c:v>80〜120m：5,047件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14.121037</c:v>
                </c:pt>
                <c:pt idx="1">
                  <c:v>5.884684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スコア÷閾値：1を超える右側が警報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正常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Data'!$A$2:$A$6</c:f>
              <c:strCache>
                <c:ptCount val="5"/>
                <c:pt idx="0">
                  <c:v>0〜0.5</c:v>
                </c:pt>
                <c:pt idx="1">
                  <c:v>0.5〜1</c:v>
                </c:pt>
                <c:pt idx="2">
                  <c:v>1〜1.5</c:v>
                </c:pt>
                <c:pt idx="3">
                  <c:v>1.5〜2</c:v>
                </c:pt>
                <c:pt idx="4">
                  <c:v>2超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61.815562</c:v>
                </c:pt>
                <c:pt idx="1">
                  <c:v>27.233429</c:v>
                </c:pt>
                <c:pt idx="2">
                  <c:v>9.942363</c:v>
                </c:pt>
                <c:pt idx="3">
                  <c:v>1.008646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v>申告改変</c:v>
          </c:tx>
          <c:spPr>
            <a:solidFill xmlns:a="http://schemas.openxmlformats.org/drawingml/2006/main">
              <a:srgbClr val="E02B2B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Data'!$C$2:$C$6</c:f>
              <c:strCache>
                <c:ptCount val="5"/>
                <c:pt idx="0">
                  <c:v>0〜0.5</c:v>
                </c:pt>
                <c:pt idx="1">
                  <c:v>0.5〜1</c:v>
                </c:pt>
                <c:pt idx="2">
                  <c:v>1〜1.5</c:v>
                </c:pt>
                <c:pt idx="3">
                  <c:v>1.5〜2</c:v>
                </c:pt>
                <c:pt idx="4">
                  <c:v>2超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47.262248</c:v>
                </c:pt>
                <c:pt idx="1">
                  <c:v>38.616715</c:v>
                </c:pt>
                <c:pt idx="2">
                  <c:v>12.680115</c:v>
                </c:pt>
                <c:pt idx="3">
                  <c:v>1.440922</c:v>
                </c:pt>
                <c:pt idx="4">
                  <c:v>0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標本の割合（%）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同一標本の正常／位置のみ／電力連動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警報率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正常</c:v>
                </c:pt>
                <c:pt idx="1">
                  <c:v>位置+100m</c:v>
                </c:pt>
                <c:pt idx="2">
                  <c:v>位置+100mと電力補償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2.415813</c:v>
                </c:pt>
                <c:pt idx="1">
                  <c:v>30.315601</c:v>
                </c:pt>
                <c:pt idx="2">
                  <c:v>2.423947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全72,000送信を受信・判定した合成結果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雑音SD2dB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正常</c:v>
                </c:pt>
                <c:pt idx="1">
                  <c:v>水平位置+30m</c:v>
                </c:pt>
                <c:pt idx="2">
                  <c:v>水平位置+100m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4.984722</c:v>
                </c:pt>
                <c:pt idx="1">
                  <c:v>19.522222</c:v>
                </c:pt>
                <c:pt idx="2">
                  <c:v>73.677778</c:v>
                </c:pt>
              </c:numCache>
            </c:numRef>
          </c:val>
        </c:ser>
        <c:ser>
          <c:idx val="1"/>
          <c:order val="1"/>
          <c:tx>
            <c:v>雑音SD6dB</c:v>
          </c:tx>
          <c:spPr>
            <a:solidFill xmlns:a="http://schemas.openxmlformats.org/drawingml/2006/main">
              <a:srgbClr val="E02B2B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正常</c:v>
                </c:pt>
                <c:pt idx="1">
                  <c:v>水平位置+30m</c:v>
                </c:pt>
                <c:pt idx="2">
                  <c:v>水平位置+100m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4.875</c:v>
                </c:pt>
                <c:pt idx="1">
                  <c:v>6.323611</c:v>
                </c:pt>
                <c:pt idx="2">
                  <c:v>18.729167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第26回：3つの結果と実験条件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RSSIから位置偽装を検知できるか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afa8104e-e0dc-52b3-9995-dc6c407eae83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</a:t>
            </a:fld>
          </a:p>
        </p:txBody>
      </p:sp>
      <p:sp>
        <p:nvSpPr>
          <p:cNvPr id="8" name="">
            <a:extLst>
              <a:ext uri="{FF2B5EF4-FFF2-40B4-BE49-F238E27FC236}">
                <ns2:creationId id="{3402DD12-6C93-48EE-900B-070EEB21F2C3}"/>
              </a:ext>
            </a:extLst>
          </p:cNvPr>
          <p:cNvSpPr>
            <a:spLocks noGrp="1"/>
          </p:cNvSpPr>
          <p:nvPr/>
        </p:nvSpPr>
        <p:spPr>
          <a:xfrm>
            <a:off x="619125" y="2238375"/>
            <a:ext cx="7953375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27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27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27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27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27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27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27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27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27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27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7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何を仮定し、何を変え、</a:t>
            </a:r>
          </a:p>
          <a:p>
            <a:pPr algn="l">
              <a:defRPr sz="27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7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どの結果から何が言えたか</a:t>
            </a:r>
          </a:p>
        </p:txBody>
      </p:sp>
      <p:sp>
        <p:nvSpPr>
          <p:cNvPr id="9" name="">
            <a:extLst>
              <a:ext uri="{FF2B5EF4-FFF2-40B4-BE49-F238E27FC236}">
                <ns2:creationId id="{7C83F47F-2791-478A-A5BD-A3C46437DFA2}"/>
              </a:ext>
            </a:extLst>
          </p:cNvPr>
          <p:cNvSpPr>
            <a:spLocks noGrp="1"/>
          </p:cNvSpPr>
          <p:nvPr/>
        </p:nvSpPr>
        <p:spPr>
          <a:xfrm>
            <a:off x="619125" y="4191000"/>
            <a:ext cx="7953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元の単独受信と、同一送信の複数受信を分離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最初に答えたい問い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送信電力を信用せず、RIDの位置申告を調べられるか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4ac637b6-1a7f-5558-99a0-f34db6a6f9c0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3C25C284-F16B-4886-B19C-AA8D443F6DFA}"/>
              </a:ext>
            </a:extLst>
          </p:cNvPr>
          <p:cNvGraphicFramePr/>
          <p:nvPr/>
        </p:nvGraphicFramePr>
        <p:xfrm>
          <a:off x="400050" y="1524000"/>
          <a:ext cx="8343900" cy="3238500"/>
        </p:xfrm>
        <a:graphic>
          <a:graphicData uri="http://schemas.openxmlformats.org/drawingml/2006/table">
            <a:tbl>
              <a:tblPr/>
              <a:tblGrid>
                <a:gridCol w="3143250"/>
                <a:gridCol w="5200650"/>
              </a:tblGrid>
              <a:tr h="6477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元の観測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今回の扱い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477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Aは10時、Bは11時、Cは翌日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別時刻・別送信。各送信のRSSIは1台分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機体の位置と送信電力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検出側には不明。申告の真実性を信用しない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477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受信ノードの位置・RSSI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正しく記録できるという前提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合成実験の真位置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生成器が保持。正解付き評価・正常校正に使用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D2DFF204-D754-4FC0-837F-4D5BBB5A370A}"/>
              </a:ext>
            </a:extLst>
          </p:cNvPr>
          <p:cNvSpPr>
            <a:spLocks noGrp="1"/>
          </p:cNvSpPr>
          <p:nvPr/>
        </p:nvSpPr>
        <p:spPr>
          <a:xfrm>
            <a:off x="428625" y="53816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ここで評価するのはモデルとの不整合。機体認証や実位置の証明ではない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確認する3つの結果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結果ごとに、条件・操作・グラフ・言える範囲を説明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f2c9ff11-5852-5d56-a45d-67a8f3696945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2DE2DF6E-34F9-4B24-810E-1975A56A0121}"/>
              </a:ext>
            </a:extLst>
          </p:cNvPr>
          <p:cNvGraphicFramePr/>
          <p:nvPr/>
        </p:nvGraphicFramePr>
        <p:xfrm>
          <a:off x="400050" y="1524000"/>
          <a:ext cx="8343900" cy="2857500"/>
        </p:xfrm>
        <a:graphic>
          <a:graphicData uri="http://schemas.openxmlformats.org/drawingml/2006/table">
            <a:tbl>
              <a:tblPr/>
              <a:tblGrid>
                <a:gridCol w="3714750"/>
                <a:gridCol w="4629150"/>
              </a:tblGrid>
              <a:tr h="714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問い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実験で比較するもの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714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① 位置だけ変えると検知できるか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同じ受信記録で、正常と申告距離+30m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② 電力も変更されたらどうなるか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共通の受信標本で、正常／位置のみ／電力連動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714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③ 同じ送信を複数受信すればどうか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同じ5台配置で、正常／30m／100mと雑音差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3DBB3350-7C93-49DC-BBF5-A9BC95163E31}"/>
              </a:ext>
            </a:extLst>
          </p:cNvPr>
          <p:cNvSpPr>
            <a:spLocks noGrp="1"/>
          </p:cNvSpPr>
          <p:nvPr/>
        </p:nvSpPr>
        <p:spPr>
          <a:xfrm>
            <a:off x="428625" y="5000625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①②は単独受信。③は同一送信を複数地点で受ける追加条件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以下の数値は合成。実ドローンのRF計測から得た検知率ではない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シミュレーションで作る観測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RSSIを距離・電力・電波の揺らぎから生成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ede4d3c6-86bb-59b7-8c9b-07b26f01ea09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</a:t>
            </a:fld>
          </a:p>
        </p:txBody>
      </p:sp>
      <p:sp>
        <p:nvSpPr>
          <p:cNvPr id="8" name="">
            <a:extLst>
              <a:ext uri="{FF2B5EF4-FFF2-40B4-BE49-F238E27FC236}">
                <ns2:creationId id="{3AD354BA-342D-4F4D-BCBA-3C2ECD0E8D02}"/>
              </a:ext>
            </a:extLst>
          </p:cNvPr>
          <p:cNvSpPr>
            <a:spLocks noGrp="1"/>
          </p:cNvSpPr>
          <p:nvPr/>
        </p:nvSpPr>
        <p:spPr>
          <a:xfrm>
            <a:off x="619125" y="1619250"/>
            <a:ext cx="7953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23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23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23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23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23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23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23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23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23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23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3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R = P₀ − 10n log₁₀(d / 1m) + ε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741FCA34-C68D-4EAF-A65E-36FA418FAEA8}"/>
              </a:ext>
            </a:extLst>
          </p:cNvPr>
          <p:cNvGraphicFramePr/>
          <p:nvPr/>
        </p:nvGraphicFramePr>
        <p:xfrm>
          <a:off x="400050" y="2667000"/>
          <a:ext cx="8343900" cy="2762250"/>
        </p:xfrm>
        <a:graphic>
          <a:graphicData uri="http://schemas.openxmlformats.org/drawingml/2006/table">
            <a:tbl>
              <a:tblPr/>
              <a:tblGrid>
                <a:gridCol w="1524000"/>
                <a:gridCol w="6819900"/>
              </a:tblGrid>
              <a:tr h="5524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要素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実験内の意味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524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実際の機体位置と受信機の距離。生成器が保持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P₀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基準距離での実効電力。送信出力そのものとは区別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524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n・ε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距離による弱まり方と、遮蔽・受信機差・雑音等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q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RID申告位置。位置のみの改変ではRSSIを作り直さない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880DCF48-4E94-4823-8F4D-BEBFDEF47BAA}"/>
              </a:ext>
            </a:extLst>
          </p:cNvPr>
          <p:cNvSpPr>
            <a:spLocks noGrp="1"/>
          </p:cNvSpPr>
          <p:nvPr/>
        </p:nvSpPr>
        <p:spPr>
          <a:xfrm>
            <a:off x="428625" y="585787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SDは揺らぎの標準偏差。seedは乱数条件。今回の反復は10通り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実験①：真位置は変えず、申告だけ変更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同じRSSIに対して、RID申告の受信機からの距離へ30mを追加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a3cf6b25-a4e2-556f-9b47-6f04392757d6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5</a:t>
            </a:fld>
          </a:p>
        </p:txBody>
      </p:sp>
      <p:sp>
        <p:nvSpPr>
          <p:cNvPr id="8" name="">
            <a:extLst>
              <a:ext uri="{FF2B5EF4-FFF2-40B4-BE49-F238E27FC236}">
                <ns2:creationId id="{9421443F-046C-4270-8EDB-2B50A6136E06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出典：mac-three-findings-paired-20261102 / metrics-summary.csv（今回再実行した合成評価）</a:t>
            </a:r>
          </a:p>
        </p:txBody>
      </p:sp>
      <p:sp>
        <p:nvSpPr>
          <p:cNvPr id="9" name="">
            <a:extLst>
              <a:ext uri="{FF2B5EF4-FFF2-40B4-BE49-F238E27FC236}">
                <ns2:creationId id="{FB09B9F9-035E-4045-91C6-C1FDFE5ED335}"/>
              </a:ext>
            </a:extLst>
          </p:cNvPr>
          <p:cNvSpPr>
            <a:spLocks noGrp="1"/>
          </p:cNvSpPr>
          <p:nvPr/>
        </p:nvSpPr>
        <p:spPr>
          <a:xfrm>
            <a:off x="714375" y="2809875"/>
            <a:ext cx="285750" cy="2857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95AA212C-D3B4-4D8A-8BDB-05B48B06AF00}"/>
              </a:ext>
            </a:extLst>
          </p:cNvPr>
          <p:cNvSpPr>
            <a:spLocks noGrp="1"/>
          </p:cNvSpPr>
          <p:nvPr/>
        </p:nvSpPr>
        <p:spPr>
          <a:xfrm>
            <a:off x="476250" y="3333750"/>
            <a:ext cx="1238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80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80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80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80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80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80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80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80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80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80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受信機</a:t>
            </a:r>
          </a:p>
        </p:txBody>
      </p:sp>
      <p:sp>
        <p:nvSpPr>
          <p:cNvPr id="11" name="">
            <a:extLst>
              <a:ext uri="{FF2B5EF4-FFF2-40B4-BE49-F238E27FC236}">
                <ns2:creationId id="{0162C2C1-B345-4184-BFB4-AD8C56B5342C}"/>
              </a:ext>
            </a:extLst>
          </p:cNvPr>
          <p:cNvSpPr>
            <a:spLocks noGrp="1"/>
          </p:cNvSpPr>
          <p:nvPr/>
        </p:nvSpPr>
        <p:spPr>
          <a:xfrm>
            <a:off x="3333750" y="2857500"/>
            <a:ext cx="190500" cy="190500"/>
          </a:xfrm>
          <a:prstGeom prst="ellipse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FD6F0086-33D5-4F50-8538-6B49D29397E5}"/>
              </a:ext>
            </a:extLst>
          </p:cNvPr>
          <p:cNvSpPr>
            <a:spLocks noGrp="1"/>
          </p:cNvSpPr>
          <p:nvPr/>
        </p:nvSpPr>
        <p:spPr>
          <a:xfrm>
            <a:off x="2781300" y="31146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元の申告</a:t>
            </a:r>
          </a:p>
        </p:txBody>
      </p:sp>
      <p:sp>
        <p:nvSpPr>
          <p:cNvPr id="13" name="">
            <a:extLst>
              <a:ext uri="{FF2B5EF4-FFF2-40B4-BE49-F238E27FC236}">
                <ns2:creationId id="{01E8E292-325F-4646-9483-02CE349DF5D3}"/>
              </a:ext>
            </a:extLst>
          </p:cNvPr>
          <p:cNvSpPr>
            <a:spLocks noGrp="1"/>
          </p:cNvSpPr>
          <p:nvPr/>
        </p:nvSpPr>
        <p:spPr>
          <a:xfrm>
            <a:off x="6572250" y="2857500"/>
            <a:ext cx="190500" cy="190500"/>
          </a:xfrm>
          <a:prstGeom prst="ellipse">
            <a:avLst/>
          </a:prstGeom>
          <a:solidFill>
            <a:srgbClr val="E02B2B"/>
          </a:solidFill>
          <a:ln w="0">
            <a:noFill/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1E64A68E-6EF0-4058-9DA5-D62706325188}"/>
              </a:ext>
            </a:extLst>
          </p:cNvPr>
          <p:cNvSpPr>
            <a:spLocks noGrp="1"/>
          </p:cNvSpPr>
          <p:nvPr/>
        </p:nvSpPr>
        <p:spPr>
          <a:xfrm>
            <a:off x="6019800" y="31146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rPr>
              <a:t>改変後の申告</a:t>
            </a:r>
          </a:p>
        </p:txBody>
      </p:sp>
      <p:sp>
        <p:nvSpPr>
          <p:cNvPr id="15" name="">
            <a:extLst>
              <a:ext uri="{FF2B5EF4-FFF2-40B4-BE49-F238E27FC236}">
                <ns2:creationId id="{C8BBFF84-3B61-4782-9865-6B2C7FFFD901}"/>
              </a:ext>
            </a:extLst>
          </p:cNvPr>
          <p:cNvSpPr>
            <a:spLocks noGrp="1"/>
          </p:cNvSpPr>
          <p:nvPr/>
        </p:nvSpPr>
        <p:spPr>
          <a:xfrm>
            <a:off x="1000125" y="2952750"/>
            <a:ext cx="2333625" cy="953"/>
          </a:xfrm>
          <a:prstGeom prst="line">
            <a:avLst/>
          </a:prstGeom>
          <a:noFill/>
          <a:ln w="19050">
            <a:solidFill>
              <a:srgbClr val="2F64A1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31578BB0-9D8A-4369-8D59-5D0B230EBA7C}"/>
              </a:ext>
            </a:extLst>
          </p:cNvPr>
          <p:cNvSpPr>
            <a:spLocks noGrp="1"/>
          </p:cNvSpPr>
          <p:nvPr/>
        </p:nvSpPr>
        <p:spPr>
          <a:xfrm>
            <a:off x="3571875" y="2952750"/>
            <a:ext cx="2952750" cy="953"/>
          </a:xfrm>
          <a:prstGeom prst="line">
            <a:avLst/>
          </a:prstGeom>
          <a:noFill/>
          <a:ln w="19050">
            <a:solidFill>
              <a:srgbClr val="E02B2B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C1031A5C-5381-498E-A0FB-FCB4CA0EEC89}"/>
              </a:ext>
            </a:extLst>
          </p:cNvPr>
          <p:cNvSpPr>
            <a:spLocks noGrp="1"/>
          </p:cNvSpPr>
          <p:nvPr/>
        </p:nvSpPr>
        <p:spPr>
          <a:xfrm>
            <a:off x="2333625" y="2238375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元の申告距離</a:t>
            </a:r>
          </a:p>
        </p:txBody>
      </p:sp>
      <p:sp>
        <p:nvSpPr>
          <p:cNvPr id="18" name="">
            <a:extLst>
              <a:ext uri="{FF2B5EF4-FFF2-40B4-BE49-F238E27FC236}">
                <ns2:creationId id="{5E139F00-29E3-4DA4-91CC-30A5A121FDB2}"/>
              </a:ext>
            </a:extLst>
          </p:cNvPr>
          <p:cNvSpPr>
            <a:spLocks noGrp="1"/>
          </p:cNvSpPr>
          <p:nvPr/>
        </p:nvSpPr>
        <p:spPr>
          <a:xfrm>
            <a:off x="4429125" y="2286000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申告距離だけ+30m</a:t>
            </a:r>
          </a:p>
        </p:txBody>
      </p:sp>
      <p:sp>
        <p:nvSpPr>
          <p:cNvPr id="19" name="">
            <a:extLst>
              <a:ext uri="{FF2B5EF4-FFF2-40B4-BE49-F238E27FC236}">
                <ns2:creationId id="{AE8E5C05-AC9A-4CD1-969E-6253F4E775C8}"/>
              </a:ext>
            </a:extLst>
          </p:cNvPr>
          <p:cNvSpPr>
            <a:spLocks noGrp="1"/>
          </p:cNvSpPr>
          <p:nvPr/>
        </p:nvSpPr>
        <p:spPr>
          <a:xfrm>
            <a:off x="419100" y="452437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操作の内容</a:t>
            </a:r>
          </a:p>
        </p:txBody>
      </p:sp>
      <p:sp>
        <p:nvSpPr>
          <p:cNvPr id="20" name="">
            <a:extLst>
              <a:ext uri="{FF2B5EF4-FFF2-40B4-BE49-F238E27FC236}">
                <ns2:creationId id="{4448F877-DE26-4B98-9874-8BFB1367AAC9}"/>
              </a:ext>
            </a:extLst>
          </p:cNvPr>
          <p:cNvSpPr>
            <a:spLocks noGrp="1"/>
          </p:cNvSpPr>
          <p:nvPr/>
        </p:nvSpPr>
        <p:spPr>
          <a:xfrm>
            <a:off x="447675" y="4905375"/>
            <a:ext cx="8210550" cy="9094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通常の位置誤差を含む元の申告距離に、追加30mを加える</a:t>
            </a:r>
          </a:p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元のRSSI・電力・受信可否は同じ。30m安全離隔の判定とは別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実験①：条件と警報の作り方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通常の電力は確率的に変動。任意の攻撃電力とは別のモデル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51d8529b-7227-50dd-8a97-9a2bc00fb7c2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6</a:t>
            </a:fld>
          </a:p>
        </p:txBody>
      </p:sp>
      <p:sp>
        <p:nvSpPr>
          <p:cNvPr id="8" name="">
            <a:extLst>
              <a:ext uri="{FF2B5EF4-FFF2-40B4-BE49-F238E27FC236}">
                <ns2:creationId id="{CEEDC012-49BF-4F75-880C-367A5D06D1C5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出典：mac-three-findings-paired-20261102 / summary.json（今回再実行した合成評価）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84B9CFF6-C01D-41BD-82E1-FC5FC2233D87}"/>
              </a:ext>
            </a:extLst>
          </p:cNvPr>
          <p:cNvGraphicFramePr/>
          <p:nvPr/>
        </p:nvGraphicFramePr>
        <p:xfrm>
          <a:off x="400050" y="1524000"/>
          <a:ext cx="8343900" cy="3381375"/>
        </p:xfrm>
        <a:graphic>
          <a:graphicData uri="http://schemas.openxmlformats.org/drawingml/2006/table">
            <a:tbl>
              <a:tblPr/>
              <a:tblGrid>
                <a:gridCol w="2000250"/>
                <a:gridCol w="6343650"/>
              </a:tblGrid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設定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飛行と位置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40送信／飛行、高度3〜70m、水平半径6〜140m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電力と伝搬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送信変動SD3dB・相関0.85、飛行差SD2dB、遮蔽等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受信条件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感度−100dBm、1dB量子化、独立欠測3%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正常校正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26飛行で、申告距離からの電力残差の95%点を閾値に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評価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別の45飛行×10 seed。距離帯ごとに正常と比較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BCEE6915-CA1E-4990-864D-865A1B64231D}"/>
              </a:ext>
            </a:extLst>
          </p:cNvPr>
          <p:cNvSpPr>
            <a:spLocks noGrp="1"/>
          </p:cNvSpPr>
          <p:nvPr/>
        </p:nvSpPr>
        <p:spPr>
          <a:xfrm>
            <a:off x="428625" y="542925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全体で誤警報5%を目標に校正。距離帯ごとの5%は保証しない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実験①の結果：正常からの増加は小さい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真距離帯ごとに、全く同じ受信記録を比較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50451c44-1cbc-58aa-bb86-20f4caf36e15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7</a:t>
            </a:fld>
          </a:p>
        </p:txBody>
      </p:sp>
      <p:sp>
        <p:nvSpPr>
          <p:cNvPr id="8" name="">
            <a:extLst>
              <a:ext uri="{FF2B5EF4-FFF2-40B4-BE49-F238E27FC236}">
                <ns2:creationId id="{A4628C68-D0DA-4F98-BFAC-446D706D8BE5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出典：mac-three-findings-paired-20261102 / metrics-summary.csv（今回再実行した合成評価）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6779CF83-0BCC-4F89-8E1A-A53AD1F9B8F5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0bf99df3b09e44b9"/>
          </a:graphicData>
        </a:graphic>
      </p:graphicFrame>
      <p:sp>
        <p:nvSpPr>
          <p:cNvPr id="10" name="">
            <a:extLst>
              <a:ext uri="{FF2B5EF4-FFF2-40B4-BE49-F238E27FC236}">
                <ns2:creationId id="{52289E59-D480-473D-8611-62B397B23F11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近距離：152→196件の警報。10.95→14.12%（+3.17ポイント）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遠距離：166→297件の警報。3.29→5.88%（+2.60ポイント）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差は未丸め値から計算。検知率の高さだけで評価しない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実験①：正常と改変のスコア分布が重なる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真距離20〜40m、同じ1,388件。スコアを各seedの閾値で割って表示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90efdddf-0e44-52a8-9506-1eee871d7858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8</a:t>
            </a:fld>
          </a:p>
        </p:txBody>
      </p:sp>
      <p:sp>
        <p:nvSpPr>
          <p:cNvPr id="8" name="">
            <a:extLst>
              <a:ext uri="{FF2B5EF4-FFF2-40B4-BE49-F238E27FC236}">
                <ns2:creationId id="{02BCB8F8-77BB-4ECB-95A8-F755DCCEF427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出典：mac-three-findings-paired-20261102 / histogram-summary.csv（今回再実行した合成評価）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822F2307-FFB8-4D6A-83E3-BD1363EA0135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e21d0f76c91f49db"/>
          </a:graphicData>
        </a:graphic>
      </p:graphicFrame>
      <p:sp>
        <p:nvSpPr>
          <p:cNvPr id="10" name="">
            <a:extLst>
              <a:ext uri="{FF2B5EF4-FFF2-40B4-BE49-F238E27FC236}">
                <ns2:creationId id="{5ED576FA-05A3-44AE-BDDE-D085952776AE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左2区間は警報なし、右3区間は警報。境界ちょうど1は警報なし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位置を変えても、多くの標本が正常と同じ側に残る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遮蔽・電力の揺らぎ等もあるため、距離だけの違いとして分離しにくい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結果①から言えること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この条件の+30m改変は、正常との分離が弱い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1da54f9-63fa-50b2-9b85-a210c8f4a05d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9</a:t>
            </a:fld>
          </a:p>
        </p:txBody>
      </p:sp>
      <p:sp>
        <p:nvSpPr>
          <p:cNvPr id="8" name="">
            <a:extLst>
              <a:ext uri="{FF2B5EF4-FFF2-40B4-BE49-F238E27FC236}">
                <ns2:creationId id="{8C277994-3221-44C8-8336-D336AEC33DF8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出典：mac-three-findings-paired-20261102 / metrics-summary.csv（今回再実行した合成評価）</a:t>
            </a:r>
          </a:p>
        </p:txBody>
      </p:sp>
      <p:sp>
        <p:nvSpPr>
          <p:cNvPr id="9" name="">
            <a:extLst>
              <a:ext uri="{FF2B5EF4-FFF2-40B4-BE49-F238E27FC236}">
                <ns2:creationId id="{F9098330-DA18-4664-9E53-AD5F2C6F1AD1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直接確認したこと</a:t>
            </a:r>
          </a:p>
        </p:txBody>
      </p:sp>
      <p:sp>
        <p:nvSpPr>
          <p:cNvPr id="10" name="">
            <a:extLst>
              <a:ext uri="{FF2B5EF4-FFF2-40B4-BE49-F238E27FC236}">
                <ns2:creationId id="{3651D461-71D5-4768-8A76-37CBDD1198F2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正常対照との差は約3.17ポイント／2.60ポイントにとどまる</a:t>
            </a:r>
          </a:p>
        </p:txBody>
      </p:sp>
      <p:sp>
        <p:nvSpPr>
          <p:cNvPr id="11" name="">
            <a:extLst>
              <a:ext uri="{FF2B5EF4-FFF2-40B4-BE49-F238E27FC236}">
                <ns2:creationId id="{A949242F-644F-4E43-A21D-30217EC752A9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解釈</a:t>
            </a:r>
          </a:p>
        </p:txBody>
      </p:sp>
      <p:sp>
        <p:nvSpPr>
          <p:cNvPr id="12" name="">
            <a:extLst>
              <a:ext uri="{FF2B5EF4-FFF2-40B4-BE49-F238E27FC236}">
                <ns2:creationId id="{67565AC4-CF7C-40D7-AB64-8B64A9D76BE2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935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同じ+30mでも元距離により距離比が異なる</a:t>
            </a:r>
          </a:p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RSSIの揺らぎを含むため、小さい位置改変が正常に埋もれる</a:t>
            </a:r>
          </a:p>
        </p:txBody>
      </p:sp>
      <p:sp>
        <p:nvSpPr>
          <p:cNvPr id="13" name="">
            <a:extLst>
              <a:ext uri="{FF2B5EF4-FFF2-40B4-BE49-F238E27FC236}">
                <ns2:creationId id="{69E67778-7D3A-4C3A-BA70-5BD18AB03582}"/>
              </a:ext>
            </a:extLst>
          </p:cNvPr>
          <p:cNvSpPr>
            <a:spLocks noGrp="1"/>
          </p:cNvSpPr>
          <p:nvPr/>
        </p:nvSpPr>
        <p:spPr>
          <a:xfrm>
            <a:off x="419100" y="4137279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今回言っていないこと</a:t>
            </a:r>
          </a:p>
        </p:txBody>
      </p:sp>
      <p:sp>
        <p:nvSpPr>
          <p:cNvPr id="14" name="">
            <a:extLst>
              <a:ext uri="{FF2B5EF4-FFF2-40B4-BE49-F238E27FC236}">
                <ns2:creationId id="{0FD520E9-7E8A-4807-82D9-3CE0138BDA81}"/>
              </a:ext>
            </a:extLst>
          </p:cNvPr>
          <p:cNvSpPr>
            <a:spLocks noGrp="1"/>
          </p:cNvSpPr>
          <p:nvPr/>
        </p:nvSpPr>
        <p:spPr>
          <a:xfrm>
            <a:off x="447675" y="4518279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あらゆる距離・方向・電波条件で検知不能という結論ではない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実験②：位置だけでなく電力も変更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申告距離+100mに対して、受信強度を弱める方向へ電力を補償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988ccc6a-8284-5b59-af9c-c5beb537d3ae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10</a:t>
            </a:fld>
          </a:p>
        </p:txBody>
      </p:sp>
      <p:sp>
        <p:nvSpPr>
          <p:cNvPr id="8" name="">
            <a:extLst>
              <a:ext uri="{FF2B5EF4-FFF2-40B4-BE49-F238E27FC236}">
                <ns2:creationId id="{D37A5ACE-D794-46EC-B694-8C9F8C4C62B4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出典：mac-three-findings-paired-20261102 / summary.json（今回再実行した合成評価）</a:t>
            </a:r>
          </a:p>
        </p:txBody>
      </p:sp>
      <p:sp>
        <p:nvSpPr>
          <p:cNvPr id="9" name="">
            <a:extLst>
              <a:ext uri="{FF2B5EF4-FFF2-40B4-BE49-F238E27FC236}">
                <ns2:creationId id="{4E86BEE2-745E-402E-B38A-5685CAE5E3D6}"/>
              </a:ext>
            </a:extLst>
          </p:cNvPr>
          <p:cNvSpPr>
            <a:spLocks noGrp="1"/>
          </p:cNvSpPr>
          <p:nvPr/>
        </p:nvSpPr>
        <p:spPr>
          <a:xfrm>
            <a:off x="476250" y="1619250"/>
            <a:ext cx="82391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電力変更量 = 22 log₁₀(元の申告距離 / 改変後の申告距離)</a:t>
            </a:r>
          </a:p>
        </p:txBody>
      </p:sp>
      <p:graphicFrame>
        <p:nvGraphicFramePr>
          <p:cNvPr id="10" name="">
            <a:extLst>
              <a:ext uri="{FF2B5EF4-FFF2-40B4-BE49-F238E27FC236}">
                <ns2:creationId id="{1AE51F35-8D0D-4E95-A733-B242ADB22894}"/>
              </a:ext>
            </a:extLst>
          </p:cNvPr>
          <p:cNvGraphicFramePr/>
          <p:nvPr/>
        </p:nvGraphicFramePr>
        <p:xfrm>
          <a:off x="400050" y="2762250"/>
          <a:ext cx="8343900" cy="2286000"/>
        </p:xfrm>
        <a:graphic>
          <a:graphicData uri="http://schemas.openxmlformats.org/drawingml/2006/table">
            <a:tbl>
              <a:tblPr/>
              <a:tblGrid>
                <a:gridCol w="4048125"/>
                <a:gridCol w="4295775"/>
              </a:tblGrid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変えるもの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固定するもの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申告距離に+100m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実際の機体位置、元の伝搬・雑音の実現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上式の共通電力オフセット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元の受信機、同じ送信イベント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変更後のRSSIと受信可否を再計算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1dB量子化、−100dBm感度、スキャン欠測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>
              <a:ext uri="{FF2B5EF4-FFF2-40B4-BE49-F238E27FC236}">
                <ns2:creationId id="{A33230D9-B3F3-411F-AC81-55D9401C7BF5}"/>
              </a:ext>
            </a:extLst>
          </p:cNvPr>
          <p:cNvSpPr>
            <a:spLocks noGrp="1"/>
          </p:cNvSpPr>
          <p:nvPr/>
        </p:nvSpPr>
        <p:spPr>
          <a:xfrm>
            <a:off x="428625" y="5381625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攻撃者は受信機位置と伝搬モデルを知る有利な仮定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電力変更は無制限。実機の出力範囲・法規適合を実証した攻撃ではない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実験②：比較する標本を揃える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受信率の変化と、検出器の反応を分離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4427771-f0ef-5d4b-a9c7-1f304db5b364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11</a:t>
            </a:fld>
          </a:p>
        </p:txBody>
      </p:sp>
      <p:sp>
        <p:nvSpPr>
          <p:cNvPr id="8" name="">
            <a:extLst>
              <a:ext uri="{FF2B5EF4-FFF2-40B4-BE49-F238E27FC236}">
                <ns2:creationId id="{6763AD51-E14A-4A6E-AD3C-0C948AFC09AB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出典：mac-three-findings-paired-20261102 / metrics-summary.csv（今回再実行した合成評価）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26A50470-ADA7-44D9-8359-419D3C9E827A}"/>
              </a:ext>
            </a:extLst>
          </p:cNvPr>
          <p:cNvGraphicFramePr/>
          <p:nvPr/>
        </p:nvGraphicFramePr>
        <p:xfrm>
          <a:off x="400050" y="1524000"/>
          <a:ext cx="8343900" cy="3238500"/>
        </p:xfrm>
        <a:graphic>
          <a:graphicData uri="http://schemas.openxmlformats.org/drawingml/2006/table">
            <a:tbl>
              <a:tblPr/>
              <a:tblGrid>
                <a:gridCol w="3143250"/>
                <a:gridCol w="5200650"/>
              </a:tblGrid>
              <a:tr h="6477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段階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件数と扱い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477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生成した全送信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18,000件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正常時に受信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15,624件（86.8%）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477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電力変更後にも受信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12,294件（68.3%）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今回の共通比較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両方で受信できた同じ12,294件を3条件で比較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84A02846-B885-4D24-8CBD-AD44935B1F4E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正常時だけ届いた3,330件を共通比較から除く。未受信を正常にしない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攻撃後も届く標本への条件付き比較で、全送信の性能とは区別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実験②の結果：電力連動で正常に近い警報率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全条件で同じ12,294件。攻撃後も受信できた標本に限定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9df66441-07cc-58a2-9b0b-8702ddd5c408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12</a:t>
            </a:fld>
          </a:p>
        </p:txBody>
      </p:sp>
      <p:sp>
        <p:nvSpPr>
          <p:cNvPr id="8" name="">
            <a:extLst>
              <a:ext uri="{FF2B5EF4-FFF2-40B4-BE49-F238E27FC236}">
                <ns2:creationId id="{088E12F6-133B-437E-B7E0-124986543164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出典：mac-three-findings-paired-20261102 / metrics-summary.csv（今回再実行した合成評価）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0F819FEF-68F2-4347-8464-05320805D7C2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086b0f663dc94039"/>
          </a:graphicData>
        </a:graphic>
      </p:graphicFrame>
      <p:sp>
        <p:nvSpPr>
          <p:cNvPr id="10" name="">
            <a:extLst>
              <a:ext uri="{FF2B5EF4-FFF2-40B4-BE49-F238E27FC236}">
                <ns2:creationId id="{014A36E6-BE65-4279-BDEB-826C38DB43B0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正常：297件（2.416%）、位置のみ：3,727件（30.316%）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電力連動：298件（2.424%）。正常との差は1件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量子化前の電力残差は一致。1dB量子化により小差が残る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実験②：同じ申告とRSSIになる2つの世界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説明用の理想モデル。1受信機、n=2.2、誤差なし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fca5912a-1ad5-5746-9387-8d419c9421f4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13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EE83FB2A-56C5-42A5-B0D7-10C15199B34A}"/>
              </a:ext>
            </a:extLst>
          </p:cNvPr>
          <p:cNvGraphicFramePr/>
          <p:nvPr/>
        </p:nvGraphicFramePr>
        <p:xfrm>
          <a:off x="400050" y="1524000"/>
          <a:ext cx="8343900" cy="3333750"/>
        </p:xfrm>
        <a:graphic>
          <a:graphicData uri="http://schemas.openxmlformats.org/drawingml/2006/table">
            <a:tbl>
              <a:tblPr/>
              <a:tblGrid>
                <a:gridCol w="2190750"/>
                <a:gridCol w="3076575"/>
                <a:gridCol w="3076575"/>
              </a:tblGrid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正しい申告の世界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偽装した世界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実際の距離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120m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20m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RIDの申告距離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120m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120m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実効基準電力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−42dBm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-59.12dBm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受信RSSI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-87.74dBm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-87.74dBm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8F62C141-E03D-4349-9BD9-95B504C8D7D1}"/>
              </a:ext>
            </a:extLst>
          </p:cNvPr>
          <p:cNvSpPr>
            <a:spLocks noGrp="1"/>
          </p:cNvSpPr>
          <p:nvPr/>
        </p:nvSpPr>
        <p:spPr>
          <a:xfrm>
            <a:off x="428625" y="533400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検出側に届く申告距離とRSSIが同じなら、その入力だけでは区別できない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送信電力と位置に独立の制約がない場合の構成的反例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結果②から言えること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自由な電力変更を許すと、位置の違いをRSSIで相殺できる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dfa7f1da-b646-57c9-8026-68d9619dc562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14</a:t>
            </a:fld>
          </a:p>
        </p:txBody>
      </p:sp>
      <p:sp>
        <p:nvSpPr>
          <p:cNvPr id="8" name="">
            <a:extLst>
              <a:ext uri="{FF2B5EF4-FFF2-40B4-BE49-F238E27FC236}">
                <ns2:creationId id="{6CE5A3EC-54D8-4E8A-A051-EF3A8717B65C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出典：mac-three-findings-paired-20261102 / summary.json（今回再実行した合成評価）</a:t>
            </a:r>
          </a:p>
        </p:txBody>
      </p:sp>
      <p:sp>
        <p:nvSpPr>
          <p:cNvPr id="9" name="">
            <a:extLst>
              <a:ext uri="{FF2B5EF4-FFF2-40B4-BE49-F238E27FC236}">
                <ns2:creationId id="{FEB5FF0D-E503-459A-8837-54F49EA83B92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合成実験で確認したこと</a:t>
            </a:r>
          </a:p>
        </p:txBody>
      </p:sp>
      <p:sp>
        <p:nvSpPr>
          <p:cNvPr id="10" name="">
            <a:extLst>
              <a:ext uri="{FF2B5EF4-FFF2-40B4-BE49-F238E27FC236}">
                <ns2:creationId id="{E8F19EC1-79E6-49A4-82C9-86B031693056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共通標本で、位置改変の警報率を正常付近まで戻せた</a:t>
            </a:r>
          </a:p>
        </p:txBody>
      </p:sp>
      <p:sp>
        <p:nvSpPr>
          <p:cNvPr id="11" name="">
            <a:extLst>
              <a:ext uri="{FF2B5EF4-FFF2-40B4-BE49-F238E27FC236}">
                <ns2:creationId id="{B6B2DD74-1876-405A-ADDE-C987AF5070C9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数理的に分かること</a:t>
            </a:r>
          </a:p>
        </p:txBody>
      </p:sp>
      <p:sp>
        <p:nvSpPr>
          <p:cNvPr id="12" name="">
            <a:extLst>
              <a:ext uri="{FF2B5EF4-FFF2-40B4-BE49-F238E27FC236}">
                <ns2:creationId id="{3CB9E029-8927-41A7-95BA-7741AB5F2138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同じ申告と同じRSSIを作る、異なる位置・電力の世界が存在</a:t>
            </a:r>
          </a:p>
        </p:txBody>
      </p:sp>
      <p:sp>
        <p:nvSpPr>
          <p:cNvPr id="13" name="">
            <a:extLst>
              <a:ext uri="{FF2B5EF4-FFF2-40B4-BE49-F238E27FC236}">
                <ns2:creationId id="{C3623C16-D072-4336-9092-A0B3D38B9D3E}"/>
              </a:ext>
            </a:extLst>
          </p:cNvPr>
          <p:cNvSpPr>
            <a:spLocks noGrp="1"/>
          </p:cNvSpPr>
          <p:nvPr/>
        </p:nvSpPr>
        <p:spPr>
          <a:xfrm>
            <a:off x="419100" y="3726561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成立条件と限界</a:t>
            </a:r>
          </a:p>
        </p:txBody>
      </p:sp>
      <p:sp>
        <p:nvSpPr>
          <p:cNvPr id="14" name="">
            <a:extLst>
              <a:ext uri="{FF2B5EF4-FFF2-40B4-BE49-F238E27FC236}">
                <ns2:creationId id="{E4ED2B49-A1BE-4346-87FD-7551A3D16ED7}"/>
              </a:ext>
            </a:extLst>
          </p:cNvPr>
          <p:cNvSpPr>
            <a:spLocks noGrp="1"/>
          </p:cNvSpPr>
          <p:nvPr/>
        </p:nvSpPr>
        <p:spPr>
          <a:xfrm>
            <a:off x="447675" y="4107561"/>
            <a:ext cx="8210550" cy="935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各送信を単独受信、電力は自由、独立な位置・電力証拠なし</a:t>
            </a:r>
          </a:p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実機の実現可能な出力幅や指向性・移動制約を評価した結果ではない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5台の配置と共通3D軌跡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編集可能な平面図。A〜Eは異なる5座標、高度は右表へ記載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45d75d64-0121-58ca-800b-d159e6b68256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15</a:t>
            </a:fld>
          </a:p>
        </p:txBody>
      </p:sp>
      <p:sp>
        <p:nvSpPr>
          <p:cNvPr id="8" name="">
            <a:extLst>
              <a:ext uri="{FF2B5EF4-FFF2-40B4-BE49-F238E27FC236}">
                <ns2:creationId id="{ECF481B9-B2C7-4DA9-BFAC-03A58C00AE6E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config.json（合成10 seed）</a:t>
            </a:r>
          </a:p>
        </p:txBody>
      </p:sp>
      <p:sp>
        <p:nvSpPr>
          <p:cNvPr id="9" name="">
            <a:extLst>
              <a:ext uri="{FF2B5EF4-FFF2-40B4-BE49-F238E27FC236}">
                <ns2:creationId id="{606170C0-BB6C-4591-A01B-B131E251C92A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3810000" cy="953"/>
          </a:xfrm>
          <a:prstGeom prst="line">
            <a:avLst/>
          </a:prstGeom>
          <a:noFill/>
          <a:ln w="9525">
            <a:solidFill>
              <a:srgbClr val="AAB4C0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D4AA18B1-61CA-425B-B129-B05530025E84}"/>
              </a:ext>
            </a:extLst>
          </p:cNvPr>
          <p:cNvSpPr>
            <a:spLocks noGrp="1"/>
          </p:cNvSpPr>
          <p:nvPr/>
        </p:nvSpPr>
        <p:spPr>
          <a:xfrm>
            <a:off x="2571750" y="1476375"/>
            <a:ext cx="953" cy="3667125"/>
          </a:xfrm>
          <a:prstGeom prst="line">
            <a:avLst/>
          </a:prstGeom>
          <a:noFill/>
          <a:ln w="9525">
            <a:solidFill>
              <a:srgbClr val="AAB4C0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ED677296-0F24-4F3F-84E3-73AB22887BBE}"/>
              </a:ext>
            </a:extLst>
          </p:cNvPr>
          <p:cNvSpPr>
            <a:spLocks noGrp="1"/>
          </p:cNvSpPr>
          <p:nvPr/>
        </p:nvSpPr>
        <p:spPr>
          <a:xfrm>
            <a:off x="3381375" y="5286375"/>
            <a:ext cx="14763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東西（m）</a:t>
            </a:r>
          </a:p>
        </p:txBody>
      </p:sp>
      <p:sp>
        <p:nvSpPr>
          <p:cNvPr id="12" name="">
            <a:extLst>
              <a:ext uri="{FF2B5EF4-FFF2-40B4-BE49-F238E27FC236}">
                <ns2:creationId id="{7FA9B40C-7BCF-4356-B430-AE8DF2B491FD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4763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南北（m）</a:t>
            </a:r>
          </a:p>
        </p:txBody>
      </p:sp>
      <p:sp>
        <p:nvSpPr>
          <p:cNvPr id="13" name="">
            <a:extLst>
              <a:ext uri="{FF2B5EF4-FFF2-40B4-BE49-F238E27FC236}">
                <ns2:creationId id="{0F1FB9A5-F73A-4915-81CB-EA2E5ED9300E}"/>
              </a:ext>
            </a:extLst>
          </p:cNvPr>
          <p:cNvSpPr>
            <a:spLocks noGrp="1"/>
          </p:cNvSpPr>
          <p:nvPr/>
        </p:nvSpPr>
        <p:spPr>
          <a:xfrm>
            <a:off x="1362075" y="3429000"/>
            <a:ext cx="5238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-100</a:t>
            </a:r>
          </a:p>
        </p:txBody>
      </p:sp>
      <p:sp>
        <p:nvSpPr>
          <p:cNvPr id="14" name="">
            <a:extLst>
              <a:ext uri="{FF2B5EF4-FFF2-40B4-BE49-F238E27FC236}">
                <ns2:creationId id="{68EB7314-7268-461E-932A-1E38C31D7D47}"/>
              </a:ext>
            </a:extLst>
          </p:cNvPr>
          <p:cNvSpPr>
            <a:spLocks noGrp="1"/>
          </p:cNvSpPr>
          <p:nvPr/>
        </p:nvSpPr>
        <p:spPr>
          <a:xfrm>
            <a:off x="428625" y="4219575"/>
            <a:ext cx="476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-100</a:t>
            </a:r>
          </a:p>
        </p:txBody>
      </p:sp>
      <p:sp>
        <p:nvSpPr>
          <p:cNvPr id="15" name="">
            <a:extLst>
              <a:ext uri="{FF2B5EF4-FFF2-40B4-BE49-F238E27FC236}">
                <ns2:creationId id="{4AF1B698-895F-4735-AA63-4C40E5866DBF}"/>
              </a:ext>
            </a:extLst>
          </p:cNvPr>
          <p:cNvSpPr>
            <a:spLocks noGrp="1"/>
          </p:cNvSpPr>
          <p:nvPr/>
        </p:nvSpPr>
        <p:spPr>
          <a:xfrm>
            <a:off x="2362200" y="3429000"/>
            <a:ext cx="5238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0</a:t>
            </a:r>
          </a:p>
        </p:txBody>
      </p:sp>
      <p:sp>
        <p:nvSpPr>
          <p:cNvPr id="16" name="">
            <a:extLst>
              <a:ext uri="{FF2B5EF4-FFF2-40B4-BE49-F238E27FC236}">
                <ns2:creationId id="{BBAB41A1-B37D-47AD-82E5-2745D95F1650}"/>
              </a:ext>
            </a:extLst>
          </p:cNvPr>
          <p:cNvSpPr>
            <a:spLocks noGrp="1"/>
          </p:cNvSpPr>
          <p:nvPr/>
        </p:nvSpPr>
        <p:spPr>
          <a:xfrm>
            <a:off x="428625" y="3219450"/>
            <a:ext cx="476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0</a:t>
            </a:r>
          </a:p>
        </p:txBody>
      </p:sp>
      <p:sp>
        <p:nvSpPr>
          <p:cNvPr id="17" name="">
            <a:extLst>
              <a:ext uri="{FF2B5EF4-FFF2-40B4-BE49-F238E27FC236}">
                <ns2:creationId id="{0AC33DA4-9713-4AE3-96DE-D706D912F5BF}"/>
              </a:ext>
            </a:extLst>
          </p:cNvPr>
          <p:cNvSpPr>
            <a:spLocks noGrp="1"/>
          </p:cNvSpPr>
          <p:nvPr/>
        </p:nvSpPr>
        <p:spPr>
          <a:xfrm>
            <a:off x="3362325" y="3429000"/>
            <a:ext cx="5238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100</a:t>
            </a:r>
          </a:p>
        </p:txBody>
      </p:sp>
      <p:sp>
        <p:nvSpPr>
          <p:cNvPr id="18" name="">
            <a:extLst>
              <a:ext uri="{FF2B5EF4-FFF2-40B4-BE49-F238E27FC236}">
                <ns2:creationId id="{833F3D0F-32D1-4A24-9D21-92ECEB1764E8}"/>
              </a:ext>
            </a:extLst>
          </p:cNvPr>
          <p:cNvSpPr>
            <a:spLocks noGrp="1"/>
          </p:cNvSpPr>
          <p:nvPr/>
        </p:nvSpPr>
        <p:spPr>
          <a:xfrm>
            <a:off x="428625" y="2219325"/>
            <a:ext cx="476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100</a:t>
            </a:r>
          </a:p>
        </p:txBody>
      </p:sp>
      <p:sp>
        <p:nvSpPr>
          <p:cNvPr id="19" name="">
            <a:extLst>
              <a:ext uri="{FF2B5EF4-FFF2-40B4-BE49-F238E27FC236}">
                <ns2:creationId id="{BCB7EB31-F553-4AE7-A285-B15CA980B493}"/>
              </a:ext>
            </a:extLst>
          </p:cNvPr>
          <p:cNvSpPr>
            <a:spLocks noGrp="1"/>
          </p:cNvSpPr>
          <p:nvPr/>
        </p:nvSpPr>
        <p:spPr>
          <a:xfrm>
            <a:off x="2206560" y="1570737"/>
            <a:ext cx="42694" cy="83081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999C9A6A-877C-4412-A23F-179911ED3819}"/>
              </a:ext>
            </a:extLst>
          </p:cNvPr>
          <p:cNvSpPr>
            <a:spLocks noGrp="1"/>
          </p:cNvSpPr>
          <p:nvPr/>
        </p:nvSpPr>
        <p:spPr>
          <a:xfrm>
            <a:off x="2249254" y="1653818"/>
            <a:ext cx="42123" cy="83209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3FC9A498-D5D9-4FE4-827F-57BEE7043F4B}"/>
              </a:ext>
            </a:extLst>
          </p:cNvPr>
          <p:cNvSpPr>
            <a:spLocks noGrp="1"/>
          </p:cNvSpPr>
          <p:nvPr/>
        </p:nvSpPr>
        <p:spPr>
          <a:xfrm>
            <a:off x="2291378" y="1737027"/>
            <a:ext cx="40995" cy="83461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D2165462-E882-4871-805C-92776FA8D76B}"/>
              </a:ext>
            </a:extLst>
          </p:cNvPr>
          <p:cNvSpPr>
            <a:spLocks noGrp="1"/>
          </p:cNvSpPr>
          <p:nvPr/>
        </p:nvSpPr>
        <p:spPr>
          <a:xfrm>
            <a:off x="2332373" y="1820487"/>
            <a:ext cx="39339" cy="83830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204D7468-8F1E-46B6-8D6C-C480D5DCF79A}"/>
              </a:ext>
            </a:extLst>
          </p:cNvPr>
          <p:cNvSpPr>
            <a:spLocks noGrp="1"/>
          </p:cNvSpPr>
          <p:nvPr/>
        </p:nvSpPr>
        <p:spPr>
          <a:xfrm>
            <a:off x="2371712" y="1904318"/>
            <a:ext cx="37194" cy="84309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F7FBD950-A21A-4FA6-98D5-7DAE08AA9597}"/>
              </a:ext>
            </a:extLst>
          </p:cNvPr>
          <p:cNvSpPr>
            <a:spLocks noGrp="1"/>
          </p:cNvSpPr>
          <p:nvPr/>
        </p:nvSpPr>
        <p:spPr>
          <a:xfrm>
            <a:off x="2408906" y="1988627"/>
            <a:ext cx="34615" cy="84885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425BC1A0-BC34-424A-B13F-AFCC90218FB7}"/>
              </a:ext>
            </a:extLst>
          </p:cNvPr>
          <p:cNvSpPr>
            <a:spLocks noGrp="1"/>
          </p:cNvSpPr>
          <p:nvPr/>
        </p:nvSpPr>
        <p:spPr>
          <a:xfrm>
            <a:off x="2443521" y="2073512"/>
            <a:ext cx="31666" cy="85544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E20D0BAD-84B1-4D41-B296-6B5D1EABE978}"/>
              </a:ext>
            </a:extLst>
          </p:cNvPr>
          <p:cNvSpPr>
            <a:spLocks noGrp="1"/>
          </p:cNvSpPr>
          <p:nvPr/>
        </p:nvSpPr>
        <p:spPr>
          <a:xfrm>
            <a:off x="2475186" y="2159055"/>
            <a:ext cx="28419" cy="86268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515179E0-D589-4A52-852A-BB300CB15045}"/>
              </a:ext>
            </a:extLst>
          </p:cNvPr>
          <p:cNvSpPr>
            <a:spLocks noGrp="1"/>
          </p:cNvSpPr>
          <p:nvPr/>
        </p:nvSpPr>
        <p:spPr>
          <a:xfrm>
            <a:off x="2503605" y="2245324"/>
            <a:ext cx="24956" cy="87042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D0AF4666-02ED-4AB5-AE2A-CCCF171DE444}"/>
              </a:ext>
            </a:extLst>
          </p:cNvPr>
          <p:cNvSpPr>
            <a:spLocks noGrp="1"/>
          </p:cNvSpPr>
          <p:nvPr/>
        </p:nvSpPr>
        <p:spPr>
          <a:xfrm>
            <a:off x="2528561" y="2332365"/>
            <a:ext cx="21362" cy="87844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B51326A5-B7EF-490C-A14C-CA6563FF9DA2}"/>
              </a:ext>
            </a:extLst>
          </p:cNvPr>
          <p:cNvSpPr>
            <a:spLocks noGrp="1"/>
          </p:cNvSpPr>
          <p:nvPr/>
        </p:nvSpPr>
        <p:spPr>
          <a:xfrm>
            <a:off x="2549922" y="2420209"/>
            <a:ext cx="17726" cy="88656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9D9E570F-CA74-4F1B-B314-1D63E8F9E031}"/>
              </a:ext>
            </a:extLst>
          </p:cNvPr>
          <p:cNvSpPr>
            <a:spLocks noGrp="1"/>
          </p:cNvSpPr>
          <p:nvPr/>
        </p:nvSpPr>
        <p:spPr>
          <a:xfrm>
            <a:off x="2567649" y="2508865"/>
            <a:ext cx="14140" cy="89456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B034B67B-9613-4F39-B33C-53BCC80220A9}"/>
              </a:ext>
            </a:extLst>
          </p:cNvPr>
          <p:cNvSpPr>
            <a:spLocks noGrp="1"/>
          </p:cNvSpPr>
          <p:nvPr/>
        </p:nvSpPr>
        <p:spPr>
          <a:xfrm>
            <a:off x="2581789" y="2598321"/>
            <a:ext cx="10691" cy="90226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83EA99A0-63E3-4BBB-B5A0-738B67B81294}"/>
              </a:ext>
            </a:extLst>
          </p:cNvPr>
          <p:cNvSpPr>
            <a:spLocks noGrp="1"/>
          </p:cNvSpPr>
          <p:nvPr/>
        </p:nvSpPr>
        <p:spPr>
          <a:xfrm>
            <a:off x="2592480" y="2688547"/>
            <a:ext cx="7467" cy="90946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33" name="">
            <a:extLst>
              <a:ext uri="{FF2B5EF4-FFF2-40B4-BE49-F238E27FC236}">
                <ns2:creationId id="{55317602-D7E4-43C4-98D8-DCD5833F577A}"/>
              </a:ext>
            </a:extLst>
          </p:cNvPr>
          <p:cNvSpPr>
            <a:spLocks noGrp="1"/>
          </p:cNvSpPr>
          <p:nvPr/>
        </p:nvSpPr>
        <p:spPr>
          <a:xfrm>
            <a:off x="2599947" y="2779494"/>
            <a:ext cx="4545" cy="91598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34" name="">
            <a:extLst>
              <a:ext uri="{FF2B5EF4-FFF2-40B4-BE49-F238E27FC236}">
                <ns2:creationId id="{6779B6EF-93C1-4820-9F30-F5A3D4E3C4EF}"/>
              </a:ext>
            </a:extLst>
          </p:cNvPr>
          <p:cNvSpPr>
            <a:spLocks noGrp="1"/>
          </p:cNvSpPr>
          <p:nvPr/>
        </p:nvSpPr>
        <p:spPr>
          <a:xfrm>
            <a:off x="2604492" y="2871092"/>
            <a:ext cx="2000" cy="92167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35" name="">
            <a:extLst>
              <a:ext uri="{FF2B5EF4-FFF2-40B4-BE49-F238E27FC236}">
                <ns2:creationId id="{D6816A10-F4C7-485D-8045-A9F66D003F77}"/>
              </a:ext>
            </a:extLst>
          </p:cNvPr>
          <p:cNvSpPr>
            <a:spLocks noGrp="1"/>
          </p:cNvSpPr>
          <p:nvPr/>
        </p:nvSpPr>
        <p:spPr>
          <a:xfrm flipV="1">
            <a:off x="2606386" y="2963259"/>
            <a:ext cx="106" cy="92637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913E8F8C-D5EF-410F-9CBD-130094754C30}"/>
              </a:ext>
            </a:extLst>
          </p:cNvPr>
          <p:cNvSpPr>
            <a:spLocks noGrp="1"/>
          </p:cNvSpPr>
          <p:nvPr/>
        </p:nvSpPr>
        <p:spPr>
          <a:xfrm flipV="1">
            <a:off x="2604667" y="3055895"/>
            <a:ext cx="1720" cy="92997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37" name="">
            <a:extLst>
              <a:ext uri="{FF2B5EF4-FFF2-40B4-BE49-F238E27FC236}">
                <ns2:creationId id="{5FE600F2-F8C3-494D-A401-F7B809671D9B}"/>
              </a:ext>
            </a:extLst>
          </p:cNvPr>
          <p:cNvSpPr>
            <a:spLocks noGrp="1"/>
          </p:cNvSpPr>
          <p:nvPr/>
        </p:nvSpPr>
        <p:spPr>
          <a:xfrm flipV="1">
            <a:off x="2601864" y="3148892"/>
            <a:ext cx="2802" cy="93239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38" name="">
            <a:extLst>
              <a:ext uri="{FF2B5EF4-FFF2-40B4-BE49-F238E27FC236}">
                <ns2:creationId id="{83561E12-112B-48BE-B6F2-928D4B643A9D}"/>
              </a:ext>
            </a:extLst>
          </p:cNvPr>
          <p:cNvSpPr>
            <a:spLocks noGrp="1"/>
          </p:cNvSpPr>
          <p:nvPr/>
        </p:nvSpPr>
        <p:spPr>
          <a:xfrm flipV="1">
            <a:off x="2598538" y="3242131"/>
            <a:ext cx="3326" cy="93356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39" name="">
            <a:extLst>
              <a:ext uri="{FF2B5EF4-FFF2-40B4-BE49-F238E27FC236}">
                <ns2:creationId id="{D2C88B29-562B-419F-9968-2B0A2C6E8F5E}"/>
              </a:ext>
            </a:extLst>
          </p:cNvPr>
          <p:cNvSpPr>
            <a:spLocks noGrp="1"/>
          </p:cNvSpPr>
          <p:nvPr/>
        </p:nvSpPr>
        <p:spPr>
          <a:xfrm flipV="1">
            <a:off x="2595260" y="3335487"/>
            <a:ext cx="3278" cy="93345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40" name="">
            <a:extLst>
              <a:ext uri="{FF2B5EF4-FFF2-40B4-BE49-F238E27FC236}">
                <ns2:creationId id="{EB21545A-B742-436E-B9FA-6CEAF464CE2F}"/>
              </a:ext>
            </a:extLst>
          </p:cNvPr>
          <p:cNvSpPr>
            <a:spLocks noGrp="1"/>
          </p:cNvSpPr>
          <p:nvPr/>
        </p:nvSpPr>
        <p:spPr>
          <a:xfrm flipV="1">
            <a:off x="2592600" y="3428832"/>
            <a:ext cx="2660" cy="93207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41" name="">
            <a:extLst>
              <a:ext uri="{FF2B5EF4-FFF2-40B4-BE49-F238E27FC236}">
                <ns2:creationId id="{718E135D-990E-47B7-9B6C-868A1A7D2A4F}"/>
              </a:ext>
            </a:extLst>
          </p:cNvPr>
          <p:cNvSpPr>
            <a:spLocks noGrp="1"/>
          </p:cNvSpPr>
          <p:nvPr/>
        </p:nvSpPr>
        <p:spPr>
          <a:xfrm flipV="1">
            <a:off x="2591113" y="3522039"/>
            <a:ext cx="1487" cy="92945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42" name="">
            <a:extLst>
              <a:ext uri="{FF2B5EF4-FFF2-40B4-BE49-F238E27FC236}">
                <ns2:creationId id="{8A70D93B-DEE5-4872-9134-3E0120DF35B7}"/>
              </a:ext>
            </a:extLst>
          </p:cNvPr>
          <p:cNvSpPr>
            <a:spLocks noGrp="1"/>
          </p:cNvSpPr>
          <p:nvPr/>
        </p:nvSpPr>
        <p:spPr>
          <a:xfrm>
            <a:off x="2591113" y="3614984"/>
            <a:ext cx="212" cy="92566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43" name="">
            <a:extLst>
              <a:ext uri="{FF2B5EF4-FFF2-40B4-BE49-F238E27FC236}">
                <ns2:creationId id="{40300961-E8A3-4AE3-B07C-DB82D5868EAD}"/>
              </a:ext>
            </a:extLst>
          </p:cNvPr>
          <p:cNvSpPr>
            <a:spLocks noGrp="1"/>
          </p:cNvSpPr>
          <p:nvPr/>
        </p:nvSpPr>
        <p:spPr>
          <a:xfrm>
            <a:off x="2591326" y="3707550"/>
            <a:ext cx="2395" cy="92078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44" name="">
            <a:extLst>
              <a:ext uri="{FF2B5EF4-FFF2-40B4-BE49-F238E27FC236}">
                <ns2:creationId id="{072EEAE5-D61A-4C6C-96C4-E23B5319F519}"/>
              </a:ext>
            </a:extLst>
          </p:cNvPr>
          <p:cNvSpPr>
            <a:spLocks noGrp="1"/>
          </p:cNvSpPr>
          <p:nvPr/>
        </p:nvSpPr>
        <p:spPr>
          <a:xfrm>
            <a:off x="2593721" y="3799628"/>
            <a:ext cx="5008" cy="91495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45" name="">
            <a:extLst>
              <a:ext uri="{FF2B5EF4-FFF2-40B4-BE49-F238E27FC236}">
                <ns2:creationId id="{F8845035-3B64-4D8D-9CE2-81E901671D77}"/>
              </a:ext>
            </a:extLst>
          </p:cNvPr>
          <p:cNvSpPr>
            <a:spLocks noGrp="1"/>
          </p:cNvSpPr>
          <p:nvPr/>
        </p:nvSpPr>
        <p:spPr>
          <a:xfrm>
            <a:off x="2598729" y="3891123"/>
            <a:ext cx="7985" cy="90830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46" name="">
            <a:extLst>
              <a:ext uri="{FF2B5EF4-FFF2-40B4-BE49-F238E27FC236}">
                <ns2:creationId id="{DE54A1D8-E7A6-4A51-B989-B763EBD065E4}"/>
              </a:ext>
            </a:extLst>
          </p:cNvPr>
          <p:cNvSpPr>
            <a:spLocks noGrp="1"/>
          </p:cNvSpPr>
          <p:nvPr/>
        </p:nvSpPr>
        <p:spPr>
          <a:xfrm>
            <a:off x="2606714" y="3981954"/>
            <a:ext cx="11253" cy="90101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47" name="">
            <a:extLst>
              <a:ext uri="{FF2B5EF4-FFF2-40B4-BE49-F238E27FC236}">
                <ns2:creationId id="{ECA63BA9-F344-4C31-934D-8D4E0EDB7713}"/>
              </a:ext>
            </a:extLst>
          </p:cNvPr>
          <p:cNvSpPr>
            <a:spLocks noGrp="1"/>
          </p:cNvSpPr>
          <p:nvPr/>
        </p:nvSpPr>
        <p:spPr>
          <a:xfrm>
            <a:off x="2617967" y="4072055"/>
            <a:ext cx="14730" cy="89324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48" name="">
            <a:extLst>
              <a:ext uri="{FF2B5EF4-FFF2-40B4-BE49-F238E27FC236}">
                <ns2:creationId id="{81BE3297-47E2-431E-A15F-FD7A9A5EB3C7}"/>
              </a:ext>
            </a:extLst>
          </p:cNvPr>
          <p:cNvSpPr>
            <a:spLocks noGrp="1"/>
          </p:cNvSpPr>
          <p:nvPr/>
        </p:nvSpPr>
        <p:spPr>
          <a:xfrm>
            <a:off x="2632698" y="4161379"/>
            <a:ext cx="18331" cy="88521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49" name="">
            <a:extLst>
              <a:ext uri="{FF2B5EF4-FFF2-40B4-BE49-F238E27FC236}">
                <ns2:creationId id="{371EAFEA-53C5-4D9E-B64F-FCB7726B5AAA}"/>
              </a:ext>
            </a:extLst>
          </p:cNvPr>
          <p:cNvSpPr>
            <a:spLocks noGrp="1"/>
          </p:cNvSpPr>
          <p:nvPr/>
        </p:nvSpPr>
        <p:spPr>
          <a:xfrm>
            <a:off x="2651029" y="4249900"/>
            <a:ext cx="21966" cy="87709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50" name="">
            <a:extLst>
              <a:ext uri="{FF2B5EF4-FFF2-40B4-BE49-F238E27FC236}">
                <ns2:creationId id="{7961A4DC-3DAA-4E5D-9967-7E60B98E9C78}"/>
              </a:ext>
            </a:extLst>
          </p:cNvPr>
          <p:cNvSpPr>
            <a:spLocks noGrp="1"/>
          </p:cNvSpPr>
          <p:nvPr/>
        </p:nvSpPr>
        <p:spPr>
          <a:xfrm>
            <a:off x="2672995" y="4337609"/>
            <a:ext cx="25544" cy="86910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51" name="">
            <a:extLst>
              <a:ext uri="{FF2B5EF4-FFF2-40B4-BE49-F238E27FC236}">
                <ns2:creationId id="{C0160BF7-1F8F-4A71-89A3-7005218D155B}"/>
              </a:ext>
            </a:extLst>
          </p:cNvPr>
          <p:cNvSpPr>
            <a:spLocks noGrp="1"/>
          </p:cNvSpPr>
          <p:nvPr/>
        </p:nvSpPr>
        <p:spPr>
          <a:xfrm>
            <a:off x="2698539" y="4424519"/>
            <a:ext cx="28977" cy="86144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52" name="">
            <a:extLst>
              <a:ext uri="{FF2B5EF4-FFF2-40B4-BE49-F238E27FC236}">
                <ns2:creationId id="{CF160723-1CCC-44BE-A2CD-BE6C992D6A24}"/>
              </a:ext>
            </a:extLst>
          </p:cNvPr>
          <p:cNvSpPr>
            <a:spLocks noGrp="1"/>
          </p:cNvSpPr>
          <p:nvPr/>
        </p:nvSpPr>
        <p:spPr>
          <a:xfrm>
            <a:off x="2727516" y="4510663"/>
            <a:ext cx="32180" cy="85429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53" name="">
            <a:extLst>
              <a:ext uri="{FF2B5EF4-FFF2-40B4-BE49-F238E27FC236}">
                <ns2:creationId id="{C3A9DB46-F1B9-4E42-8E2B-4C33FCDC3A0A}"/>
              </a:ext>
            </a:extLst>
          </p:cNvPr>
          <p:cNvSpPr>
            <a:spLocks noGrp="1"/>
          </p:cNvSpPr>
          <p:nvPr/>
        </p:nvSpPr>
        <p:spPr>
          <a:xfrm>
            <a:off x="2759696" y="4596091"/>
            <a:ext cx="35072" cy="84783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54" name="">
            <a:extLst>
              <a:ext uri="{FF2B5EF4-FFF2-40B4-BE49-F238E27FC236}">
                <ns2:creationId id="{5621054F-1823-46B9-8CDF-CB1390657328}"/>
              </a:ext>
            </a:extLst>
          </p:cNvPr>
          <p:cNvSpPr>
            <a:spLocks noGrp="1"/>
          </p:cNvSpPr>
          <p:nvPr/>
        </p:nvSpPr>
        <p:spPr>
          <a:xfrm>
            <a:off x="2794768" y="4680874"/>
            <a:ext cx="37583" cy="84222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55" name="">
            <a:extLst>
              <a:ext uri="{FF2B5EF4-FFF2-40B4-BE49-F238E27FC236}">
                <ns2:creationId id="{428A47FA-6D87-4303-AD0C-2C2C5E08C1D7}"/>
              </a:ext>
            </a:extLst>
          </p:cNvPr>
          <p:cNvSpPr>
            <a:spLocks noGrp="1"/>
          </p:cNvSpPr>
          <p:nvPr/>
        </p:nvSpPr>
        <p:spPr>
          <a:xfrm>
            <a:off x="2832352" y="4765097"/>
            <a:ext cx="39650" cy="83761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56" name="">
            <a:extLst>
              <a:ext uri="{FF2B5EF4-FFF2-40B4-BE49-F238E27FC236}">
                <ns2:creationId id="{E54F2D44-0A83-4693-96A1-50B3878969EB}"/>
              </a:ext>
            </a:extLst>
          </p:cNvPr>
          <p:cNvSpPr>
            <a:spLocks noGrp="1"/>
          </p:cNvSpPr>
          <p:nvPr/>
        </p:nvSpPr>
        <p:spPr>
          <a:xfrm>
            <a:off x="2872002" y="4848857"/>
            <a:ext cx="41221" cy="83410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57" name="">
            <a:extLst>
              <a:ext uri="{FF2B5EF4-FFF2-40B4-BE49-F238E27FC236}">
                <ns2:creationId id="{AA10F3C8-71C9-4E04-AA73-B8CCA49C2205}"/>
              </a:ext>
            </a:extLst>
          </p:cNvPr>
          <p:cNvSpPr>
            <a:spLocks noGrp="1"/>
          </p:cNvSpPr>
          <p:nvPr/>
        </p:nvSpPr>
        <p:spPr>
          <a:xfrm>
            <a:off x="2913223" y="4932268"/>
            <a:ext cx="42258" cy="83179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58" name="">
            <a:extLst>
              <a:ext uri="{FF2B5EF4-FFF2-40B4-BE49-F238E27FC236}">
                <ns2:creationId id="{4A64B29D-8E6B-419F-A542-18F4766780F8}"/>
              </a:ext>
            </a:extLst>
          </p:cNvPr>
          <p:cNvSpPr>
            <a:spLocks noGrp="1"/>
          </p:cNvSpPr>
          <p:nvPr/>
        </p:nvSpPr>
        <p:spPr>
          <a:xfrm>
            <a:off x="1485900" y="3948113"/>
            <a:ext cx="171450" cy="1714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59" name="">
            <a:extLst>
              <a:ext uri="{FF2B5EF4-FFF2-40B4-BE49-F238E27FC236}">
                <ns2:creationId id="{5C5CAF9B-4E95-49AC-B898-C718FE0F6BCE}"/>
              </a:ext>
            </a:extLst>
          </p:cNvPr>
          <p:cNvSpPr>
            <a:spLocks noGrp="1"/>
          </p:cNvSpPr>
          <p:nvPr/>
        </p:nvSpPr>
        <p:spPr>
          <a:xfrm>
            <a:off x="1695450" y="3890963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A</a:t>
            </a:r>
          </a:p>
        </p:txBody>
      </p:sp>
      <p:sp>
        <p:nvSpPr>
          <p:cNvPr id="60" name="">
            <a:extLst>
              <a:ext uri="{FF2B5EF4-FFF2-40B4-BE49-F238E27FC236}">
                <ns2:creationId id="{D26EDC67-6C16-468A-BF75-292648D2ECFD}"/>
              </a:ext>
            </a:extLst>
          </p:cNvPr>
          <p:cNvSpPr>
            <a:spLocks noGrp="1"/>
          </p:cNvSpPr>
          <p:nvPr/>
        </p:nvSpPr>
        <p:spPr>
          <a:xfrm>
            <a:off x="3336131" y="4148138"/>
            <a:ext cx="171450" cy="1714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61" name="">
            <a:extLst>
              <a:ext uri="{FF2B5EF4-FFF2-40B4-BE49-F238E27FC236}">
                <ns2:creationId id="{3910D720-B881-42C1-ACB5-CFC2D0E35B6C}"/>
              </a:ext>
            </a:extLst>
          </p:cNvPr>
          <p:cNvSpPr>
            <a:spLocks noGrp="1"/>
          </p:cNvSpPr>
          <p:nvPr/>
        </p:nvSpPr>
        <p:spPr>
          <a:xfrm>
            <a:off x="3545681" y="4090988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B</a:t>
            </a:r>
          </a:p>
        </p:txBody>
      </p:sp>
      <p:sp>
        <p:nvSpPr>
          <p:cNvPr id="62" name="">
            <a:extLst>
              <a:ext uri="{FF2B5EF4-FFF2-40B4-BE49-F238E27FC236}">
                <ns2:creationId id="{A406CFF6-B5D5-4073-AB3D-6AF3BDC62A50}"/>
              </a:ext>
            </a:extLst>
          </p:cNvPr>
          <p:cNvSpPr>
            <a:spLocks noGrp="1"/>
          </p:cNvSpPr>
          <p:nvPr/>
        </p:nvSpPr>
        <p:spPr>
          <a:xfrm>
            <a:off x="3586163" y="2447925"/>
            <a:ext cx="171450" cy="1714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63" name="">
            <a:extLst>
              <a:ext uri="{FF2B5EF4-FFF2-40B4-BE49-F238E27FC236}">
                <ns2:creationId id="{018B1B47-08CF-4661-A99F-910A85645DA3}"/>
              </a:ext>
            </a:extLst>
          </p:cNvPr>
          <p:cNvSpPr>
            <a:spLocks noGrp="1"/>
          </p:cNvSpPr>
          <p:nvPr/>
        </p:nvSpPr>
        <p:spPr>
          <a:xfrm>
            <a:off x="3795713" y="2390775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C</a:t>
            </a:r>
          </a:p>
        </p:txBody>
      </p:sp>
      <p:sp>
        <p:nvSpPr>
          <p:cNvPr id="64" name="">
            <a:extLst>
              <a:ext uri="{FF2B5EF4-FFF2-40B4-BE49-F238E27FC236}">
                <ns2:creationId id="{4A9AA8F3-5AE6-425C-8666-DD8001F9CCCD}"/>
              </a:ext>
            </a:extLst>
          </p:cNvPr>
          <p:cNvSpPr>
            <a:spLocks noGrp="1"/>
          </p:cNvSpPr>
          <p:nvPr/>
        </p:nvSpPr>
        <p:spPr>
          <a:xfrm>
            <a:off x="1685925" y="2147888"/>
            <a:ext cx="171450" cy="1714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65" name="">
            <a:extLst>
              <a:ext uri="{FF2B5EF4-FFF2-40B4-BE49-F238E27FC236}">
                <ns2:creationId id="{9AF94F1B-D7FA-4A55-8BBD-F8B3E1474482}"/>
              </a:ext>
            </a:extLst>
          </p:cNvPr>
          <p:cNvSpPr>
            <a:spLocks noGrp="1"/>
          </p:cNvSpPr>
          <p:nvPr/>
        </p:nvSpPr>
        <p:spPr>
          <a:xfrm>
            <a:off x="1895475" y="2090738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D</a:t>
            </a:r>
          </a:p>
        </p:txBody>
      </p:sp>
      <p:sp>
        <p:nvSpPr>
          <p:cNvPr id="66" name="">
            <a:extLst>
              <a:ext uri="{FF2B5EF4-FFF2-40B4-BE49-F238E27FC236}">
                <ns2:creationId id="{0B63E928-279B-4955-A30C-F9D32343450C}"/>
              </a:ext>
            </a:extLst>
          </p:cNvPr>
          <p:cNvSpPr>
            <a:spLocks noGrp="1"/>
          </p:cNvSpPr>
          <p:nvPr/>
        </p:nvSpPr>
        <p:spPr>
          <a:xfrm>
            <a:off x="2586038" y="3098006"/>
            <a:ext cx="171450" cy="1714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67" name="">
            <a:extLst>
              <a:ext uri="{FF2B5EF4-FFF2-40B4-BE49-F238E27FC236}">
                <ns2:creationId id="{F3C5FB7F-3DF5-4CD2-B3F0-06DC86768E5E}"/>
              </a:ext>
            </a:extLst>
          </p:cNvPr>
          <p:cNvSpPr>
            <a:spLocks noGrp="1"/>
          </p:cNvSpPr>
          <p:nvPr/>
        </p:nvSpPr>
        <p:spPr>
          <a:xfrm>
            <a:off x="2795588" y="3040856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E</a:t>
            </a:r>
          </a:p>
        </p:txBody>
      </p:sp>
      <p:graphicFrame>
        <p:nvGraphicFramePr>
          <p:cNvPr id="68" name="">
            <a:extLst>
              <a:ext uri="{FF2B5EF4-FFF2-40B4-BE49-F238E27FC236}">
                <ns2:creationId id="{A4A724BC-BF30-4725-BEFC-D1891F494313}"/>
              </a:ext>
            </a:extLst>
          </p:cNvPr>
          <p:cNvGraphicFramePr/>
          <p:nvPr/>
        </p:nvGraphicFramePr>
        <p:xfrm>
          <a:off x="4953000" y="1666875"/>
          <a:ext cx="3714750" cy="2714625"/>
        </p:xfrm>
        <a:graphic>
          <a:graphicData uri="http://schemas.openxmlformats.org/drawingml/2006/table">
            <a:tbl>
              <a:tblPr/>
              <a:tblGrid>
                <a:gridCol w="952500"/>
                <a:gridCol w="904875"/>
                <a:gridCol w="904875"/>
                <a:gridCol w="952500"/>
              </a:tblGrid>
              <a:tr h="4524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ノード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x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y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z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524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-100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-70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-90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524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110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-80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110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524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" name="">
            <a:extLst>
              <a:ext uri="{FF2B5EF4-FFF2-40B4-BE49-F238E27FC236}">
                <ns2:creationId id="{4177E8FF-AD55-44DF-A242-2125AC8221C5}"/>
              </a:ext>
            </a:extLst>
          </p:cNvPr>
          <p:cNvSpPr>
            <a:spLocks noGrp="1"/>
          </p:cNvSpPr>
          <p:nvPr/>
        </p:nvSpPr>
        <p:spPr>
          <a:xfrm>
            <a:off x="4953000" y="4619625"/>
            <a:ext cx="37623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全座標は架空、単位m</a:t>
            </a:r>
          </a:p>
          <a:p>
            <a: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機体高度：基準20〜60mに±3mの変動</a:t>
            </a:r>
          </a:p>
          <a:p>
            <a: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青四角：受信機、薄青線：軌跡の平面図</a:t>
            </a:r>
          </a:p>
        </p:txBody>
      </p:sp>
      <p:sp>
        <p:nvSpPr>
          <p:cNvPr id="70" name="">
            <a:extLst>
              <a:ext uri="{FF2B5EF4-FFF2-40B4-BE49-F238E27FC236}">
                <ns2:creationId id="{09225BCC-A165-43AB-9A17-690F11F927B3}"/>
              </a:ext>
            </a:extLst>
          </p:cNvPr>
          <p:cNvSpPr>
            <a:spLocks noGrp="1"/>
          </p:cNvSpPr>
          <p:nvPr/>
        </p:nvSpPr>
        <p:spPr>
          <a:xfrm>
            <a:off x="428625" y="585787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共通の1飛行を5台で観測。受信機を全て同じ場所には置いていない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実験③：同一送信を5台で受ける条件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別送信を別ノードで受ける元条件へ、観測を追加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d44cb54c-a7a4-5e77-a707-36fa5ee0f09d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16</a:t>
            </a:fld>
          </a:p>
        </p:txBody>
      </p:sp>
      <p:sp>
        <p:nvSpPr>
          <p:cNvPr id="8" name="">
            <a:extLst>
              <a:ext uri="{FF2B5EF4-FFF2-40B4-BE49-F238E27FC236}">
                <ns2:creationId id="{E70A5D72-C678-47BE-8662-76BB47D4F997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出典：mac-three-findings-paired-20261102 / summary.json（今回再実行した合成評価）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73DA5B3D-8C1A-40B0-B757-ECD7616456DC}"/>
              </a:ext>
            </a:extLst>
          </p:cNvPr>
          <p:cNvGraphicFramePr/>
          <p:nvPr/>
        </p:nvGraphicFramePr>
        <p:xfrm>
          <a:off x="400050" y="1524000"/>
          <a:ext cx="8343900" cy="3381375"/>
        </p:xfrm>
        <a:graphic>
          <a:graphicData uri="http://schemas.openxmlformats.org/drawingml/2006/table">
            <a:tbl>
              <a:tblPr/>
              <a:tblGrid>
                <a:gridCol w="1952625"/>
                <a:gridCol w="6391275"/>
              </a:tblGrid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追加条件の合成モデル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同じ3D軌跡、同一送信、既知の5台配置。全台が受信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電力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送信ごとに共通電力SD8dB、飛行差SD3dB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伝搬・雑音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係数2.2を既知、各リンク独立雑音SD2／6dB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校正と評価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20校正飛行、30評価飛行、各240送信、10 seed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有利な仮定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対応付け既知、正常申告は真位置、遮蔽・時計誤差なし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744F07AC-9B29-4E58-9766-D2882B7255D4}"/>
              </a:ext>
            </a:extLst>
          </p:cNvPr>
          <p:cNvSpPr>
            <a:spLocks noGrp="1"/>
          </p:cNvSpPr>
          <p:nvPr/>
        </p:nvSpPr>
        <p:spPr>
          <a:xfrm>
            <a:off x="428625" y="542925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評価は72000送信。連続イベントを72000回の独立試行とは扱わない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実験③：各ノードで必要な電力を照合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1つの送信なら、5台の観測を同じ共通電力で説明できるはず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dac056b4-b28b-52c0-89c5-3bf7f920d2a3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17</a:t>
            </a:fld>
          </a:p>
        </p:txBody>
      </p:sp>
      <p:sp>
        <p:nvSpPr>
          <p:cNvPr id="8" name="">
            <a:extLst>
              <a:ext uri="{FF2B5EF4-FFF2-40B4-BE49-F238E27FC236}">
                <ns2:creationId id="{916EE5C2-8A04-404F-BAF5-223581AF214F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出典：mac-three-findings-paired-20261102 / summary.json（今回再実行した合成評価）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561C48E7-41D4-427D-8A9E-0D12C1065872}"/>
              </a:ext>
            </a:extLst>
          </p:cNvPr>
          <p:cNvGraphicFramePr/>
          <p:nvPr/>
        </p:nvGraphicFramePr>
        <p:xfrm>
          <a:off x="400050" y="1524000"/>
          <a:ext cx="8343900" cy="3381375"/>
        </p:xfrm>
        <a:graphic>
          <a:graphicData uri="http://schemas.openxmlformats.org/drawingml/2006/table">
            <a:tbl>
              <a:tblPr/>
              <a:tblGrid>
                <a:gridCol w="2524125"/>
                <a:gridCol w="5819775"/>
              </a:tblGrid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処理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実装した計算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申告位置から計算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各ノードまでの申告距離dᵢ(q)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観測と申告から逆算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uᵢ = RSSIᵢ + 22 log₁₀dᵢ(q)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共通電力を除く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各uᵢから、受信ノード集合の平均uを引く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不整合の大きさ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平均を除いた残差のRMSをスコアに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警報の境界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正常校正スコアの95%点。評価データと分離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1A2ADDEC-96F1-49EC-8AD4-F0DA49F98B3C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RMSは残差の二乗平均平方根。ペア別の閾値ではない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逆算値は「申告が正しい場合に必要な電力」。実出力の測定ではない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実験③の結果：雑音で検知率が変化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同じ5台・同じ飛行・同じ改変。変更するのはリンク雑音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dbf57d8b-20a8-5d04-9785-a038e51173b3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18</a:t>
            </a:fld>
          </a:p>
        </p:txBody>
      </p:sp>
      <p:sp>
        <p:nvSpPr>
          <p:cNvPr id="8" name="">
            <a:extLst>
              <a:ext uri="{FF2B5EF4-FFF2-40B4-BE49-F238E27FC236}">
                <ns2:creationId id="{DD5E7D8B-0184-4B69-B92B-1AD9E09ACB57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出典：mac-three-findings-paired-20261102 / metrics-summary.csv（今回再実行した合成評価）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409981F6-0FF9-44B2-8682-A0485EBC1DA0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b47d0f04ae3d4ec3"/>
          </a:graphicData>
        </a:graphic>
      </p:graphicFrame>
      <p:sp>
        <p:nvSpPr>
          <p:cNvPr id="10" name="">
            <a:extLst>
              <a:ext uri="{FF2B5EF4-FFF2-40B4-BE49-F238E27FC236}">
                <ns2:creationId id="{450EBA53-691F-40E1-8BB6-BDB8D3C9E847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正常：4.985／4.875%。30m改変：19.522／6.324%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100m改変：73.678／18.729%（順にSD2／6dB）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同じ配置の雑音比較。台数だけの純粋な効果を示す比較ではない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実験③：電力が消えても雑音は残る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同じ送信の共通電力を除いても、受信機ごとの誤差は除けない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9ebb0897-2206-50d8-b6b7-2e355019c810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19</a:t>
            </a:fld>
          </a:p>
        </p:txBody>
      </p:sp>
      <p:sp>
        <p:nvSpPr>
          <p:cNvPr id="8" name="">
            <a:extLst>
              <a:ext uri="{FF2B5EF4-FFF2-40B4-BE49-F238E27FC236}">
                <ns2:creationId id="{79950BDE-2434-456F-8E30-D0CB9015C86D}"/>
              </a:ext>
            </a:extLst>
          </p:cNvPr>
          <p:cNvSpPr>
            <a:spLocks noGrp="1"/>
          </p:cNvSpPr>
          <p:nvPr/>
        </p:nvSpPr>
        <p:spPr>
          <a:xfrm>
            <a:off x="619125" y="1666875"/>
            <a:ext cx="7953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RSSI_A − RSSI_B</a:t>
            </a:r>
          </a:p>
        </p:txBody>
      </p:sp>
      <p:sp>
        <p:nvSpPr>
          <p:cNvPr id="9" name="">
            <a:extLst>
              <a:ext uri="{FF2B5EF4-FFF2-40B4-BE49-F238E27FC236}">
                <ns2:creationId id="{B5B95548-608C-4F84-AD51-D2C77EA86FB0}"/>
              </a:ext>
            </a:extLst>
          </p:cNvPr>
          <p:cNvSpPr>
            <a:spLocks noGrp="1"/>
          </p:cNvSpPr>
          <p:nvPr/>
        </p:nvSpPr>
        <p:spPr>
          <a:xfrm>
            <a:off x="619125" y="2333625"/>
            <a:ext cx="79533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22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22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22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22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22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22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22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22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22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22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2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= −22 log₁₀(d_A / d_B) + ε_A − ε_B</a:t>
            </a:r>
          </a:p>
        </p:txBody>
      </p:sp>
      <p:graphicFrame>
        <p:nvGraphicFramePr>
          <p:cNvPr id="10" name="">
            <a:extLst>
              <a:ext uri="{FF2B5EF4-FFF2-40B4-BE49-F238E27FC236}">
                <ns2:creationId id="{5660CDE7-15C8-412D-8883-21A67D12CBD7}"/>
              </a:ext>
            </a:extLst>
          </p:cNvPr>
          <p:cNvGraphicFramePr/>
          <p:nvPr/>
        </p:nvGraphicFramePr>
        <p:xfrm>
          <a:off x="400050" y="3333750"/>
          <a:ext cx="8343900" cy="1857375"/>
        </p:xfrm>
        <a:graphic>
          <a:graphicData uri="http://schemas.openxmlformats.org/drawingml/2006/table">
            <a:tbl>
              <a:tblPr/>
              <a:tblGrid>
                <a:gridCol w="4286250"/>
                <a:gridCol w="4057650"/>
              </a:tblGrid>
              <a:tr h="6191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独立な各リンクの雑音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2台の差に残る雑音SD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191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SD2dB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√(2²+2²) ≈ 2.83dB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SD6dB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√(6²+6²) ≈ 8.49dB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>
              <a:ext uri="{FF2B5EF4-FFF2-40B4-BE49-F238E27FC236}">
                <ns2:creationId id="{304902B0-2EF2-48FE-8C40-0F74338F7292}"/>
              </a:ext>
            </a:extLst>
          </p:cNvPr>
          <p:cNvSpPr>
            <a:spLocks noGrp="1"/>
          </p:cNvSpPr>
          <p:nvPr/>
        </p:nvSpPr>
        <p:spPr>
          <a:xfrm>
            <a:off x="428625" y="552450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この表は2台差分の説明。実装の5台RMSスコアそのもののSDではない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雑音で正常の揺らぎも大きくなり、同じ位置改変を分離しにくくなる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4台でも識別できない対称配置の反例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半径100mの円周上に地上4台。2つの候補は円の中心上空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9d8fd48c-8e08-5dc5-b57e-c8c53ea3cfa8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20</a:t>
            </a:fld>
          </a:p>
        </p:txBody>
      </p:sp>
      <p:sp>
        <p:nvSpPr>
          <p:cNvPr id="8" name="">
            <a:extLst>
              <a:ext uri="{FF2B5EF4-FFF2-40B4-BE49-F238E27FC236}">
                <ns2:creationId id="{CC4629F0-91D0-4C39-A945-32CA6C0EB402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summary.json / counterexamples（雑音なしの構成的反例、n=2.2）</a:t>
            </a:r>
          </a:p>
        </p:txBody>
      </p:sp>
      <p:sp>
        <p:nvSpPr>
          <p:cNvPr id="9" name="">
            <a:extLst>
              <a:ext uri="{FF2B5EF4-FFF2-40B4-BE49-F238E27FC236}">
                <ns2:creationId id="{D38C2D37-9B87-4B1E-B135-5797D31E4142}"/>
              </a:ext>
            </a:extLst>
          </p:cNvPr>
          <p:cNvSpPr>
            <a:spLocks noGrp="1"/>
          </p:cNvSpPr>
          <p:nvPr/>
        </p:nvSpPr>
        <p:spPr>
          <a:xfrm>
            <a:off x="714375" y="2238375"/>
            <a:ext cx="2190750" cy="2190750"/>
          </a:xfrm>
          <a:prstGeom prst="ellipse">
            <a:avLst/>
          </a:prstGeom>
          <a:noFill/>
          <a:ln w="19050">
            <a:solidFill>
              <a:srgbClr val="ADBCCC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FEA508EF-5A09-4527-A73F-FAE189D1B22C}"/>
              </a:ext>
            </a:extLst>
          </p:cNvPr>
          <p:cNvSpPr>
            <a:spLocks noGrp="1"/>
          </p:cNvSpPr>
          <p:nvPr/>
        </p:nvSpPr>
        <p:spPr>
          <a:xfrm>
            <a:off x="2828925" y="3257550"/>
            <a:ext cx="152400" cy="15240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A4C1024D-3D0F-475A-88AB-41F1DE04682F}"/>
              </a:ext>
            </a:extLst>
          </p:cNvPr>
          <p:cNvSpPr>
            <a:spLocks noGrp="1"/>
          </p:cNvSpPr>
          <p:nvPr/>
        </p:nvSpPr>
        <p:spPr>
          <a:xfrm>
            <a:off x="3019425" y="320040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A</a:t>
            </a:r>
          </a:p>
        </p:txBody>
      </p:sp>
      <p:sp>
        <p:nvSpPr>
          <p:cNvPr id="12" name="">
            <a:extLst>
              <a:ext uri="{FF2B5EF4-FFF2-40B4-BE49-F238E27FC236}">
                <ns2:creationId id="{BE1A1422-6A04-4162-BC78-68C31DFE2BB4}"/>
              </a:ext>
            </a:extLst>
          </p:cNvPr>
          <p:cNvSpPr>
            <a:spLocks noGrp="1"/>
          </p:cNvSpPr>
          <p:nvPr/>
        </p:nvSpPr>
        <p:spPr>
          <a:xfrm>
            <a:off x="1733550" y="2162175"/>
            <a:ext cx="152400" cy="15240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C50F427A-0236-4D30-B108-F316B9064165}"/>
              </a:ext>
            </a:extLst>
          </p:cNvPr>
          <p:cNvSpPr>
            <a:spLocks noGrp="1"/>
          </p:cNvSpPr>
          <p:nvPr/>
        </p:nvSpPr>
        <p:spPr>
          <a:xfrm>
            <a:off x="1924050" y="2105025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B</a:t>
            </a:r>
          </a:p>
        </p:txBody>
      </p:sp>
      <p:sp>
        <p:nvSpPr>
          <p:cNvPr id="14" name="">
            <a:extLst>
              <a:ext uri="{FF2B5EF4-FFF2-40B4-BE49-F238E27FC236}">
                <ns2:creationId id="{248A3BFC-9416-4272-96F9-5E288F1325C1}"/>
              </a:ext>
            </a:extLst>
          </p:cNvPr>
          <p:cNvSpPr>
            <a:spLocks noGrp="1"/>
          </p:cNvSpPr>
          <p:nvPr/>
        </p:nvSpPr>
        <p:spPr>
          <a:xfrm>
            <a:off x="638175" y="3257550"/>
            <a:ext cx="152400" cy="15240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5A60A9EB-1BB8-4F5D-A6CC-05E1D6DA7146}"/>
              </a:ext>
            </a:extLst>
          </p:cNvPr>
          <p:cNvSpPr>
            <a:spLocks noGrp="1"/>
          </p:cNvSpPr>
          <p:nvPr/>
        </p:nvSpPr>
        <p:spPr>
          <a:xfrm>
            <a:off x="828675" y="320040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C</a:t>
            </a:r>
          </a:p>
        </p:txBody>
      </p:sp>
      <p:sp>
        <p:nvSpPr>
          <p:cNvPr id="16" name="">
            <a:extLst>
              <a:ext uri="{FF2B5EF4-FFF2-40B4-BE49-F238E27FC236}">
                <ns2:creationId id="{FCFD3FE9-30D5-4A73-9453-84394FE897CF}"/>
              </a:ext>
            </a:extLst>
          </p:cNvPr>
          <p:cNvSpPr>
            <a:spLocks noGrp="1"/>
          </p:cNvSpPr>
          <p:nvPr/>
        </p:nvSpPr>
        <p:spPr>
          <a:xfrm>
            <a:off x="1733550" y="4352925"/>
            <a:ext cx="152400" cy="15240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5498A0C9-8C5A-4B7C-8298-EA17F6FCD683}"/>
              </a:ext>
            </a:extLst>
          </p:cNvPr>
          <p:cNvSpPr>
            <a:spLocks noGrp="1"/>
          </p:cNvSpPr>
          <p:nvPr/>
        </p:nvSpPr>
        <p:spPr>
          <a:xfrm>
            <a:off x="1924050" y="4295775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D</a:t>
            </a:r>
          </a:p>
        </p:txBody>
      </p:sp>
      <p:sp>
        <p:nvSpPr>
          <p:cNvPr id="18" name="">
            <a:extLst>
              <a:ext uri="{FF2B5EF4-FFF2-40B4-BE49-F238E27FC236}">
                <ns2:creationId id="{4EA994DE-446B-445D-BFEB-9C0DA860F653}"/>
              </a:ext>
            </a:extLst>
          </p:cNvPr>
          <p:cNvSpPr>
            <a:spLocks noGrp="1"/>
          </p:cNvSpPr>
          <p:nvPr/>
        </p:nvSpPr>
        <p:spPr>
          <a:xfrm>
            <a:off x="1714500" y="3238500"/>
            <a:ext cx="190500" cy="190500"/>
          </a:xfrm>
          <a:prstGeom prst="ellipse">
            <a:avLst/>
          </a:prstGeom>
          <a:solidFill>
            <a:srgbClr val="E02B2B"/>
          </a:solidFill>
          <a:ln w="0">
            <a:noFill/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6C34416A-1F79-4632-A799-F1B9EC1EFD24}"/>
              </a:ext>
            </a:extLst>
          </p:cNvPr>
          <p:cNvSpPr>
            <a:spLocks noGrp="1"/>
          </p:cNvSpPr>
          <p:nvPr/>
        </p:nvSpPr>
        <p:spPr>
          <a:xfrm>
            <a:off x="1162050" y="34956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rPr>
              <a:t>中心上空</a:t>
            </a:r>
          </a:p>
        </p:txBody>
      </p:sp>
      <p:sp>
        <p:nvSpPr>
          <p:cNvPr id="20" name="">
            <a:extLst>
              <a:ext uri="{FF2B5EF4-FFF2-40B4-BE49-F238E27FC236}">
                <ns2:creationId id="{5B3FF15F-DF47-499C-B9DD-3C6375B421D4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平面図：全台で同じ距離比</a:t>
            </a:r>
          </a:p>
        </p:txBody>
      </p:sp>
      <p:sp>
        <p:nvSpPr>
          <p:cNvPr id="21" name="">
            <a:extLst>
              <a:ext uri="{FF2B5EF4-FFF2-40B4-BE49-F238E27FC236}">
                <ns2:creationId id="{63C730BA-92EE-403F-9244-120087C486BE}"/>
              </a:ext>
            </a:extLst>
          </p:cNvPr>
          <p:cNvSpPr>
            <a:spLocks noGrp="1"/>
          </p:cNvSpPr>
          <p:nvPr/>
        </p:nvSpPr>
        <p:spPr>
          <a:xfrm>
            <a:off x="3952875" y="1619250"/>
            <a:ext cx="4619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各受信機までの距離</a:t>
            </a:r>
          </a:p>
        </p:txBody>
      </p:sp>
      <p:sp>
        <p:nvSpPr>
          <p:cNvPr id="22" name="">
            <a:extLst>
              <a:ext uri="{FF2B5EF4-FFF2-40B4-BE49-F238E27FC236}">
                <ns2:creationId id="{BFE37BE5-D9CC-44A5-AEAE-6242819C1799}"/>
              </a:ext>
            </a:extLst>
          </p:cNvPr>
          <p:cNvSpPr>
            <a:spLocks noGrp="1"/>
          </p:cNvSpPr>
          <p:nvPr/>
        </p:nvSpPr>
        <p:spPr>
          <a:xfrm>
            <a:off x="3952875" y="2143125"/>
            <a:ext cx="46196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d₈₀ = √(100²+80²) ≈ 128.06m</a:t>
            </a:r>
          </a:p>
          <a:p>
            <a: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d₂₀ = √(100²+20²) ≈ 101.98m</a:t>
            </a:r>
          </a:p>
        </p:txBody>
      </p:sp>
      <p:sp>
        <p:nvSpPr>
          <p:cNvPr id="23" name="">
            <a:extLst>
              <a:ext uri="{FF2B5EF4-FFF2-40B4-BE49-F238E27FC236}">
                <ns2:creationId id="{B67EA06D-F66D-4AB6-97CE-A0DBBBDBE61B}"/>
              </a:ext>
            </a:extLst>
          </p:cNvPr>
          <p:cNvSpPr>
            <a:spLocks noGrp="1"/>
          </p:cNvSpPr>
          <p:nvPr/>
        </p:nvSpPr>
        <p:spPr>
          <a:xfrm>
            <a:off x="3952875" y="3476625"/>
            <a:ext cx="4619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全4台で d₂₀ / d₈₀ が等しい</a:t>
            </a:r>
          </a:p>
        </p:txBody>
      </p:sp>
      <p:sp>
        <p:nvSpPr>
          <p:cNvPr id="24" name="">
            <a:extLst>
              <a:ext uri="{FF2B5EF4-FFF2-40B4-BE49-F238E27FC236}">
                <ns2:creationId id="{39618A22-7C71-4491-9EAA-D40A0D78B6CF}"/>
              </a:ext>
            </a:extLst>
          </p:cNvPr>
          <p:cNvSpPr>
            <a:spLocks noGrp="1"/>
          </p:cNvSpPr>
          <p:nvPr/>
        </p:nvSpPr>
        <p:spPr>
          <a:xfrm>
            <a:off x="3952875" y="4048125"/>
            <a:ext cx="46196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P₂₀ − P₈₀ = 22 log₁₀(d₂₀/d₈₀)</a:t>
            </a:r>
          </a:p>
          <a:p>
            <a: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                  ≈ −2.18dB</a:t>
            </a:r>
          </a:p>
        </p:txBody>
      </p:sp>
      <p:sp>
        <p:nvSpPr>
          <p:cNvPr id="25" name="">
            <a:extLst>
              <a:ext uri="{FF2B5EF4-FFF2-40B4-BE49-F238E27FC236}">
                <ns2:creationId id="{A409D1E1-A9A2-466C-A2CF-96789955EBBA}"/>
              </a:ext>
            </a:extLst>
          </p:cNvPr>
          <p:cNvSpPr>
            <a:spLocks noGrp="1"/>
          </p:cNvSpPr>
          <p:nvPr/>
        </p:nvSpPr>
        <p:spPr>
          <a:xfrm>
            <a:off x="428625" y="571500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距離比が全台共通なので、1つの電力補償で全RSSIが一致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この対称配置では、未知電力と高度20m／80mの違いを識別できない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3つの実験は、同じ保証を比較していない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元条件での失敗と、条件追加後の検査を分ける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ae815c92-7e8f-525b-bcc0-95ae739b2374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21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5FB5EFD8-0D91-4997-9039-C4B620E9885A}"/>
              </a:ext>
            </a:extLst>
          </p:cNvPr>
          <p:cNvGraphicFramePr/>
          <p:nvPr/>
        </p:nvGraphicFramePr>
        <p:xfrm>
          <a:off x="400050" y="1524000"/>
          <a:ext cx="8343900" cy="3571875"/>
        </p:xfrm>
        <a:graphic>
          <a:graphicData uri="http://schemas.openxmlformats.org/drawingml/2006/table">
            <a:tbl>
              <a:tblPr/>
              <a:tblGrid>
                <a:gridCol w="1809750"/>
                <a:gridCol w="3143250"/>
                <a:gridCol w="3390900"/>
              </a:tblGrid>
              <a:tr h="59531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条件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①②：単独受信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③：同一送信の複数受信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9531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1送信のRSSI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1値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5値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未知電力への対応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正常分布で校正／攻撃で補償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共通成分をスコアから除去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9531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伝搬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遮蔽・量子化・受信感度あり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伝搬既知、独立ガウス雑音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校正の基準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合成の通常申告・電力分布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正常申告が真位置という有利な条件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9531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結果の意味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条件付きの警報、識別不能の反例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追加条件下の不整合検知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69B5B829-E16D-471A-BF07-DAC4032BC236}"/>
              </a:ext>
            </a:extLst>
          </p:cNvPr>
          <p:cNvSpPr>
            <a:spLocks noGrp="1"/>
          </p:cNvSpPr>
          <p:nvPr/>
        </p:nvSpPr>
        <p:spPr>
          <a:xfrm>
            <a:off x="428625" y="55721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③の検知率を、元の非同時監視で達成した性能として使わない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今回、結果として言えること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自由電力・単独RSSIの問題は、観測件数だけでは解決しない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2725ca84-a116-55dc-979c-d52757ea3c67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22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EC7D460F-B448-4852-BAE4-6B889C9BE5D0}"/>
              </a:ext>
            </a:extLst>
          </p:cNvPr>
          <p:cNvGraphicFramePr/>
          <p:nvPr/>
        </p:nvGraphicFramePr>
        <p:xfrm>
          <a:off x="400050" y="1524000"/>
          <a:ext cx="8343900" cy="2857500"/>
        </p:xfrm>
        <a:graphic>
          <a:graphicData uri="http://schemas.openxmlformats.org/drawingml/2006/table">
            <a:tbl>
              <a:tblPr/>
              <a:tblGrid>
                <a:gridCol w="3571875"/>
                <a:gridCol w="4772025"/>
              </a:tblGrid>
              <a:tr h="714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結果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今回の根拠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714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① 位置のみの改変は分離が弱い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30m改変14.12%、正常10.95%。同じ1,388件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② 電力も変えると相殺可能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共通12,294件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位置のみ30.316%、電力連動2.424%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714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③ 同じ送信を5台で受信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5台・100m改変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SD2dB：73.678%、SD6dB：18.729%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4E30D834-021F-4AAB-B496-5BFBFCB7057E}"/>
              </a:ext>
            </a:extLst>
          </p:cNvPr>
          <p:cNvSpPr>
            <a:spLocks noGrp="1"/>
          </p:cNvSpPr>
          <p:nvPr/>
        </p:nvSpPr>
        <p:spPr>
          <a:xfrm>
            <a:off x="428625" y="50482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全て合成モデルでの結果。実RFの検知距離や機体の真正性は示していない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警報なしを位置の正しさの証明としない。雑音・配置の限界が残る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次に必要な評価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実機の条件で、仮定がどこまで成立するかを確認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66b32874-b191-5d0e-9c07-5c326ee1e9b1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23</a:t>
            </a:fld>
          </a:p>
        </p:txBody>
      </p:sp>
      <p:sp>
        <p:nvSpPr>
          <p:cNvPr id="8" name="">
            <a:extLst>
              <a:ext uri="{FF2B5EF4-FFF2-40B4-BE49-F238E27FC236}">
                <ns2:creationId id="{84972F07-BEE8-4857-B01C-427D898A0050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元条件に必要な実測</a:t>
            </a:r>
          </a:p>
        </p:txBody>
      </p:sp>
      <p:sp>
        <p:nvSpPr>
          <p:cNvPr id="9" name="">
            <a:extLst>
              <a:ext uri="{FF2B5EF4-FFF2-40B4-BE49-F238E27FC236}">
                <ns2:creationId id="{E73DDDFE-8637-4599-AF86-58D45AE81103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実効電力の変化幅・持続性、遮蔽、受信選択</a:t>
            </a:r>
          </a:p>
        </p:txBody>
      </p:sp>
      <p:sp>
        <p:nvSpPr>
          <p:cNvPr id="10" name="">
            <a:extLst>
              <a:ext uri="{FF2B5EF4-FFF2-40B4-BE49-F238E27FC236}">
                <ns2:creationId id="{BE117A97-3835-4BEE-924E-16D6F50EE499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追加観測に必要な実測</a:t>
            </a:r>
          </a:p>
        </p:txBody>
      </p:sp>
      <p:sp>
        <p:nvSpPr>
          <p:cNvPr id="11" name="">
            <a:extLst>
              <a:ext uri="{FF2B5EF4-FFF2-40B4-BE49-F238E27FC236}">
                <ns2:creationId id="{CC9118CB-0CBA-48AB-9015-39AD10FE91D4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同じ送信の対応付け、複数受信の重なり、正常位置誤差</a:t>
            </a:r>
          </a:p>
        </p:txBody>
      </p:sp>
      <p:sp>
        <p:nvSpPr>
          <p:cNvPr id="12" name="">
            <a:extLst>
              <a:ext uri="{FF2B5EF4-FFF2-40B4-BE49-F238E27FC236}">
                <ns2:creationId id="{BD8E5CCC-E718-4853-AE9F-73BEC943C950}"/>
              </a:ext>
            </a:extLst>
          </p:cNvPr>
          <p:cNvSpPr>
            <a:spLocks noGrp="1"/>
          </p:cNvSpPr>
          <p:nvPr/>
        </p:nvSpPr>
        <p:spPr>
          <a:xfrm>
            <a:off x="419100" y="3726561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研究としての次の判断</a:t>
            </a:r>
          </a:p>
        </p:txBody>
      </p:sp>
      <p:sp>
        <p:nvSpPr>
          <p:cNvPr id="13" name="">
            <a:extLst>
              <a:ext uri="{FF2B5EF4-FFF2-40B4-BE49-F238E27FC236}">
                <ns2:creationId id="{A3860BA2-D20D-4FB8-B46D-10F217FE33B0}"/>
              </a:ext>
            </a:extLst>
          </p:cNvPr>
          <p:cNvSpPr>
            <a:spLocks noGrp="1"/>
          </p:cNvSpPr>
          <p:nvPr/>
        </p:nvSpPr>
        <p:spPr>
          <a:xfrm>
            <a:off x="447675" y="4107561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元の非同時条件を維持するか、独立な位置証拠を追加するか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データと再現方法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新しいRF実測は行わず、既存生成器で説明用の追加比較を実行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26e222a8-d220-50b6-986b-c3ba86f483d7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24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277BDE73-8BA8-48E1-A0AA-7898B7E165EC}"/>
              </a:ext>
            </a:extLst>
          </p:cNvPr>
          <p:cNvGraphicFramePr/>
          <p:nvPr/>
        </p:nvGraphicFramePr>
        <p:xfrm>
          <a:off x="400050" y="1524000"/>
          <a:ext cx="8343900" cy="3143250"/>
        </p:xfrm>
        <a:graphic>
          <a:graphicData uri="http://schemas.openxmlformats.org/drawingml/2006/table">
            <a:tbl>
              <a:tblPr/>
              <a:tblGrid>
                <a:gridCol w="1714500"/>
                <a:gridCol w="6629400"/>
              </a:tblGrid>
              <a:tr h="6286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対象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実体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286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今回の追加コード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experiments/week26-rssi-privacy/explain_three_results.py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入力条件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synthetic3d_config.json、sensitivity_config.json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event_scenarios_config.json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286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出力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mac-three-findings-paired-20261102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metrics-summary.csv、histogram-summary.csv、summary.json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実行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python explain_three_results.py --out &lt;新しい出力先&gt;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F89EAE7B-C21F-4B76-BECD-7E82FC0ED84A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既存の警報数・検知率を再現し、共通標本での比較を追加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詳しいコマンド・seed・出典は同梱MD。原論文のアルゴリズムの追試ではない</a:t>
            </a:r>
          </a:p>
        </p:txBody>
      </p:sp>
      <p:sp>
        <p:nvSpPr>
          <p:cNvPr id="10" name="">
            <a:extLst>
              <a:ext uri="{FF2B5EF4-FFF2-40B4-BE49-F238E27FC236}">
                <ns2:creationId id="{55940235-2DA3-4787-8692-D19A0BEE336E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関連：Hu &amp; Leus, IEEE TSP 2017, DOI:10.1109/TSP.2017.2684741（共通電力と受信強度差）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2026-11-01T15:35:04.6780000Z</dcterms:created>
  <dcterms:modified xsi:type="dcterms:W3CDTF">2026-11-01T15:35:04.6780000Z</dcterms:modified>
</coreProperties>
</file>