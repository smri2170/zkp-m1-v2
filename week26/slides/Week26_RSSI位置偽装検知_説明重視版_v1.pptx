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charts/chart4.xml" ContentType="application/vnd.openxmlformats-officedocument.drawingml.chart+xml"/>
  <Override PartName="/ppt/slides/slide19.xml" ContentType="application/vnd.openxmlformats-officedocument.presentationml.slide+xml"/>
  <Override PartName="/ppt/slides/charts/chart5.xml" ContentType="application/vnd.openxmlformats-officedocument.drawingml.chart+xml"/>
  <Override PartName="/ppt/slides/slide20.xml" ContentType="application/vnd.openxmlformats-officedocument.presentationml.slide+xml"/>
  <Override PartName="/ppt/slides/charts/chart6.xml" ContentType="application/vnd.openxmlformats-officedocument.drawingml.chart+xml"/>
  <Override PartName="/ppt/slides/slide21.xml" ContentType="application/vnd.openxmlformats-officedocument.presentationml.slide+xml"/>
  <Override PartName="/ppt/slides/charts/chart7.xml" ContentType="application/vnd.openxmlformats-officedocument.drawingml.chart+xml"/>
  <Override PartName="/ppt/slides/slide22.xml" ContentType="application/vnd.openxmlformats-officedocument.presentationml.slide+xml"/>
  <Override PartName="/ppt/slides/charts/chart8.xml" ContentType="application/vnd.openxmlformats-officedocument.drawingml.chart+xml"/>
  <Override PartName="/ppt/slides/slide23.xml" ContentType="application/vnd.openxmlformats-officedocument.presentationml.slide+xml"/>
  <Override PartName="/ppt/slides/charts/chart9.xml" ContentType="application/vnd.openxmlformats-officedocument.drawingml.chart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charts/chart10.xml" ContentType="application/vnd.openxmlformats-officedocument.drawingml.chart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charts/chart11.xml" ContentType="application/vnd.openxmlformats-officedocument.drawingml.chart+xml"/>
  <Override PartName="/ppt/slides/slide32.xml" ContentType="application/vnd.openxmlformats-officedocument.presentationml.slide+xml"/>
  <Override PartName="/ppt/slides/charts/chart12.xml" ContentType="application/vnd.openxmlformats-officedocument.drawingml.chart+xml"/>
  <Override PartName="/ppt/slides/slide33.xml" ContentType="application/vnd.openxmlformats-officedocument.presentationml.slide+xml"/>
  <Override PartName="/ppt/slides/charts/chart13.xml" ContentType="application/vnd.openxmlformats-officedocument.drawingml.chart+xml"/>
  <Override PartName="/ppt/slides/slide34.xml" ContentType="application/vnd.openxmlformats-officedocument.presentationml.slide+xml"/>
  <Override PartName="/ppt/slides/charts/chart14.xml" ContentType="application/vnd.openxmlformats-officedocument.drawingml.chart+xml"/>
  <Override PartName="/ppt/slides/slide35.xml" ContentType="application/vnd.openxmlformats-officedocument.presentationml.slide+xml"/>
  <Override PartName="/ppt/slides/charts/chart15.xml" ContentType="application/vnd.openxmlformats-officedocument.drawingml.chart+xml"/>
  <Override PartName="/ppt/slides/slide36.xml" ContentType="application/vnd.openxmlformats-officedocument.presentationml.slide+xml"/>
  <Default Extension="xlsx" ContentType="application/vnd.openxmlformats-officedocument.spreadsheetml.sheet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12a8d00606d34b7f" /><ns0:Relationship Type="http://schemas.openxmlformats.org/officeDocument/2006/relationships/extended-properties" Target="/docProps/app.xml" Id="R40b735e44d1a4e45" /><ns0:Relationship Type="http://schemas.openxmlformats.org/officeDocument/2006/relationships/officeDocument" Target="/ppt/presentation.xml" Id="R061423aa19834d15" /></ns0:Relationships>
</file>

<file path=ppt/presentation.xml><?xml version="1.0" encoding="utf-8"?>
<p:presentation xmlns:a="http://schemas.openxmlformats.org/drawingml/2006/main" xmlns:ns1="http://schemas.openxmlformats.org/officeDocument/2006/relationships" xmlns:p="http://schemas.openxmlformats.org/presentationml/2006/main">
  <p:sldMasterIdLst>
    <p:sldMasterId id="2147483648" ns1:id="Rfcfd8928728d4f87"/>
  </p:sldMasterIdLst>
  <p:sldIdLst>
    <p:sldId id="256" ns1:id="R38174fa3f1df4cdf"/>
    <p:sldId id="257" ns1:id="R72e109b9553542da"/>
    <p:sldId id="258" ns1:id="R3751eb4b21954db1"/>
    <p:sldId id="259" ns1:id="R6a6d24e628754a03"/>
    <p:sldId id="260" ns1:id="R2907307679e5404a"/>
    <p:sldId id="261" ns1:id="R561de6c0e7ee4f50"/>
    <p:sldId id="262" ns1:id="R02bbcd1fbb1d4db9"/>
    <p:sldId id="263" ns1:id="Rb9634808c2ed4adf"/>
    <p:sldId id="264" ns1:id="R9b474b6004334a59"/>
    <p:sldId id="265" ns1:id="Re1b687a44e784bc4"/>
    <p:sldId id="266" ns1:id="R4c0ec7d51e8747ae"/>
    <p:sldId id="267" ns1:id="Rea1fd6d84c5447c8"/>
    <p:sldId id="268" ns1:id="R4dcb6dda06094a28"/>
    <p:sldId id="269" ns1:id="Rdc217b38b4b24090"/>
    <p:sldId id="270" ns1:id="R5e3f5186911746be"/>
    <p:sldId id="271" ns1:id="R417b26c429ce4a1a"/>
    <p:sldId id="272" ns1:id="Rc35732eef67d49c5"/>
    <p:sldId id="273" ns1:id="Rba2fe93ec15443ad"/>
    <p:sldId id="274" ns1:id="R4858f01faab0483f"/>
    <p:sldId id="275" ns1:id="R58e5f15c48ca4574"/>
    <p:sldId id="276" ns1:id="R702cfa22014049e6"/>
    <p:sldId id="277" ns1:id="R478e021fc7c049e4"/>
    <p:sldId id="278" ns1:id="R5ef50d17c66f4621"/>
    <p:sldId id="279" ns1:id="R23cb28907d9b415d"/>
    <p:sldId id="280" ns1:id="R20e39c6f44544f65"/>
    <p:sldId id="281" ns1:id="R0adbbecdc5224515"/>
    <p:sldId id="282" ns1:id="R4a212f38359b441c"/>
    <p:sldId id="283" ns1:id="R3506954284da482c"/>
    <p:sldId id="284" ns1:id="R324af92b9ea7452e"/>
    <p:sldId id="285" ns1:id="R19ecfe1dff914bf5"/>
    <p:sldId id="286" ns1:id="Rfc48311f3492441b"/>
    <p:sldId id="287" ns1:id="R9341194502834f42"/>
    <p:sldId id="288" ns1:id="R9969cd9e1f91453c"/>
    <p:sldId id="289" ns1:id="R4d6b9b47d0154c62"/>
    <p:sldId id="290" ns1:id="Rd0aaddee6fa84fb4"/>
    <p:sldId id="291" ns1:id="R87e3144b02ca4667"/>
  </p:sldIdLst>
  <p:sldSz cx="9144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ddb0786d6b8f42cd" /><ns0:Relationship Type="http://schemas.openxmlformats.org/officeDocument/2006/relationships/slideMaster" Target="/ppt/slideMasters/slideMaster1.xml" Id="Rfcfd8928728d4f87" /><ns0:Relationship Type="http://schemas.openxmlformats.org/officeDocument/2006/relationships/presProps" Target="/ppt/presProps.xml" Id="Rc950a31154bb4f03" /><ns0:Relationship Type="http://schemas.openxmlformats.org/officeDocument/2006/relationships/viewProps" Target="/ppt/viewProps.xml" Id="R59da9a8a17844b23" /><ns0:Relationship Type="http://schemas.openxmlformats.org/officeDocument/2006/relationships/tableStyles" Target="/ppt/tableStyles.xml" Id="R05fc7b5cd2744cf9" /><ns0:Relationship Type="http://schemas.openxmlformats.org/officeDocument/2006/relationships/slide" Target="/ppt/slides/slide1.xml" Id="R38174fa3f1df4cdf" /><ns0:Relationship Type="http://schemas.openxmlformats.org/officeDocument/2006/relationships/slide" Target="/ppt/slides/slide2.xml" Id="R72e109b9553542da" /><ns0:Relationship Type="http://schemas.openxmlformats.org/officeDocument/2006/relationships/slide" Target="/ppt/slides/slide3.xml" Id="R3751eb4b21954db1" /><ns0:Relationship Type="http://schemas.openxmlformats.org/officeDocument/2006/relationships/slide" Target="/ppt/slides/slide4.xml" Id="R6a6d24e628754a03" /><ns0:Relationship Type="http://schemas.openxmlformats.org/officeDocument/2006/relationships/slide" Target="/ppt/slides/slide5.xml" Id="R2907307679e5404a" /><ns0:Relationship Type="http://schemas.openxmlformats.org/officeDocument/2006/relationships/slide" Target="/ppt/slides/slide6.xml" Id="R561de6c0e7ee4f50" /><ns0:Relationship Type="http://schemas.openxmlformats.org/officeDocument/2006/relationships/slide" Target="/ppt/slides/slide7.xml" Id="R02bbcd1fbb1d4db9" /><ns0:Relationship Type="http://schemas.openxmlformats.org/officeDocument/2006/relationships/slide" Target="/ppt/slides/slide8.xml" Id="Rb9634808c2ed4adf" /><ns0:Relationship Type="http://schemas.openxmlformats.org/officeDocument/2006/relationships/slide" Target="/ppt/slides/slide9.xml" Id="R9b474b6004334a59" /><ns0:Relationship Type="http://schemas.openxmlformats.org/officeDocument/2006/relationships/slide" Target="/ppt/slides/slide10.xml" Id="Re1b687a44e784bc4" /><ns0:Relationship Type="http://schemas.openxmlformats.org/officeDocument/2006/relationships/slide" Target="/ppt/slides/slide11.xml" Id="R4c0ec7d51e8747ae" /><ns0:Relationship Type="http://schemas.openxmlformats.org/officeDocument/2006/relationships/slide" Target="/ppt/slides/slide12.xml" Id="Rea1fd6d84c5447c8" /><ns0:Relationship Type="http://schemas.openxmlformats.org/officeDocument/2006/relationships/slide" Target="/ppt/slides/slide13.xml" Id="R4dcb6dda06094a28" /><ns0:Relationship Type="http://schemas.openxmlformats.org/officeDocument/2006/relationships/slide" Target="/ppt/slides/slide14.xml" Id="Rdc217b38b4b24090" /><ns0:Relationship Type="http://schemas.openxmlformats.org/officeDocument/2006/relationships/slide" Target="/ppt/slides/slide15.xml" Id="R5e3f5186911746be" /><ns0:Relationship Type="http://schemas.openxmlformats.org/officeDocument/2006/relationships/slide" Target="/ppt/slides/slide16.xml" Id="R417b26c429ce4a1a" /><ns0:Relationship Type="http://schemas.openxmlformats.org/officeDocument/2006/relationships/slide" Target="/ppt/slides/slide17.xml" Id="Rc35732eef67d49c5" /><ns0:Relationship Type="http://schemas.openxmlformats.org/officeDocument/2006/relationships/slide" Target="/ppt/slides/slide18.xml" Id="Rba2fe93ec15443ad" /><ns0:Relationship Type="http://schemas.openxmlformats.org/officeDocument/2006/relationships/slide" Target="/ppt/slides/slide19.xml" Id="R4858f01faab0483f" /><ns0:Relationship Type="http://schemas.openxmlformats.org/officeDocument/2006/relationships/slide" Target="/ppt/slides/slide20.xml" Id="R58e5f15c48ca4574" /><ns0:Relationship Type="http://schemas.openxmlformats.org/officeDocument/2006/relationships/slide" Target="/ppt/slides/slide21.xml" Id="R702cfa22014049e6" /><ns0:Relationship Type="http://schemas.openxmlformats.org/officeDocument/2006/relationships/slide" Target="/ppt/slides/slide22.xml" Id="R478e021fc7c049e4" /><ns0:Relationship Type="http://schemas.openxmlformats.org/officeDocument/2006/relationships/slide" Target="/ppt/slides/slide23.xml" Id="R5ef50d17c66f4621" /><ns0:Relationship Type="http://schemas.openxmlformats.org/officeDocument/2006/relationships/slide" Target="/ppt/slides/slide24.xml" Id="R23cb28907d9b415d" /><ns0:Relationship Type="http://schemas.openxmlformats.org/officeDocument/2006/relationships/slide" Target="/ppt/slides/slide25.xml" Id="R20e39c6f44544f65" /><ns0:Relationship Type="http://schemas.openxmlformats.org/officeDocument/2006/relationships/slide" Target="/ppt/slides/slide26.xml" Id="R0adbbecdc5224515" /><ns0:Relationship Type="http://schemas.openxmlformats.org/officeDocument/2006/relationships/slide" Target="/ppt/slides/slide27.xml" Id="R4a212f38359b441c" /><ns0:Relationship Type="http://schemas.openxmlformats.org/officeDocument/2006/relationships/slide" Target="/ppt/slides/slide28.xml" Id="R3506954284da482c" /><ns0:Relationship Type="http://schemas.openxmlformats.org/officeDocument/2006/relationships/slide" Target="/ppt/slides/slide29.xml" Id="R324af92b9ea7452e" /><ns0:Relationship Type="http://schemas.openxmlformats.org/officeDocument/2006/relationships/slide" Target="/ppt/slides/slide30.xml" Id="R19ecfe1dff914bf5" /><ns0:Relationship Type="http://schemas.openxmlformats.org/officeDocument/2006/relationships/slide" Target="/ppt/slides/slide31.xml" Id="Rfc48311f3492441b" /><ns0:Relationship Type="http://schemas.openxmlformats.org/officeDocument/2006/relationships/slide" Target="/ppt/slides/slide32.xml" Id="R9341194502834f42" /><ns0:Relationship Type="http://schemas.openxmlformats.org/officeDocument/2006/relationships/slide" Target="/ppt/slides/slide33.xml" Id="R9969cd9e1f91453c" /><ns0:Relationship Type="http://schemas.openxmlformats.org/officeDocument/2006/relationships/slide" Target="/ppt/slides/slide34.xml" Id="R4d6b9b47d0154c62" /><ns0:Relationship Type="http://schemas.openxmlformats.org/officeDocument/2006/relationships/slide" Target="/ppt/slides/slide35.xml" Id="Rd0aaddee6fa84fb4" /><ns0:Relationship Type="http://schemas.openxmlformats.org/officeDocument/2006/relationships/slide" Target="/ppt/slides/slide36.xml" Id="R87e3144b02ca4667" /></ns0:Relationship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d63d686f79004e9f" /></ns0:Relationships>
</file>

<file path=ppt/slideLayouts/_rels/slideLayout2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394674944d6243fd" /></ns0:Relationships>
</file>

<file path=ppt/slideLayouts/_rels/slideLayout3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2f12988dcad748b5" /></ns0:Relationships>
</file>

<file path=ppt/slideLayouts/_rels/slideLayout4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135976f747584db2" /></ns0:Relationships>
</file>

<file path=ppt/slideLayouts/_rels/slideLayout5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c307236c75db4f9e" /></ns0:Relationships>
</file>

<file path=ppt/slideLayouts/_rels/slideLayout6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ac9d740992c34928" /></ns0:Relationships>
</file>

<file path=ppt/slideLayouts/_rels/slideLayout7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67f7dbb5fcda4b12" /></ns0:Relationships>
</file>

<file path=ppt/slideLayouts/_rels/slideLayout8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c4f416d61e4143f2" /></ns0:Relationships>
</file>

<file path=ppt/slideLayouts/_rels/slideLayout9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51cf36ce4dfc403d" /></ns0:Relationships>
</file>

<file path=ppt/slideLayouts/_rels/slideLayout10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9f3760ec1b924987" /></ns0:Relationships>
</file>

<file path=ppt/slideLayouts/_rels/slideLayout1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a8623794392c4e4a" /></ns0: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1A3DC9-DA24-4A9A-8756-7A7D29D4C4B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8F90811-AA72-4B3A-A33B-1AE11FAFEE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C16364-86CA-4728-B217-B376008CBB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BF6169-4B87-414F-ACBE-D5889A1B47A0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A182AC-24F0-4218-8AEB-A45FF68A22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CE96D-4DC6-4894-BAD6-44067E9D8B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2ABE3D-7530-4717-A298-38B53DEF7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912944-E2DD-4306-B5E8-29F31EE5D2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CED062-3A99-4666-8457-27A9728F8C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D8E8B8-C7E4-4618-ABC3-C399B7CCEC0D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588733-8A28-44C9-A6BB-5F124CD1F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EB0B2A-1A4A-4C16-AF0B-C1AB8E1409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076D84-672C-447D-AA0B-5F3B458CD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95AEDB-D3E1-4F02-9B02-0773BF0A8A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6C3BEE-701C-4F80-8624-83E9388959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C23AE2-2BBD-4FC2-B528-0BF2C1EBC75B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DBC5B5-573C-4218-8628-AC45C3E58A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DC7663-F10E-44C8-94E3-1336202FB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486DAB-6AA6-48CC-9EED-B9A9092C69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AE6064-C9B0-4ED2-B836-773BFC88D9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58C39F0-1E1A-46F5-9AB6-E9CC3CAF55D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EFA5277-58AD-4200-9E49-D13B9CD7A7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CF949-C1A3-4258-9A96-1DB5EE6F9CB2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9FD05B-7E99-476D-85CD-AAC406532E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234D22A-46DC-4B00-8323-B3B250E474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91324C-86BD-407E-BD4B-7FDC35D2A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2C5FAD-98DF-4ECF-93D6-F37194FED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3364E0E-1C37-42E5-AC1B-4419747A05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9175CB9-53DB-4CA8-9F84-9326531E9C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15166CE-C91C-4429-852B-97E101969C2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9D49DDF-62F2-46E2-8D03-C387761C2D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8AFE064-A27A-41A2-B430-44850FEBCE26}" type="datetime1">
              <a:t>2026/10/19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9257547-E9ED-4D33-BBA7-65E9A46A5A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717A970-5F74-4493-AA93-9BECC400AD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2197A6-EB07-40F6-9412-372DF04F9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15F0C53-06F1-421A-8254-534DFE03F6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B04457F-2123-4F1E-BC61-D6013C4605FE}" type="datetime1">
              <a:t>2026/10/19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E0BE3F-892B-4CCE-A466-55793FE876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E502C12-168B-4E2A-AB2D-AF951B8ECB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FABD391-129E-437A-B419-B228529244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F44EDF-6DC3-458C-A3A9-8D69B7CABB26}" type="datetime1">
              <a:t>2026/10/19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C03395A-02F5-45BE-AFA6-75904AFFEC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A13C7B6-DCC5-462D-A739-3E4B882B90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60529A-30ED-4EB1-BCEB-F66554F22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F47707-8EBD-4D88-A69A-71476BA3A0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F7417-5E33-4BA4-BA7C-3992D0A75A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46CA97-00D8-4224-A4BC-64A94AA244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4DDA704-12F4-46A3-A7C0-1069ADB40368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AC187D0-D0C3-4B59-88DD-7B2DF8D1E6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B504547-5A52-4444-A6A7-1F3FF93CD3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5F784C-269F-45F7-97AF-A45A3B157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267C6B7-4096-4FA8-BE60-8C0FB5B6C2A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78E12F-6B6A-45EC-AC12-8418DAB2AE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DF6F7A-E43C-48EA-8065-66050F3A83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6F2CB-8729-4C62-8C45-F10C053FAA70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70C4305-4E63-45A5-BE01-994ED191B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35BE83D-C2A9-45C9-BBBD-0AF7D83EEF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C32461-FD17-4F35-8E54-06FDD2DF34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CB851B-9832-4A6A-8699-423DAF73E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F9F71B-F8D3-4B77-8C3A-703806346C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1EAB77-6B53-47FF-89A2-6BC308EE4FAC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9B9FC0-BB91-43F1-8857-877726A93B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CD9A64-E61C-4280-8BA2-4668230ECE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9B453B3-5B2D-4CD2-A820-75C4C4AC7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D88D68-5D37-4894-9DA0-853DBE3F32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398DAF-7712-4AA5-B943-36BC70A584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AB984-F660-4238-ACB0-EABC8C45DF5C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B692F1-4417-4A24-B468-A8B59FAB56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6A97B2-962C-4960-8F60-D111531BB7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e75e868c6adc485a" /><ns0:Relationship Type="http://schemas.openxmlformats.org/officeDocument/2006/relationships/slideLayout" Target="/ppt/slideLayouts/slideLayout1.xml" Id="Ra692412915514e82" /><ns0:Relationship Type="http://schemas.openxmlformats.org/officeDocument/2006/relationships/slideLayout" Target="/ppt/slideLayouts/slideLayout2.xml" Id="R1d9d6815441f4733" /><ns0:Relationship Type="http://schemas.openxmlformats.org/officeDocument/2006/relationships/slideLayout" Target="/ppt/slideLayouts/slideLayout3.xml" Id="R1a5594cb6ea6458c" /><ns0:Relationship Type="http://schemas.openxmlformats.org/officeDocument/2006/relationships/slideLayout" Target="/ppt/slideLayouts/slideLayout4.xml" Id="R78b947bafd5644d6" /><ns0:Relationship Type="http://schemas.openxmlformats.org/officeDocument/2006/relationships/slideLayout" Target="/ppt/slideLayouts/slideLayout5.xml" Id="Rb14f21307abd4319" /><ns0:Relationship Type="http://schemas.openxmlformats.org/officeDocument/2006/relationships/slideLayout" Target="/ppt/slideLayouts/slideLayout6.xml" Id="R0b96037d059d4264" /><ns0:Relationship Type="http://schemas.openxmlformats.org/officeDocument/2006/relationships/slideLayout" Target="/ppt/slideLayouts/slideLayout7.xml" Id="R7ed6704792614481" /><ns0:Relationship Type="http://schemas.openxmlformats.org/officeDocument/2006/relationships/slideLayout" Target="/ppt/slideLayouts/slideLayout8.xml" Id="R7819abdf2d264ddb" /><ns0:Relationship Type="http://schemas.openxmlformats.org/officeDocument/2006/relationships/slideLayout" Target="/ppt/slideLayouts/slideLayout9.xml" Id="Re86276ed5f6741ce" /><ns0:Relationship Type="http://schemas.openxmlformats.org/officeDocument/2006/relationships/slideLayout" Target="/ppt/slideLayouts/slideLayout10.xml" Id="Rb14bcde0b5c64536" /><ns0:Relationship Type="http://schemas.openxmlformats.org/officeDocument/2006/relationships/slideLayout" Target="/ppt/slideLayouts/slideLayout11.xml" Id="R60336978fa5f40cf" /></ns0: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F6BCEC0-DDFA-411A-B5DA-1CC0BCBB50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73F9A6-4572-46F5-A03D-D149C45D3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D56ABA-F6C1-49B5-94F4-0D239C9EC09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F986E7-C570-46E9-AAFE-601416D6D202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359F38-C746-4A0A-AABE-DB27610D310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6228C8-4BE7-4A46-847A-30E670EA4F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92412915514e82"/>
    <p:sldLayoutId xmlns:r="http://schemas.openxmlformats.org/officeDocument/2006/relationships" id="2147483650" r:id="R1d9d6815441f4733"/>
    <p:sldLayoutId xmlns:r="http://schemas.openxmlformats.org/officeDocument/2006/relationships" id="2147483651" r:id="R1a5594cb6ea6458c"/>
    <p:sldLayoutId xmlns:r="http://schemas.openxmlformats.org/officeDocument/2006/relationships" id="2147483652" r:id="R78b947bafd5644d6"/>
    <p:sldLayoutId xmlns:r="http://schemas.openxmlformats.org/officeDocument/2006/relationships" id="2147483653" r:id="Rb14f21307abd4319"/>
    <p:sldLayoutId xmlns:r="http://schemas.openxmlformats.org/officeDocument/2006/relationships" id="2147483654" r:id="R0b96037d059d4264"/>
    <p:sldLayoutId xmlns:r="http://schemas.openxmlformats.org/officeDocument/2006/relationships" id="2147483655" r:id="R7ed6704792614481"/>
    <p:sldLayoutId xmlns:r="http://schemas.openxmlformats.org/officeDocument/2006/relationships" id="2147483656" r:id="R7819abdf2d264ddb"/>
    <p:sldLayoutId xmlns:r="http://schemas.openxmlformats.org/officeDocument/2006/relationships" id="2147483657" r:id="Re86276ed5f6741ce"/>
    <p:sldLayoutId xmlns:r="http://schemas.openxmlformats.org/officeDocument/2006/relationships" id="2147483658" r:id="Rb14bcde0b5c64536"/>
    <p:sldLayoutId xmlns:r="http://schemas.openxmlformats.org/officeDocument/2006/relationships" id="2147483659" r:id="R60336978fa5f40cf"/>
  </p:sldLayoutIdLst>
  <p:hf hdr="0" ftr="0" dt="0"/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fcd613587304682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c479ec10b1c4112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fd29949665145db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e110aae51b642b6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7643d11ac3d40da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1ee7eed9a4d4a73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df8d48925bb4dbd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85d747db9ea47f1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6696ad98bbf4076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2fc10d2c9e245ac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08ddcb573274228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179f455935342e5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bdb11ae1bc942d5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13a3286578a4a7a" /><ns0:Relationship Type="http://schemas.openxmlformats.org/officeDocument/2006/relationships/chart" Target="/ppt/slides/charts/chart1.xml" Id="R945d2af258844585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f6215e0db85440b" /><ns0:Relationship Type="http://schemas.openxmlformats.org/officeDocument/2006/relationships/chart" Target="/ppt/slides/charts/chart2.xml" Id="Rb6c268e0420f4e3d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089e0f0421b4cb5" /><ns0:Relationship Type="http://schemas.openxmlformats.org/officeDocument/2006/relationships/chart" Target="/ppt/slides/charts/chart3.xml" Id="R9c70c04cd0a043e5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fc2173b599a412b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6427a1559974b8e" /><ns0:Relationship Type="http://schemas.openxmlformats.org/officeDocument/2006/relationships/chart" Target="/ppt/slides/charts/chart4.xml" Id="R06c297351df547ef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18f34aaaacd4119" /><ns0:Relationship Type="http://schemas.openxmlformats.org/officeDocument/2006/relationships/chart" Target="/ppt/slides/charts/chart5.xml" Id="R4794520707864b73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0f2780b22f4435d" /><ns0:Relationship Type="http://schemas.openxmlformats.org/officeDocument/2006/relationships/chart" Target="/ppt/slides/charts/chart6.xml" Id="R75fe54575e2747dc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2a0e21cacf34f6d" /><ns0:Relationship Type="http://schemas.openxmlformats.org/officeDocument/2006/relationships/chart" Target="/ppt/slides/charts/chart7.xml" Id="Rd49c17b1f062496d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5076550ccc14102" /><ns0:Relationship Type="http://schemas.openxmlformats.org/officeDocument/2006/relationships/chart" Target="/ppt/slides/charts/chart8.xml" Id="R5c59acc5d7d447d3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13aefbea6b943e3" /><ns0:Relationship Type="http://schemas.openxmlformats.org/officeDocument/2006/relationships/chart" Target="/ppt/slides/charts/chart9.xml" Id="R7c53509dac3b4009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3742c9de31b47b3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d860218d57a45d1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eb3cab572f9421a" /><ns0:Relationship Type="http://schemas.openxmlformats.org/officeDocument/2006/relationships/chart" Target="/ppt/slides/charts/chart10.xml" Id="R7f9321a5ca554a88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50150453a42497e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5478556dc3a4ad2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959dfdd53c84912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99800d06be34175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98a9f2cdc03418a" /><ns0:Relationship Type="http://schemas.openxmlformats.org/officeDocument/2006/relationships/chart" Target="/ppt/slides/charts/chart11.xml" Id="Rb9dae1c0ee9344b0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b4fb397f6a94ef9" /><ns0:Relationship Type="http://schemas.openxmlformats.org/officeDocument/2006/relationships/chart" Target="/ppt/slides/charts/chart12.xml" Id="R36d2028c0a9f4aa5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14ad1d392be41be" /><ns0:Relationship Type="http://schemas.openxmlformats.org/officeDocument/2006/relationships/chart" Target="/ppt/slides/charts/chart13.xml" Id="R776ff2ce7e4a4b47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a842637aca74907" /><ns0:Relationship Type="http://schemas.openxmlformats.org/officeDocument/2006/relationships/chart" Target="/ppt/slides/charts/chart14.xml" Id="Rd573fe562de2412a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4c9cdd455f24319" /><ns0:Relationship Type="http://schemas.openxmlformats.org/officeDocument/2006/relationships/chart" Target="/ppt/slides/charts/chart15.xml" Id="R3ac74490406f4f75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03309c6a31d4d22" /></ns0: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出力設定差と、RSSI中央値差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出力設定差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−8 → −4dBm</c:v>
                </c:pt>
                <c:pt idx="1">
                  <c:v>−4 → 0dBm</c:v>
                </c:pt>
                <c:pt idx="2">
                  <c:v>−8 → 0dBm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v>RSSI中央値差</c:v>
          </c:tx>
          <c:spPr>
            <a:solidFill xmlns:a="http://schemas.openxmlformats.org/drawingml/2006/main">
              <a:srgbClr val="8CA7C3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−8 → −4dBm</c:v>
                </c:pt>
                <c:pt idx="1">
                  <c:v>−4 → 0dBm</c:v>
                </c:pt>
                <c:pt idx="2">
                  <c:v>−8 → 0dBm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</c:v>
                </c:pt>
                <c:pt idx="1">
                  <c:v>2.5</c:v>
                </c:pt>
                <c:pt idx="2">
                  <c:v>4.75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差（dB）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RSSIの古さと正常誤警報率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正常誤警報率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0秒</c:v>
                </c:pt>
                <c:pt idx="1">
                  <c:v>1秒</c:v>
                </c:pt>
                <c:pt idx="2">
                  <c:v>5秒</c:v>
                </c:pt>
                <c:pt idx="3">
                  <c:v>15秒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4.868765</c:v>
                </c:pt>
                <c:pt idx="1">
                  <c:v>5.658682</c:v>
                </c:pt>
                <c:pt idx="2">
                  <c:v>10.656232</c:v>
                </c:pt>
                <c:pt idx="3">
                  <c:v>23.22114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正常誤警報率（%）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共通の架空軌跡と5台配置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観測ノード</c:v>
          </c:tx>
          <c:spPr>
            <a:ln xmlns:a="http://schemas.openxmlformats.org/drawingml/2006/main" w="0">
              <a:noFill/>
            </a:ln>
          </c:spPr>
          <c:marker>
            <c:symbol val="square"/>
            <c:size val="9"/>
            <c:spPr>
              <a:solidFill xmlns:a="http://schemas.openxmlformats.org/drawingml/2006/main">
                <a:srgbClr val="2F64A1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-100</c:v>
                </c:pt>
                <c:pt idx="1">
                  <c:v>85</c:v>
                </c:pt>
                <c:pt idx="2">
                  <c:v>110</c:v>
                </c:pt>
                <c:pt idx="3">
                  <c:v>-80</c:v>
                </c:pt>
                <c:pt idx="4">
                  <c:v>10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-70</c:v>
                </c:pt>
                <c:pt idx="1">
                  <c:v>-90</c:v>
                </c:pt>
                <c:pt idx="2">
                  <c:v>80</c:v>
                </c:pt>
                <c:pt idx="3">
                  <c:v>110</c:v>
                </c:pt>
                <c:pt idx="4">
                  <c:v>15</c:v>
                </c:pt>
              </c:numCache>
            </c:numRef>
          </c:yVal>
        </c:ser>
        <c:ser>
          <c:idx val="1"/>
          <c:order val="1"/>
          <c:tx>
            <c:v>機体の軌跡例</c:v>
          </c:tx>
          <c:spPr>
            <a:ln xmlns:a="http://schemas.openxmlformats.org/drawingml/2006/main" w="19050">
              <a:solidFill>
                <a:srgbClr val="8CA7C3"/>
              </a:solidFill>
            </a:ln>
          </c:spPr>
          <c:marker>
            <c:symbol val="none"/>
          </c:marker>
          <c:xVal>
            <c:numRef>
              <c:f>'Chart Data'!$C$2:$C$41</c:f>
              <c:numCache>
                <c:formatCode>General</c:formatCode>
                <c:ptCount val="40"/>
                <c:pt idx="0">
                  <c:v>-36.514435</c:v>
                </c:pt>
                <c:pt idx="1">
                  <c:v>-32.245529</c:v>
                </c:pt>
                <c:pt idx="2">
                  <c:v>-28.033721</c:v>
                </c:pt>
                <c:pt idx="3">
                  <c:v>-23.934693</c:v>
                </c:pt>
                <c:pt idx="4">
                  <c:v>-20.001325</c:v>
                </c:pt>
                <c:pt idx="5">
                  <c:v>-16.282384</c:v>
                </c:pt>
                <c:pt idx="6">
                  <c:v>-12.821314</c:v>
                </c:pt>
                <c:pt idx="7">
                  <c:v>-9.655155</c:v>
                </c:pt>
                <c:pt idx="8">
                  <c:v>-6.813625</c:v>
                </c:pt>
                <c:pt idx="9">
                  <c:v>-4.318382</c:v>
                </c:pt>
                <c:pt idx="10">
                  <c:v>-2.182485</c:v>
                </c:pt>
                <c:pt idx="11">
                  <c:v>-0.410072</c:v>
                </c:pt>
                <c:pt idx="12">
                  <c:v>1.003744</c:v>
                </c:pt>
                <c:pt idx="13">
                  <c:v>2.072757</c:v>
                </c:pt>
                <c:pt idx="14">
                  <c:v>2.819317</c:v>
                </c:pt>
                <c:pt idx="15">
                  <c:v>3.273786</c:v>
                </c:pt>
                <c:pt idx="16">
                  <c:v>3.473773</c:v>
                </c:pt>
                <c:pt idx="17">
                  <c:v>3.463209</c:v>
                </c:pt>
                <c:pt idx="18">
                  <c:v>3.291252</c:v>
                </c:pt>
                <c:pt idx="19">
                  <c:v>3.011068</c:v>
                </c:pt>
                <c:pt idx="20">
                  <c:v>2.678509</c:v>
                </c:pt>
                <c:pt idx="21">
                  <c:v>2.350728</c:v>
                </c:pt>
                <c:pt idx="22">
                  <c:v>2.084758</c:v>
                </c:pt>
                <c:pt idx="23">
                  <c:v>1.936101</c:v>
                </c:pt>
                <c:pt idx="24">
                  <c:v>1.957342</c:v>
                </c:pt>
                <c:pt idx="25">
                  <c:v>2.19685</c:v>
                </c:pt>
                <c:pt idx="26">
                  <c:v>2.697573</c:v>
                </c:pt>
                <c:pt idx="27">
                  <c:v>3.495976</c:v>
                </c:pt>
                <c:pt idx="28">
                  <c:v>4.621128</c:v>
                </c:pt>
                <c:pt idx="29">
                  <c:v>6.093991</c:v>
                </c:pt>
                <c:pt idx="30">
                  <c:v>7.926888</c:v>
                </c:pt>
                <c:pt idx="31">
                  <c:v>10.123207</c:v>
                </c:pt>
                <c:pt idx="32">
                  <c:v>12.677308</c:v>
                </c:pt>
                <c:pt idx="33">
                  <c:v>15.574673</c:v>
                </c:pt>
                <c:pt idx="34">
                  <c:v>18.792255</c:v>
                </c:pt>
                <c:pt idx="35">
                  <c:v>22.299061</c:v>
                </c:pt>
                <c:pt idx="36">
                  <c:v>26.056915</c:v>
                </c:pt>
                <c:pt idx="37">
                  <c:v>30.021407</c:v>
                </c:pt>
                <c:pt idx="38">
                  <c:v>34.142996</c:v>
                </c:pt>
                <c:pt idx="39">
                  <c:v>38.368242</c:v>
                </c:pt>
              </c:numCache>
            </c:numRef>
          </c:xVal>
          <c:yVal>
            <c:numRef>
              <c:f>'Chart Data'!$D$2:$D$41</c:f>
              <c:numCache>
                <c:formatCode>General</c:formatCode>
                <c:ptCount val="40"/>
                <c:pt idx="0">
                  <c:v>176.27929</c:v>
                </c:pt>
                <c:pt idx="1">
                  <c:v>167.972208</c:v>
                </c:pt>
                <c:pt idx="2">
                  <c:v>159.652378</c:v>
                </c:pt>
                <c:pt idx="3">
                  <c:v>151.307369</c:v>
                </c:pt>
                <c:pt idx="4">
                  <c:v>142.925375</c:v>
                </c:pt>
                <c:pt idx="5">
                  <c:v>134.495507</c:v>
                </c:pt>
                <c:pt idx="6">
                  <c:v>126.008067</c:v>
                </c:pt>
                <c:pt idx="7">
                  <c:v>117.454785</c:v>
                </c:pt>
                <c:pt idx="8">
                  <c:v>108.829026</c:v>
                </c:pt>
                <c:pt idx="9">
                  <c:v>100.125955</c:v>
                </c:pt>
                <c:pt idx="10">
                  <c:v>91.342657</c:v>
                </c:pt>
                <c:pt idx="11">
                  <c:v>82.478206</c:v>
                </c:pt>
                <c:pt idx="12">
                  <c:v>73.533696</c:v>
                </c:pt>
                <c:pt idx="13">
                  <c:v>64.512204</c:v>
                </c:pt>
                <c:pt idx="14">
                  <c:v>55.418722</c:v>
                </c:pt>
                <c:pt idx="15">
                  <c:v>46.260026</c:v>
                </c:pt>
                <c:pt idx="16">
                  <c:v>37.044516</c:v>
                </c:pt>
                <c:pt idx="17">
                  <c:v>27.781997</c:v>
                </c:pt>
                <c:pt idx="18">
                  <c:v>18.483446</c:v>
                </c:pt>
                <c:pt idx="19">
                  <c:v>9.160732</c:v>
                </c:pt>
                <c:pt idx="20">
                  <c:v>-0.173675</c:v>
                </c:pt>
                <c:pt idx="21">
                  <c:v>-9.507015</c:v>
                </c:pt>
                <c:pt idx="22">
                  <c:v>-18.826556</c:v>
                </c:pt>
                <c:pt idx="23">
                  <c:v>-28.119905</c:v>
                </c:pt>
                <c:pt idx="24">
                  <c:v>-37.375323</c:v>
                </c:pt>
                <c:pt idx="25">
                  <c:v>-46.58201</c:v>
                </c:pt>
                <c:pt idx="26">
                  <c:v>-55.730378</c:v>
                </c:pt>
                <c:pt idx="27">
                  <c:v>-64.812286</c:v>
                </c:pt>
                <c:pt idx="28">
                  <c:v>-73.821244</c:v>
                </c:pt>
                <c:pt idx="29">
                  <c:v>-82.752572</c:v>
                </c:pt>
                <c:pt idx="30">
                  <c:v>-91.603519</c:v>
                </c:pt>
                <c:pt idx="31">
                  <c:v>-100.373328</c:v>
                </c:pt>
                <c:pt idx="32">
                  <c:v>-109.063258</c:v>
                </c:pt>
                <c:pt idx="33">
                  <c:v>-117.676551</c:v>
                </c:pt>
                <c:pt idx="34">
                  <c:v>-126.218352</c:v>
                </c:pt>
                <c:pt idx="35">
                  <c:v>-134.695581</c:v>
                </c:pt>
                <c:pt idx="36">
                  <c:v>-143.116761</c:v>
                </c:pt>
                <c:pt idx="37">
                  <c:v>-151.491807</c:v>
                </c:pt>
                <c:pt idx="38">
                  <c:v>-159.831779</c:v>
                </c:pt>
                <c:pt idx="39">
                  <c:v>-168.148609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-2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latin typeface="Hiragino Kaku Gothic ProN W3"/>
                    <a:ea typeface="Hiragino Kaku Gothic ProN W3"/>
                    <a:cs typeface="Hiragino Kaku Gothic ProN W3"/>
                  </a:rPr>
                  <a:t>南北（m）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</c:valAx>
      <c:valAx>
        <c:axId val="48650112"/>
        <c:scaling>
          <c:orientation val="minMax"/>
          <c:max val="200"/>
          <c:min val="-2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latin typeface="Hiragino Kaku Gothic ProN W3"/>
                    <a:ea typeface="Hiragino Kaku Gothic ProN W3"/>
                    <a:cs typeface="Hiragino Kaku Gothic ProN W3"/>
                  </a:rPr>
                  <a:t>東西（m）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同一送信を5台受信・雑音SD2dB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正常への警報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正常</c:v>
                </c:pt>
                <c:pt idx="1">
                  <c:v>電力 +16dB</c:v>
                </c:pt>
                <c:pt idx="2">
                  <c:v>送信ごとに追加変動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4.984722</c:v>
                </c:pt>
                <c:pt idx="1">
                  <c:v>4.984722</c:v>
                </c:pt>
                <c:pt idx="2">
                  <c:v>4.984722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正常時の誤警報率（%）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独立リンク雑音 SD2dB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2台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5.041667</c:v>
                </c:pt>
                <c:pt idx="1">
                  <c:v>5.756944</c:v>
                </c:pt>
                <c:pt idx="2">
                  <c:v>11.458333</c:v>
                </c:pt>
                <c:pt idx="3">
                  <c:v>20.329167</c:v>
                </c:pt>
                <c:pt idx="4">
                  <c:v>37.595833</c:v>
                </c:pt>
              </c:numCache>
            </c:numRef>
          </c:yVal>
          <c:smooth val="0"/>
        </c:ser>
        <c:ser>
          <c:idx val="1"/>
          <c:order val="1"/>
          <c:tx>
            <c:v>3台</c:v>
          </c:tx>
          <c:spPr>
            <a:solidFill xmlns:a="http://schemas.openxmlformats.org/drawingml/2006/main">
              <a:srgbClr val="8CA7C3"/>
            </a:solidFill>
            <a:ln xmlns:a="http://schemas.openxmlformats.org/drawingml/2006/main" w="19050">
              <a:solidFill>
                <a:srgbClr val="8CA7C3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4.958333</c:v>
                </c:pt>
                <c:pt idx="1">
                  <c:v>5.968056</c:v>
                </c:pt>
                <c:pt idx="2">
                  <c:v>14.276389</c:v>
                </c:pt>
                <c:pt idx="3">
                  <c:v>28.965278</c:v>
                </c:pt>
                <c:pt idx="4">
                  <c:v>56.893056</c:v>
                </c:pt>
              </c:numCache>
            </c:numRef>
          </c:yVal>
          <c:smooth val="0"/>
        </c:ser>
        <c:ser>
          <c:idx val="2"/>
          <c:order val="2"/>
          <c:tx>
            <c:v>5台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4.984722</c:v>
                </c:pt>
                <c:pt idx="1">
                  <c:v>6.334722</c:v>
                </c:pt>
                <c:pt idx="2">
                  <c:v>19.522222</c:v>
                </c:pt>
                <c:pt idx="3">
                  <c:v>41.658333</c:v>
                </c:pt>
                <c:pt idx="4">
                  <c:v>73.677778</c:v>
                </c:pt>
              </c:numCache>
            </c:numRef>
          </c:y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majorUnit val="20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水平位置の改変量（m）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独立リンク雑音 SD6dB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2台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5.009722</c:v>
                </c:pt>
                <c:pt idx="1">
                  <c:v>5.119444</c:v>
                </c:pt>
                <c:pt idx="2">
                  <c:v>5.813889</c:v>
                </c:pt>
                <c:pt idx="3">
                  <c:v>7.047222</c:v>
                </c:pt>
                <c:pt idx="4">
                  <c:v>11.248611</c:v>
                </c:pt>
              </c:numCache>
            </c:numRef>
          </c:yVal>
          <c:smooth val="0"/>
        </c:ser>
        <c:ser>
          <c:idx val="1"/>
          <c:order val="1"/>
          <c:tx>
            <c:v>3台</c:v>
          </c:tx>
          <c:spPr>
            <a:solidFill xmlns:a="http://schemas.openxmlformats.org/drawingml/2006/main">
              <a:srgbClr val="8CA7C3"/>
            </a:solidFill>
            <a:ln xmlns:a="http://schemas.openxmlformats.org/drawingml/2006/main" w="19050">
              <a:solidFill>
                <a:srgbClr val="8CA7C3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4.902778</c:v>
                </c:pt>
                <c:pt idx="1">
                  <c:v>5.034722</c:v>
                </c:pt>
                <c:pt idx="2">
                  <c:v>5.913889</c:v>
                </c:pt>
                <c:pt idx="3">
                  <c:v>7.866667</c:v>
                </c:pt>
                <c:pt idx="4">
                  <c:v>14.541667</c:v>
                </c:pt>
              </c:numCache>
            </c:numRef>
          </c:yVal>
          <c:smooth val="0"/>
        </c:ser>
        <c:ser>
          <c:idx val="2"/>
          <c:order val="2"/>
          <c:tx>
            <c:v>5台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4.875</c:v>
                </c:pt>
                <c:pt idx="1">
                  <c:v>5.019444</c:v>
                </c:pt>
                <c:pt idx="2">
                  <c:v>6.323611</c:v>
                </c:pt>
                <c:pt idx="3">
                  <c:v>9.018056</c:v>
                </c:pt>
                <c:pt idx="4">
                  <c:v>18.729167</c:v>
                </c:pt>
              </c:numCache>
            </c:numRef>
          </c:y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majorUnit val="20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水平位置の改変量（m）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雑音SD2dB・全送信を分母にした割合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不整合の警報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FFFFFF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常に5台</c:v>
                </c:pt>
                <c:pt idx="1">
                  <c:v>一部重複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73.677778</c:v>
                </c:pt>
                <c:pt idx="1">
                  <c:v>49.35</c:v>
                </c:pt>
              </c:numCache>
            </c:numRef>
          </c:val>
        </c:ser>
        <c:ser>
          <c:idx val="1"/>
          <c:order val="1"/>
          <c:tx>
            <c:v>警報なし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FFFFFF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常に5台</c:v>
                </c:pt>
                <c:pt idx="1">
                  <c:v>一部重複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26.322222</c:v>
                </c:pt>
                <c:pt idx="1">
                  <c:v>27.756944</c:v>
                </c:pt>
              </c:numCache>
            </c:numRef>
          </c:val>
        </c:ser>
        <c:ser>
          <c:idx val="2"/>
          <c:order val="2"/>
          <c:tx>
            <c:v>判定保留</c:v>
          </c:tx>
          <c:spPr>
            <a:solidFill xmlns:a="http://schemas.openxmlformats.org/drawingml/2006/main">
              <a:srgbClr val="BDC5CF"/>
            </a:solidFill>
          </c:spPr>
          <c:invertIfNegative val="0"/>
          <c:dLbls>
            <c:dLbl>
              <c:idx val="0"/>
              <c:showVal val="0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Data'!$E$2:$E$3</c:f>
              <c:strCache>
                <c:ptCount val="2"/>
                <c:pt idx="0">
                  <c:v>常に5台</c:v>
                </c:pt>
                <c:pt idx="1">
                  <c:v>一部重複</c:v>
                </c:pt>
              </c:strCache>
            </c:strRef>
          </c:cat>
          <c: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22.893056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全送信に対する割合（%）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雑音SD2dB・全送信を分母にした割合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不整合の警報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dLbl>
              <c:idx val="2"/>
              <c:showVal val="0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FFFFFF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常に5台</c:v>
                </c:pt>
                <c:pt idx="1">
                  <c:v>一部重複</c:v>
                </c:pt>
                <c:pt idx="2">
                  <c:v>毎回1台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73.677778</c:v>
                </c:pt>
                <c:pt idx="1">
                  <c:v>49.35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警報なし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dLbl>
              <c:idx val="2"/>
              <c:showVal val="0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FFFFFF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常に5台</c:v>
                </c:pt>
                <c:pt idx="1">
                  <c:v>一部重複</c:v>
                </c:pt>
                <c:pt idx="2">
                  <c:v>毎回1台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26.322222</c:v>
                </c:pt>
                <c:pt idx="1">
                  <c:v>27.756944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v>判定保留</c:v>
          </c:tx>
          <c:spPr>
            <a:solidFill xmlns:a="http://schemas.openxmlformats.org/drawingml/2006/main">
              <a:srgbClr val="BDC5CF"/>
            </a:solidFill>
          </c:spPr>
          <c:invertIfNegative val="0"/>
          <c:dLbls>
            <c:dLbl>
              <c:idx val="0"/>
              <c:showVal val="0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Data'!$E$2:$E$4</c:f>
              <c:strCache>
                <c:ptCount val="3"/>
                <c:pt idx="0">
                  <c:v>常に5台</c:v>
                </c:pt>
                <c:pt idx="1">
                  <c:v>一部重複</c:v>
                </c:pt>
                <c:pt idx="2">
                  <c:v>毎回1台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0</c:v>
                </c:pt>
                <c:pt idx="1">
                  <c:v>22.893056</c:v>
                </c:pt>
                <c:pt idx="2">
                  <c:v>100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全送信に対する割合（%）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雑音SD2dB・正常データへの警報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飛行中の電力一定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0秒</c:v>
                </c:pt>
                <c:pt idx="1">
                  <c:v>0.5秒</c:v>
                </c:pt>
                <c:pt idx="2">
                  <c:v>1秒</c:v>
                </c:pt>
                <c:pt idx="3">
                  <c:v>5秒</c:v>
                </c:pt>
                <c:pt idx="4">
                  <c:v>15秒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4.953968</c:v>
                </c:pt>
                <c:pt idx="1">
                  <c:v>5.007937</c:v>
                </c:pt>
                <c:pt idx="2">
                  <c:v>5.25873</c:v>
                </c:pt>
                <c:pt idx="3">
                  <c:v>6.812698</c:v>
                </c:pt>
                <c:pt idx="4">
                  <c:v>21.553968</c:v>
                </c:pt>
              </c:numCache>
            </c:numRef>
          </c:val>
          <c:smooth val="0"/>
        </c:ser>
        <c:ser>
          <c:idx val="1"/>
          <c:order val="1"/>
          <c:tx>
            <c:v>送信ごとに変動 SD8dB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Data'!$C$2:$C$6</c:f>
              <c:strCache>
                <c:ptCount val="5"/>
                <c:pt idx="0">
                  <c:v>0秒</c:v>
                </c:pt>
                <c:pt idx="1">
                  <c:v>0.5秒</c:v>
                </c:pt>
                <c:pt idx="2">
                  <c:v>1秒</c:v>
                </c:pt>
                <c:pt idx="3">
                  <c:v>5秒</c:v>
                </c:pt>
                <c:pt idx="4">
                  <c:v>15秒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4.953968</c:v>
                </c:pt>
                <c:pt idx="1">
                  <c:v>67.126984</c:v>
                </c:pt>
                <c:pt idx="2">
                  <c:v>84.696825</c:v>
                </c:pt>
                <c:pt idx="3">
                  <c:v>95.738095</c:v>
                </c:pt>
                <c:pt idx="4">
                  <c:v>96.131746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正常誤警報率（%）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全4台のRSSIが一致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正常：高度80m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-88.363282</c:v>
                </c:pt>
                <c:pt idx="1">
                  <c:v>-88.363282</c:v>
                </c:pt>
                <c:pt idx="2">
                  <c:v>-88.363282</c:v>
                </c:pt>
                <c:pt idx="3">
                  <c:v>-88.363282</c:v>
                </c:pt>
              </c:numCache>
            </c:numRef>
          </c:val>
          <c:smooth val="0"/>
        </c:ser>
        <c:ser>
          <c:idx val="1"/>
          <c:order val="1"/>
          <c:tx>
            <c:v>偽装：高度20m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-88.363282</c:v>
                </c:pt>
                <c:pt idx="1">
                  <c:v>-88.363282</c:v>
                </c:pt>
                <c:pt idx="2">
                  <c:v>-88.363282</c:v>
                </c:pt>
                <c:pt idx="3">
                  <c:v>-88.363282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-86"/>
          <c:min val="-91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RSSI（dBm）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-91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通常条件での距離推定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距離MAE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PathLoss</c:v>
                </c:pt>
                <c:pt idx="1">
                  <c:v>Bayesian</c:v>
                </c:pt>
                <c:pt idx="2">
                  <c:v>GP</c:v>
                </c:pt>
                <c:pt idx="3">
                  <c:v>MLP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56.616402</c:v>
                </c:pt>
                <c:pt idx="1">
                  <c:v>39.107837</c:v>
                </c:pt>
                <c:pt idx="2">
                  <c:v>25.598528</c:v>
                </c:pt>
                <c:pt idx="3">
                  <c:v>25.493642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10受信機・100m改変の警報率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改変時の警報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ガウス SD2dB</c:v>
                </c:pt>
                <c:pt idx="1">
                  <c:v>RMSを合わせたガウス</c:v>
                </c:pt>
                <c:pt idx="2">
                  <c:v>屋内BLEの実測残差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85.821667</c:v>
                </c:pt>
                <c:pt idx="1">
                  <c:v>19.613333</c:v>
                </c:pt>
                <c:pt idx="2">
                  <c:v>10.415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距離ラベルを4倍に改変した場合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平均補正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  <c:pt idx="3">
                  <c:v>50%</c:v>
                </c:pt>
                <c:pt idx="4">
                  <c:v>70%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18.97681</c:v>
                </c:pt>
                <c:pt idx="1">
                  <c:v>22.809172</c:v>
                </c:pt>
                <c:pt idx="2">
                  <c:v>37.599058</c:v>
                </c:pt>
                <c:pt idx="3">
                  <c:v>62.24451</c:v>
                </c:pt>
                <c:pt idx="4">
                  <c:v>97.196241</c:v>
                </c:pt>
              </c:numCache>
            </c:numRef>
          </c:val>
          <c:smooth val="0"/>
        </c:ser>
        <c:ser>
          <c:idx val="1"/>
          <c:order val="1"/>
          <c:tx>
            <c:v>中央値補正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Data'!$C$2:$C$6</c:f>
              <c:strCache>
                <c:ptCount val="5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  <c:pt idx="3">
                  <c:v>50%</c:v>
                </c:pt>
                <c:pt idx="4">
                  <c:v>70%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19.03096</c:v>
                </c:pt>
                <c:pt idx="1">
                  <c:v>20.389678</c:v>
                </c:pt>
                <c:pt idx="2">
                  <c:v>26.901341</c:v>
                </c:pt>
                <c:pt idx="3">
                  <c:v>63.179677</c:v>
                </c:pt>
                <c:pt idx="4">
                  <c:v>125.857105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真の相関時間10分・1時間後の予測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公称90%区間の実包含率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履歴なし</c:v>
                </c:pt>
                <c:pt idx="1">
                  <c:v>相関時間10分の仮定</c:v>
                </c:pt>
                <c:pt idx="2">
                  <c:v>相関時間1日の仮定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90.376667</c:v>
                </c:pt>
                <c:pt idx="1">
                  <c:v>90.38</c:v>
                </c:pt>
                <c:pt idx="2">
                  <c:v>60.823333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区間包含率（%）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20件集める時間幅の変化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ブロック時間幅の中央値平均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0%削除</c:v>
                </c:pt>
                <c:pt idx="1">
                  <c:v>25%削除</c:v>
                </c:pt>
                <c:pt idx="2">
                  <c:v>50%削除</c:v>
                </c:pt>
                <c:pt idx="3">
                  <c:v>75%削除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4.005437</c:v>
                </c:pt>
                <c:pt idx="1">
                  <c:v>5.317398</c:v>
                </c:pt>
                <c:pt idx="2">
                  <c:v>7.896351</c:v>
                </c:pt>
                <c:pt idx="3">
                  <c:v>13.163107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時間幅（秒）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タイトル 1">
            <a:extLst>
              <a:ext uri="{FF2B5EF4-FFF2-40B4-BE49-F238E27FC236}">
                <ns2:creationId id="{A3070B0B-1B8E-DD6E-A460-6271EC5FB3C9}"/>
              </a:ext>
            </a:extLst>
          </p:cNvPr>
          <p:cNvSpPr>
            <a:spLocks noGrp="1"/>
          </p:cNvSpPr>
          <p:nvPr>
            <p:ph type="ctrTitle" idx="0"/>
          </p:nvPr>
        </p:nvSpPr>
        <p:spPr>
          <a:xfrm>
            <a:off x="2187421" y="2248693"/>
            <a:ext cx="4769157" cy="1007269"/>
          </a:xfrm>
        </p:spPr>
        <p:txBody>
          <a:bodyPr>
            <a:normAutofit/>
          </a:bodyPr>
          <a:lstStyle/>
          <a:p>
            <a:r>
              <a:rPr sz="3600">
                <a:latin typeface="游ゴシック"/>
                <a:ea typeface="游ゴシック"/>
                <a:cs typeface="游ゴシック"/>
              </a:rPr>
              <a:t/>
            </a:r>
            <a:endParaRPr sz="3600">
              <a:latin typeface="游ゴシック"/>
              <a:ea typeface="游ゴシック"/>
              <a:cs typeface="游ゴシック"/>
            </a:endParaRPr>
          </a:p>
        </p:txBody>
      </p:sp>
      <p:sp>
        <p:nvSpPr>
          <p:cNvPr id="8" name="字幕 2">
            <a:extLst>
              <a:ext uri="{FF2B5EF4-FFF2-40B4-BE49-F238E27FC236}">
                <ns2:creationId id="{1A28CB50-14F2-13F1-4AF7-6099447C0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0229" y="3595638"/>
            <a:ext cx="6858000" cy="1655762"/>
          </a:xfrm>
        </p:spPr>
        <p:txBody>
          <a:bodyPr>
            <a:normAutofit/>
          </a:bodyPr>
          <a:lstStyle/>
          <a:p>
            <a:r>
              <a:rPr sz="2800">
                <a:solidFill>
                  <a:schemeClr val="tx1"/>
                </a:solidFill>
                <a:latin typeface="游ゴシック"/>
                <a:ea typeface="游ゴシック"/>
                <a:cs typeface="游ゴシック"/>
              </a:rPr>
              <a:t/>
            </a:r>
            <a:endParaRPr sz="2800">
              <a:solidFill>
                <a:schemeClr val="tx1"/>
              </a:solidFill>
              <a:latin typeface="游ゴシック"/>
              <a:ea typeface="游ゴシック"/>
              <a:cs typeface="游ゴシック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ns2:creationId id="{03E845AE-EA02-5977-B864-9A0429EB51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6767bc8-f2f8-5758-8b44-f48ec5604fcd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</a:t>
            </a:fld>
          </a:p>
        </p:txBody>
      </p:sp>
      <p:sp>
        <p:nvSpPr>
          <p:cNvPr id="9" name="">
            <a:extLst>
              <a:ext uri="{FF2B5EF4-FFF2-40B4-BE49-F238E27FC236}">
                <ns2:creationId id="{B2B3F037-F0A8-4AEC-839F-75A68B79E4DA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7429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7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RSSIから位置偽装を検知できるか？</a:t>
            </a:r>
          </a:p>
        </p:txBody>
      </p:sp>
      <p:sp>
        <p:nvSpPr>
          <p:cNvPr id="10" name="">
            <a:extLst>
              <a:ext uri="{FF2B5EF4-FFF2-40B4-BE49-F238E27FC236}">
                <ns2:creationId id="{342C3CE6-E07E-4F4D-8FA1-234863D78321}"/>
              </a:ext>
            </a:extLst>
          </p:cNvPr>
          <p:cNvSpPr>
            <a:spLocks noGrp="1"/>
          </p:cNvSpPr>
          <p:nvPr/>
        </p:nvSpPr>
        <p:spPr>
          <a:xfrm>
            <a:off x="1524000" y="3714750"/>
            <a:ext cx="609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進捗報告　第26回</a:t>
            </a:r>
          </a:p>
        </p:txBody>
      </p:sp>
      <p:sp>
        <p:nvSpPr>
          <p:cNvPr id="11" name="">
            <a:extLst>
              <a:ext uri="{FF2B5EF4-FFF2-40B4-BE49-F238E27FC236}">
                <ns2:creationId id="{21D3C2F8-52D5-4434-B8CD-D465B038B496}"/>
              </a:ext>
            </a:extLst>
          </p:cNvPr>
          <p:cNvSpPr>
            <a:spLocks noGrp="1"/>
          </p:cNvSpPr>
          <p:nvPr/>
        </p:nvSpPr>
        <p:spPr>
          <a:xfrm>
            <a:off x="952500" y="4333875"/>
            <a:ext cx="7239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送信電力が分からない・変わる状況での検証</a:t>
            </a:r>
          </a:p>
        </p:txBody>
      </p:sp>
    </p:spTree>
    <p:extLst>
      <p:ext uri="{BB962C8B-B14F-4D97-AF65-F5344CB8AC3E}">
        <ns3:creationId val="477400704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目次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「RSSIから位置偽装を検知できるか」に答える流れ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6b8a541-dffd-507d-ba3c-c18015e6ab2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</a:t>
            </a:fld>
          </a:p>
        </p:txBody>
      </p:sp>
      <p:sp>
        <p:nvSpPr>
          <p:cNvPr id="8" name="">
            <a:extLst>
              <a:ext uri="{FF2B5EF4-FFF2-40B4-BE49-F238E27FC236}">
                <ns2:creationId id="{01FD30A8-44F6-43E7-A195-72227FF0B4C1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なぜ難しいか</a:t>
            </a:r>
          </a:p>
        </p:txBody>
      </p:sp>
      <p:sp>
        <p:nvSpPr>
          <p:cNvPr id="9" name="">
            <a:extLst>
              <a:ext uri="{FF2B5EF4-FFF2-40B4-BE49-F238E27FC236}">
                <ns2:creationId id="{976E58ED-0517-48FB-BAF1-FFA907354831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位置の変化と、送信電力の変更の曖昧さ</a:t>
            </a:r>
          </a:p>
        </p:txBody>
      </p:sp>
      <p:sp>
        <p:nvSpPr>
          <p:cNvPr id="10" name="">
            <a:extLst>
              <a:ext uri="{FF2B5EF4-FFF2-40B4-BE49-F238E27FC236}">
                <ns2:creationId id="{4F40B04D-6BA8-40E3-B26F-0D40BA76B9FD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どんな条件なら検査できるか</a:t>
            </a:r>
          </a:p>
        </p:txBody>
      </p:sp>
      <p:sp>
        <p:nvSpPr>
          <p:cNvPr id="11" name="">
            <a:extLst>
              <a:ext uri="{FF2B5EF4-FFF2-40B4-BE49-F238E27FC236}">
                <ns2:creationId id="{8260259C-1D7D-4B1B-94BA-F86C2B346434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同じ送信を複数地点で受ける意味</a:t>
            </a:r>
          </a:p>
        </p:txBody>
      </p:sp>
      <p:sp>
        <p:nvSpPr>
          <p:cNvPr id="12" name="">
            <a:extLst>
              <a:ext uri="{FF2B5EF4-FFF2-40B4-BE49-F238E27FC236}">
                <ns2:creationId id="{4CF3A232-BB6B-4CB8-BE65-0C3A4C349CA8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実験でどこまで分かったか</a:t>
            </a:r>
          </a:p>
        </p:txBody>
      </p:sp>
      <p:sp>
        <p:nvSpPr>
          <p:cNvPr id="13" name="">
            <a:extLst>
              <a:ext uri="{FF2B5EF4-FFF2-40B4-BE49-F238E27FC236}">
                <ns2:creationId id="{6501E74F-F8AC-4188-B63B-AC1350BCA91E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検知できる例、保留する例、区別できない例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第26回の作業内容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位置偽装検知の前提から、再現可能な評価まで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6366145-dda9-54b2-8eb1-d1c34a34fcf8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F8DBE4DF-282F-4109-AC6B-42DD618CF55B}"/>
              </a:ext>
            </a:extLst>
          </p:cNvPr>
          <p:cNvGraphicFramePr/>
          <p:nvPr/>
        </p:nvGraphicFramePr>
        <p:xfrm>
          <a:off x="400050" y="1524000"/>
          <a:ext cx="8343900" cy="3028950"/>
        </p:xfrm>
        <a:graphic>
          <a:graphicData uri="http://schemas.openxmlformats.org/drawingml/2006/table">
            <a:tbl>
              <a:tblPr/>
              <a:tblGrid>
                <a:gridCol w="1476375"/>
                <a:gridCol w="6867525"/>
              </a:tblGrid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区分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作業内容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調査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RSSI・未知電力・異時刻観測の成立条件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実測解析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公開BLE・UAV受信LoRaの取得と再解析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実装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共通軌跡・複数ノード・保留を含む判定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評価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位置改変、電力変更、雑音、時刻差、配置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資料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CSV・JSON・日本語図と結果の整理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27A2268C-DAF9-4AD3-BC5E-15DAEF078276}"/>
              </a:ext>
            </a:extLst>
          </p:cNvPr>
          <p:cNvSpPr>
            <a:spLocks noGrp="1"/>
          </p:cNvSpPr>
          <p:nvPr/>
        </p:nvSpPr>
        <p:spPr>
          <a:xfrm>
            <a:off x="428625" y="53340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新しい実RID計測・ZKP回路の実装は今回の対象外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今回の答え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RSSIから位置偽装を検知できる場面はある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b821d7e-907a-592e-814a-75cabdae28a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</a:t>
            </a:fld>
          </a:p>
        </p:txBody>
      </p:sp>
      <p:sp>
        <p:nvSpPr>
          <p:cNvPr id="8" name="">
            <a:extLst>
              <a:ext uri="{FF2B5EF4-FFF2-40B4-BE49-F238E27FC236}">
                <ns2:creationId id="{4EA33E86-1541-4D64-B0DF-D636B62B64BD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今回の複数ノードの検知率は合成評価。実RIDでの実証ではない。</a:t>
            </a:r>
          </a:p>
        </p:txBody>
      </p:sp>
      <p:sp>
        <p:nvSpPr>
          <p:cNvPr id="9" name="">
            <a:extLst>
              <a:ext uri="{FF2B5EF4-FFF2-40B4-BE49-F238E27FC236}">
                <ns2:creationId id="{34CED3B8-61E0-483E-95FF-6FD7914A4E10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検査に使える条件</a:t>
            </a:r>
          </a:p>
        </p:txBody>
      </p:sp>
      <p:sp>
        <p:nvSpPr>
          <p:cNvPr id="10" name="">
            <a:extLst>
              <a:ext uri="{FF2B5EF4-FFF2-40B4-BE49-F238E27FC236}">
                <ns2:creationId id="{677ED1B4-3B2B-4FFB-A478-B9C012E5E235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同じ送信を複数地点で受信し、観測とモデルが適切</a:t>
            </a:r>
          </a:p>
        </p:txBody>
      </p:sp>
      <p:sp>
        <p:nvSpPr>
          <p:cNvPr id="11" name="">
            <a:extLst>
              <a:ext uri="{FF2B5EF4-FFF2-40B4-BE49-F238E27FC236}">
                <ns2:creationId id="{A03D7A69-1A3C-4EB2-86E6-2337E39B1FE2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検知率を下げる要因</a:t>
            </a:r>
          </a:p>
        </p:txBody>
      </p:sp>
      <p:sp>
        <p:nvSpPr>
          <p:cNvPr id="12" name="">
            <a:extLst>
              <a:ext uri="{FF2B5EF4-FFF2-40B4-BE49-F238E27FC236}">
                <ns2:creationId id="{FEA74F53-1F94-4AB7-8B5C-025C8A824FF2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電波の揺らぎ、受信の不足、配置や時刻の誤対応</a:t>
            </a:r>
          </a:p>
        </p:txBody>
      </p:sp>
      <p:sp>
        <p:nvSpPr>
          <p:cNvPr id="13" name="">
            <a:extLst>
              <a:ext uri="{FF2B5EF4-FFF2-40B4-BE49-F238E27FC236}">
                <ns2:creationId id="{D015DD26-EFDB-4895-B247-99395E1D89EF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現在の限界</a:t>
            </a:r>
          </a:p>
        </p:txBody>
      </p:sp>
      <p:sp>
        <p:nvSpPr>
          <p:cNvPr id="14" name="">
            <a:extLst>
              <a:ext uri="{FF2B5EF4-FFF2-40B4-BE49-F238E27FC236}">
                <ns2:creationId id="{8CD805BC-1B36-4299-ABF6-781701456FF0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別送信を単独受信し、電力が毎回自由なら一般に判定不可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想定する位置偽装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施設周辺を通過する機体の「ここにいる」という申告を調べる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f9dd02f-40c1-5f45-b170-bf0923ff2f2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</a:t>
            </a:fld>
          </a:p>
        </p:txBody>
      </p:sp>
      <p:sp>
        <p:nvSpPr>
          <p:cNvPr id="8" name="">
            <a:extLst>
              <a:ext uri="{FF2B5EF4-FFF2-40B4-BE49-F238E27FC236}">
                <ns2:creationId id="{6EE20F9D-9DF5-4788-8E5B-8C3D35E22F44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7620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地上の観測ノード</a:t>
            </a:r>
          </a:p>
        </p:txBody>
      </p:sp>
      <p:sp>
        <p:nvSpPr>
          <p:cNvPr id="9" name="">
            <a:extLst>
              <a:ext uri="{FF2B5EF4-FFF2-40B4-BE49-F238E27FC236}">
                <ns2:creationId id="{A83AF6E8-CA15-4A20-A3CA-48AE0D77C993}"/>
              </a:ext>
            </a:extLst>
          </p:cNvPr>
          <p:cNvSpPr>
            <a:spLocks noGrp="1"/>
          </p:cNvSpPr>
          <p:nvPr/>
        </p:nvSpPr>
        <p:spPr>
          <a:xfrm>
            <a:off x="1362075" y="3857625"/>
            <a:ext cx="323850" cy="2667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748C3E4F-F94C-4F67-A85B-40C5D0C02561}"/>
              </a:ext>
            </a:extLst>
          </p:cNvPr>
          <p:cNvSpPr>
            <a:spLocks noGrp="1"/>
          </p:cNvSpPr>
          <p:nvPr/>
        </p:nvSpPr>
        <p:spPr>
          <a:xfrm>
            <a:off x="1381125" y="3886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rPr>
              <a:t>A</a:t>
            </a:r>
          </a:p>
        </p:txBody>
      </p:sp>
      <p:sp>
        <p:nvSpPr>
          <p:cNvPr id="11" name="">
            <a:extLst>
              <a:ext uri="{FF2B5EF4-FFF2-40B4-BE49-F238E27FC236}">
                <ns2:creationId id="{BB19C1E6-E32A-405B-AACE-356083AA83F6}"/>
              </a:ext>
            </a:extLst>
          </p:cNvPr>
          <p:cNvSpPr>
            <a:spLocks noGrp="1"/>
          </p:cNvSpPr>
          <p:nvPr/>
        </p:nvSpPr>
        <p:spPr>
          <a:xfrm>
            <a:off x="4171950" y="3857625"/>
            <a:ext cx="323850" cy="2667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704B0D5A-5C46-4449-AFDE-CA85E9F45C77}"/>
              </a:ext>
            </a:extLst>
          </p:cNvPr>
          <p:cNvSpPr>
            <a:spLocks noGrp="1"/>
          </p:cNvSpPr>
          <p:nvPr/>
        </p:nvSpPr>
        <p:spPr>
          <a:xfrm>
            <a:off x="4191000" y="3886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rPr>
              <a:t>B</a:t>
            </a:r>
          </a:p>
        </p:txBody>
      </p:sp>
      <p:sp>
        <p:nvSpPr>
          <p:cNvPr id="13" name="">
            <a:extLst>
              <a:ext uri="{FF2B5EF4-FFF2-40B4-BE49-F238E27FC236}">
                <ns2:creationId id="{283D8289-D749-4AE4-B158-B3D6EF70EE61}"/>
              </a:ext>
            </a:extLst>
          </p:cNvPr>
          <p:cNvSpPr>
            <a:spLocks noGrp="1"/>
          </p:cNvSpPr>
          <p:nvPr/>
        </p:nvSpPr>
        <p:spPr>
          <a:xfrm>
            <a:off x="7077075" y="3857625"/>
            <a:ext cx="323850" cy="2667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AD7CE305-5A70-44AB-A305-9A526629B21F}"/>
              </a:ext>
            </a:extLst>
          </p:cNvPr>
          <p:cNvSpPr>
            <a:spLocks noGrp="1"/>
          </p:cNvSpPr>
          <p:nvPr/>
        </p:nvSpPr>
        <p:spPr>
          <a:xfrm>
            <a:off x="7096125" y="3886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rPr>
              <a:t>C</a:t>
            </a:r>
          </a:p>
        </p:txBody>
      </p:sp>
      <p:sp>
        <p:nvSpPr>
          <p:cNvPr id="15" name="">
            <a:extLst>
              <a:ext uri="{FF2B5EF4-FFF2-40B4-BE49-F238E27FC236}">
                <ns2:creationId id="{E8BE2D4C-FC9C-42C9-B0A8-B0EA433EAA8D}"/>
              </a:ext>
            </a:extLst>
          </p:cNvPr>
          <p:cNvSpPr>
            <a:spLocks noGrp="1"/>
          </p:cNvSpPr>
          <p:nvPr/>
        </p:nvSpPr>
        <p:spPr>
          <a:xfrm>
            <a:off x="3524250" y="1952625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E6E075B4-1D8D-4BB3-A7CA-B9D5D8977C97}"/>
              </a:ext>
            </a:extLst>
          </p:cNvPr>
          <p:cNvSpPr>
            <a:spLocks noGrp="1"/>
          </p:cNvSpPr>
          <p:nvPr/>
        </p:nvSpPr>
        <p:spPr>
          <a:xfrm>
            <a:off x="6381750" y="1952625"/>
            <a:ext cx="190500" cy="190500"/>
          </a:xfrm>
          <a:prstGeom prst="ellipse">
            <a:avLst/>
          </a:prstGeom>
          <a:solidFill>
            <a:srgbClr val="E02B2B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D9FA76E8-5BAA-499F-B86E-BE9463EA2BFC}"/>
              </a:ext>
            </a:extLst>
          </p:cNvPr>
          <p:cNvSpPr>
            <a:spLocks noGrp="1"/>
          </p:cNvSpPr>
          <p:nvPr/>
        </p:nvSpPr>
        <p:spPr>
          <a:xfrm>
            <a:off x="2619375" y="1590675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実際の位置</a:t>
            </a:r>
          </a:p>
        </p:txBody>
      </p:sp>
      <p:sp>
        <p:nvSpPr>
          <p:cNvPr id="18" name="">
            <a:extLst>
              <a:ext uri="{FF2B5EF4-FFF2-40B4-BE49-F238E27FC236}">
                <ns2:creationId id="{3715C05A-32EA-45CB-BA79-94F7D30A2F22}"/>
              </a:ext>
            </a:extLst>
          </p:cNvPr>
          <p:cNvSpPr>
            <a:spLocks noGrp="1"/>
          </p:cNvSpPr>
          <p:nvPr/>
        </p:nvSpPr>
        <p:spPr>
          <a:xfrm>
            <a:off x="5381625" y="1590675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RIDの申告位置</a:t>
            </a:r>
          </a:p>
        </p:txBody>
      </p:sp>
      <p:sp>
        <p:nvSpPr>
          <p:cNvPr id="19" name="">
            <a:extLst>
              <a:ext uri="{FF2B5EF4-FFF2-40B4-BE49-F238E27FC236}">
                <ns2:creationId id="{405D846B-92AB-49BB-AA44-730F4E8CC226}"/>
              </a:ext>
            </a:extLst>
          </p:cNvPr>
          <p:cNvSpPr>
            <a:spLocks noGrp="1"/>
          </p:cNvSpPr>
          <p:nvPr/>
        </p:nvSpPr>
        <p:spPr>
          <a:xfrm>
            <a:off x="3762375" y="2047875"/>
            <a:ext cx="2524125" cy="953"/>
          </a:xfrm>
          <a:prstGeom prst="line">
            <a:avLst/>
          </a:prstGeom>
          <a:noFill/>
          <a:ln w="19050">
            <a:solidFill>
              <a:srgbClr val="E02B2B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E11F502C-9AE8-4B8A-AF6A-F3592F1C6043}"/>
              </a:ext>
            </a:extLst>
          </p:cNvPr>
          <p:cNvSpPr>
            <a:spLocks noGrp="1"/>
          </p:cNvSpPr>
          <p:nvPr/>
        </p:nvSpPr>
        <p:spPr>
          <a:xfrm>
            <a:off x="4524375" y="2286000"/>
            <a:ext cx="152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位置のずれ</a:t>
            </a:r>
          </a:p>
        </p:txBody>
      </p:sp>
      <p:sp>
        <p:nvSpPr>
          <p:cNvPr id="21" name="">
            <a:extLst>
              <a:ext uri="{FF2B5EF4-FFF2-40B4-BE49-F238E27FC236}">
                <ns2:creationId id="{0F206624-BDB0-413E-80C8-F0E0A3091867}"/>
              </a:ext>
            </a:extLst>
          </p:cNvPr>
          <p:cNvSpPr>
            <a:spLocks noGrp="1"/>
          </p:cNvSpPr>
          <p:nvPr/>
        </p:nvSpPr>
        <p:spPr>
          <a:xfrm flipV="1">
            <a:off x="1524000" y="2238375"/>
            <a:ext cx="2095500" cy="1476375"/>
          </a:xfrm>
          <a:prstGeom prst="line">
            <a:avLst/>
          </a:prstGeom>
          <a:noFill/>
          <a:ln w="16193">
            <a:solidFill>
              <a:srgbClr val="8CA7C3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D161C63F-3E17-4361-BB3F-493241A1C80F}"/>
              </a:ext>
            </a:extLst>
          </p:cNvPr>
          <p:cNvSpPr>
            <a:spLocks noGrp="1"/>
          </p:cNvSpPr>
          <p:nvPr/>
        </p:nvSpPr>
        <p:spPr>
          <a:xfrm>
            <a:off x="3619500" y="2238375"/>
            <a:ext cx="714375" cy="1476375"/>
          </a:xfrm>
          <a:prstGeom prst="line">
            <a:avLst/>
          </a:prstGeom>
          <a:noFill/>
          <a:ln w="16193">
            <a:solidFill>
              <a:srgbClr val="8CA7C3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FCD1BA58-0DF8-47B0-B1CA-7BF941A67C29}"/>
              </a:ext>
            </a:extLst>
          </p:cNvPr>
          <p:cNvSpPr>
            <a:spLocks noGrp="1"/>
          </p:cNvSpPr>
          <p:nvPr/>
        </p:nvSpPr>
        <p:spPr>
          <a:xfrm>
            <a:off x="3619500" y="2238375"/>
            <a:ext cx="3619500" cy="1476375"/>
          </a:xfrm>
          <a:prstGeom prst="line">
            <a:avLst/>
          </a:prstGeom>
          <a:noFill/>
          <a:ln w="16193">
            <a:solidFill>
              <a:srgbClr val="8CA7C3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5E350FF2-C293-4B5C-A8D2-ACF546888085}"/>
              </a:ext>
            </a:extLst>
          </p:cNvPr>
          <p:cNvSpPr>
            <a:spLocks noGrp="1"/>
          </p:cNvSpPr>
          <p:nvPr/>
        </p:nvSpPr>
        <p:spPr>
          <a:xfrm>
            <a:off x="428625" y="490537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機体の位置申告と送信電力を信用しない想定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ノードの位置・RSSI報告が適切であることは別の前提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Remote IDの位置とRSSI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位置は機体の申告、RSSIは受信側で測る電波の強さ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ff8fef1-c43c-504e-8a67-9124977e507f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6</a:t>
            </a:fld>
          </a:p>
        </p:txBody>
      </p:sp>
      <p:sp>
        <p:nvSpPr>
          <p:cNvPr id="8" name="">
            <a:extLst>
              <a:ext uri="{FF2B5EF4-FFF2-40B4-BE49-F238E27FC236}">
                <ns2:creationId id="{47DAFC50-304C-46C5-A73F-78A530A98D75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7620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地上の観測ノード</a:t>
            </a:r>
          </a:p>
        </p:txBody>
      </p:sp>
      <p:sp>
        <p:nvSpPr>
          <p:cNvPr id="9" name="">
            <a:extLst>
              <a:ext uri="{FF2B5EF4-FFF2-40B4-BE49-F238E27FC236}">
                <ns2:creationId id="{A12CA283-4DF6-402A-AB3D-5648CD42E7B5}"/>
              </a:ext>
            </a:extLst>
          </p:cNvPr>
          <p:cNvSpPr>
            <a:spLocks noGrp="1"/>
          </p:cNvSpPr>
          <p:nvPr/>
        </p:nvSpPr>
        <p:spPr>
          <a:xfrm>
            <a:off x="1362075" y="3857625"/>
            <a:ext cx="323850" cy="2667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73044111-6E9C-4082-BCB1-D4FDF95A9983}"/>
              </a:ext>
            </a:extLst>
          </p:cNvPr>
          <p:cNvSpPr>
            <a:spLocks noGrp="1"/>
          </p:cNvSpPr>
          <p:nvPr/>
        </p:nvSpPr>
        <p:spPr>
          <a:xfrm>
            <a:off x="1381125" y="3886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rPr>
              <a:t>A</a:t>
            </a:r>
          </a:p>
        </p:txBody>
      </p:sp>
      <p:sp>
        <p:nvSpPr>
          <p:cNvPr id="11" name="">
            <a:extLst>
              <a:ext uri="{FF2B5EF4-FFF2-40B4-BE49-F238E27FC236}">
                <ns2:creationId id="{73E796D2-9863-428A-ACE3-BF68843213AE}"/>
              </a:ext>
            </a:extLst>
          </p:cNvPr>
          <p:cNvSpPr>
            <a:spLocks noGrp="1"/>
          </p:cNvSpPr>
          <p:nvPr/>
        </p:nvSpPr>
        <p:spPr>
          <a:xfrm>
            <a:off x="4171950" y="3857625"/>
            <a:ext cx="323850" cy="2667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40033EDF-CBBD-4114-8A9A-592F03B323B5}"/>
              </a:ext>
            </a:extLst>
          </p:cNvPr>
          <p:cNvSpPr>
            <a:spLocks noGrp="1"/>
          </p:cNvSpPr>
          <p:nvPr/>
        </p:nvSpPr>
        <p:spPr>
          <a:xfrm>
            <a:off x="4191000" y="3886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rPr>
              <a:t>B</a:t>
            </a:r>
          </a:p>
        </p:txBody>
      </p:sp>
      <p:sp>
        <p:nvSpPr>
          <p:cNvPr id="13" name="">
            <a:extLst>
              <a:ext uri="{FF2B5EF4-FFF2-40B4-BE49-F238E27FC236}">
                <ns2:creationId id="{8E92DE66-C8F2-4677-8F61-B9B782C6B6F1}"/>
              </a:ext>
            </a:extLst>
          </p:cNvPr>
          <p:cNvSpPr>
            <a:spLocks noGrp="1"/>
          </p:cNvSpPr>
          <p:nvPr/>
        </p:nvSpPr>
        <p:spPr>
          <a:xfrm>
            <a:off x="7077075" y="3857625"/>
            <a:ext cx="323850" cy="2667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910D7151-26D8-4CD7-BAB9-2D28B5296DEB}"/>
              </a:ext>
            </a:extLst>
          </p:cNvPr>
          <p:cNvSpPr>
            <a:spLocks noGrp="1"/>
          </p:cNvSpPr>
          <p:nvPr/>
        </p:nvSpPr>
        <p:spPr>
          <a:xfrm>
            <a:off x="7096125" y="3886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FFFFFF"/>
                </a:solidFill>
                <a:latin typeface="Hiragino Kaku Gothic ProN W6"/>
                <a:ea typeface="Hiragino Kaku Gothic ProN W6"/>
                <a:cs typeface="Hiragino Kaku Gothic ProN W6"/>
              </a:rPr>
              <a:t>C</a:t>
            </a:r>
          </a:p>
        </p:txBody>
      </p:sp>
      <p:sp>
        <p:nvSpPr>
          <p:cNvPr id="15" name="">
            <a:extLst>
              <a:ext uri="{FF2B5EF4-FFF2-40B4-BE49-F238E27FC236}">
                <ns2:creationId id="{CDEF0037-FA00-4C94-9CF6-F82187B69C6A}"/>
              </a:ext>
            </a:extLst>
          </p:cNvPr>
          <p:cNvSpPr>
            <a:spLocks noGrp="1"/>
          </p:cNvSpPr>
          <p:nvPr/>
        </p:nvSpPr>
        <p:spPr>
          <a:xfrm>
            <a:off x="3524250" y="1952625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C5AEEC90-4D19-4AC1-884F-CA3E9B565F27}"/>
              </a:ext>
            </a:extLst>
          </p:cNvPr>
          <p:cNvSpPr>
            <a:spLocks noGrp="1"/>
          </p:cNvSpPr>
          <p:nvPr/>
        </p:nvSpPr>
        <p:spPr>
          <a:xfrm>
            <a:off x="6381750" y="1952625"/>
            <a:ext cx="190500" cy="190500"/>
          </a:xfrm>
          <a:prstGeom prst="ellipse">
            <a:avLst/>
          </a:prstGeom>
          <a:solidFill>
            <a:srgbClr val="E02B2B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78225E63-1F47-4356-9899-7D72316D7E3C}"/>
              </a:ext>
            </a:extLst>
          </p:cNvPr>
          <p:cNvSpPr>
            <a:spLocks noGrp="1"/>
          </p:cNvSpPr>
          <p:nvPr/>
        </p:nvSpPr>
        <p:spPr>
          <a:xfrm>
            <a:off x="2619375" y="1590675"/>
            <a:ext cx="200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実際の位置</a:t>
            </a:r>
          </a:p>
        </p:txBody>
      </p:sp>
      <p:sp>
        <p:nvSpPr>
          <p:cNvPr id="18" name="">
            <a:extLst>
              <a:ext uri="{FF2B5EF4-FFF2-40B4-BE49-F238E27FC236}">
                <ns2:creationId id="{D2731D07-7430-4959-B99A-ABA0E1EE5A30}"/>
              </a:ext>
            </a:extLst>
          </p:cNvPr>
          <p:cNvSpPr>
            <a:spLocks noGrp="1"/>
          </p:cNvSpPr>
          <p:nvPr/>
        </p:nvSpPr>
        <p:spPr>
          <a:xfrm>
            <a:off x="5381625" y="1590675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RIDの申告位置</a:t>
            </a:r>
          </a:p>
        </p:txBody>
      </p:sp>
      <p:sp>
        <p:nvSpPr>
          <p:cNvPr id="19" name="">
            <a:extLst>
              <a:ext uri="{FF2B5EF4-FFF2-40B4-BE49-F238E27FC236}">
                <ns2:creationId id="{23F1CA7C-2E26-4CAE-8FD8-01717AEC8476}"/>
              </a:ext>
            </a:extLst>
          </p:cNvPr>
          <p:cNvSpPr>
            <a:spLocks noGrp="1"/>
          </p:cNvSpPr>
          <p:nvPr/>
        </p:nvSpPr>
        <p:spPr>
          <a:xfrm>
            <a:off x="3762375" y="2047875"/>
            <a:ext cx="2524125" cy="953"/>
          </a:xfrm>
          <a:prstGeom prst="line">
            <a:avLst/>
          </a:prstGeom>
          <a:noFill/>
          <a:ln w="19050">
            <a:solidFill>
              <a:srgbClr val="E02B2B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4DBA2F97-805B-471F-B7CB-C8C7E1654288}"/>
              </a:ext>
            </a:extLst>
          </p:cNvPr>
          <p:cNvSpPr>
            <a:spLocks noGrp="1"/>
          </p:cNvSpPr>
          <p:nvPr/>
        </p:nvSpPr>
        <p:spPr>
          <a:xfrm>
            <a:off x="4524375" y="2286000"/>
            <a:ext cx="152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位置のずれ</a:t>
            </a:r>
          </a:p>
        </p:txBody>
      </p:sp>
      <p:sp>
        <p:nvSpPr>
          <p:cNvPr id="21" name="">
            <a:extLst>
              <a:ext uri="{FF2B5EF4-FFF2-40B4-BE49-F238E27FC236}">
                <ns2:creationId id="{38460BD9-1D8C-4D87-A799-9524B6419AA7}"/>
              </a:ext>
            </a:extLst>
          </p:cNvPr>
          <p:cNvSpPr>
            <a:spLocks noGrp="1"/>
          </p:cNvSpPr>
          <p:nvPr/>
        </p:nvSpPr>
        <p:spPr>
          <a:xfrm flipV="1">
            <a:off x="1524000" y="2238375"/>
            <a:ext cx="2095500" cy="1476375"/>
          </a:xfrm>
          <a:prstGeom prst="line">
            <a:avLst/>
          </a:prstGeom>
          <a:noFill/>
          <a:ln w="16193">
            <a:solidFill>
              <a:srgbClr val="8CA7C3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EA5A16ED-6D04-4473-8AE5-839A54588B93}"/>
              </a:ext>
            </a:extLst>
          </p:cNvPr>
          <p:cNvSpPr>
            <a:spLocks noGrp="1"/>
          </p:cNvSpPr>
          <p:nvPr/>
        </p:nvSpPr>
        <p:spPr>
          <a:xfrm>
            <a:off x="3619500" y="2238375"/>
            <a:ext cx="714375" cy="1476375"/>
          </a:xfrm>
          <a:prstGeom prst="line">
            <a:avLst/>
          </a:prstGeom>
          <a:noFill/>
          <a:ln w="16193">
            <a:solidFill>
              <a:srgbClr val="8CA7C3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C2E12FED-A1A1-4E85-B604-F440CB80DAE8}"/>
              </a:ext>
            </a:extLst>
          </p:cNvPr>
          <p:cNvSpPr>
            <a:spLocks noGrp="1"/>
          </p:cNvSpPr>
          <p:nvPr/>
        </p:nvSpPr>
        <p:spPr>
          <a:xfrm>
            <a:off x="3619500" y="2238375"/>
            <a:ext cx="3619500" cy="1476375"/>
          </a:xfrm>
          <a:prstGeom prst="line">
            <a:avLst/>
          </a:prstGeom>
          <a:noFill/>
          <a:ln w="16193">
            <a:solidFill>
              <a:srgbClr val="8CA7C3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8148E93C-18BF-4E5B-B09A-2495505A24E0}"/>
              </a:ext>
            </a:extLst>
          </p:cNvPr>
          <p:cNvSpPr>
            <a:spLocks noGrp="1"/>
          </p:cNvSpPr>
          <p:nvPr/>
        </p:nvSpPr>
        <p:spPr>
          <a:xfrm>
            <a:off x="4572000" y="4762500"/>
            <a:ext cx="4000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機体から届く情報</a:t>
            </a:r>
          </a:p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「ここにいる」という位置の申告</a:t>
            </a:r>
          </a:p>
        </p:txBody>
      </p:sp>
      <p:sp>
        <p:nvSpPr>
          <p:cNvPr id="25" name="">
            <a:extLst>
              <a:ext uri="{FF2B5EF4-FFF2-40B4-BE49-F238E27FC236}">
                <ns2:creationId id="{53C09521-0D43-4A6E-9E1E-BC9732BAB0E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3810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ノードが測るRSSI</a:t>
            </a:r>
          </a:p>
          <a:p>
            <a: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受信した電波の強さ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電波の強さを変える要因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RSSIは、距離だけで決まる値ではない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d146ead-e213-54a0-a5cb-981bc433e1e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7</a:t>
            </a:fld>
          </a:p>
        </p:txBody>
      </p:sp>
      <p:sp>
        <p:nvSpPr>
          <p:cNvPr id="8" name="">
            <a:extLst>
              <a:ext uri="{FF2B5EF4-FFF2-40B4-BE49-F238E27FC236}">
                <ns2:creationId id="{C5FF39AC-3316-42CF-BD49-EFF44625F1A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簡略モデルの要因整理。各要因を今回のシミュレーションが全て再現しているわけではない。</a:t>
            </a:r>
          </a:p>
        </p:txBody>
      </p:sp>
      <p:sp>
        <p:nvSpPr>
          <p:cNvPr id="9" name="">
            <a:extLst>
              <a:ext uri="{FF2B5EF4-FFF2-40B4-BE49-F238E27FC236}">
                <ns2:creationId id="{C40629A5-AE2F-44DE-ADB9-3DDCDA32AB10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距離と送信電力</a:t>
            </a:r>
          </a:p>
        </p:txBody>
      </p:sp>
      <p:sp>
        <p:nvSpPr>
          <p:cNvPr id="10" name="">
            <a:extLst>
              <a:ext uri="{FF2B5EF4-FFF2-40B4-BE49-F238E27FC236}">
                <ns2:creationId id="{D5A23C38-FD0E-4E34-8223-0F6F08D1B55F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遠いほど弱くなる傾向と、強く送れば強く届く効果</a:t>
            </a:r>
          </a:p>
        </p:txBody>
      </p:sp>
      <p:sp>
        <p:nvSpPr>
          <p:cNvPr id="11" name="">
            <a:extLst>
              <a:ext uri="{FF2B5EF4-FFF2-40B4-BE49-F238E27FC236}">
                <ns2:creationId id="{E77FFC47-0709-481E-B7F0-98E3A7BD4B5F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電波の通り方</a:t>
            </a:r>
          </a:p>
        </p:txBody>
      </p:sp>
      <p:sp>
        <p:nvSpPr>
          <p:cNvPr id="12" name="">
            <a:extLst>
              <a:ext uri="{FF2B5EF4-FFF2-40B4-BE49-F238E27FC236}">
                <ns2:creationId id="{DFC90975-2244-4CC0-8D2B-17AFE0A83BB8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遮蔽物、反射、アンテナの向きによる変化</a:t>
            </a:r>
          </a:p>
        </p:txBody>
      </p:sp>
      <p:sp>
        <p:nvSpPr>
          <p:cNvPr id="13" name="">
            <a:extLst>
              <a:ext uri="{FF2B5EF4-FFF2-40B4-BE49-F238E27FC236}">
                <ns2:creationId id="{51694EA7-2D49-4D19-ACBF-E951A7F5CE81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受信する側の違い</a:t>
            </a:r>
          </a:p>
        </p:txBody>
      </p:sp>
      <p:sp>
        <p:nvSpPr>
          <p:cNvPr id="14" name="">
            <a:extLst>
              <a:ext uri="{FF2B5EF4-FFF2-40B4-BE49-F238E27FC236}">
                <ns2:creationId id="{F9D18AAE-5ECA-4CC5-8F7E-5348823351EB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端末の感度や校正差による変化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位置と送信電力の曖昧さ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同じRSSIから、位置と電力の組合せを一つに決められない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7f5e3245-678a-5d83-bd5e-9a6ed095554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8</a:t>
            </a:fld>
          </a:p>
        </p:txBody>
      </p:sp>
      <p:sp>
        <p:nvSpPr>
          <p:cNvPr id="8" name="">
            <a:extLst>
              <a:ext uri="{FF2B5EF4-FFF2-40B4-BE49-F238E27FC236}">
                <ns2:creationId id="{ADEAF426-3F60-464F-A529-151E32FDB040}"/>
              </a:ext>
            </a:extLst>
          </p:cNvPr>
          <p:cNvSpPr>
            <a:spLocks noGrp="1"/>
          </p:cNvSpPr>
          <p:nvPr/>
        </p:nvSpPr>
        <p:spPr>
          <a:xfrm>
            <a:off x="619125" y="166687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遠い場所から強く送信</a:t>
            </a:r>
          </a:p>
        </p:txBody>
      </p:sp>
      <p:sp>
        <p:nvSpPr>
          <p:cNvPr id="9" name="">
            <a:extLst>
              <a:ext uri="{FF2B5EF4-FFF2-40B4-BE49-F238E27FC236}">
                <ns2:creationId id="{6CF9CDDC-FE29-4246-8F88-AF604855293C}"/>
              </a:ext>
            </a:extLst>
          </p:cNvPr>
          <p:cNvSpPr>
            <a:spLocks noGrp="1"/>
          </p:cNvSpPr>
          <p:nvPr/>
        </p:nvSpPr>
        <p:spPr>
          <a:xfrm>
            <a:off x="1143000" y="2143125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4CBFC4B1-7ABE-4A6E-B6A6-B922C2DE7E8F}"/>
              </a:ext>
            </a:extLst>
          </p:cNvPr>
          <p:cNvSpPr>
            <a:spLocks noGrp="1"/>
          </p:cNvSpPr>
          <p:nvPr/>
        </p:nvSpPr>
        <p:spPr>
          <a:xfrm>
            <a:off x="590550" y="240030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機体</a:t>
            </a:r>
          </a:p>
        </p:txBody>
      </p:sp>
      <p:sp>
        <p:nvSpPr>
          <p:cNvPr id="11" name="">
            <a:extLst>
              <a:ext uri="{FF2B5EF4-FFF2-40B4-BE49-F238E27FC236}">
                <ns2:creationId id="{185B9C18-7C40-400D-A28E-BB2D4F949425}"/>
              </a:ext>
            </a:extLst>
          </p:cNvPr>
          <p:cNvSpPr>
            <a:spLocks noGrp="1"/>
          </p:cNvSpPr>
          <p:nvPr/>
        </p:nvSpPr>
        <p:spPr>
          <a:xfrm>
            <a:off x="3095625" y="3810000"/>
            <a:ext cx="381000" cy="2857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733A09BD-1F15-4FE0-94C3-AFF3DD691A35}"/>
              </a:ext>
            </a:extLst>
          </p:cNvPr>
          <p:cNvSpPr>
            <a:spLocks noGrp="1"/>
          </p:cNvSpPr>
          <p:nvPr/>
        </p:nvSpPr>
        <p:spPr>
          <a:xfrm>
            <a:off x="2714625" y="4238625"/>
            <a:ext cx="1285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</a:t>
            </a:r>
          </a:p>
        </p:txBody>
      </p:sp>
      <p:sp>
        <p:nvSpPr>
          <p:cNvPr id="13" name="">
            <a:extLst>
              <a:ext uri="{FF2B5EF4-FFF2-40B4-BE49-F238E27FC236}">
                <ns2:creationId id="{6ABD4FDB-2BC7-46E0-B400-73E979CBE10E}"/>
              </a:ext>
            </a:extLst>
          </p:cNvPr>
          <p:cNvSpPr>
            <a:spLocks noGrp="1"/>
          </p:cNvSpPr>
          <p:nvPr/>
        </p:nvSpPr>
        <p:spPr>
          <a:xfrm>
            <a:off x="1381125" y="2381250"/>
            <a:ext cx="1857375" cy="133350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F4799C88-2332-4FDD-8F50-89B072B0C7D0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3619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同じ受信強度になる場合</a:t>
            </a:r>
          </a:p>
        </p:txBody>
      </p:sp>
      <p:sp>
        <p:nvSpPr>
          <p:cNvPr id="15" name="">
            <a:extLst>
              <a:ext uri="{FF2B5EF4-FFF2-40B4-BE49-F238E27FC236}">
                <ns2:creationId id="{7300D166-691C-41C7-85AA-E757FBCC740A}"/>
              </a:ext>
            </a:extLst>
          </p:cNvPr>
          <p:cNvSpPr>
            <a:spLocks noGrp="1"/>
          </p:cNvSpPr>
          <p:nvPr/>
        </p:nvSpPr>
        <p:spPr>
          <a:xfrm>
            <a:off x="4905375" y="166687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近い場所から弱く送信</a:t>
            </a:r>
          </a:p>
        </p:txBody>
      </p:sp>
      <p:sp>
        <p:nvSpPr>
          <p:cNvPr id="16" name="">
            <a:extLst>
              <a:ext uri="{FF2B5EF4-FFF2-40B4-BE49-F238E27FC236}">
                <ns2:creationId id="{1536867C-DF60-489C-8F24-47D531973AB0}"/>
              </a:ext>
            </a:extLst>
          </p:cNvPr>
          <p:cNvSpPr>
            <a:spLocks noGrp="1"/>
          </p:cNvSpPr>
          <p:nvPr/>
        </p:nvSpPr>
        <p:spPr>
          <a:xfrm>
            <a:off x="5429250" y="3048000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43985300-DF43-4AA7-9CF9-C9E05826682B}"/>
              </a:ext>
            </a:extLst>
          </p:cNvPr>
          <p:cNvSpPr>
            <a:spLocks noGrp="1"/>
          </p:cNvSpPr>
          <p:nvPr/>
        </p:nvSpPr>
        <p:spPr>
          <a:xfrm>
            <a:off x="4876800" y="33051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機体</a:t>
            </a:r>
          </a:p>
        </p:txBody>
      </p:sp>
      <p:sp>
        <p:nvSpPr>
          <p:cNvPr id="18" name="">
            <a:extLst>
              <a:ext uri="{FF2B5EF4-FFF2-40B4-BE49-F238E27FC236}">
                <ns2:creationId id="{4AE0CD37-511B-48AB-B8B9-DB085ABDE498}"/>
              </a:ext>
            </a:extLst>
          </p:cNvPr>
          <p:cNvSpPr>
            <a:spLocks noGrp="1"/>
          </p:cNvSpPr>
          <p:nvPr/>
        </p:nvSpPr>
        <p:spPr>
          <a:xfrm>
            <a:off x="7381875" y="3810000"/>
            <a:ext cx="381000" cy="2857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81DAB8DC-2F3A-44A6-8A55-F8E1F7A850CC}"/>
              </a:ext>
            </a:extLst>
          </p:cNvPr>
          <p:cNvSpPr>
            <a:spLocks noGrp="1"/>
          </p:cNvSpPr>
          <p:nvPr/>
        </p:nvSpPr>
        <p:spPr>
          <a:xfrm>
            <a:off x="7000875" y="4238625"/>
            <a:ext cx="1285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</a:t>
            </a:r>
          </a:p>
        </p:txBody>
      </p:sp>
      <p:sp>
        <p:nvSpPr>
          <p:cNvPr id="20" name="">
            <a:extLst>
              <a:ext uri="{FF2B5EF4-FFF2-40B4-BE49-F238E27FC236}">
                <ns2:creationId id="{4E56710C-549D-45DE-8B4C-D5D344CDF34C}"/>
              </a:ext>
            </a:extLst>
          </p:cNvPr>
          <p:cNvSpPr>
            <a:spLocks noGrp="1"/>
          </p:cNvSpPr>
          <p:nvPr/>
        </p:nvSpPr>
        <p:spPr>
          <a:xfrm>
            <a:off x="5667375" y="3238500"/>
            <a:ext cx="1857375" cy="47625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07028947-C38A-4EE3-AA47-E62D8CA93AA2}"/>
              </a:ext>
            </a:extLst>
          </p:cNvPr>
          <p:cNvSpPr>
            <a:spLocks noGrp="1"/>
          </p:cNvSpPr>
          <p:nvPr/>
        </p:nvSpPr>
        <p:spPr>
          <a:xfrm>
            <a:off x="4905375" y="4810125"/>
            <a:ext cx="3619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同じ受信強度になる場合</a:t>
            </a:r>
          </a:p>
        </p:txBody>
      </p:sp>
      <p:sp>
        <p:nvSpPr>
          <p:cNvPr id="22" name="">
            <a:extLst>
              <a:ext uri="{FF2B5EF4-FFF2-40B4-BE49-F238E27FC236}">
                <ns2:creationId id="{C0DF1194-7DE9-468A-B638-EE50E4377424}"/>
              </a:ext>
            </a:extLst>
          </p:cNvPr>
          <p:cNvSpPr>
            <a:spLocks noGrp="1"/>
          </p:cNvSpPr>
          <p:nvPr/>
        </p:nvSpPr>
        <p:spPr>
          <a:xfrm>
            <a:off x="428625" y="55721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RSSIが同じでも、距離と送信電力の組合せは一つに決まらない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異時刻・単独受信での限界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各送信の電力が自由なら、ノードや件数を増やすだけでは不足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a8a237b-df83-55e2-9b37-1c4df134b3ad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9</a:t>
            </a:fld>
          </a:p>
        </p:txBody>
      </p:sp>
      <p:sp>
        <p:nvSpPr>
          <p:cNvPr id="8" name="">
            <a:extLst>
              <a:ext uri="{FF2B5EF4-FFF2-40B4-BE49-F238E27FC236}">
                <ns2:creationId id="{84D39A59-88E1-41E4-BDFF-C971DB137CFA}"/>
              </a:ext>
            </a:extLst>
          </p:cNvPr>
          <p:cNvSpPr>
            <a:spLocks noGrp="1"/>
          </p:cNvSpPr>
          <p:nvPr/>
        </p:nvSpPr>
        <p:spPr>
          <a:xfrm>
            <a:off x="762000" y="1685925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A</a:t>
            </a:r>
          </a:p>
        </p:txBody>
      </p:sp>
      <p:sp>
        <p:nvSpPr>
          <p:cNvPr id="9" name="">
            <a:extLst>
              <a:ext uri="{FF2B5EF4-FFF2-40B4-BE49-F238E27FC236}">
                <ns2:creationId id="{3DCD431B-7071-477F-BBFC-C46E6F1C8848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B</a:t>
            </a:r>
          </a:p>
        </p:txBody>
      </p:sp>
      <p:sp>
        <p:nvSpPr>
          <p:cNvPr id="10" name="">
            <a:extLst>
              <a:ext uri="{FF2B5EF4-FFF2-40B4-BE49-F238E27FC236}">
                <ns2:creationId id="{15FDB1F4-9DB8-4278-800A-68C4FDFAB803}"/>
              </a:ext>
            </a:extLst>
          </p:cNvPr>
          <p:cNvSpPr>
            <a:spLocks noGrp="1"/>
          </p:cNvSpPr>
          <p:nvPr/>
        </p:nvSpPr>
        <p:spPr>
          <a:xfrm>
            <a:off x="762000" y="2771775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C</a:t>
            </a:r>
          </a:p>
        </p:txBody>
      </p:sp>
      <p:sp>
        <p:nvSpPr>
          <p:cNvPr id="11" name="">
            <a:extLst>
              <a:ext uri="{FF2B5EF4-FFF2-40B4-BE49-F238E27FC236}">
                <ns2:creationId id="{5B67FBFA-F9AE-4265-984D-619C58E21FD1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D</a:t>
            </a:r>
          </a:p>
        </p:txBody>
      </p:sp>
      <p:sp>
        <p:nvSpPr>
          <p:cNvPr id="12" name="">
            <a:extLst>
              <a:ext uri="{FF2B5EF4-FFF2-40B4-BE49-F238E27FC236}">
                <ns2:creationId id="{8A8B794B-8149-448E-8637-107E1BEC5639}"/>
              </a:ext>
            </a:extLst>
          </p:cNvPr>
          <p:cNvSpPr>
            <a:spLocks noGrp="1"/>
          </p:cNvSpPr>
          <p:nvPr/>
        </p:nvSpPr>
        <p:spPr>
          <a:xfrm>
            <a:off x="762000" y="3857625"/>
            <a:ext cx="66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E</a:t>
            </a:r>
          </a:p>
        </p:txBody>
      </p:sp>
      <p:sp>
        <p:nvSpPr>
          <p:cNvPr id="13" name="">
            <a:extLst>
              <a:ext uri="{FF2B5EF4-FFF2-40B4-BE49-F238E27FC236}">
                <ns2:creationId id="{04CFC7D1-296B-4316-A086-A5C93C477C6F}"/>
              </a:ext>
            </a:extLst>
          </p:cNvPr>
          <p:cNvSpPr>
            <a:spLocks noGrp="1"/>
          </p:cNvSpPr>
          <p:nvPr/>
        </p:nvSpPr>
        <p:spPr>
          <a:xfrm>
            <a:off x="2295525" y="1724025"/>
            <a:ext cx="171450" cy="171450"/>
          </a:xfrm>
          <a:prstGeom prst="ellipse">
            <a:avLst/>
          </a:prstGeom>
          <a:solidFill>
            <a:srgbClr val="7B8591"/>
          </a:solidFill>
          <a:ln w="0">
            <a:noFill/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D5669217-DECD-44CA-BA53-5D4012DBA906}"/>
              </a:ext>
            </a:extLst>
          </p:cNvPr>
          <p:cNvSpPr>
            <a:spLocks noGrp="1"/>
          </p:cNvSpPr>
          <p:nvPr/>
        </p:nvSpPr>
        <p:spPr>
          <a:xfrm>
            <a:off x="2143125" y="46958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e0</a:t>
            </a:r>
          </a:p>
        </p:txBody>
      </p:sp>
      <p:sp>
        <p:nvSpPr>
          <p:cNvPr id="15" name="">
            <a:extLst>
              <a:ext uri="{FF2B5EF4-FFF2-40B4-BE49-F238E27FC236}">
                <ns2:creationId id="{B285FAB1-A668-4CCF-B4BF-D33B93DAE373}"/>
              </a:ext>
            </a:extLst>
          </p:cNvPr>
          <p:cNvSpPr>
            <a:spLocks noGrp="1"/>
          </p:cNvSpPr>
          <p:nvPr/>
        </p:nvSpPr>
        <p:spPr>
          <a:xfrm>
            <a:off x="2000250" y="50958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rPr>
              <a:t>保留</a:t>
            </a:r>
          </a:p>
        </p:txBody>
      </p:sp>
      <p:sp>
        <p:nvSpPr>
          <p:cNvPr id="16" name="">
            <a:extLst>
              <a:ext uri="{FF2B5EF4-FFF2-40B4-BE49-F238E27FC236}">
                <ns2:creationId id="{78C47D35-BE4F-47FC-8E53-CB99CDC6BCB2}"/>
              </a:ext>
            </a:extLst>
          </p:cNvPr>
          <p:cNvSpPr>
            <a:spLocks noGrp="1"/>
          </p:cNvSpPr>
          <p:nvPr/>
        </p:nvSpPr>
        <p:spPr>
          <a:xfrm>
            <a:off x="3581400" y="2266950"/>
            <a:ext cx="171450" cy="171450"/>
          </a:xfrm>
          <a:prstGeom prst="ellipse">
            <a:avLst/>
          </a:prstGeom>
          <a:solidFill>
            <a:srgbClr val="7B859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C5D0BFB2-A928-446D-9AD9-8EB47ABAB643}"/>
              </a:ext>
            </a:extLst>
          </p:cNvPr>
          <p:cNvSpPr>
            <a:spLocks noGrp="1"/>
          </p:cNvSpPr>
          <p:nvPr/>
        </p:nvSpPr>
        <p:spPr>
          <a:xfrm>
            <a:off x="3429000" y="46958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e1</a:t>
            </a:r>
          </a:p>
        </p:txBody>
      </p:sp>
      <p:sp>
        <p:nvSpPr>
          <p:cNvPr id="18" name="">
            <a:extLst>
              <a:ext uri="{FF2B5EF4-FFF2-40B4-BE49-F238E27FC236}">
                <ns2:creationId id="{2969639B-2AAA-4B1B-A75C-FBD525F2E08C}"/>
              </a:ext>
            </a:extLst>
          </p:cNvPr>
          <p:cNvSpPr>
            <a:spLocks noGrp="1"/>
          </p:cNvSpPr>
          <p:nvPr/>
        </p:nvSpPr>
        <p:spPr>
          <a:xfrm>
            <a:off x="3286125" y="50958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rPr>
              <a:t>保留</a:t>
            </a:r>
          </a:p>
        </p:txBody>
      </p:sp>
      <p:sp>
        <p:nvSpPr>
          <p:cNvPr id="19" name="">
            <a:extLst>
              <a:ext uri="{FF2B5EF4-FFF2-40B4-BE49-F238E27FC236}">
                <ns2:creationId id="{7B66C510-4053-45EE-9FE8-28BADE503107}"/>
              </a:ext>
            </a:extLst>
          </p:cNvPr>
          <p:cNvSpPr>
            <a:spLocks noGrp="1"/>
          </p:cNvSpPr>
          <p:nvPr/>
        </p:nvSpPr>
        <p:spPr>
          <a:xfrm>
            <a:off x="4867275" y="2809875"/>
            <a:ext cx="171450" cy="171450"/>
          </a:xfrm>
          <a:prstGeom prst="ellipse">
            <a:avLst/>
          </a:prstGeom>
          <a:solidFill>
            <a:srgbClr val="7B8591"/>
          </a:solidFill>
          <a:ln w="0">
            <a:noFill/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D61C3BBB-808E-418B-8F80-9C48111F2A0C}"/>
              </a:ext>
            </a:extLst>
          </p:cNvPr>
          <p:cNvSpPr>
            <a:spLocks noGrp="1"/>
          </p:cNvSpPr>
          <p:nvPr/>
        </p:nvSpPr>
        <p:spPr>
          <a:xfrm>
            <a:off x="4714875" y="46958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e2</a:t>
            </a:r>
          </a:p>
        </p:txBody>
      </p:sp>
      <p:sp>
        <p:nvSpPr>
          <p:cNvPr id="21" name="">
            <a:extLst>
              <a:ext uri="{FF2B5EF4-FFF2-40B4-BE49-F238E27FC236}">
                <ns2:creationId id="{78594941-FF71-4EF4-B136-79B2F4E3CFA6}"/>
              </a:ext>
            </a:extLst>
          </p:cNvPr>
          <p:cNvSpPr>
            <a:spLocks noGrp="1"/>
          </p:cNvSpPr>
          <p:nvPr/>
        </p:nvSpPr>
        <p:spPr>
          <a:xfrm>
            <a:off x="4572000" y="50958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rPr>
              <a:t>保留</a:t>
            </a:r>
          </a:p>
        </p:txBody>
      </p:sp>
      <p:sp>
        <p:nvSpPr>
          <p:cNvPr id="22" name="">
            <a:extLst>
              <a:ext uri="{FF2B5EF4-FFF2-40B4-BE49-F238E27FC236}">
                <ns2:creationId id="{E4510950-818A-4D1B-87A7-1734361E343C}"/>
              </a:ext>
            </a:extLst>
          </p:cNvPr>
          <p:cNvSpPr>
            <a:spLocks noGrp="1"/>
          </p:cNvSpPr>
          <p:nvPr/>
        </p:nvSpPr>
        <p:spPr>
          <a:xfrm>
            <a:off x="6153150" y="3352800"/>
            <a:ext cx="171450" cy="171450"/>
          </a:xfrm>
          <a:prstGeom prst="ellipse">
            <a:avLst/>
          </a:prstGeom>
          <a:solidFill>
            <a:srgbClr val="7B8591"/>
          </a:solidFill>
          <a:ln w="0">
            <a:noFill/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E8F1EA03-CFA3-44A9-8B0C-19A05F085312}"/>
              </a:ext>
            </a:extLst>
          </p:cNvPr>
          <p:cNvSpPr>
            <a:spLocks noGrp="1"/>
          </p:cNvSpPr>
          <p:nvPr/>
        </p:nvSpPr>
        <p:spPr>
          <a:xfrm>
            <a:off x="6000750" y="46958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e3</a:t>
            </a:r>
          </a:p>
        </p:txBody>
      </p:sp>
      <p:sp>
        <p:nvSpPr>
          <p:cNvPr id="24" name="">
            <a:extLst>
              <a:ext uri="{FF2B5EF4-FFF2-40B4-BE49-F238E27FC236}">
                <ns2:creationId id="{570AEAB6-349E-416A-A4B3-3F3C71F1EAA9}"/>
              </a:ext>
            </a:extLst>
          </p:cNvPr>
          <p:cNvSpPr>
            <a:spLocks noGrp="1"/>
          </p:cNvSpPr>
          <p:nvPr/>
        </p:nvSpPr>
        <p:spPr>
          <a:xfrm>
            <a:off x="5857875" y="50958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rPr>
              <a:t>保留</a:t>
            </a:r>
          </a:p>
        </p:txBody>
      </p:sp>
      <p:sp>
        <p:nvSpPr>
          <p:cNvPr id="25" name="">
            <a:extLst>
              <a:ext uri="{FF2B5EF4-FFF2-40B4-BE49-F238E27FC236}">
                <ns2:creationId id="{AB4A30B5-26D3-4E55-AFBD-90EF2D289844}"/>
              </a:ext>
            </a:extLst>
          </p:cNvPr>
          <p:cNvSpPr>
            <a:spLocks noGrp="1"/>
          </p:cNvSpPr>
          <p:nvPr/>
        </p:nvSpPr>
        <p:spPr>
          <a:xfrm>
            <a:off x="7439025" y="3895725"/>
            <a:ext cx="171450" cy="171450"/>
          </a:xfrm>
          <a:prstGeom prst="ellipse">
            <a:avLst/>
          </a:prstGeom>
          <a:solidFill>
            <a:srgbClr val="7B8591"/>
          </a:solidFill>
          <a:ln w="0">
            <a:noFill/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0D7ACA1F-231B-4046-84DB-B2A5AAF2503C}"/>
              </a:ext>
            </a:extLst>
          </p:cNvPr>
          <p:cNvSpPr>
            <a:spLocks noGrp="1"/>
          </p:cNvSpPr>
          <p:nvPr/>
        </p:nvSpPr>
        <p:spPr>
          <a:xfrm>
            <a:off x="7286625" y="4695825"/>
            <a:ext cx="66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e4</a:t>
            </a:r>
          </a:p>
        </p:txBody>
      </p:sp>
      <p:sp>
        <p:nvSpPr>
          <p:cNvPr id="27" name="">
            <a:extLst>
              <a:ext uri="{FF2B5EF4-FFF2-40B4-BE49-F238E27FC236}">
                <ns2:creationId id="{D452A178-7212-4437-9958-4FB5ACAC13A0}"/>
              </a:ext>
            </a:extLst>
          </p:cNvPr>
          <p:cNvSpPr>
            <a:spLocks noGrp="1"/>
          </p:cNvSpPr>
          <p:nvPr/>
        </p:nvSpPr>
        <p:spPr>
          <a:xfrm>
            <a:off x="7143750" y="50958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650" b="1">
                <a:solidFill>
                  <a:srgbClr val="7B8591"/>
                </a:solidFill>
                <a:latin typeface="Hiragino Kaku Gothic ProN W6"/>
                <a:ea typeface="Hiragino Kaku Gothic ProN W6"/>
                <a:cs typeface="Hiragino Kaku Gothic ProN W6"/>
              </a:rPr>
              <a:t>保留</a:t>
            </a:r>
          </a:p>
        </p:txBody>
      </p:sp>
      <p:sp>
        <p:nvSpPr>
          <p:cNvPr id="28" name="">
            <a:extLst>
              <a:ext uri="{FF2B5EF4-FFF2-40B4-BE49-F238E27FC236}">
                <ns2:creationId id="{47175CD2-6C59-42DD-A118-B544A272B1A6}"/>
              </a:ext>
            </a:extLst>
          </p:cNvPr>
          <p:cNvSpPr>
            <a:spLocks noGrp="1"/>
          </p:cNvSpPr>
          <p:nvPr/>
        </p:nvSpPr>
        <p:spPr>
          <a:xfrm>
            <a:off x="1619250" y="5667375"/>
            <a:ext cx="666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同じ列＝同じ物理送信　／　別の列＝別送信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同一送信の共通電力の除去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ノード間の受信強度の違いと、申告位置からの予測を比較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46eafcd-dc1f-5cc0-ab4b-4de5cce8918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10</a:t>
            </a:fld>
          </a:p>
        </p:txBody>
      </p:sp>
      <p:sp>
        <p:nvSpPr>
          <p:cNvPr id="8" name="">
            <a:extLst>
              <a:ext uri="{FF2B5EF4-FFF2-40B4-BE49-F238E27FC236}">
                <ns2:creationId id="{EA44E1DB-2E3F-417F-AD58-550C1A4B6107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AのRSSI − BのRSSI</a:t>
            </a:r>
          </a:p>
        </p:txBody>
      </p:sp>
      <p:sp>
        <p:nvSpPr>
          <p:cNvPr id="9" name="">
            <a:extLst>
              <a:ext uri="{FF2B5EF4-FFF2-40B4-BE49-F238E27FC236}">
                <ns2:creationId id="{FAFB8AEA-5AAA-48C4-8A41-A0B5F4E77119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02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同じ送信なら、共通の送信電力成分を除去</a:t>
            </a:r>
          </a:p>
        </p:txBody>
      </p:sp>
      <p:sp>
        <p:nvSpPr>
          <p:cNvPr id="10" name="">
            <a:extLst>
              <a:ext uri="{FF2B5EF4-FFF2-40B4-BE49-F238E27FC236}">
                <ns2:creationId id="{E7CD3259-D1EA-4BC0-9F9F-339086B84907}"/>
              </a:ext>
            </a:extLst>
          </p:cNvPr>
          <p:cNvSpPr>
            <a:spLocks noGrp="1"/>
          </p:cNvSpPr>
          <p:nvPr/>
        </p:nvSpPr>
        <p:spPr>
          <a:xfrm>
            <a:off x="619125" y="3286125"/>
            <a:ext cx="7953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4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Δr = −10n log₁₀(dA / dB) ＋ 誤差</a:t>
            </a:r>
          </a:p>
        </p:txBody>
      </p:sp>
      <p:sp>
        <p:nvSpPr>
          <p:cNvPr id="11" name="">
            <a:extLst>
              <a:ext uri="{FF2B5EF4-FFF2-40B4-BE49-F238E27FC236}">
                <ns2:creationId id="{4AD187EC-A9CA-425E-BBC0-1C976392BE6C}"/>
              </a:ext>
            </a:extLst>
          </p:cNvPr>
          <p:cNvSpPr>
            <a:spLocks noGrp="1"/>
          </p:cNvSpPr>
          <p:nvPr/>
        </p:nvSpPr>
        <p:spPr>
          <a:xfrm>
            <a:off x="1000125" y="4048125"/>
            <a:ext cx="714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dA・dB：申告位置から各ノードまでの距離</a:t>
            </a:r>
          </a:p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n：距離による減衰を表す係数</a:t>
            </a:r>
          </a:p>
        </p:txBody>
      </p:sp>
      <p:sp>
        <p:nvSpPr>
          <p:cNvPr id="12" name="">
            <a:extLst>
              <a:ext uri="{FF2B5EF4-FFF2-40B4-BE49-F238E27FC236}">
                <ns2:creationId id="{851F3850-8D50-49A8-8CA7-1F39920FE7C7}"/>
              </a:ext>
            </a:extLst>
          </p:cNvPr>
          <p:cNvSpPr>
            <a:spLocks noGrp="1"/>
          </p:cNvSpPr>
          <p:nvPr/>
        </p:nvSpPr>
        <p:spPr>
          <a:xfrm>
            <a:off x="428625" y="519112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送信ごとに電力が変わっても、同じ送信内では共通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向き・遮蔽・受信機差まで消えるわけではない</a:t>
            </a:r>
          </a:p>
        </p:txBody>
      </p:sp>
      <p:sp>
        <p:nvSpPr>
          <p:cNvPr id="13" name="">
            <a:extLst>
              <a:ext uri="{FF2B5EF4-FFF2-40B4-BE49-F238E27FC236}">
                <ns2:creationId id="{A900B33B-471B-4452-B775-5A4CD5282CE1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関連：Hu &amp; Leus, IEEE TSP 2017, DOI:10.1109/TSP.2017.2684741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検査に使う観測の条件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同じRID文字列だけでは、同じ物理送信とは限らない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60b8a93e-d24b-5678-a0ca-71bc0f384be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11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09FC9789-C8BF-4F2A-9653-23CC80F657BA}"/>
              </a:ext>
            </a:extLst>
          </p:cNvPr>
          <p:cNvGraphicFramePr/>
          <p:nvPr/>
        </p:nvGraphicFramePr>
        <p:xfrm>
          <a:off x="400050" y="1524000"/>
          <a:ext cx="8343900" cy="2524125"/>
        </p:xfrm>
        <a:graphic>
          <a:graphicData uri="http://schemas.openxmlformats.org/drawingml/2006/table">
            <a:tbl>
              <a:tblPr/>
              <a:tblGrid>
                <a:gridCol w="1905000"/>
                <a:gridCol w="6438900"/>
              </a:tblGrid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必要な確認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送信の対応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同じ物理送信を受けた記録か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受信の重なり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1送信について複数地点のRSSIがあるか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ノードの観測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位置・RSSI・時計の扱いは適切か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伝搬と配置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誤差の校正と、区別しにくい配置の確認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5570F8E7-4AE9-414E-AF02-241A5159A1E1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受信が1台以下、または校正不足の組は判定保留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関連研究と今回の前提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未知電力を扱う研究でも、観測を共有する条件が重要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132c1a6-5252-584a-a913-1e2d4f2cb27d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12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E353EFDE-FAF7-4FD6-AFED-6E483A07C4A4}"/>
              </a:ext>
            </a:extLst>
          </p:cNvPr>
          <p:cNvGraphicFramePr/>
          <p:nvPr/>
        </p:nvGraphicFramePr>
        <p:xfrm>
          <a:off x="400050" y="1524000"/>
          <a:ext cx="8343900" cy="2952750"/>
        </p:xfrm>
        <a:graphic>
          <a:graphicData uri="http://schemas.openxmlformats.org/drawingml/2006/table">
            <a:tbl>
              <a:tblPr/>
              <a:tblGrid>
                <a:gridCol w="1619250"/>
                <a:gridCol w="2952750"/>
                <a:gridCol w="3771900"/>
              </a:tblGrid>
              <a:tr h="73818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関連研究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扱う内容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今回との境界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3818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GhostBuster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RSSによるRID位置偽装の検知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複数観測者は実測チャネルから拡張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DRSS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受信強度差による未知電力の扱い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共通電力と受信ごとの電力差を区別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3818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今回の問い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別時刻・変動電力・受信の重なり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何が不足すると判定できないか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D3565226-291F-4DB7-A287-2932694C90A9}"/>
              </a:ext>
            </a:extLst>
          </p:cNvPr>
          <p:cNvSpPr>
            <a:spLocks noGrp="1"/>
          </p:cNvSpPr>
          <p:nvPr/>
        </p:nvSpPr>
        <p:spPr>
          <a:xfrm>
            <a:off x="428625" y="509587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完全非重複・毎送信の自由電力を無条件に解決した結果とは扱わない</a:t>
            </a:r>
          </a:p>
        </p:txBody>
      </p:sp>
      <p:sp>
        <p:nvSpPr>
          <p:cNvPr id="10" name="">
            <a:extLst>
              <a:ext uri="{FF2B5EF4-FFF2-40B4-BE49-F238E27FC236}">
                <ns2:creationId id="{FE22B866-140A-44BC-B447-9865EB3CD04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Keizer et al., CCNC 2024, DOI:10.1109/CCNC51664.2024.10454860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Hu &amp; Leus, IEEE TSP 2017, DOI:10.1109/TSP.2017.2684741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今回使用したデータの区分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実測で確認する注意点と、合成で検証する成立条件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082ddd2-b3e3-5d7a-9231-858ef254176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13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BC0A5504-4DDD-4062-95D6-CFB69637AF1E}"/>
              </a:ext>
            </a:extLst>
          </p:cNvPr>
          <p:cNvGraphicFramePr/>
          <p:nvPr/>
        </p:nvGraphicFramePr>
        <p:xfrm>
          <a:off x="400050" y="1524000"/>
          <a:ext cx="8343900" cy="3000375"/>
        </p:xfrm>
        <a:graphic>
          <a:graphicData uri="http://schemas.openxmlformats.org/drawingml/2006/table">
            <a:tbl>
              <a:tblPr/>
              <a:tblGrid>
                <a:gridCol w="1905000"/>
                <a:gridCol w="3095625"/>
                <a:gridCol w="3343275"/>
              </a:tblGrid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データ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実際に測った内容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今回確認すること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屋内BLE実測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固定ビーコン→スマホのRSSI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揺らぎ・出力設定差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LoRa実測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固定送信機→移動するUAV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時刻対応・観測集約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複数ノード合成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架空の機体軌跡とRSSI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位置改変の検知・保留・反例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5BAC503B-1C93-44E1-A84B-C493C694DEAB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実UAVのBLE／Wi-Fi RIDを複数台で同時取得した実測ではない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公開BLE実測におけるRSSI変動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出力設定差とRSSI差が、そのまま一致するとは限らない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72f561b-6f12-5853-b2e0-ab9a25e97dd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14</a:t>
            </a:fld>
          </a:p>
        </p:txBody>
      </p:sp>
      <p:sp>
        <p:nvSpPr>
          <p:cNvPr id="8" name="">
            <a:extLst>
              <a:ext uri="{FF2B5EF4-FFF2-40B4-BE49-F238E27FC236}">
                <ns2:creationId id="{C92E01A0-E41F-4D9D-81C1-2AAECD1B9725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出典：manwestc/ble-rssi-indoor-localization-dataset、固定版 b38a9a4（屋内BLE実測）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AEC8E345-52A7-4BD5-86E7-70EECB4A35B0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945d2af258844585"/>
          </a:graphicData>
        </a:graphic>
      </p:graphicFrame>
      <p:sp>
        <p:nvSpPr>
          <p:cNvPr id="10" name="">
            <a:extLst>
              <a:ext uri="{FF2B5EF4-FFF2-40B4-BE49-F238E27FC236}">
                <ns2:creationId id="{28DFE9FE-F08F-46EA-AF68-76E81A9F0FB6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同じ地点・ビーコンの組を比較。測定セッションの違いも含む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位置・環境を固定した電力だけの因果効果とは断定しない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LoRa実測の時刻対応と誤警報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古いRSSIを現在位置と比較すると、正常でも警報が増える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8ca7228-b946-5541-8404-b75b9496b4f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15</a:t>
            </a:fld>
          </a:p>
        </p:txBody>
      </p:sp>
      <p:sp>
        <p:nvSpPr>
          <p:cNvPr id="8" name="">
            <a:extLst>
              <a:ext uri="{FF2B5EF4-FFF2-40B4-BE49-F238E27FC236}">
                <ns2:creationId id="{25F9962C-DF33-4800-96EE-DBC9533C7DF0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出典：mac-public-lora-20261101 / delay-summary.csv（実測系列への人工時刻ずれ）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2E9A1AD5-ABDB-40FC-91AE-A57070D6B1BF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b6c268e0420f4e3d"/>
          </a:graphicData>
        </a:graphic>
      </p:graphicFrame>
      <p:sp>
        <p:nvSpPr>
          <p:cNvPr id="10" name="">
            <a:extLst>
              <a:ext uri="{FF2B5EF4-FFF2-40B4-BE49-F238E27FC236}">
                <ns2:creationId id="{24C5237A-B8C8-4E88-B7D5-9C5D3085EBCB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15秒ずれでは約23.2%。全遅延で同じ評価時刻を使用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実RIDの複数ノード融合を測定した結果ではない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複数ノード合成評価の条件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未知・変動電力を持つ一本の飛行を、複数地点で観測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f4813be-447c-53ec-be06-d441cb59f11f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16</a:t>
            </a:fld>
          </a:p>
        </p:txBody>
      </p:sp>
      <p:sp>
        <p:nvSpPr>
          <p:cNvPr id="8" name="">
            <a:extLst>
              <a:ext uri="{FF2B5EF4-FFF2-40B4-BE49-F238E27FC236}">
                <ns2:creationId id="{CEE00240-9664-430D-94BA-42A7419C035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config.json（合成10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00BC2E46-5EAE-4FE1-92C9-5AA2C94EF060}"/>
              </a:ext>
            </a:extLst>
          </p:cNvPr>
          <p:cNvGraphicFramePr/>
          <p:nvPr/>
        </p:nvGraphicFramePr>
        <p:xfrm>
          <a:off x="428625" y="1619250"/>
          <a:ext cx="4810125" cy="3333750"/>
        </p:xfrm>
        <a:graphic>
          <a:graphicData uri="http://schemas.openxmlformats.org/drawingml/2006/chart">
            <ns3:chart ns4:id="R9c70c04cd0a043e5"/>
          </a:graphicData>
        </a:graphic>
      </p:graphicFrame>
      <p:graphicFrame>
        <p:nvGraphicFramePr>
          <p:cNvPr id="10" name="">
            <a:extLst>
              <a:ext uri="{FF2B5EF4-FFF2-40B4-BE49-F238E27FC236}">
                <ns2:creationId id="{F5AAC285-8296-44A9-A99B-F84EAE74C10B}"/>
              </a:ext>
            </a:extLst>
          </p:cNvPr>
          <p:cNvGraphicFramePr/>
          <p:nvPr/>
        </p:nvGraphicFramePr>
        <p:xfrm>
          <a:off x="5476875" y="1666875"/>
          <a:ext cx="3190875" cy="3143250"/>
        </p:xfrm>
        <a:graphic>
          <a:graphicData uri="http://schemas.openxmlformats.org/drawingml/2006/table">
            <a:tbl>
              <a:tblPr/>
              <a:tblGrid>
                <a:gridCol w="904875"/>
                <a:gridCol w="2286000"/>
              </a:tblGrid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機体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共通の3D軌跡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0.5秒間隔・5台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未知・送信ごとに変動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雑音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SD2／6dB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23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反復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10 seed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>
              <a:ext uri="{FF2B5EF4-FFF2-40B4-BE49-F238E27FC236}">
                <ns2:creationId id="{443FC55E-011C-47E9-B8C2-EAB2453A6F68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受信範囲は幾何とスキャン欠測の簡略モデル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正常位置誤差・NLOS・実際の時計誤差は未導入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検知・誤警報・判定保留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警報が出た割合だけでなく、判定できた割合も評価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cc578d9-2bd4-5e41-9050-eb202d44a84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17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0759C44D-34BE-495D-BE2B-52EBB1A97745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3714750"/>
                <a:gridCol w="4629150"/>
              </a:tblGrid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入力と出力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意味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位置を改変した入力 → 警報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合成実験での位置偽装の検知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正常な入力 → 警報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正常時の誤警報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観測・校正が不足 → 保留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位置が正しいとも、偽装とも判断しない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判定可能部分の検知率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判定できたイベントだけを分母にする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全送信中の検知割合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保留を含む全送信を分母にする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D22ED858-F95B-457F-9856-6431375D4141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正常校正の95%点を閾値に設定。評価飛行とは分離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共通電力の変更と警報率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電力変更だけで位置偽装と誤認しないか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04800c5-46d0-542e-bd45-8b575b689a5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18</a:t>
            </a:fld>
          </a:p>
        </p:txBody>
      </p:sp>
      <p:sp>
        <p:nvSpPr>
          <p:cNvPr id="8" name="">
            <a:extLst>
              <a:ext uri="{FF2B5EF4-FFF2-40B4-BE49-F238E27FC236}">
                <ns2:creationId id="{CAE85E0F-BE0A-434D-B2B8-23125A53B3F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cases-summary.csv（合成10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95F507F0-BBDB-419D-984C-542EC5143147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06c297351df547ef"/>
          </a:graphicData>
        </a:graphic>
      </p:graphicFrame>
      <p:sp>
        <p:nvSpPr>
          <p:cNvPr id="10" name="">
            <a:extLst>
              <a:ext uri="{FF2B5EF4-FFF2-40B4-BE49-F238E27FC236}">
                <ns2:creationId id="{DFD857D6-D833-4AA5-A631-AC396249F4A1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3条件とも約5%。共通電力の変更はスコアから除去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電力変更そのものや、申告電力の虚偽を検知した結果ではない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位置改変量と受信ノード数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位置をどれだけ変えると検知できるか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6feb0f1-43c4-5fd7-ad0b-626c3c70cf9f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19</a:t>
            </a:fld>
          </a:p>
        </p:txBody>
      </p:sp>
      <p:sp>
        <p:nvSpPr>
          <p:cNvPr id="8" name="">
            <a:extLst>
              <a:ext uri="{FF2B5EF4-FFF2-40B4-BE49-F238E27FC236}">
                <ns2:creationId id="{1589AE87-BED0-44A1-AEF5-50041E8A56C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curves-summary.csv（合成10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0D249DF2-9ED1-47F8-92EC-A5599E24B621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4794520707864b73"/>
          </a:graphicData>
        </a:graphic>
      </p:graphicFrame>
      <p:sp>
        <p:nvSpPr>
          <p:cNvPr id="10" name="">
            <a:extLst>
              <a:ext uri="{FF2B5EF4-FFF2-40B4-BE49-F238E27FC236}">
                <ns2:creationId id="{C34A1D89-A838-4A60-96D1-5767FE574F8C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100m改変でも、5台の検知率は約73.7%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0mは正常誤警報。台数の変更とともに使う配置も変化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位置100m＋共通電力補償でも、同じ73.7%（5台）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雑音増加による検知率の低下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同じ配置・同じ改変でも、電波の揺らぎで見逃しが増加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3454e57-655a-5a3e-b6fb-68c23939e072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20</a:t>
            </a:fld>
          </a:p>
        </p:txBody>
      </p:sp>
      <p:sp>
        <p:nvSpPr>
          <p:cNvPr id="8" name="">
            <a:extLst>
              <a:ext uri="{FF2B5EF4-FFF2-40B4-BE49-F238E27FC236}">
                <ns2:creationId id="{90C92A02-F841-44AB-9DAE-9C0219C1B12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curves-summary.csv（合成10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B9E38222-C958-4565-87CE-56725724B2DD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75fe54575e2747dc"/>
          </a:graphicData>
        </a:graphic>
      </p:graphicFrame>
      <p:sp>
        <p:nvSpPr>
          <p:cNvPr id="10" name="">
            <a:extLst>
              <a:ext uri="{FF2B5EF4-FFF2-40B4-BE49-F238E27FC236}">
                <ns2:creationId id="{CED189DF-89BA-4ABD-8730-F810E27C1196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雑音SD6dBでは、100m改変・5台でも約18.7%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0mは正常誤警報。台数の変更とともに使う配置も変化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一部重複での検知と判定保留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同じ100m改変でも、判定できる時間帯は限られる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0cf5d4c-ec51-51a4-ac8e-5fc40ecb3dba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21</a:t>
            </a:fld>
          </a:p>
        </p:txBody>
      </p:sp>
      <p:sp>
        <p:nvSpPr>
          <p:cNvPr id="8" name="">
            <a:extLst>
              <a:ext uri="{FF2B5EF4-FFF2-40B4-BE49-F238E27FC236}">
                <ns2:creationId id="{7550751D-7889-4EE0-88FC-85230A9F0A8B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cases-summary.csv（合成10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D894ABDC-5018-47FF-BE19-C6B5C382388A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d49c17b1f062496d"/>
          </a:graphicData>
        </a:graphic>
      </p:graphicFrame>
      <p:sp>
        <p:nvSpPr>
          <p:cNvPr id="10" name="">
            <a:extLst>
              <a:ext uri="{FF2B5EF4-FFF2-40B4-BE49-F238E27FC236}">
                <ns2:creationId id="{C8111693-6511-45A3-8879-973098340DC0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一部重複：判定可能77.1%、その部分の検知率64.0%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全送信中の警報は49.35%、保留22.89%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毎回1台しか受信しない場合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全件保留は、位置が正しいという判定ではない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7d62427-aeda-5f3b-9b11-7310d7922ac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22</a:t>
            </a:fld>
          </a:p>
        </p:txBody>
      </p:sp>
      <p:sp>
        <p:nvSpPr>
          <p:cNvPr id="8" name="">
            <a:extLst>
              <a:ext uri="{FF2B5EF4-FFF2-40B4-BE49-F238E27FC236}">
                <ns2:creationId id="{8E090956-6729-4735-97C9-F93DED320B60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cases-summary.csv（合成10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8D463AAE-1061-4C15-AC5A-5350066F1C9E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5c59acc5d7d447d3"/>
          </a:graphicData>
        </a:graphic>
      </p:graphicFrame>
      <p:sp>
        <p:nvSpPr>
          <p:cNvPr id="10" name="">
            <a:extLst>
              <a:ext uri="{FF2B5EF4-FFF2-40B4-BE49-F238E27FC236}">
                <ns2:creationId id="{AA46FA85-58F2-4A2C-995E-C18D0E4AA5C4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各イベントを1台だけ受信する条件では100%保留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自由電力なら、位置が違っても同じRSSIを作れる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異なる送信の誤対応と誤警報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時刻が近いだけでは、電力が共通とは限らない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ee283e4-7280-59cc-816f-e5e352cf0fb1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23</a:t>
            </a:fld>
          </a:p>
        </p:txBody>
      </p:sp>
      <p:sp>
        <p:nvSpPr>
          <p:cNvPr id="8" name="">
            <a:extLst>
              <a:ext uri="{FF2B5EF4-FFF2-40B4-BE49-F238E27FC236}">
                <ns2:creationId id="{8C4ACF77-0B9E-4C39-B42B-34351FA9E94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pairing-summary.csv（合成10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F1025E6A-8F8A-4D26-8842-93A1D5A8457D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7c53509dac3b4009"/>
          </a:graphicData>
        </a:graphic>
      </p:graphicFrame>
      <p:sp>
        <p:nvSpPr>
          <p:cNvPr id="10" name="">
            <a:extLst>
              <a:ext uri="{FF2B5EF4-FFF2-40B4-BE49-F238E27FC236}">
                <ns2:creationId id="{702D4FDE-9704-4C6E-93CC-F8493588BFE4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0.5秒でも、電力が別々なら誤警報が増えるモデル例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電力変動SD8dBは仮定。実機の時間上限や測定値ではない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同一送信の提出遅延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受信したイベントを正しく結べれば、提出が遅くても同じ判定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3e3098f-3d79-560d-b114-7e080c1d501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24</a:t>
            </a:fld>
          </a:p>
        </p:txBody>
      </p:sp>
      <p:sp>
        <p:nvSpPr>
          <p:cNvPr id="8" name="">
            <a:extLst>
              <a:ext uri="{FF2B5EF4-FFF2-40B4-BE49-F238E27FC236}">
                <ns2:creationId id="{348159C8-27CA-4C88-B621-16DD1112AEA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uploads-summary.csv（理想的な同一イベント結合）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278C016F-E460-4D51-9387-944CA7B25EAD}"/>
              </a:ext>
            </a:extLst>
          </p:cNvPr>
          <p:cNvGraphicFramePr/>
          <p:nvPr/>
        </p:nvGraphicFramePr>
        <p:xfrm>
          <a:off x="400050" y="1524000"/>
          <a:ext cx="8343900" cy="2428875"/>
        </p:xfrm>
        <a:graphic>
          <a:graphicData uri="http://schemas.openxmlformats.org/drawingml/2006/table">
            <a:tbl>
              <a:tblPr/>
              <a:tblGrid>
                <a:gridCol w="2762250"/>
                <a:gridCol w="2762250"/>
                <a:gridCol w="2819400"/>
              </a:tblGrid>
              <a:tr h="607219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最後の提出まで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正常誤警報率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追加の判定待ち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07219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0秒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4.98%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5秒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4.98%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07219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60秒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4.98%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60秒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79F11574-BF0B-4792-A3D1-8C080C09418F}"/>
              </a:ext>
            </a:extLst>
          </p:cNvPr>
          <p:cNvSpPr>
            <a:spLocks noGrp="1"/>
          </p:cNvSpPr>
          <p:nvPr/>
        </p:nvSpPr>
        <p:spPr>
          <a:xfrm>
            <a:off x="419100" y="44291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成立の前提</a:t>
            </a:r>
          </a:p>
        </p:txBody>
      </p:sp>
      <p:sp>
        <p:nvSpPr>
          <p:cNvPr id="11" name="">
            <a:extLst>
              <a:ext uri="{FF2B5EF4-FFF2-40B4-BE49-F238E27FC236}">
                <ns2:creationId id="{904331BC-7623-4C5E-BA18-FD3AF86108AB}"/>
              </a:ext>
            </a:extLst>
          </p:cNvPr>
          <p:cNvSpPr>
            <a:spLocks noGrp="1"/>
          </p:cNvSpPr>
          <p:nvPr/>
        </p:nvSpPr>
        <p:spPr>
          <a:xfrm>
            <a:off x="447675" y="4810125"/>
            <a:ext cx="8210550" cy="935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同じ物理送信であることを理想的に知っている条件</a:t>
            </a:r>
          </a:p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通信スタック・時計誤差・実際の対応付けは未評価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複数受信機でも残る配置の曖昧さ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4台受信でも、違う位置を区別できない配置がある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3d598bee-b65d-513e-862e-8d84a5182c3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25</a:t>
            </a:fld>
          </a:p>
        </p:txBody>
      </p:sp>
      <p:sp>
        <p:nvSpPr>
          <p:cNvPr id="8" name="">
            <a:extLst>
              <a:ext uri="{FF2B5EF4-FFF2-40B4-BE49-F238E27FC236}">
                <ns2:creationId id="{DA7D3E0A-8EB6-46AB-9FC0-53170575A78D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数理反例：雑音なし、単一送信源、既知の伝搬指数2.2。実RFの攻撃実証ではない。</a:t>
            </a:r>
          </a:p>
        </p:txBody>
      </p:sp>
      <p:sp>
        <p:nvSpPr>
          <p:cNvPr id="9" name="">
            <a:extLst>
              <a:ext uri="{FF2B5EF4-FFF2-40B4-BE49-F238E27FC236}">
                <ns2:creationId id="{7C6D2800-ACB5-4F8F-B3DE-C50A5A421567}"/>
              </a:ext>
            </a:extLst>
          </p:cNvPr>
          <p:cNvSpPr>
            <a:spLocks noGrp="1"/>
          </p:cNvSpPr>
          <p:nvPr/>
        </p:nvSpPr>
        <p:spPr>
          <a:xfrm>
            <a:off x="1333500" y="1809750"/>
            <a:ext cx="2857500" cy="2857500"/>
          </a:xfrm>
          <a:prstGeom prst="ellipse">
            <a:avLst/>
          </a:prstGeom>
          <a:noFill/>
          <a:ln w="19050">
            <a:solidFill>
              <a:srgbClr val="BEC9D6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02C3BCC6-313A-40B8-96F5-58B5FDC9EE8A}"/>
              </a:ext>
            </a:extLst>
          </p:cNvPr>
          <p:cNvSpPr>
            <a:spLocks noGrp="1"/>
          </p:cNvSpPr>
          <p:nvPr/>
        </p:nvSpPr>
        <p:spPr>
          <a:xfrm>
            <a:off x="4086225" y="313372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B6AA2599-81ED-4426-B1B2-FE31E7890241}"/>
              </a:ext>
            </a:extLst>
          </p:cNvPr>
          <p:cNvSpPr>
            <a:spLocks noGrp="1"/>
          </p:cNvSpPr>
          <p:nvPr/>
        </p:nvSpPr>
        <p:spPr>
          <a:xfrm>
            <a:off x="4343400" y="31146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A</a:t>
            </a:r>
          </a:p>
        </p:txBody>
      </p:sp>
      <p:sp>
        <p:nvSpPr>
          <p:cNvPr id="12" name="">
            <a:extLst>
              <a:ext uri="{FF2B5EF4-FFF2-40B4-BE49-F238E27FC236}">
                <ns2:creationId id="{687E40C0-5333-4143-9ED0-8EB4CCBBFA64}"/>
              </a:ext>
            </a:extLst>
          </p:cNvPr>
          <p:cNvSpPr>
            <a:spLocks noGrp="1"/>
          </p:cNvSpPr>
          <p:nvPr/>
        </p:nvSpPr>
        <p:spPr>
          <a:xfrm>
            <a:off x="2657475" y="170497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A03BEAFE-BD5F-4C0F-81C7-ED30B708C05B}"/>
              </a:ext>
            </a:extLst>
          </p:cNvPr>
          <p:cNvSpPr>
            <a:spLocks noGrp="1"/>
          </p:cNvSpPr>
          <p:nvPr/>
        </p:nvSpPr>
        <p:spPr>
          <a:xfrm>
            <a:off x="2914650" y="168592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B</a:t>
            </a:r>
          </a:p>
        </p:txBody>
      </p:sp>
      <p:sp>
        <p:nvSpPr>
          <p:cNvPr id="14" name="">
            <a:extLst>
              <a:ext uri="{FF2B5EF4-FFF2-40B4-BE49-F238E27FC236}">
                <ns2:creationId id="{42FE2011-5263-4DC0-B618-7B854A6C7D3F}"/>
              </a:ext>
            </a:extLst>
          </p:cNvPr>
          <p:cNvSpPr>
            <a:spLocks noGrp="1"/>
          </p:cNvSpPr>
          <p:nvPr/>
        </p:nvSpPr>
        <p:spPr>
          <a:xfrm>
            <a:off x="1228725" y="313372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71158B82-FFE1-40D3-8D4A-3D7BAACBB7C1}"/>
              </a:ext>
            </a:extLst>
          </p:cNvPr>
          <p:cNvSpPr>
            <a:spLocks noGrp="1"/>
          </p:cNvSpPr>
          <p:nvPr/>
        </p:nvSpPr>
        <p:spPr>
          <a:xfrm>
            <a:off x="1485900" y="31146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</a:t>
            </a:r>
          </a:p>
        </p:txBody>
      </p:sp>
      <p:sp>
        <p:nvSpPr>
          <p:cNvPr id="16" name="">
            <a:extLst>
              <a:ext uri="{FF2B5EF4-FFF2-40B4-BE49-F238E27FC236}">
                <ns2:creationId id="{6843BDCE-10AE-4654-B6A4-783A1E4B65D3}"/>
              </a:ext>
            </a:extLst>
          </p:cNvPr>
          <p:cNvSpPr>
            <a:spLocks noGrp="1"/>
          </p:cNvSpPr>
          <p:nvPr/>
        </p:nvSpPr>
        <p:spPr>
          <a:xfrm>
            <a:off x="2657475" y="456247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F3EB8ACD-1189-4B2D-BEA4-2D1B3E7DA00B}"/>
              </a:ext>
            </a:extLst>
          </p:cNvPr>
          <p:cNvSpPr>
            <a:spLocks noGrp="1"/>
          </p:cNvSpPr>
          <p:nvPr/>
        </p:nvSpPr>
        <p:spPr>
          <a:xfrm>
            <a:off x="2914650" y="454342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</a:t>
            </a:r>
          </a:p>
        </p:txBody>
      </p:sp>
      <p:sp>
        <p:nvSpPr>
          <p:cNvPr id="18" name="">
            <a:extLst>
              <a:ext uri="{FF2B5EF4-FFF2-40B4-BE49-F238E27FC236}">
                <ns2:creationId id="{D0EAA72D-21F9-45F1-9A5F-D653100D2D5B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3381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中心上空の2つの候補</a:t>
            </a:r>
          </a:p>
        </p:txBody>
      </p:sp>
      <p:sp>
        <p:nvSpPr>
          <p:cNvPr id="19" name="">
            <a:extLst>
              <a:ext uri="{FF2B5EF4-FFF2-40B4-BE49-F238E27FC236}">
                <ns2:creationId id="{12416A4A-83C6-431B-B17B-125B8D844E77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3381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半径100m・地上4台</a:t>
            </a:r>
          </a:p>
        </p:txBody>
      </p:sp>
      <p:sp>
        <p:nvSpPr>
          <p:cNvPr id="20" name="">
            <a:extLst>
              <a:ext uri="{FF2B5EF4-FFF2-40B4-BE49-F238E27FC236}">
                <ns2:creationId id="{8CC8A4E6-08B5-450B-8D55-5F61F9B566D4}"/>
              </a:ext>
            </a:extLst>
          </p:cNvPr>
          <p:cNvSpPr>
            <a:spLocks noGrp="1"/>
          </p:cNvSpPr>
          <p:nvPr/>
        </p:nvSpPr>
        <p:spPr>
          <a:xfrm>
            <a:off x="5095875" y="1714500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両方のRID申告：高度80m</a:t>
            </a:r>
          </a:p>
        </p:txBody>
      </p:sp>
      <p:sp>
        <p:nvSpPr>
          <p:cNvPr id="21" name="">
            <a:extLst>
              <a:ext uri="{FF2B5EF4-FFF2-40B4-BE49-F238E27FC236}">
                <ns2:creationId id="{E002C427-15DC-4455-8198-9FE45A7AAC09}"/>
              </a:ext>
            </a:extLst>
          </p:cNvPr>
          <p:cNvSpPr>
            <a:spLocks noGrp="1"/>
          </p:cNvSpPr>
          <p:nvPr/>
        </p:nvSpPr>
        <p:spPr>
          <a:xfrm>
            <a:off x="5667375" y="2476500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25A57C38-E5AC-4595-99B2-3AEF7984E345}"/>
              </a:ext>
            </a:extLst>
          </p:cNvPr>
          <p:cNvSpPr>
            <a:spLocks noGrp="1"/>
          </p:cNvSpPr>
          <p:nvPr/>
        </p:nvSpPr>
        <p:spPr>
          <a:xfrm>
            <a:off x="5114925" y="27336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正常：実高度80m</a:t>
            </a:r>
          </a:p>
        </p:txBody>
      </p:sp>
      <p:sp>
        <p:nvSpPr>
          <p:cNvPr id="23" name="">
            <a:extLst>
              <a:ext uri="{FF2B5EF4-FFF2-40B4-BE49-F238E27FC236}">
                <ns2:creationId id="{DAC3CEBB-6397-42A8-BFCB-85EB3F580C2B}"/>
              </a:ext>
            </a:extLst>
          </p:cNvPr>
          <p:cNvSpPr>
            <a:spLocks noGrp="1"/>
          </p:cNvSpPr>
          <p:nvPr/>
        </p:nvSpPr>
        <p:spPr>
          <a:xfrm>
            <a:off x="5667375" y="4191000"/>
            <a:ext cx="190500" cy="190500"/>
          </a:xfrm>
          <a:prstGeom prst="ellipse">
            <a:avLst/>
          </a:prstGeom>
          <a:solidFill>
            <a:srgbClr val="E02B2B"/>
          </a:solidFill>
          <a:ln w="0">
            <a:noFill/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FF6EB5D4-6A05-43A9-9580-023D63F3838D}"/>
              </a:ext>
            </a:extLst>
          </p:cNvPr>
          <p:cNvSpPr>
            <a:spLocks noGrp="1"/>
          </p:cNvSpPr>
          <p:nvPr/>
        </p:nvSpPr>
        <p:spPr>
          <a:xfrm>
            <a:off x="5114925" y="44481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偽装：実高度20m</a:t>
            </a:r>
          </a:p>
        </p:txBody>
      </p:sp>
      <p:sp>
        <p:nvSpPr>
          <p:cNvPr id="25" name="">
            <a:extLst>
              <a:ext uri="{FF2B5EF4-FFF2-40B4-BE49-F238E27FC236}">
                <ns2:creationId id="{39149A9E-AB95-4D25-852B-0E7068E501C4}"/>
              </a:ext>
            </a:extLst>
          </p:cNvPr>
          <p:cNvSpPr>
            <a:spLocks noGrp="1"/>
          </p:cNvSpPr>
          <p:nvPr/>
        </p:nvSpPr>
        <p:spPr>
          <a:xfrm>
            <a:off x="5762625" y="2762250"/>
            <a:ext cx="953" cy="1285875"/>
          </a:xfrm>
          <a:prstGeom prst="line">
            <a:avLst/>
          </a:prstGeom>
          <a:noFill/>
          <a:ln w="19050">
            <a:solidFill>
              <a:srgbClr val="CBD2DA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05F755A3-32F3-4BAE-928B-0784FE807A8C}"/>
              </a:ext>
            </a:extLst>
          </p:cNvPr>
          <p:cNvSpPr>
            <a:spLocks noGrp="1"/>
          </p:cNvSpPr>
          <p:nvPr/>
        </p:nvSpPr>
        <p:spPr>
          <a:xfrm>
            <a:off x="6286500" y="3238500"/>
            <a:ext cx="2333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電力も変えると</a:t>
            </a:r>
          </a:p>
          <a:p>
            <a: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見分けられるか？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配置と電力補償による同一観測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高度も電力も違うのに、全ノードで同じRSSI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6f65f3f3-4688-57b2-be40-2d9809fdc918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26</a:t>
            </a:fld>
          </a:p>
        </p:txBody>
      </p:sp>
      <p:sp>
        <p:nvSpPr>
          <p:cNvPr id="8" name="">
            <a:extLst>
              <a:ext uri="{FF2B5EF4-FFF2-40B4-BE49-F238E27FC236}">
                <ns2:creationId id="{A815E36B-AE3D-4B0D-B943-0B904D01B492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summary.json / counterexamples（雑音なしの数理反例）</a:t>
            </a:r>
          </a:p>
        </p:txBody>
      </p:sp>
      <p:sp>
        <p:nvSpPr>
          <p:cNvPr id="9" name="">
            <a:extLst>
              <a:ext uri="{FF2B5EF4-FFF2-40B4-BE49-F238E27FC236}">
                <ns2:creationId id="{F446F82E-0A10-4EE3-AD70-9A2839F5D9A7}"/>
              </a:ext>
            </a:extLst>
          </p:cNvPr>
          <p:cNvSpPr>
            <a:spLocks noGrp="1"/>
          </p:cNvSpPr>
          <p:nvPr/>
        </p:nvSpPr>
        <p:spPr>
          <a:xfrm>
            <a:off x="1095375" y="2047875"/>
            <a:ext cx="2381250" cy="2381250"/>
          </a:xfrm>
          <a:prstGeom prst="ellipse">
            <a:avLst/>
          </a:prstGeom>
          <a:noFill/>
          <a:ln w="19050">
            <a:solidFill>
              <a:srgbClr val="BEC9D6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9C5D3D45-215A-4C99-A692-5CE5C23F2CEB}"/>
              </a:ext>
            </a:extLst>
          </p:cNvPr>
          <p:cNvSpPr>
            <a:spLocks noGrp="1"/>
          </p:cNvSpPr>
          <p:nvPr/>
        </p:nvSpPr>
        <p:spPr>
          <a:xfrm>
            <a:off x="3371850" y="313372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CF37D115-6357-44E9-B0A9-9673BFF84AAA}"/>
              </a:ext>
            </a:extLst>
          </p:cNvPr>
          <p:cNvSpPr>
            <a:spLocks noGrp="1"/>
          </p:cNvSpPr>
          <p:nvPr/>
        </p:nvSpPr>
        <p:spPr>
          <a:xfrm>
            <a:off x="3629025" y="31146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A</a:t>
            </a:r>
          </a:p>
        </p:txBody>
      </p:sp>
      <p:sp>
        <p:nvSpPr>
          <p:cNvPr id="12" name="">
            <a:extLst>
              <a:ext uri="{FF2B5EF4-FFF2-40B4-BE49-F238E27FC236}">
                <ns2:creationId id="{ADADBAB5-2BF3-4DDB-A813-321FFC43FC94}"/>
              </a:ext>
            </a:extLst>
          </p:cNvPr>
          <p:cNvSpPr>
            <a:spLocks noGrp="1"/>
          </p:cNvSpPr>
          <p:nvPr/>
        </p:nvSpPr>
        <p:spPr>
          <a:xfrm>
            <a:off x="2181225" y="1943100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3DD6C171-2973-4500-9CA8-99C4CEB1D5AA}"/>
              </a:ext>
            </a:extLst>
          </p:cNvPr>
          <p:cNvSpPr>
            <a:spLocks noGrp="1"/>
          </p:cNvSpPr>
          <p:nvPr/>
        </p:nvSpPr>
        <p:spPr>
          <a:xfrm>
            <a:off x="2438400" y="19240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B</a:t>
            </a:r>
          </a:p>
        </p:txBody>
      </p:sp>
      <p:sp>
        <p:nvSpPr>
          <p:cNvPr id="14" name="">
            <a:extLst>
              <a:ext uri="{FF2B5EF4-FFF2-40B4-BE49-F238E27FC236}">
                <ns2:creationId id="{70B455E6-EF7A-4AD1-8CE9-8B8C6A6504BA}"/>
              </a:ext>
            </a:extLst>
          </p:cNvPr>
          <p:cNvSpPr>
            <a:spLocks noGrp="1"/>
          </p:cNvSpPr>
          <p:nvPr/>
        </p:nvSpPr>
        <p:spPr>
          <a:xfrm>
            <a:off x="990600" y="3133725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32845EC1-EDBF-4FD8-87C7-9F223208FF3F}"/>
              </a:ext>
            </a:extLst>
          </p:cNvPr>
          <p:cNvSpPr>
            <a:spLocks noGrp="1"/>
          </p:cNvSpPr>
          <p:nvPr/>
        </p:nvSpPr>
        <p:spPr>
          <a:xfrm>
            <a:off x="1247775" y="31146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</a:t>
            </a:r>
          </a:p>
        </p:txBody>
      </p:sp>
      <p:sp>
        <p:nvSpPr>
          <p:cNvPr id="16" name="">
            <a:extLst>
              <a:ext uri="{FF2B5EF4-FFF2-40B4-BE49-F238E27FC236}">
                <ns2:creationId id="{96EA6DDF-B810-4E55-806E-3E99B632A8C3}"/>
              </a:ext>
            </a:extLst>
          </p:cNvPr>
          <p:cNvSpPr>
            <a:spLocks noGrp="1"/>
          </p:cNvSpPr>
          <p:nvPr/>
        </p:nvSpPr>
        <p:spPr>
          <a:xfrm>
            <a:off x="2181225" y="4324350"/>
            <a:ext cx="209550" cy="2095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4FE6E49B-2713-4000-ACF9-78559F20F813}"/>
              </a:ext>
            </a:extLst>
          </p:cNvPr>
          <p:cNvSpPr>
            <a:spLocks noGrp="1"/>
          </p:cNvSpPr>
          <p:nvPr/>
        </p:nvSpPr>
        <p:spPr>
          <a:xfrm>
            <a:off x="2438400" y="43053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</a:t>
            </a:r>
          </a:p>
        </p:txBody>
      </p:sp>
      <p:sp>
        <p:nvSpPr>
          <p:cNvPr id="18" name="">
            <a:extLst>
              <a:ext uri="{FF2B5EF4-FFF2-40B4-BE49-F238E27FC236}">
                <ns2:creationId id="{091AFC4E-D2CF-4BE1-A4C4-65F572703703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3381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中心上空の2つの候補</a:t>
            </a:r>
          </a:p>
        </p:txBody>
      </p:sp>
      <p:sp>
        <p:nvSpPr>
          <p:cNvPr id="19" name="">
            <a:extLst>
              <a:ext uri="{FF2B5EF4-FFF2-40B4-BE49-F238E27FC236}">
                <ns2:creationId id="{1D537883-C4FE-428C-B6F6-CC234B37AFDE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3381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半径100m・地上4台</a:t>
            </a:r>
          </a:p>
        </p:txBody>
      </p:sp>
      <p:graphicFrame>
        <p:nvGraphicFramePr>
          <p:cNvPr id="20" name="Chart">
            <a:extLst>
              <a:ext uri="{FF2B5EF4-FFF2-40B4-BE49-F238E27FC236}">
                <ns2:creationId id="{5BAF8D28-B570-4DC8-A24C-01368D9BD24F}"/>
              </a:ext>
            </a:extLst>
          </p:cNvPr>
          <p:cNvGraphicFramePr/>
          <p:nvPr/>
        </p:nvGraphicFramePr>
        <p:xfrm>
          <a:off x="4476750" y="1619250"/>
          <a:ext cx="4095750" cy="3333750"/>
        </p:xfrm>
        <a:graphic>
          <a:graphicData uri="http://schemas.openxmlformats.org/drawingml/2006/chart">
            <ns3:chart ns4:id="R7f9321a5ca554a88"/>
          </a:graphicData>
        </a:graphic>
      </p:graphicFrame>
      <p:sp>
        <p:nvSpPr>
          <p:cNvPr id="21" name="">
            <a:extLst>
              <a:ext uri="{FF2B5EF4-FFF2-40B4-BE49-F238E27FC236}">
                <ns2:creationId id="{729920AE-A18E-46CB-9AEB-35E62A857BBF}"/>
              </a:ext>
            </a:extLst>
          </p:cNvPr>
          <p:cNvSpPr>
            <a:spLocks noGrp="1"/>
          </p:cNvSpPr>
          <p:nvPr/>
        </p:nvSpPr>
        <p:spPr>
          <a:xfrm>
            <a:off x="4619625" y="5238750"/>
            <a:ext cx="39052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偽装側の基準電力：−2.18dB</a:t>
            </a:r>
          </a:p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位置が違っても同じ観測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警報から判断できること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示せるのは、位置申告と観測の不整合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f32f6a9-b446-5281-909e-00347b22c35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27</a:t>
            </a:fld>
          </a:p>
        </p:txBody>
      </p:sp>
      <p:sp>
        <p:nvSpPr>
          <p:cNvPr id="8" name="">
            <a:extLst>
              <a:ext uri="{FF2B5EF4-FFF2-40B4-BE49-F238E27FC236}">
                <ns2:creationId id="{E11FDBF7-EE6E-42AF-BA02-546C6CC74F78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警報が出た場合</a:t>
            </a:r>
          </a:p>
        </p:txBody>
      </p:sp>
      <p:sp>
        <p:nvSpPr>
          <p:cNvPr id="9" name="">
            <a:extLst>
              <a:ext uri="{FF2B5EF4-FFF2-40B4-BE49-F238E27FC236}">
                <ns2:creationId id="{8B1DBA2F-8DFA-4E6A-B1F9-C775DB5798DA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位置偽装の疑い。ただし遮蔽・向き・受信誤差も候補</a:t>
            </a:r>
          </a:p>
        </p:txBody>
      </p:sp>
      <p:sp>
        <p:nvSpPr>
          <p:cNvPr id="10" name="">
            <a:extLst>
              <a:ext uri="{FF2B5EF4-FFF2-40B4-BE49-F238E27FC236}">
                <ns2:creationId id="{C753FB12-3E2B-4712-B8D1-DA79C808FEE0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警報が出なかった場合</a:t>
            </a:r>
          </a:p>
        </p:txBody>
      </p:sp>
      <p:sp>
        <p:nvSpPr>
          <p:cNvPr id="11" name="">
            <a:extLst>
              <a:ext uri="{FF2B5EF4-FFF2-40B4-BE49-F238E27FC236}">
                <ns2:creationId id="{6423EC05-5797-47CF-A3DE-FAA4DA529480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位置が正しい証明ではない。見逃しや識別不能配置が残る</a:t>
            </a:r>
          </a:p>
        </p:txBody>
      </p:sp>
      <p:sp>
        <p:nvSpPr>
          <p:cNvPr id="12" name="">
            <a:extLst>
              <a:ext uri="{FF2B5EF4-FFF2-40B4-BE49-F238E27FC236}">
                <ns2:creationId id="{6FB7606E-9A9C-48F1-82A6-6879B191D690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電力について</a:t>
            </a:r>
          </a:p>
        </p:txBody>
      </p:sp>
      <p:sp>
        <p:nvSpPr>
          <p:cNvPr id="13" name="">
            <a:extLst>
              <a:ext uri="{FF2B5EF4-FFF2-40B4-BE49-F238E27FC236}">
                <ns2:creationId id="{9CAAEAB4-6CE3-48B5-B154-6557A4621BD7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実際のEIRPや、電力申告の真偽を測った方式ではない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位置偽装を検査できる条件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台数だけでなく、同一送信・観測品質・配置が必要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2ca14c1-f640-528a-b573-33483a330e9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28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EFD13F6F-DDE2-4BC3-9040-5D1DDF8983CE}"/>
              </a:ext>
            </a:extLst>
          </p:cNvPr>
          <p:cNvGraphicFramePr/>
          <p:nvPr/>
        </p:nvGraphicFramePr>
        <p:xfrm>
          <a:off x="400050" y="1524000"/>
          <a:ext cx="8343900" cy="3714750"/>
        </p:xfrm>
        <a:graphic>
          <a:graphicData uri="http://schemas.openxmlformats.org/drawingml/2006/table">
            <a:tbl>
              <a:tblPr/>
              <a:tblGrid>
                <a:gridCol w="2381250"/>
                <a:gridCol w="2952750"/>
                <a:gridCol w="3009900"/>
              </a:tblGrid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状況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今回の到達点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残る条件・限界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同じ送信を複数受信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位置改変の不整合を検知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観測・モデル・配置に依存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一部だけ重複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重複部を検査、その他は保留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全送信の検知割合は低下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別送信を単独受信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自由電力の位置判定は保留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RSSI単独では一般に識別不可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等距離比となる配置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同じRSSIを作れる反例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複数台でも全検知は不可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191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警報の原因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不整合まで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位置偽装と原因を確定しない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B46031EF-0FD9-44BB-9C5B-8C0728C91C3D}"/>
              </a:ext>
            </a:extLst>
          </p:cNvPr>
          <p:cNvSpPr>
            <a:spLocks noGrp="1"/>
          </p:cNvSpPr>
          <p:nvPr/>
        </p:nvSpPr>
        <p:spPr>
          <a:xfrm>
            <a:off x="428625" y="55245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実測で確認した注意点と、合成で得た検知率を区別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RSSIから位置偽装を検知できるか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条件付きで一部は検知可能。無条件の位置認証ではない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f4486ce-d68f-5d27-906f-65269378f9bf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29</a:t>
            </a:fld>
          </a:p>
        </p:txBody>
      </p:sp>
      <p:sp>
        <p:nvSpPr>
          <p:cNvPr id="8" name="">
            <a:extLst>
              <a:ext uri="{FF2B5EF4-FFF2-40B4-BE49-F238E27FC236}">
                <ns2:creationId id="{B4E23DBF-DF18-492B-A909-1B9D21B2350E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検査できる場面</a:t>
            </a:r>
          </a:p>
        </p:txBody>
      </p:sp>
      <p:sp>
        <p:nvSpPr>
          <p:cNvPr id="9" name="">
            <a:extLst>
              <a:ext uri="{FF2B5EF4-FFF2-40B4-BE49-F238E27FC236}">
                <ns2:creationId id="{EDB454FF-261D-4FB7-B4C1-23A5C5F7268B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同じ送信を複数地点で受け、観測・配置・モデルが適切</a:t>
            </a:r>
          </a:p>
        </p:txBody>
      </p:sp>
      <p:sp>
        <p:nvSpPr>
          <p:cNvPr id="10" name="">
            <a:extLst>
              <a:ext uri="{FF2B5EF4-FFF2-40B4-BE49-F238E27FC236}">
                <ns2:creationId id="{88653DDA-10D5-4243-86EB-176041700F13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判定できない場面</a:t>
            </a:r>
          </a:p>
        </p:txBody>
      </p:sp>
      <p:sp>
        <p:nvSpPr>
          <p:cNvPr id="11" name="">
            <a:extLst>
              <a:ext uri="{FF2B5EF4-FFF2-40B4-BE49-F238E27FC236}">
                <ns2:creationId id="{79806BDA-3AEB-40C6-A20E-23E0666B1F12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別送信を単独受信し電力が自由、または識別不能な配置</a:t>
            </a:r>
          </a:p>
        </p:txBody>
      </p:sp>
      <p:sp>
        <p:nvSpPr>
          <p:cNvPr id="12" name="">
            <a:extLst>
              <a:ext uri="{FF2B5EF4-FFF2-40B4-BE49-F238E27FC236}">
                <ns2:creationId id="{5456FD65-3019-4E98-8641-E446E6025289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今回示した範囲</a:t>
            </a:r>
          </a:p>
        </p:txBody>
      </p:sp>
      <p:sp>
        <p:nvSpPr>
          <p:cNvPr id="13" name="">
            <a:extLst>
              <a:ext uri="{FF2B5EF4-FFF2-40B4-BE49-F238E27FC236}">
                <ns2:creationId id="{24462A84-3EF7-4676-B56E-50C9F2113082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合成で成立条件と検知率を確認。実RIDでの実証は今後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今後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実際のRIDで、成立条件を満たせるかを確認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3dd66d6a-4db7-5839-a048-5a7e63f26a3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30</a:t>
            </a:fld>
          </a:p>
        </p:txBody>
      </p:sp>
      <p:sp>
        <p:nvSpPr>
          <p:cNvPr id="8" name="">
            <a:extLst>
              <a:ext uri="{FF2B5EF4-FFF2-40B4-BE49-F238E27FC236}">
                <ns2:creationId id="{CC6F413E-3EA1-41AC-86A6-A5EC99E88454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同じ送信の対応付け</a:t>
            </a:r>
          </a:p>
        </p:txBody>
      </p:sp>
      <p:sp>
        <p:nvSpPr>
          <p:cNvPr id="9" name="">
            <a:extLst>
              <a:ext uri="{FF2B5EF4-FFF2-40B4-BE49-F238E27FC236}">
                <ns2:creationId id="{3B812FEA-9D9B-4BF1-BCFB-D143A79A5D0F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受信時刻・PHY等の取得可能情報と、誤対応率の評価</a:t>
            </a:r>
          </a:p>
        </p:txBody>
      </p:sp>
      <p:sp>
        <p:nvSpPr>
          <p:cNvPr id="10" name="">
            <a:extLst>
              <a:ext uri="{FF2B5EF4-FFF2-40B4-BE49-F238E27FC236}">
                <ns2:creationId id="{305017D0-64D4-4144-A00A-555372AA19A4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現実の受信条件</a:t>
            </a:r>
          </a:p>
        </p:txBody>
      </p:sp>
      <p:sp>
        <p:nvSpPr>
          <p:cNvPr id="11" name="">
            <a:extLst>
              <a:ext uri="{FF2B5EF4-FFF2-40B4-BE49-F238E27FC236}">
                <ns2:creationId id="{34DC6B05-7E9F-425C-89EC-F70F88761820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電力による受信可否、時計誤差、NLOSや雑音相関の導入</a:t>
            </a:r>
          </a:p>
        </p:txBody>
      </p:sp>
      <p:sp>
        <p:nvSpPr>
          <p:cNvPr id="12" name="">
            <a:extLst>
              <a:ext uri="{FF2B5EF4-FFF2-40B4-BE49-F238E27FC236}">
                <ns2:creationId id="{BA62667E-0B00-46DA-8E0A-47EFDC318EBD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独立真値付きの複数ノード実測</a:t>
            </a:r>
          </a:p>
        </p:txBody>
      </p:sp>
      <p:sp>
        <p:nvSpPr>
          <p:cNvPr id="13" name="">
            <a:extLst>
              <a:ext uri="{FF2B5EF4-FFF2-40B4-BE49-F238E27FC236}">
                <ns2:creationId id="{0C035108-F997-4A5C-B441-347059D3A95A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位置真値・同一送信の重複・実効電力の条件を記録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補足：単一RSSIの推定モデル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距離精度が改善しても、自由電力の識別不能性は解消しない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eb18020-1659-5a65-98b8-3bb0c96a0ea2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31</a:t>
            </a:fld>
          </a:p>
        </p:txBody>
      </p:sp>
      <p:sp>
        <p:nvSpPr>
          <p:cNvPr id="8" name="">
            <a:extLst>
              <a:ext uri="{FF2B5EF4-FFF2-40B4-BE49-F238E27FC236}">
                <ns2:creationId id="{E4FFE399-C168-4E4B-80A6-C2E2E1C9B7F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出典：mac-independent3d-20261101 / summary.json（独立した合成10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2D7B36B9-0DAF-4507-A422-954322F2F8AA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b9dae1c0ee9344b0"/>
          </a:graphicData>
        </a:graphic>
      </p:graphicFrame>
      <p:sp>
        <p:nvSpPr>
          <p:cNvPr id="10" name="">
            <a:extLst>
              <a:ext uri="{FF2B5EF4-FFF2-40B4-BE49-F238E27FC236}">
                <ns2:creationId id="{ACBEEE2B-8456-4831-BD15-B442F362A91B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事前分布・学習済み条件の下での性能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同じ機体を複数ノードが通過観測する評価とは別の実験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補足：実測残差による雑音ストレス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小さい独立ガウス雑音の仮定は、楽観的になる場合がある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c6b3cb8-9570-5b11-98bd-6f30af2ba24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32</a:t>
            </a:fld>
          </a:p>
        </p:txBody>
      </p:sp>
      <p:sp>
        <p:nvSpPr>
          <p:cNvPr id="8" name="">
            <a:extLst>
              <a:ext uri="{FF2B5EF4-FFF2-40B4-BE49-F238E27FC236}">
                <ns2:creationId id="{BB1386C8-E8E5-430E-91A1-5DD0F4BD426A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出典：mac-robustness-20261101 / empirical_sync-summary.csv（屋内BLE残差を仮想リンクへ注入）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8CFCBFDE-16A9-4B11-9542-6483CE637677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36d2028c0a9f4aa5"/>
          </a:graphicData>
        </a:graphic>
      </p:graphicFrame>
      <p:sp>
        <p:nvSpPr>
          <p:cNvPr id="10" name="">
            <a:extLst>
              <a:ext uri="{FF2B5EF4-FFF2-40B4-BE49-F238E27FC236}">
                <ns2:creationId id="{8B921958-2F28-4EFF-B747-50D052222820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実測残差を各仮想リンクに独立に抽出した評価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屋外UAV・複数受信機の同時実測の性能ではない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補足：個別モデルの学習汚染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誤った距離ラベルへの頑健化にも限界がある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b08ac61-fa3a-5624-9c38-0cdea389013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33</a:t>
            </a:fld>
          </a:p>
        </p:txBody>
      </p:sp>
      <p:sp>
        <p:nvSpPr>
          <p:cNvPr id="8" name="">
            <a:extLst>
              <a:ext uri="{FF2B5EF4-FFF2-40B4-BE49-F238E27FC236}">
                <ns2:creationId id="{F33CAD7A-91ED-4657-8854-25A4AFD0773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出典：mac-robustness-20261101 / poisoning-summary.csv（合成10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8EF0040B-31B4-4335-B32D-8974D2BF6E0D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776ff2ce7e4a4b47"/>
          </a:graphicData>
        </a:graphic>
      </p:graphicFrame>
      <p:sp>
        <p:nvSpPr>
          <p:cNvPr id="10" name="">
            <a:extLst>
              <a:ext uri="{FF2B5EF4-FFF2-40B4-BE49-F238E27FC236}">
                <ns2:creationId id="{D5EE712B-8921-40CE-92A8-F4A6B71E1179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外部の共通学習データは保護されている仮定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誤ラベルが過半数になる場合まで防御できるわけではない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補足：過去情報とモデル失効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電力や環境が長く安定すると誤ると、区間を過信する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b18f8dc-6292-5a79-9b08-c91be20826a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34</a:t>
            </a:fld>
          </a:p>
        </p:txBody>
      </p:sp>
      <p:sp>
        <p:nvSpPr>
          <p:cNvPr id="8" name="">
            <a:extLst>
              <a:ext uri="{FF2B5EF4-FFF2-40B4-BE49-F238E27FC236}">
                <ns2:creationId id="{31C96E49-2822-439F-B260-BCFFCC96FC8D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出典：mac-robustness-20261101 / time_mismatch-summary.csv（合成10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18837D68-1730-4E04-8A4E-15E4848AFEA5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d573fe562de2412a"/>
          </a:graphicData>
        </a:graphic>
      </p:graphicFrame>
      <p:sp>
        <p:nvSpPr>
          <p:cNvPr id="10" name="">
            <a:extLst>
              <a:ext uri="{FF2B5EF4-FFF2-40B4-BE49-F238E27FC236}">
                <ns2:creationId id="{40C6EECA-510D-4870-8126-1B74E627E7A6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1日安定と誤ると、包含率は約60.8%まで低下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この相関時間は仮定であり、実UAVで推定した値ではない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補足：追加欠測と観測窓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受信済みの観測を失うと、固定件数の窓は古くなる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0018f81-d3ae-5d6f-9ee4-e721b6b6b5f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35</a:t>
            </a:fld>
          </a:p>
        </p:txBody>
      </p:sp>
      <p:sp>
        <p:nvSpPr>
          <p:cNvPr id="8" name="">
            <a:extLst>
              <a:ext uri="{FF2B5EF4-FFF2-40B4-BE49-F238E27FC236}">
                <ns2:creationId id="{49B3A06C-28B7-446E-83B0-18D6D1E6041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出典：mac-public-lora-20261101 / dropout-summary.csv（実測系列からの人工削除）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5F5FA471-48BE-4774-8D0E-BCBE1F46563E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3ac74490406f4f75"/>
          </a:graphicData>
        </a:graphic>
      </p:graphicFrame>
      <p:sp>
        <p:nvSpPr>
          <p:cNvPr id="10" name="">
            <a:extLst>
              <a:ext uri="{FF2B5EF4-FFF2-40B4-BE49-F238E27FC236}">
                <ns2:creationId id="{EDD0C8FF-4B71-497E-8813-0DDCE9954EA4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元々のRF損失率は不明。受信済み記録を追加で削除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完全ブロックが作れない例を、誤差ゼロにしていない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補足：データ・実装・出典の対応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入力の版と集計CSVを残し、実測と合成を分離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dc33099-3134-5913-bb07-bccccb5fd51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36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95D394A7-8A59-4691-A313-DFEB19E4E41C}"/>
              </a:ext>
            </a:extLst>
          </p:cNvPr>
          <p:cNvGraphicFramePr/>
          <p:nvPr/>
        </p:nvGraphicFramePr>
        <p:xfrm>
          <a:off x="400050" y="1524000"/>
          <a:ext cx="8343900" cy="3524250"/>
        </p:xfrm>
        <a:graphic>
          <a:graphicData uri="http://schemas.openxmlformats.org/drawingml/2006/table">
            <a:tbl>
              <a:tblPr/>
              <a:tblGrid>
                <a:gridCol w="1905000"/>
                <a:gridCol w="6438900"/>
              </a:tblGrid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対象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入力・集計の所在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公開BLE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固定版 b38a9a4 / mac-recheck-20261101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公開LoRa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Zenodo 17339095 v2 / mac-public-lora-20261101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共通軌跡の合成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event_scenarios_config.json / mac-event-scenarios-20261101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学習等の合成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mac-sensitivity-20261101-v2 / mac-robustness-20261101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確認できないもの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認証が必要なICMCIS本体、別チャットの元ZIP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A348CF07-DB0F-4D5B-87EA-39339FF4615D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取得できないデータを、再現済みの実験として使用しない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2026-11-01T13:48:47.3680000Z</dcterms:created>
  <dcterms:modified xsi:type="dcterms:W3CDTF">2026-11-01T13:48:47.3680000Z</dcterms:modified>
</coreProperties>
</file>